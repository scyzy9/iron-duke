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9.xml" ContentType="application/vnd.openxmlformats-officedocument.presentationml.tags+xml"/>
  <Override PartName="/ppt/notesSlides/notesSlide1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3.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20.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1.xml" ContentType="application/vnd.openxmlformats-officedocument.presentationml.notesSlide+xml"/>
  <Override PartName="/ppt/tags/tag19.xml" ContentType="application/vnd.openxmlformats-officedocument.presentationml.tags+xml"/>
  <Override PartName="/ppt/notesSlides/notesSlide22.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25.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27.xml" ContentType="application/vnd.openxmlformats-officedocument.presentationml.notesSlide+xml"/>
  <Override PartName="/ppt/tags/tag28.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3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78"/>
  </p:notesMasterIdLst>
  <p:sldIdLst>
    <p:sldId id="2146847023" r:id="rId5"/>
    <p:sldId id="2146846963" r:id="rId6"/>
    <p:sldId id="2146847056" r:id="rId7"/>
    <p:sldId id="323" r:id="rId8"/>
    <p:sldId id="2146846978" r:id="rId9"/>
    <p:sldId id="325" r:id="rId10"/>
    <p:sldId id="326" r:id="rId11"/>
    <p:sldId id="327" r:id="rId12"/>
    <p:sldId id="328" r:id="rId13"/>
    <p:sldId id="329" r:id="rId14"/>
    <p:sldId id="330" r:id="rId15"/>
    <p:sldId id="331" r:id="rId16"/>
    <p:sldId id="332" r:id="rId17"/>
    <p:sldId id="333" r:id="rId18"/>
    <p:sldId id="334" r:id="rId19"/>
    <p:sldId id="335" r:id="rId20"/>
    <p:sldId id="336" r:id="rId21"/>
    <p:sldId id="2146847050" r:id="rId22"/>
    <p:sldId id="339" r:id="rId23"/>
    <p:sldId id="340" r:id="rId24"/>
    <p:sldId id="341" r:id="rId25"/>
    <p:sldId id="342" r:id="rId26"/>
    <p:sldId id="343" r:id="rId27"/>
    <p:sldId id="344" r:id="rId28"/>
    <p:sldId id="345" r:id="rId29"/>
    <p:sldId id="346" r:id="rId30"/>
    <p:sldId id="347" r:id="rId31"/>
    <p:sldId id="348" r:id="rId32"/>
    <p:sldId id="349" r:id="rId33"/>
    <p:sldId id="2146847051" r:id="rId34"/>
    <p:sldId id="351" r:id="rId35"/>
    <p:sldId id="352" r:id="rId36"/>
    <p:sldId id="2146847052" r:id="rId37"/>
    <p:sldId id="354" r:id="rId38"/>
    <p:sldId id="355" r:id="rId39"/>
    <p:sldId id="356" r:id="rId40"/>
    <p:sldId id="357" r:id="rId41"/>
    <p:sldId id="358" r:id="rId42"/>
    <p:sldId id="359" r:id="rId43"/>
    <p:sldId id="360" r:id="rId44"/>
    <p:sldId id="361" r:id="rId45"/>
    <p:sldId id="362" r:id="rId46"/>
    <p:sldId id="363" r:id="rId47"/>
    <p:sldId id="364" r:id="rId48"/>
    <p:sldId id="365" r:id="rId49"/>
    <p:sldId id="2146847053" r:id="rId50"/>
    <p:sldId id="367" r:id="rId51"/>
    <p:sldId id="368" r:id="rId52"/>
    <p:sldId id="369" r:id="rId53"/>
    <p:sldId id="370" r:id="rId54"/>
    <p:sldId id="371" r:id="rId55"/>
    <p:sldId id="372" r:id="rId56"/>
    <p:sldId id="373" r:id="rId57"/>
    <p:sldId id="374" r:id="rId58"/>
    <p:sldId id="375" r:id="rId59"/>
    <p:sldId id="376" r:id="rId60"/>
    <p:sldId id="2146847054" r:id="rId61"/>
    <p:sldId id="378" r:id="rId62"/>
    <p:sldId id="2146847057" r:id="rId63"/>
    <p:sldId id="379" r:id="rId64"/>
    <p:sldId id="380" r:id="rId65"/>
    <p:sldId id="381" r:id="rId66"/>
    <p:sldId id="382" r:id="rId67"/>
    <p:sldId id="383" r:id="rId68"/>
    <p:sldId id="384" r:id="rId69"/>
    <p:sldId id="385" r:id="rId70"/>
    <p:sldId id="386" r:id="rId71"/>
    <p:sldId id="387" r:id="rId72"/>
    <p:sldId id="2146847055" r:id="rId73"/>
    <p:sldId id="388" r:id="rId74"/>
    <p:sldId id="389" r:id="rId75"/>
    <p:sldId id="390" r:id="rId76"/>
    <p:sldId id="2146846910"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 information" id="{CE7DF2D8-E2EB-4819-8C33-84E47BEC3D05}">
          <p14:sldIdLst/>
        </p14:section>
        <p14:section name="Standard intro slides" id="{4DA4D7A9-B608-4666-9732-3CE21EFD4DFD}">
          <p14:sldIdLst>
            <p14:sldId id="2146847023"/>
            <p14:sldId id="2146846963"/>
            <p14:sldId id="2146847056"/>
          </p14:sldIdLst>
        </p14:section>
        <p14:section name="About the university" id="{73405AE3-9F35-4404-BC63-3CA7BB4EECDD}">
          <p14:sldIdLst>
            <p14:sldId id="323"/>
            <p14:sldId id="2146846978"/>
            <p14:sldId id="325"/>
            <p14:sldId id="326"/>
            <p14:sldId id="327"/>
            <p14:sldId id="328"/>
            <p14:sldId id="329"/>
            <p14:sldId id="330"/>
            <p14:sldId id="331"/>
            <p14:sldId id="332"/>
            <p14:sldId id="333"/>
            <p14:sldId id="334"/>
            <p14:sldId id="335"/>
            <p14:sldId id="336"/>
            <p14:sldId id="2146847050"/>
            <p14:sldId id="339"/>
            <p14:sldId id="340"/>
            <p14:sldId id="341"/>
            <p14:sldId id="342"/>
            <p14:sldId id="343"/>
            <p14:sldId id="344"/>
            <p14:sldId id="345"/>
            <p14:sldId id="346"/>
            <p14:sldId id="347"/>
            <p14:sldId id="348"/>
            <p14:sldId id="349"/>
            <p14:sldId id="2146847051"/>
            <p14:sldId id="351"/>
            <p14:sldId id="352"/>
            <p14:sldId id="2146847052"/>
            <p14:sldId id="354"/>
            <p14:sldId id="355"/>
            <p14:sldId id="356"/>
            <p14:sldId id="357"/>
            <p14:sldId id="358"/>
            <p14:sldId id="359"/>
            <p14:sldId id="360"/>
            <p14:sldId id="361"/>
            <p14:sldId id="362"/>
            <p14:sldId id="363"/>
            <p14:sldId id="364"/>
            <p14:sldId id="365"/>
            <p14:sldId id="2146847053"/>
            <p14:sldId id="367"/>
            <p14:sldId id="368"/>
            <p14:sldId id="369"/>
            <p14:sldId id="370"/>
            <p14:sldId id="371"/>
            <p14:sldId id="372"/>
            <p14:sldId id="373"/>
            <p14:sldId id="374"/>
            <p14:sldId id="375"/>
            <p14:sldId id="376"/>
            <p14:sldId id="2146847054"/>
            <p14:sldId id="378"/>
            <p14:sldId id="2146847057"/>
            <p14:sldId id="379"/>
            <p14:sldId id="380"/>
            <p14:sldId id="381"/>
            <p14:sldId id="382"/>
            <p14:sldId id="383"/>
            <p14:sldId id="384"/>
            <p14:sldId id="385"/>
            <p14:sldId id="386"/>
            <p14:sldId id="387"/>
            <p14:sldId id="2146847055"/>
            <p14:sldId id="388"/>
            <p14:sldId id="389"/>
            <p14:sldId id="390"/>
            <p14:sldId id="2146846910"/>
          </p14:sldIdLst>
        </p14:section>
        <p14:section name="Student life" id="{E70715A1-6B1B-48A9-A41D-D47CDB693918}">
          <p14:sldIdLst/>
        </p14:section>
        <p14:section name="Research and Knowledge Exchange" id="{A82B234C-543B-4D35-8166-1FC79F6539A7}">
          <p14:sldIdLst/>
        </p14:section>
        <p14:section name="Global engagement" id="{AFD6930A-A0E8-4600-A775-08ACDB10007D}">
          <p14:sldIdLst/>
        </p14:section>
        <p14:section name="UK campuses" id="{1846559A-53D7-48FC-9E5B-D6E4534B067C}">
          <p14:sldIdLst/>
        </p14:section>
        <p14:section name="Alumni" id="{E95531E3-4133-44EA-9C38-CDF9D09A4675}">
          <p14:sldIdLst/>
        </p14:section>
        <p14:section name="Community and partnership" id="{BDF90059-C351-48BA-8F07-64C7C9CD6CE0}">
          <p14:sldIdLst/>
        </p14:section>
        <p14:section name="Closing slide" id="{7B43845F-698F-4EF1-9293-EAAFA847FA9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0263B"/>
    <a:srgbClr val="DEB406"/>
    <a:srgbClr val="11273B"/>
    <a:srgbClr val="FAF6EF"/>
    <a:srgbClr val="CFD4D8"/>
    <a:srgbClr val="9FA8B1"/>
    <a:srgbClr val="334A00"/>
    <a:srgbClr val="D1E1AC"/>
    <a:srgbClr val="000000"/>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38D478-8F7C-4FE1-B446-683FF940DC03}" v="138" dt="2026-02-26T16:56:20.3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160"/>
    <p:restoredTop sz="73454" autoAdjust="0"/>
  </p:normalViewPr>
  <p:slideViewPr>
    <p:cSldViewPr snapToGrid="0">
      <p:cViewPr varScale="1">
        <p:scale>
          <a:sx n="118" d="100"/>
          <a:sy n="118" d="100"/>
        </p:scale>
        <p:origin x="672"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2AB730-C678-F54E-B0F5-84D0A197249E}"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208CF-6D31-B34E-9D95-EC615C533640}" type="slidenum">
              <a:rPr lang="en-US" smtClean="0"/>
              <a:t>‹#›</a:t>
            </a:fld>
            <a:endParaRPr lang="en-US"/>
          </a:p>
        </p:txBody>
      </p:sp>
    </p:spTree>
    <p:extLst>
      <p:ext uri="{BB962C8B-B14F-4D97-AF65-F5344CB8AC3E}">
        <p14:creationId xmlns:p14="http://schemas.microsoft.com/office/powerpoint/2010/main" val="706238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B57B-AF67-3492-B2CC-8472A999A6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9D6AD0-6135-6C52-F1EA-C41F4DFFA1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30594-1492-BEDA-D0FE-9BF4B6BAFC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1B8E43-6E61-BEE7-7D5E-AC2281078E06}"/>
              </a:ext>
            </a:extLst>
          </p:cNvPr>
          <p:cNvSpPr>
            <a:spLocks noGrp="1"/>
          </p:cNvSpPr>
          <p:nvPr>
            <p:ph type="sldNum" sz="quarter" idx="5"/>
          </p:nvPr>
        </p:nvSpPr>
        <p:spPr/>
        <p:txBody>
          <a:bodyPr/>
          <a:lstStyle/>
          <a:p>
            <a:fld id="{683D6AB3-A9BD-4406-8F16-5EEBC97D0BA4}" type="slidenum">
              <a:rPr lang="en-GB" smtClean="0"/>
              <a:t>1</a:t>
            </a:fld>
            <a:endParaRPr lang="en-GB"/>
          </a:p>
        </p:txBody>
      </p:sp>
    </p:spTree>
    <p:extLst>
      <p:ext uri="{BB962C8B-B14F-4D97-AF65-F5344CB8AC3E}">
        <p14:creationId xmlns:p14="http://schemas.microsoft.com/office/powerpoint/2010/main" val="925014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a:buChar char="•"/>
            </a:pPr>
            <a:endParaRPr lang="en-GB" dirty="0"/>
          </a:p>
        </p:txBody>
      </p:sp>
      <p:sp>
        <p:nvSpPr>
          <p:cNvPr id="4" name="Slide Number Placeholder 3"/>
          <p:cNvSpPr>
            <a:spLocks noGrp="1"/>
          </p:cNvSpPr>
          <p:nvPr>
            <p:ph type="sldNum" sz="quarter" idx="5"/>
          </p:nvPr>
        </p:nvSpPr>
        <p:spPr/>
        <p:txBody>
          <a:bodyPr/>
          <a:lstStyle/>
          <a:p>
            <a:fld id="{683D6AB3-A9BD-4406-8F16-5EEBC97D0BA4}" type="slidenum">
              <a:rPr lang="en-GB" smtClean="0"/>
              <a:t>2</a:t>
            </a:fld>
            <a:endParaRPr lang="en-GB"/>
          </a:p>
        </p:txBody>
      </p:sp>
    </p:spTree>
    <p:extLst>
      <p:ext uri="{BB962C8B-B14F-4D97-AF65-F5344CB8AC3E}">
        <p14:creationId xmlns:p14="http://schemas.microsoft.com/office/powerpoint/2010/main" val="1874766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E313B-FFAD-EA7B-7DC5-7AA2D35D6F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FCA8A-9E2D-CF29-AB23-7F80019973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3CCCD0-0FAF-B272-B23C-68B558423936}"/>
              </a:ext>
            </a:extLst>
          </p:cNvPr>
          <p:cNvSpPr>
            <a:spLocks noGrp="1"/>
          </p:cNvSpPr>
          <p:nvPr>
            <p:ph type="body" idx="1"/>
          </p:nvPr>
        </p:nvSpPr>
        <p:spPr/>
        <p:txBody>
          <a:bodyPr/>
          <a:lstStyle/>
          <a:p>
            <a:pPr>
              <a:buFont typeface="Arial"/>
              <a:buChar char="•"/>
            </a:pPr>
            <a:endParaRPr lang="en-GB" dirty="0"/>
          </a:p>
        </p:txBody>
      </p:sp>
      <p:sp>
        <p:nvSpPr>
          <p:cNvPr id="4" name="Slide Number Placeholder 3">
            <a:extLst>
              <a:ext uri="{FF2B5EF4-FFF2-40B4-BE49-F238E27FC236}">
                <a16:creationId xmlns:a16="http://schemas.microsoft.com/office/drawing/2014/main" id="{B7B3D5B5-CA12-8FBB-3616-0CABEBDF0D7A}"/>
              </a:ext>
            </a:extLst>
          </p:cNvPr>
          <p:cNvSpPr>
            <a:spLocks noGrp="1"/>
          </p:cNvSpPr>
          <p:nvPr>
            <p:ph type="sldNum" sz="quarter" idx="5"/>
          </p:nvPr>
        </p:nvSpPr>
        <p:spPr/>
        <p:txBody>
          <a:bodyPr/>
          <a:lstStyle/>
          <a:p>
            <a:fld id="{683D6AB3-A9BD-4406-8F16-5EEBC97D0BA4}" type="slidenum">
              <a:rPr lang="en-GB" smtClean="0"/>
              <a:t>3</a:t>
            </a:fld>
            <a:endParaRPr lang="en-GB"/>
          </a:p>
        </p:txBody>
      </p:sp>
    </p:spTree>
    <p:extLst>
      <p:ext uri="{BB962C8B-B14F-4D97-AF65-F5344CB8AC3E}">
        <p14:creationId xmlns:p14="http://schemas.microsoft.com/office/powerpoint/2010/main" val="413912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83D6AB3-A9BD-4406-8F16-5EEBC97D0BA4}" type="slidenum">
              <a:rPr lang="en-GB" smtClean="0"/>
              <a:t>5</a:t>
            </a:fld>
            <a:endParaRPr lang="en-GB"/>
          </a:p>
        </p:txBody>
      </p:sp>
    </p:spTree>
    <p:extLst>
      <p:ext uri="{BB962C8B-B14F-4D97-AF65-F5344CB8AC3E}">
        <p14:creationId xmlns:p14="http://schemas.microsoft.com/office/powerpoint/2010/main" val="456551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 y="766763"/>
            <a:ext cx="6823075" cy="3838575"/>
          </a:xfrm>
        </p:spPr>
      </p:sp>
      <p:sp>
        <p:nvSpPr>
          <p:cNvPr id="3" name="Notes Placeholder 2"/>
          <p:cNvSpPr>
            <a:spLocks noGrp="1"/>
          </p:cNvSpPr>
          <p:nvPr>
            <p:ph type="body" idx="1"/>
          </p:nvPr>
        </p:nvSpPr>
        <p:spPr/>
        <p:txBody>
          <a:bodyPr/>
          <a:lstStyle/>
          <a:p>
            <a:endParaRPr lang="en-GB" dirty="0"/>
          </a:p>
        </p:txBody>
      </p:sp>
      <p:sp>
        <p:nvSpPr>
          <p:cNvPr id="4" name="Header Placeholder 3"/>
          <p:cNvSpPr>
            <a:spLocks noGrp="1"/>
          </p:cNvSpPr>
          <p:nvPr>
            <p:ph type="hdr" sz="quarter"/>
          </p:nvPr>
        </p:nvSpPr>
        <p:spPr/>
        <p:txBody>
          <a:bodyPr/>
          <a:lstStyle/>
          <a:p>
            <a:r>
              <a:rPr lang="en-GB"/>
              <a:t>The University of Nottingham</a:t>
            </a:r>
          </a:p>
        </p:txBody>
      </p:sp>
      <p:sp>
        <p:nvSpPr>
          <p:cNvPr id="5" name="Date Placeholder 4"/>
          <p:cNvSpPr>
            <a:spLocks noGrp="1"/>
          </p:cNvSpPr>
          <p:nvPr>
            <p:ph type="dt" idx="1"/>
          </p:nvPr>
        </p:nvSpPr>
        <p:spPr/>
        <p:txBody>
          <a:bodyPr/>
          <a:lstStyle/>
          <a:p>
            <a:fld id="{1CB04E05-07A5-4CC6-B3EE-0CAA5911C6BE}" type="datetime1">
              <a:rPr lang="en-GB" smtClean="0"/>
              <a:t>26/02/2026</a:t>
            </a:fld>
            <a:endParaRPr lang="en-GB"/>
          </a:p>
        </p:txBody>
      </p:sp>
      <p:sp>
        <p:nvSpPr>
          <p:cNvPr id="6" name="Footer Placeholder 5"/>
          <p:cNvSpPr>
            <a:spLocks noGrp="1"/>
          </p:cNvSpPr>
          <p:nvPr>
            <p:ph type="ftr" sz="quarter" idx="4"/>
          </p:nvPr>
        </p:nvSpPr>
        <p:spPr/>
        <p:txBody>
          <a:bodyPr/>
          <a:lstStyle/>
          <a:p>
            <a:r>
              <a:rPr lang="en-GB"/>
              <a:t>Your Department Name etc</a:t>
            </a:r>
          </a:p>
        </p:txBody>
      </p:sp>
      <p:sp>
        <p:nvSpPr>
          <p:cNvPr id="7" name="Slide Number Placeholder 6"/>
          <p:cNvSpPr>
            <a:spLocks noGrp="1"/>
          </p:cNvSpPr>
          <p:nvPr>
            <p:ph type="sldNum" sz="quarter" idx="5"/>
          </p:nvPr>
        </p:nvSpPr>
        <p:spPr/>
        <p:txBody>
          <a:bodyPr/>
          <a:lstStyle/>
          <a:p>
            <a:fld id="{754AF5A3-63BC-4A87-859D-8ED86BB4B4B5}" type="slidenum">
              <a:rPr lang="en-GB" smtClean="0"/>
              <a:t>6</a:t>
            </a:fld>
            <a:endParaRPr lang="en-GB"/>
          </a:p>
        </p:txBody>
      </p:sp>
    </p:spTree>
    <p:extLst>
      <p:ext uri="{BB962C8B-B14F-4D97-AF65-F5344CB8AC3E}">
        <p14:creationId xmlns:p14="http://schemas.microsoft.com/office/powerpoint/2010/main" val="390805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 y="766763"/>
            <a:ext cx="6823075" cy="3838575"/>
          </a:xfrm>
        </p:spPr>
      </p:sp>
      <p:sp>
        <p:nvSpPr>
          <p:cNvPr id="3" name="Notes Placeholder 2"/>
          <p:cNvSpPr>
            <a:spLocks noGrp="1"/>
          </p:cNvSpPr>
          <p:nvPr>
            <p:ph type="body" idx="1"/>
          </p:nvPr>
        </p:nvSpPr>
        <p:spPr/>
        <p:txBody>
          <a:bodyPr/>
          <a:lstStyle/>
          <a:p>
            <a:endParaRPr lang="en-GB" dirty="0"/>
          </a:p>
          <a:p>
            <a:endParaRPr lang="en-GB" dirty="0"/>
          </a:p>
          <a:p>
            <a:r>
              <a:rPr lang="en-GB" dirty="0"/>
              <a:t>The difficulty of a problem generally increases with its dimensionality. A function is scalable</a:t>
            </a:r>
            <a:r>
              <a:rPr lang="en-GB" baseline="0" dirty="0"/>
              <a:t> if it can be applied to any given dimensionality.</a:t>
            </a:r>
            <a:endParaRPr lang="en-GB" dirty="0"/>
          </a:p>
          <a:p>
            <a:endParaRPr lang="en-GB" dirty="0"/>
          </a:p>
          <a:p>
            <a:r>
              <a:rPr lang="en-GB" dirty="0"/>
              <a:t>The </a:t>
            </a:r>
            <a:r>
              <a:rPr lang="en-GB" dirty="0" err="1"/>
              <a:t>separability</a:t>
            </a:r>
            <a:r>
              <a:rPr lang="en-GB" dirty="0"/>
              <a:t> is a measure of difficulty of different benchmark functions. In general, separable functions are relatively easy to solve, when compared with their </a:t>
            </a:r>
            <a:r>
              <a:rPr lang="en-GB" dirty="0" err="1"/>
              <a:t>inseperable</a:t>
            </a:r>
            <a:r>
              <a:rPr lang="en-GB" dirty="0"/>
              <a:t> counterpart, because each variable of a function is independent of the other variables. If all the parameters or variables are independent, then a sequence of independent optimization processes can be performed. As a result, each design variable or parameter can be optimized independently</a:t>
            </a:r>
          </a:p>
          <a:p>
            <a:endParaRPr lang="en-GB" dirty="0"/>
          </a:p>
          <a:p>
            <a:r>
              <a:rPr lang="en-GB" dirty="0"/>
              <a:t>In other words, a function of p variables is called separable, if it can written as a sum of p functions, each of just a single variable</a:t>
            </a:r>
          </a:p>
          <a:p>
            <a:endParaRPr lang="en-GB" dirty="0"/>
          </a:p>
          <a:p>
            <a:r>
              <a:rPr lang="en-GB" b="0" i="0" u="none" strike="noStrike" dirty="0">
                <a:effectLst/>
                <a:latin typeface="fkGroteskNeue"/>
              </a:rPr>
              <a:t>By studying these functions, we learn not only how well our algorithms perform but also where they fail!</a:t>
            </a:r>
            <a:endParaRPr lang="en-GB" dirty="0"/>
          </a:p>
        </p:txBody>
      </p:sp>
      <p:sp>
        <p:nvSpPr>
          <p:cNvPr id="4" name="Slide Number Placeholder 3"/>
          <p:cNvSpPr>
            <a:spLocks noGrp="1"/>
          </p:cNvSpPr>
          <p:nvPr>
            <p:ph type="sldNum" sz="quarter" idx="10"/>
          </p:nvPr>
        </p:nvSpPr>
        <p:spPr/>
        <p:txBody>
          <a:bodyPr/>
          <a:lstStyle/>
          <a:p>
            <a:pPr>
              <a:defRPr/>
            </a:pPr>
            <a:fld id="{67A05264-53C1-4A69-9B9F-2CB246FAE50C}" type="slidenum">
              <a:rPr lang="en-GB" smtClean="0"/>
              <a:pPr>
                <a:defRPr/>
              </a:pPr>
              <a:t>7</a:t>
            </a:fld>
            <a:endParaRPr lang="en-GB"/>
          </a:p>
        </p:txBody>
      </p:sp>
    </p:spTree>
    <p:extLst>
      <p:ext uri="{BB962C8B-B14F-4D97-AF65-F5344CB8AC3E}">
        <p14:creationId xmlns:p14="http://schemas.microsoft.com/office/powerpoint/2010/main" val="1345988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10</a:t>
            </a:fld>
            <a:endParaRPr lang="en-US"/>
          </a:p>
        </p:txBody>
      </p:sp>
    </p:spTree>
    <p:extLst>
      <p:ext uri="{BB962C8B-B14F-4D97-AF65-F5344CB8AC3E}">
        <p14:creationId xmlns:p14="http://schemas.microsoft.com/office/powerpoint/2010/main" val="3870505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11</a:t>
            </a:fld>
            <a:endParaRPr lang="en-US"/>
          </a:p>
        </p:txBody>
      </p:sp>
    </p:spTree>
    <p:extLst>
      <p:ext uri="{BB962C8B-B14F-4D97-AF65-F5344CB8AC3E}">
        <p14:creationId xmlns:p14="http://schemas.microsoft.com/office/powerpoint/2010/main" val="629075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0" i="0" u="none" strike="noStrike" dirty="0">
                <a:effectLst/>
                <a:latin typeface="fkGroteskNeue"/>
              </a:rPr>
              <a:t>Efficiency: A good representation ensures that the algorithm explores and exploits the search space effectively.</a:t>
            </a:r>
          </a:p>
          <a:p>
            <a:pPr algn="l">
              <a:buFont typeface="+mj-lt"/>
              <a:buAutoNum type="arabicPeriod"/>
            </a:pPr>
            <a:r>
              <a:rPr lang="en-GB" b="0" i="0" u="none" strike="noStrike" dirty="0">
                <a:effectLst/>
                <a:latin typeface="fkGroteskNeue"/>
              </a:rPr>
              <a:t>Precision: The level of detail we can capture in solutions depends on how variables are represented.</a:t>
            </a:r>
          </a:p>
          <a:p>
            <a:pPr algn="l">
              <a:buFont typeface="+mj-lt"/>
              <a:buAutoNum type="arabicPeriod"/>
            </a:pPr>
            <a:r>
              <a:rPr lang="en-GB" b="0" i="0" u="none" strike="noStrike" dirty="0">
                <a:effectLst/>
                <a:latin typeface="fkGroteskNeue"/>
              </a:rPr>
              <a:t>Compatibility: The representation must work well with genetic operators like crossover and mutation.</a:t>
            </a:r>
          </a:p>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17</a:t>
            </a:fld>
            <a:endParaRPr lang="en-US"/>
          </a:p>
        </p:txBody>
      </p:sp>
    </p:spTree>
    <p:extLst>
      <p:ext uri="{BB962C8B-B14F-4D97-AF65-F5344CB8AC3E}">
        <p14:creationId xmlns:p14="http://schemas.microsoft.com/office/powerpoint/2010/main" val="37075150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DAE25-AE5C-B5F3-F9C3-026C05312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F27AD-1426-CBF8-9ABD-C447BFF51E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C105F-3E01-98B6-306D-269C7A6BAF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AEA3B9-1564-A395-0BFE-A52E048F5141}"/>
              </a:ext>
            </a:extLst>
          </p:cNvPr>
          <p:cNvSpPr>
            <a:spLocks noGrp="1"/>
          </p:cNvSpPr>
          <p:nvPr>
            <p:ph type="sldNum" sz="quarter" idx="5"/>
          </p:nvPr>
        </p:nvSpPr>
        <p:spPr/>
        <p:txBody>
          <a:bodyPr/>
          <a:lstStyle/>
          <a:p>
            <a:fld id="{683D6AB3-A9BD-4406-8F16-5EEBC97D0BA4}" type="slidenum">
              <a:rPr lang="en-GB" smtClean="0"/>
              <a:t>18</a:t>
            </a:fld>
            <a:endParaRPr lang="en-GB"/>
          </a:p>
        </p:txBody>
      </p:sp>
    </p:spTree>
    <p:extLst>
      <p:ext uri="{BB962C8B-B14F-4D97-AF65-F5344CB8AC3E}">
        <p14:creationId xmlns:p14="http://schemas.microsoft.com/office/powerpoint/2010/main" val="3217244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19</a:t>
            </a:fld>
            <a:endParaRPr lang="en-US"/>
          </a:p>
        </p:txBody>
      </p:sp>
    </p:spTree>
    <p:extLst>
      <p:ext uri="{BB962C8B-B14F-4D97-AF65-F5344CB8AC3E}">
        <p14:creationId xmlns:p14="http://schemas.microsoft.com/office/powerpoint/2010/main" val="3741026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20</a:t>
            </a:fld>
            <a:endParaRPr lang="en-US"/>
          </a:p>
        </p:txBody>
      </p:sp>
    </p:spTree>
    <p:extLst>
      <p:ext uri="{BB962C8B-B14F-4D97-AF65-F5344CB8AC3E}">
        <p14:creationId xmlns:p14="http://schemas.microsoft.com/office/powerpoint/2010/main" val="3510317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 y="766763"/>
            <a:ext cx="6823075" cy="3838575"/>
          </a:xfrm>
        </p:spPr>
      </p:sp>
      <p:sp>
        <p:nvSpPr>
          <p:cNvPr id="3" name="Notes Placeholder 2"/>
          <p:cNvSpPr>
            <a:spLocks noGrp="1"/>
          </p:cNvSpPr>
          <p:nvPr>
            <p:ph type="body" idx="1"/>
          </p:nvPr>
        </p:nvSpPr>
        <p:spPr/>
        <p:txBody>
          <a:bodyPr/>
          <a:lstStyle/>
          <a:p>
            <a:r>
              <a:rPr lang="en-GB" sz="1200" b="1" i="0" kern="1200" dirty="0">
                <a:solidFill>
                  <a:schemeClr val="tx1"/>
                </a:solidFill>
                <a:effectLst/>
                <a:latin typeface="Arial" charset="0"/>
                <a:ea typeface="+mn-ea"/>
                <a:cs typeface="+mn-cs"/>
              </a:rPr>
              <a:t>Encoding</a:t>
            </a:r>
            <a:r>
              <a:rPr lang="en-GB" sz="1200" b="0" i="0" kern="1200" dirty="0">
                <a:solidFill>
                  <a:schemeClr val="tx1"/>
                </a:solidFill>
                <a:effectLst/>
                <a:latin typeface="Arial" charset="0"/>
                <a:ea typeface="+mn-ea"/>
                <a:cs typeface="+mn-cs"/>
              </a:rPr>
              <a:t> of numbers so that adjacent numbers have a single digit differing by 1</a:t>
            </a:r>
          </a:p>
          <a:p>
            <a:endParaRPr lang="en-GB" sz="1200" b="0" i="0" kern="1200" dirty="0">
              <a:solidFill>
                <a:schemeClr val="tx1"/>
              </a:solidFill>
              <a:effectLst/>
              <a:latin typeface="Arial" charset="0"/>
              <a:ea typeface="+mn-ea"/>
              <a:cs typeface="+mn-cs"/>
            </a:endParaRPr>
          </a:p>
          <a:p>
            <a:r>
              <a:rPr lang="en-GB" sz="1200" b="1" i="0" kern="1200" dirty="0" err="1">
                <a:solidFill>
                  <a:schemeClr val="tx1"/>
                </a:solidFill>
                <a:effectLst/>
                <a:latin typeface="Arial" charset="0"/>
                <a:ea typeface="+mn-ea"/>
                <a:cs typeface="+mn-cs"/>
              </a:rPr>
              <a:t>Gray</a:t>
            </a:r>
            <a:r>
              <a:rPr lang="en-GB" sz="1200" b="1" i="0" kern="1200" dirty="0">
                <a:solidFill>
                  <a:schemeClr val="tx1"/>
                </a:solidFill>
                <a:effectLst/>
                <a:latin typeface="Arial" charset="0"/>
                <a:ea typeface="+mn-ea"/>
                <a:cs typeface="+mn-cs"/>
              </a:rPr>
              <a:t> Encoding</a:t>
            </a:r>
            <a:r>
              <a:rPr lang="en-GB" sz="1200" b="0" i="0" kern="1200" dirty="0">
                <a:solidFill>
                  <a:schemeClr val="tx1"/>
                </a:solidFill>
                <a:effectLst/>
                <a:latin typeface="Arial" charset="0"/>
                <a:ea typeface="+mn-ea"/>
                <a:cs typeface="+mn-cs"/>
              </a:rPr>
              <a:t> is used to avoid the occurrences of Hamming </a:t>
            </a:r>
            <a:r>
              <a:rPr lang="en-GB" sz="1200" b="1" i="0" kern="1200" dirty="0">
                <a:solidFill>
                  <a:schemeClr val="tx1"/>
                </a:solidFill>
                <a:effectLst/>
                <a:latin typeface="Arial" charset="0"/>
                <a:ea typeface="+mn-ea"/>
                <a:cs typeface="+mn-cs"/>
              </a:rPr>
              <a:t>Walls</a:t>
            </a:r>
            <a:r>
              <a:rPr lang="en-GB" sz="1200" b="0" i="0" kern="1200" dirty="0">
                <a:solidFill>
                  <a:schemeClr val="tx1"/>
                </a:solidFill>
                <a:effectLst/>
                <a:latin typeface="Arial" charset="0"/>
                <a:ea typeface="+mn-ea"/>
                <a:cs typeface="+mn-cs"/>
              </a:rPr>
              <a:t>.</a:t>
            </a:r>
          </a:p>
          <a:p>
            <a:r>
              <a:rPr lang="en-GB" sz="1200" b="0" i="0" kern="1200" dirty="0">
                <a:solidFill>
                  <a:schemeClr val="tx1"/>
                </a:solidFill>
                <a:effectLst/>
                <a:latin typeface="Arial" charset="0"/>
                <a:ea typeface="+mn-ea"/>
                <a:cs typeface="+mn-cs"/>
              </a:rPr>
              <a:t>Basically A Hamming wall is a point at which it becomes rare or highly unlikely that the GA will mutate in exactly the right way to produce the next step in fitness.</a:t>
            </a:r>
            <a:endParaRPr lang="en-GB" dirty="0"/>
          </a:p>
        </p:txBody>
      </p:sp>
      <p:sp>
        <p:nvSpPr>
          <p:cNvPr id="4" name="Slide Number Placeholder 3"/>
          <p:cNvSpPr>
            <a:spLocks noGrp="1"/>
          </p:cNvSpPr>
          <p:nvPr>
            <p:ph type="sldNum" sz="quarter" idx="10"/>
          </p:nvPr>
        </p:nvSpPr>
        <p:spPr/>
        <p:txBody>
          <a:bodyPr/>
          <a:lstStyle/>
          <a:p>
            <a:pPr>
              <a:defRPr/>
            </a:pPr>
            <a:fld id="{67A05264-53C1-4A69-9B9F-2CB246FAE50C}" type="slidenum">
              <a:rPr lang="en-GB" smtClean="0"/>
              <a:pPr>
                <a:defRPr/>
              </a:pPr>
              <a:t>21</a:t>
            </a:fld>
            <a:endParaRPr lang="en-GB"/>
          </a:p>
        </p:txBody>
      </p:sp>
    </p:spTree>
    <p:extLst>
      <p:ext uri="{BB962C8B-B14F-4D97-AF65-F5344CB8AC3E}">
        <p14:creationId xmlns:p14="http://schemas.microsoft.com/office/powerpoint/2010/main" val="50827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23</a:t>
            </a:fld>
            <a:endParaRPr lang="en-US"/>
          </a:p>
        </p:txBody>
      </p:sp>
    </p:spTree>
    <p:extLst>
      <p:ext uri="{BB962C8B-B14F-4D97-AF65-F5344CB8AC3E}">
        <p14:creationId xmlns:p14="http://schemas.microsoft.com/office/powerpoint/2010/main" val="6741331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25</a:t>
            </a:fld>
            <a:endParaRPr lang="en-US"/>
          </a:p>
        </p:txBody>
      </p:sp>
    </p:spTree>
    <p:extLst>
      <p:ext uri="{BB962C8B-B14F-4D97-AF65-F5344CB8AC3E}">
        <p14:creationId xmlns:p14="http://schemas.microsoft.com/office/powerpoint/2010/main" val="33974741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26</a:t>
            </a:fld>
            <a:endParaRPr lang="en-US"/>
          </a:p>
        </p:txBody>
      </p:sp>
    </p:spTree>
    <p:extLst>
      <p:ext uri="{BB962C8B-B14F-4D97-AF65-F5344CB8AC3E}">
        <p14:creationId xmlns:p14="http://schemas.microsoft.com/office/powerpoint/2010/main" val="41514549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28</a:t>
            </a:fld>
            <a:endParaRPr lang="en-US"/>
          </a:p>
        </p:txBody>
      </p:sp>
    </p:spTree>
    <p:extLst>
      <p:ext uri="{BB962C8B-B14F-4D97-AF65-F5344CB8AC3E}">
        <p14:creationId xmlns:p14="http://schemas.microsoft.com/office/powerpoint/2010/main" val="684649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29</a:t>
            </a:fld>
            <a:endParaRPr lang="en-US"/>
          </a:p>
        </p:txBody>
      </p:sp>
    </p:spTree>
    <p:extLst>
      <p:ext uri="{BB962C8B-B14F-4D97-AF65-F5344CB8AC3E}">
        <p14:creationId xmlns:p14="http://schemas.microsoft.com/office/powerpoint/2010/main" val="22201867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57AA6-CAE7-D48A-B29D-8B000DB506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28C786-77E6-9EBE-69C9-BB55B0DCCC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D68DA6-9F7D-0FA9-E77A-83E6C130521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166DA6-134F-7316-CAF3-0139604D8D25}"/>
              </a:ext>
            </a:extLst>
          </p:cNvPr>
          <p:cNvSpPr>
            <a:spLocks noGrp="1"/>
          </p:cNvSpPr>
          <p:nvPr>
            <p:ph type="sldNum" sz="quarter" idx="5"/>
          </p:nvPr>
        </p:nvSpPr>
        <p:spPr/>
        <p:txBody>
          <a:bodyPr/>
          <a:lstStyle/>
          <a:p>
            <a:fld id="{683D6AB3-A9BD-4406-8F16-5EEBC97D0BA4}" type="slidenum">
              <a:rPr lang="en-GB" smtClean="0"/>
              <a:t>30</a:t>
            </a:fld>
            <a:endParaRPr lang="en-GB"/>
          </a:p>
        </p:txBody>
      </p:sp>
    </p:spTree>
    <p:extLst>
      <p:ext uri="{BB962C8B-B14F-4D97-AF65-F5344CB8AC3E}">
        <p14:creationId xmlns:p14="http://schemas.microsoft.com/office/powerpoint/2010/main" val="2870237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100F0-AA4C-8A03-4DB0-5450F89E25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84030-3880-45DA-8736-F0E62B09DB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62D83F-AC44-BA20-832F-E5B1886BA12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0FA3EE8-451A-972B-ADB3-F6A1406DC089}"/>
              </a:ext>
            </a:extLst>
          </p:cNvPr>
          <p:cNvSpPr>
            <a:spLocks noGrp="1"/>
          </p:cNvSpPr>
          <p:nvPr>
            <p:ph type="sldNum" sz="quarter" idx="5"/>
          </p:nvPr>
        </p:nvSpPr>
        <p:spPr/>
        <p:txBody>
          <a:bodyPr/>
          <a:lstStyle/>
          <a:p>
            <a:fld id="{683D6AB3-A9BD-4406-8F16-5EEBC97D0BA4}" type="slidenum">
              <a:rPr lang="en-GB" smtClean="0"/>
              <a:t>33</a:t>
            </a:fld>
            <a:endParaRPr lang="en-GB"/>
          </a:p>
        </p:txBody>
      </p:sp>
    </p:spTree>
    <p:extLst>
      <p:ext uri="{BB962C8B-B14F-4D97-AF65-F5344CB8AC3E}">
        <p14:creationId xmlns:p14="http://schemas.microsoft.com/office/powerpoint/2010/main" val="14634039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39</a:t>
            </a:fld>
            <a:endParaRPr lang="en-US"/>
          </a:p>
        </p:txBody>
      </p:sp>
    </p:spTree>
    <p:extLst>
      <p:ext uri="{BB962C8B-B14F-4D97-AF65-F5344CB8AC3E}">
        <p14:creationId xmlns:p14="http://schemas.microsoft.com/office/powerpoint/2010/main" val="10569657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 y="766763"/>
            <a:ext cx="6823075" cy="3838575"/>
          </a:xfrm>
        </p:spPr>
      </p:sp>
      <p:sp>
        <p:nvSpPr>
          <p:cNvPr id="3" name="Notes Placeholder 2"/>
          <p:cNvSpPr>
            <a:spLocks noGrp="1"/>
          </p:cNvSpPr>
          <p:nvPr>
            <p:ph type="body" idx="1"/>
          </p:nvPr>
        </p:nvSpPr>
        <p:spPr/>
        <p:txBody>
          <a:bodyPr/>
          <a:lstStyle/>
          <a:p>
            <a:r>
              <a:rPr lang="en-GB" dirty="0"/>
              <a:t>Deleted RAND for rank selection</a:t>
            </a:r>
          </a:p>
        </p:txBody>
      </p:sp>
      <p:sp>
        <p:nvSpPr>
          <p:cNvPr id="4" name="Slide Number Placeholder 3"/>
          <p:cNvSpPr>
            <a:spLocks noGrp="1"/>
          </p:cNvSpPr>
          <p:nvPr>
            <p:ph type="sldNum" sz="quarter" idx="10"/>
          </p:nvPr>
        </p:nvSpPr>
        <p:spPr/>
        <p:txBody>
          <a:bodyPr/>
          <a:lstStyle/>
          <a:p>
            <a:pPr>
              <a:defRPr/>
            </a:pPr>
            <a:fld id="{67A05264-53C1-4A69-9B9F-2CB246FAE50C}" type="slidenum">
              <a:rPr lang="en-GB" smtClean="0"/>
              <a:pPr>
                <a:defRPr/>
              </a:pPr>
              <a:t>42</a:t>
            </a:fld>
            <a:endParaRPr lang="en-GB"/>
          </a:p>
        </p:txBody>
      </p:sp>
    </p:spTree>
    <p:extLst>
      <p:ext uri="{BB962C8B-B14F-4D97-AF65-F5344CB8AC3E}">
        <p14:creationId xmlns:p14="http://schemas.microsoft.com/office/powerpoint/2010/main" val="19979127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 y="766763"/>
            <a:ext cx="6823075" cy="3838575"/>
          </a:xfrm>
        </p:spPr>
      </p:sp>
      <p:sp>
        <p:nvSpPr>
          <p:cNvPr id="3" name="Notes Placeholder 2"/>
          <p:cNvSpPr>
            <a:spLocks noGrp="1"/>
          </p:cNvSpPr>
          <p:nvPr>
            <p:ph type="body" idx="1"/>
          </p:nvPr>
        </p:nvSpPr>
        <p:spPr/>
        <p:txBody>
          <a:bodyPr/>
          <a:lstStyle/>
          <a:p>
            <a:r>
              <a:rPr lang="en-GB" dirty="0"/>
              <a:t>Deleted RAND for mate selection</a:t>
            </a:r>
          </a:p>
        </p:txBody>
      </p:sp>
      <p:sp>
        <p:nvSpPr>
          <p:cNvPr id="4" name="Slide Number Placeholder 3"/>
          <p:cNvSpPr>
            <a:spLocks noGrp="1"/>
          </p:cNvSpPr>
          <p:nvPr>
            <p:ph type="sldNum" sz="quarter" idx="10"/>
          </p:nvPr>
        </p:nvSpPr>
        <p:spPr/>
        <p:txBody>
          <a:bodyPr/>
          <a:lstStyle/>
          <a:p>
            <a:pPr>
              <a:defRPr/>
            </a:pPr>
            <a:fld id="{67A05264-53C1-4A69-9B9F-2CB246FAE50C}" type="slidenum">
              <a:rPr lang="en-GB" smtClean="0"/>
              <a:pPr>
                <a:defRPr/>
              </a:pPr>
              <a:t>44</a:t>
            </a:fld>
            <a:endParaRPr lang="en-GB"/>
          </a:p>
        </p:txBody>
      </p:sp>
    </p:spTree>
    <p:extLst>
      <p:ext uri="{BB962C8B-B14F-4D97-AF65-F5344CB8AC3E}">
        <p14:creationId xmlns:p14="http://schemas.microsoft.com/office/powerpoint/2010/main" val="30655653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A1DD6-F77B-5E5C-733D-98FF86895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BD895-009F-ACE4-702C-61D028BE2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090E7C-5F33-4D6C-4FB1-5D15E7D62D7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8D9EBF-CE32-1EB5-E468-845E1CCF7C32}"/>
              </a:ext>
            </a:extLst>
          </p:cNvPr>
          <p:cNvSpPr>
            <a:spLocks noGrp="1"/>
          </p:cNvSpPr>
          <p:nvPr>
            <p:ph type="sldNum" sz="quarter" idx="5"/>
          </p:nvPr>
        </p:nvSpPr>
        <p:spPr/>
        <p:txBody>
          <a:bodyPr/>
          <a:lstStyle/>
          <a:p>
            <a:fld id="{683D6AB3-A9BD-4406-8F16-5EEBC97D0BA4}" type="slidenum">
              <a:rPr lang="en-GB" smtClean="0"/>
              <a:t>46</a:t>
            </a:fld>
            <a:endParaRPr lang="en-GB"/>
          </a:p>
        </p:txBody>
      </p:sp>
    </p:spTree>
    <p:extLst>
      <p:ext uri="{BB962C8B-B14F-4D97-AF65-F5344CB8AC3E}">
        <p14:creationId xmlns:p14="http://schemas.microsoft.com/office/powerpoint/2010/main" val="33109615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 y="766763"/>
            <a:ext cx="6823075" cy="38385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83BD243-EE14-423E-9548-1D617F7431E0}" type="slidenum">
              <a:rPr lang="tr-TR" altLang="en-US" smtClean="0"/>
              <a:pPr/>
              <a:t>48</a:t>
            </a:fld>
            <a:endParaRPr lang="tr-TR" altLang="en-US"/>
          </a:p>
        </p:txBody>
      </p:sp>
    </p:spTree>
    <p:extLst>
      <p:ext uri="{BB962C8B-B14F-4D97-AF65-F5344CB8AC3E}">
        <p14:creationId xmlns:p14="http://schemas.microsoft.com/office/powerpoint/2010/main" val="37845514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51</a:t>
            </a:fld>
            <a:endParaRPr lang="en-US"/>
          </a:p>
        </p:txBody>
      </p:sp>
    </p:spTree>
    <p:extLst>
      <p:ext uri="{BB962C8B-B14F-4D97-AF65-F5344CB8AC3E}">
        <p14:creationId xmlns:p14="http://schemas.microsoft.com/office/powerpoint/2010/main" val="15336227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54</a:t>
            </a:fld>
            <a:endParaRPr lang="en-US"/>
          </a:p>
        </p:txBody>
      </p:sp>
    </p:spTree>
    <p:extLst>
      <p:ext uri="{BB962C8B-B14F-4D97-AF65-F5344CB8AC3E}">
        <p14:creationId xmlns:p14="http://schemas.microsoft.com/office/powerpoint/2010/main" val="18080605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E1AC6-D591-909D-0A53-06EE36A245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7A8B6-E868-B902-E2CF-811B38467F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577F84-A0A1-E480-8A94-5791FB343DB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E6F345-D8C3-6F55-0DDB-6A8191C9E39F}"/>
              </a:ext>
            </a:extLst>
          </p:cNvPr>
          <p:cNvSpPr>
            <a:spLocks noGrp="1"/>
          </p:cNvSpPr>
          <p:nvPr>
            <p:ph type="sldNum" sz="quarter" idx="5"/>
          </p:nvPr>
        </p:nvSpPr>
        <p:spPr/>
        <p:txBody>
          <a:bodyPr/>
          <a:lstStyle/>
          <a:p>
            <a:fld id="{683D6AB3-A9BD-4406-8F16-5EEBC97D0BA4}" type="slidenum">
              <a:rPr lang="en-GB" smtClean="0"/>
              <a:t>57</a:t>
            </a:fld>
            <a:endParaRPr lang="en-GB"/>
          </a:p>
        </p:txBody>
      </p:sp>
    </p:spTree>
    <p:extLst>
      <p:ext uri="{BB962C8B-B14F-4D97-AF65-F5344CB8AC3E}">
        <p14:creationId xmlns:p14="http://schemas.microsoft.com/office/powerpoint/2010/main" val="2465390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58</a:t>
            </a:fld>
            <a:endParaRPr lang="en-US"/>
          </a:p>
        </p:txBody>
      </p:sp>
    </p:spTree>
    <p:extLst>
      <p:ext uri="{BB962C8B-B14F-4D97-AF65-F5344CB8AC3E}">
        <p14:creationId xmlns:p14="http://schemas.microsoft.com/office/powerpoint/2010/main" val="7458483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5156F-5F95-56DB-4510-AA6BE0429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744F04-AFD2-6628-F77C-FFEBE07E1B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44AB2C-BB59-6891-23CF-D9621658689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8FE982D-565D-A197-B7D2-5356C67AF20C}"/>
              </a:ext>
            </a:extLst>
          </p:cNvPr>
          <p:cNvSpPr>
            <a:spLocks noGrp="1"/>
          </p:cNvSpPr>
          <p:nvPr>
            <p:ph type="sldNum" sz="quarter" idx="5"/>
          </p:nvPr>
        </p:nvSpPr>
        <p:spPr/>
        <p:txBody>
          <a:bodyPr/>
          <a:lstStyle/>
          <a:p>
            <a:fld id="{93B208CF-6D31-B34E-9D95-EC615C533640}" type="slidenum">
              <a:rPr lang="en-US" smtClean="0"/>
              <a:t>59</a:t>
            </a:fld>
            <a:endParaRPr lang="en-US"/>
          </a:p>
        </p:txBody>
      </p:sp>
    </p:spTree>
    <p:extLst>
      <p:ext uri="{BB962C8B-B14F-4D97-AF65-F5344CB8AC3E}">
        <p14:creationId xmlns:p14="http://schemas.microsoft.com/office/powerpoint/2010/main" val="29862977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60</a:t>
            </a:fld>
            <a:endParaRPr lang="en-US"/>
          </a:p>
        </p:txBody>
      </p:sp>
    </p:spTree>
    <p:extLst>
      <p:ext uri="{BB962C8B-B14F-4D97-AF65-F5344CB8AC3E}">
        <p14:creationId xmlns:p14="http://schemas.microsoft.com/office/powerpoint/2010/main" val="35942569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 y="766763"/>
            <a:ext cx="6823075" cy="38385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67A05264-53C1-4A69-9B9F-2CB246FAE50C}" type="slidenum">
              <a:rPr lang="en-GB" smtClean="0"/>
              <a:pPr>
                <a:defRPr/>
              </a:pPr>
              <a:t>65</a:t>
            </a:fld>
            <a:endParaRPr lang="en-GB"/>
          </a:p>
        </p:txBody>
      </p:sp>
    </p:spTree>
    <p:extLst>
      <p:ext uri="{BB962C8B-B14F-4D97-AF65-F5344CB8AC3E}">
        <p14:creationId xmlns:p14="http://schemas.microsoft.com/office/powerpoint/2010/main" val="5432378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B208CF-6D31-B34E-9D95-EC615C533640}" type="slidenum">
              <a:rPr lang="en-US" smtClean="0"/>
              <a:t>68</a:t>
            </a:fld>
            <a:endParaRPr lang="en-US"/>
          </a:p>
        </p:txBody>
      </p:sp>
    </p:spTree>
    <p:extLst>
      <p:ext uri="{BB962C8B-B14F-4D97-AF65-F5344CB8AC3E}">
        <p14:creationId xmlns:p14="http://schemas.microsoft.com/office/powerpoint/2010/main" val="20088814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CCDA9-B0A0-9C0B-55CF-202DBCFB6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CAE9AE-E8B0-B911-C5DC-27135F6579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653193-79D6-32DE-2118-C56C9F027B5B}"/>
              </a:ext>
            </a:extLst>
          </p:cNvPr>
          <p:cNvSpPr>
            <a:spLocks noGrp="1"/>
          </p:cNvSpPr>
          <p:nvPr>
            <p:ph type="body" idx="1"/>
          </p:nvPr>
        </p:nvSpPr>
        <p:spPr/>
        <p:txBody>
          <a:bodyPr/>
          <a:lstStyle/>
          <a:p>
            <a:pPr>
              <a:buFont typeface="Arial"/>
              <a:buChar char="•"/>
            </a:pPr>
            <a:endParaRPr lang="en-GB" dirty="0"/>
          </a:p>
        </p:txBody>
      </p:sp>
      <p:sp>
        <p:nvSpPr>
          <p:cNvPr id="4" name="Slide Number Placeholder 3">
            <a:extLst>
              <a:ext uri="{FF2B5EF4-FFF2-40B4-BE49-F238E27FC236}">
                <a16:creationId xmlns:a16="http://schemas.microsoft.com/office/drawing/2014/main" id="{643A3B68-1472-F077-8F77-C92F17654F86}"/>
              </a:ext>
            </a:extLst>
          </p:cNvPr>
          <p:cNvSpPr>
            <a:spLocks noGrp="1"/>
          </p:cNvSpPr>
          <p:nvPr>
            <p:ph type="sldNum" sz="quarter" idx="5"/>
          </p:nvPr>
        </p:nvSpPr>
        <p:spPr/>
        <p:txBody>
          <a:bodyPr/>
          <a:lstStyle/>
          <a:p>
            <a:fld id="{683D6AB3-A9BD-4406-8F16-5EEBC97D0BA4}" type="slidenum">
              <a:rPr lang="en-GB" smtClean="0"/>
              <a:t>69</a:t>
            </a:fld>
            <a:endParaRPr lang="en-GB"/>
          </a:p>
        </p:txBody>
      </p:sp>
    </p:spTree>
    <p:extLst>
      <p:ext uri="{BB962C8B-B14F-4D97-AF65-F5344CB8AC3E}">
        <p14:creationId xmlns:p14="http://schemas.microsoft.com/office/powerpoint/2010/main" val="36861857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83D6AB3-A9BD-4406-8F16-5EEBC97D0BA4}" type="slidenum">
              <a:rPr lang="en-GB" smtClean="0"/>
              <a:t>73</a:t>
            </a:fld>
            <a:endParaRPr lang="en-GB"/>
          </a:p>
        </p:txBody>
      </p:sp>
    </p:spTree>
    <p:extLst>
      <p:ext uri="{BB962C8B-B14F-4D97-AF65-F5344CB8AC3E}">
        <p14:creationId xmlns:p14="http://schemas.microsoft.com/office/powerpoint/2010/main" val="23102382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white">
    <p:bg>
      <p:bgPr>
        <a:solidFill>
          <a:schemeClr val="bg1"/>
        </a:solidFill>
        <a:effectLst/>
      </p:bgPr>
    </p:bg>
    <p:spTree>
      <p:nvGrpSpPr>
        <p:cNvPr id="1" name=""/>
        <p:cNvGrpSpPr/>
        <p:nvPr/>
      </p:nvGrpSpPr>
      <p:grpSpPr>
        <a:xfrm>
          <a:off x="0" y="0"/>
          <a:ext cx="0" cy="0"/>
          <a:chOff x="0" y="0"/>
          <a:chExt cx="0" cy="0"/>
        </a:xfrm>
      </p:grpSpPr>
      <p:pic>
        <p:nvPicPr>
          <p:cNvPr id="4" name="Picture 3" descr="University of Nottingham logo">
            <a:extLst>
              <a:ext uri="{FF2B5EF4-FFF2-40B4-BE49-F238E27FC236}">
                <a16:creationId xmlns:a16="http://schemas.microsoft.com/office/drawing/2014/main" id="{9D85A3C1-D82A-B562-D697-12A7A834D4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14586" cy="900112"/>
          </a:xfrm>
          <a:prstGeom prst="rect">
            <a:avLst/>
          </a:prstGeom>
        </p:spPr>
      </p:pic>
      <p:sp>
        <p:nvSpPr>
          <p:cNvPr id="2" name="Title 1">
            <a:extLst>
              <a:ext uri="{FF2B5EF4-FFF2-40B4-BE49-F238E27FC236}">
                <a16:creationId xmlns:a16="http://schemas.microsoft.com/office/drawing/2014/main" id="{DB6853EA-4853-ACD6-CC82-7D33A6FB25BF}"/>
              </a:ext>
            </a:extLst>
          </p:cNvPr>
          <p:cNvSpPr>
            <a:spLocks noGrp="1"/>
          </p:cNvSpPr>
          <p:nvPr>
            <p:ph type="ctrTitle" hasCustomPrompt="1"/>
          </p:nvPr>
        </p:nvSpPr>
        <p:spPr>
          <a:xfrm>
            <a:off x="425450" y="2258844"/>
            <a:ext cx="9598564" cy="1620837"/>
          </a:xfrm>
          <a:prstGeom prst="rect">
            <a:avLst/>
          </a:prstGeom>
        </p:spPr>
        <p:txBody>
          <a:bodyPr anchor="ctr"/>
          <a:lstStyle>
            <a:lvl1pPr algn="l">
              <a:lnSpc>
                <a:spcPts val="6000"/>
              </a:lnSpc>
              <a:defRPr sz="6000"/>
            </a:lvl1pPr>
          </a:lstStyle>
          <a:p>
            <a:r>
              <a:rPr lang="en-GB"/>
              <a:t>The title of your presentation goes here</a:t>
            </a:r>
            <a:endParaRPr lang="en-US"/>
          </a:p>
        </p:txBody>
      </p:sp>
      <p:sp>
        <p:nvSpPr>
          <p:cNvPr id="3" name="Subtitle 2">
            <a:extLst>
              <a:ext uri="{FF2B5EF4-FFF2-40B4-BE49-F238E27FC236}">
                <a16:creationId xmlns:a16="http://schemas.microsoft.com/office/drawing/2014/main" id="{74A30556-8831-6682-C9D7-CE486771B94F}"/>
              </a:ext>
            </a:extLst>
          </p:cNvPr>
          <p:cNvSpPr>
            <a:spLocks noGrp="1"/>
          </p:cNvSpPr>
          <p:nvPr>
            <p:ph type="subTitle" idx="1" hasCustomPrompt="1"/>
          </p:nvPr>
        </p:nvSpPr>
        <p:spPr>
          <a:xfrm>
            <a:off x="425450" y="4244162"/>
            <a:ext cx="9598564" cy="720096"/>
          </a:xfrm>
          <a:prstGeom prst="rect">
            <a:avLst/>
          </a:prstGeom>
        </p:spPr>
        <p:txBody>
          <a:bodyPr>
            <a:normAutofit/>
          </a:bodyPr>
          <a:lstStyle>
            <a:lvl1pPr marL="0" indent="0" algn="l">
              <a:buNone/>
              <a:defRPr sz="3200" b="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7" name="Text Placeholder 9">
            <a:extLst>
              <a:ext uri="{FF2B5EF4-FFF2-40B4-BE49-F238E27FC236}">
                <a16:creationId xmlns:a16="http://schemas.microsoft.com/office/drawing/2014/main" id="{C196E396-D43A-21AF-902E-40BD0AF6B4C9}"/>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5" name="Picture Placeholder 2" descr="Partner logo.&#10;">
            <a:extLst>
              <a:ext uri="{FF2B5EF4-FFF2-40B4-BE49-F238E27FC236}">
                <a16:creationId xmlns:a16="http://schemas.microsoft.com/office/drawing/2014/main" id="{A686251C-E48A-AA4A-6E4A-BC5C83A05AB8}"/>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1568672638"/>
      </p:ext>
    </p:extLst>
  </p:cSld>
  <p:clrMapOvr>
    <a:masterClrMapping/>
  </p:clrMapOvr>
  <p:extLst>
    <p:ext uri="{DCECCB84-F9BA-43D5-87BE-67443E8EF086}">
      <p15:sldGuideLst xmlns:p15="http://schemas.microsoft.com/office/powerpoint/2012/main">
        <p15:guide id="1" orient="horz" pos="14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blue">
    <p:bg>
      <p:bgPr>
        <a:solidFill>
          <a:schemeClr val="tx1"/>
        </a:solidFill>
        <a:effectLst/>
      </p:bgPr>
    </p:bg>
    <p:spTree>
      <p:nvGrpSpPr>
        <p:cNvPr id="1" name=""/>
        <p:cNvGrpSpPr/>
        <p:nvPr/>
      </p:nvGrpSpPr>
      <p:grpSpPr>
        <a:xfrm>
          <a:off x="0" y="0"/>
          <a:ext cx="0" cy="0"/>
          <a:chOff x="0" y="0"/>
          <a:chExt cx="0" cy="0"/>
        </a:xfrm>
      </p:grpSpPr>
      <p:pic>
        <p:nvPicPr>
          <p:cNvPr id="5" name="Picture 4" descr="University of Nottingham logo">
            <a:extLst>
              <a:ext uri="{FF2B5EF4-FFF2-40B4-BE49-F238E27FC236}">
                <a16:creationId xmlns:a16="http://schemas.microsoft.com/office/drawing/2014/main" id="{15DABD73-1F59-7DE4-286D-42E72C4D329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2" name="Title 1">
            <a:extLst>
              <a:ext uri="{FF2B5EF4-FFF2-40B4-BE49-F238E27FC236}">
                <a16:creationId xmlns:a16="http://schemas.microsoft.com/office/drawing/2014/main" id="{DB6853EA-4853-ACD6-CC82-7D33A6FB25BF}"/>
              </a:ext>
            </a:extLst>
          </p:cNvPr>
          <p:cNvSpPr>
            <a:spLocks noGrp="1"/>
          </p:cNvSpPr>
          <p:nvPr>
            <p:ph type="ctrTitle" hasCustomPrompt="1"/>
          </p:nvPr>
        </p:nvSpPr>
        <p:spPr>
          <a:xfrm>
            <a:off x="425450" y="2258844"/>
            <a:ext cx="9598564" cy="1620837"/>
          </a:xfrm>
          <a:prstGeom prst="rect">
            <a:avLst/>
          </a:prstGeom>
        </p:spPr>
        <p:txBody>
          <a:bodyPr anchor="ctr"/>
          <a:lstStyle>
            <a:lvl1pPr algn="l">
              <a:lnSpc>
                <a:spcPts val="6000"/>
              </a:lnSpc>
              <a:defRPr sz="6000">
                <a:solidFill>
                  <a:schemeClr val="bg1"/>
                </a:solidFill>
              </a:defRPr>
            </a:lvl1pPr>
          </a:lstStyle>
          <a:p>
            <a:r>
              <a:rPr lang="en-GB"/>
              <a:t>The title of your presentation goes here</a:t>
            </a:r>
            <a:endParaRPr lang="en-US"/>
          </a:p>
        </p:txBody>
      </p:sp>
      <p:sp>
        <p:nvSpPr>
          <p:cNvPr id="3" name="Subtitle 2">
            <a:extLst>
              <a:ext uri="{FF2B5EF4-FFF2-40B4-BE49-F238E27FC236}">
                <a16:creationId xmlns:a16="http://schemas.microsoft.com/office/drawing/2014/main" id="{74A30556-8831-6682-C9D7-CE486771B94F}"/>
              </a:ext>
            </a:extLst>
          </p:cNvPr>
          <p:cNvSpPr>
            <a:spLocks noGrp="1"/>
          </p:cNvSpPr>
          <p:nvPr>
            <p:ph type="subTitle" idx="1" hasCustomPrompt="1"/>
          </p:nvPr>
        </p:nvSpPr>
        <p:spPr>
          <a:xfrm>
            <a:off x="425450" y="4244162"/>
            <a:ext cx="9598564" cy="720096"/>
          </a:xfrm>
          <a:prstGeom prst="rect">
            <a:avLst/>
          </a:prstGeom>
        </p:spPr>
        <p:txBody>
          <a:bodyPr>
            <a:normAutofit/>
          </a:bodyPr>
          <a:lstStyle>
            <a:lvl1pPr marL="0" indent="0" algn="l">
              <a:buNone/>
              <a:defRPr sz="3200" b="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7" name="Text Placeholder 9">
            <a:extLst>
              <a:ext uri="{FF2B5EF4-FFF2-40B4-BE49-F238E27FC236}">
                <a16:creationId xmlns:a16="http://schemas.microsoft.com/office/drawing/2014/main" id="{11077D18-4A41-F2FC-BDBD-1952BE2667C9}"/>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4" name="Picture Placeholder 2" descr="Partner logo.">
            <a:extLst>
              <a:ext uri="{FF2B5EF4-FFF2-40B4-BE49-F238E27FC236}">
                <a16:creationId xmlns:a16="http://schemas.microsoft.com/office/drawing/2014/main" id="{CBC67323-FEAE-C279-D467-27C99A9CED17}"/>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3242189923"/>
      </p:ext>
    </p:extLst>
  </p:cSld>
  <p:clrMapOvr>
    <a:masterClrMapping/>
  </p:clrMapOvr>
  <p:extLst>
    <p:ext uri="{DCECCB84-F9BA-43D5-87BE-67443E8EF086}">
      <p15:sldGuideLst xmlns:p15="http://schemas.microsoft.com/office/powerpoint/2012/main">
        <p15:guide id="1" orient="horz" pos="142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research_1">
    <p:spTree>
      <p:nvGrpSpPr>
        <p:cNvPr id="1" name=""/>
        <p:cNvGrpSpPr/>
        <p:nvPr/>
      </p:nvGrpSpPr>
      <p:grpSpPr>
        <a:xfrm>
          <a:off x="0" y="0"/>
          <a:ext cx="0" cy="0"/>
          <a:chOff x="0" y="0"/>
          <a:chExt cx="0" cy="0"/>
        </a:xfrm>
      </p:grpSpPr>
      <p:pic>
        <p:nvPicPr>
          <p:cNvPr id="4" name="Picture 3" descr="A person wearing a VR headset and holding their hands up to represent research at the university">
            <a:extLst>
              <a:ext uri="{FF2B5EF4-FFF2-40B4-BE49-F238E27FC236}">
                <a16:creationId xmlns:a16="http://schemas.microsoft.com/office/drawing/2014/main" id="{88BA64FE-DCFE-E987-F49F-BD6E89D41E8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0" y="0"/>
            <a:ext cx="12192000" cy="6858000"/>
          </a:xfrm>
          <a:prstGeom prst="rect">
            <a:avLst/>
          </a:prstGeom>
        </p:spPr>
      </p:pic>
      <p:sp>
        <p:nvSpPr>
          <p:cNvPr id="2" name="Rectangle 1">
            <a:extLst>
              <a:ext uri="{FF2B5EF4-FFF2-40B4-BE49-F238E27FC236}">
                <a16:creationId xmlns:a16="http://schemas.microsoft.com/office/drawing/2014/main" id="{8293D777-56E9-B4C4-902D-3069A7237E8C}"/>
              </a:ext>
              <a:ext uri="{C183D7F6-B498-43B3-948B-1728B52AA6E4}">
                <adec:decorative xmlns:adec="http://schemas.microsoft.com/office/drawing/2017/decorative" val="1"/>
              </a:ext>
            </a:extLst>
          </p:cNvPr>
          <p:cNvSpPr/>
          <p:nvPr userDrawn="1"/>
        </p:nvSpPr>
        <p:spPr>
          <a:xfrm>
            <a:off x="0" y="0"/>
            <a:ext cx="7986252" cy="6858000"/>
          </a:xfrm>
          <a:prstGeom prst="rect">
            <a:avLst/>
          </a:prstGeom>
          <a:gradFill>
            <a:gsLst>
              <a:gs pos="62000">
                <a:srgbClr val="000000">
                  <a:alpha val="50000"/>
                </a:srgbClr>
              </a:gs>
              <a:gs pos="0">
                <a:srgbClr val="000000">
                  <a:alpha val="98824"/>
                </a:srgbClr>
              </a:gs>
              <a:gs pos="93000">
                <a:srgbClr val="10263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University of Nottingham logo">
            <a:extLst>
              <a:ext uri="{FF2B5EF4-FFF2-40B4-BE49-F238E27FC236}">
                <a16:creationId xmlns:a16="http://schemas.microsoft.com/office/drawing/2014/main" id="{B6936C8D-5139-3496-BA36-DA3B9A8D405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7" name="Title 1">
            <a:extLst>
              <a:ext uri="{FF2B5EF4-FFF2-40B4-BE49-F238E27FC236}">
                <a16:creationId xmlns:a16="http://schemas.microsoft.com/office/drawing/2014/main" id="{B46D8DE2-D7AF-CBE9-C1E8-EFF240B06434}"/>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bg1"/>
                </a:solidFill>
              </a:defRPr>
            </a:lvl1pPr>
          </a:lstStyle>
          <a:p>
            <a:r>
              <a:rPr lang="en-GB"/>
              <a:t>The title goes here</a:t>
            </a:r>
            <a:endParaRPr lang="en-US"/>
          </a:p>
        </p:txBody>
      </p:sp>
      <p:sp>
        <p:nvSpPr>
          <p:cNvPr id="8" name="Subtitle 2">
            <a:extLst>
              <a:ext uri="{FF2B5EF4-FFF2-40B4-BE49-F238E27FC236}">
                <a16:creationId xmlns:a16="http://schemas.microsoft.com/office/drawing/2014/main" id="{0F683EFB-0B47-EE2D-87FD-BFB068E2BC68}"/>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0" name="Text Placeholder 9">
            <a:extLst>
              <a:ext uri="{FF2B5EF4-FFF2-40B4-BE49-F238E27FC236}">
                <a16:creationId xmlns:a16="http://schemas.microsoft.com/office/drawing/2014/main" id="{AA233DC0-9F51-CF33-DAEF-5730C674243D}"/>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3" name="Picture Placeholder 2" descr="Partner logo.">
            <a:extLst>
              <a:ext uri="{FF2B5EF4-FFF2-40B4-BE49-F238E27FC236}">
                <a16:creationId xmlns:a16="http://schemas.microsoft.com/office/drawing/2014/main" id="{AB9F89D2-B938-55F7-2390-59CE40180F81}"/>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2252709694"/>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_campus">
    <p:spTree>
      <p:nvGrpSpPr>
        <p:cNvPr id="1" name=""/>
        <p:cNvGrpSpPr/>
        <p:nvPr/>
      </p:nvGrpSpPr>
      <p:grpSpPr>
        <a:xfrm>
          <a:off x="0" y="0"/>
          <a:ext cx="0" cy="0"/>
          <a:chOff x="0" y="0"/>
          <a:chExt cx="0" cy="0"/>
        </a:xfrm>
      </p:grpSpPr>
      <p:pic>
        <p:nvPicPr>
          <p:cNvPr id="20" name="Picture 19" descr="A group of students walking outside at the Jubilee campus">
            <a:extLst>
              <a:ext uri="{FF2B5EF4-FFF2-40B4-BE49-F238E27FC236}">
                <a16:creationId xmlns:a16="http://schemas.microsoft.com/office/drawing/2014/main" id="{F3A6E300-C087-BDE0-B7B6-C71E0D2AF28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FF266575-181D-0C2D-D064-10CE7F267DBB}"/>
              </a:ext>
              <a:ext uri="{C183D7F6-B498-43B3-948B-1728B52AA6E4}">
                <adec:decorative xmlns:adec="http://schemas.microsoft.com/office/drawing/2017/decorative" val="1"/>
              </a:ext>
            </a:extLst>
          </p:cNvPr>
          <p:cNvSpPr/>
          <p:nvPr userDrawn="1"/>
        </p:nvSpPr>
        <p:spPr>
          <a:xfrm>
            <a:off x="0" y="0"/>
            <a:ext cx="7986252" cy="6858000"/>
          </a:xfrm>
          <a:prstGeom prst="rect">
            <a:avLst/>
          </a:prstGeom>
          <a:gradFill>
            <a:gsLst>
              <a:gs pos="62000">
                <a:srgbClr val="000000">
                  <a:alpha val="50000"/>
                </a:srgbClr>
              </a:gs>
              <a:gs pos="0">
                <a:srgbClr val="000000"/>
              </a:gs>
              <a:gs pos="93000">
                <a:srgbClr val="11273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University of Nottingham logo">
            <a:extLst>
              <a:ext uri="{FF2B5EF4-FFF2-40B4-BE49-F238E27FC236}">
                <a16:creationId xmlns:a16="http://schemas.microsoft.com/office/drawing/2014/main" id="{7DCA2C24-5EEB-AB5B-F13B-1437BFDCD40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13" name="Title 1">
            <a:extLst>
              <a:ext uri="{FF2B5EF4-FFF2-40B4-BE49-F238E27FC236}">
                <a16:creationId xmlns:a16="http://schemas.microsoft.com/office/drawing/2014/main" id="{A28B6B83-73D3-39B9-342E-9B160749B29B}"/>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bg1"/>
                </a:solidFill>
              </a:defRPr>
            </a:lvl1pPr>
          </a:lstStyle>
          <a:p>
            <a:r>
              <a:rPr lang="en-GB"/>
              <a:t>The title goes here</a:t>
            </a:r>
            <a:endParaRPr lang="en-US"/>
          </a:p>
        </p:txBody>
      </p:sp>
      <p:sp>
        <p:nvSpPr>
          <p:cNvPr id="14" name="Subtitle 2">
            <a:extLst>
              <a:ext uri="{FF2B5EF4-FFF2-40B4-BE49-F238E27FC236}">
                <a16:creationId xmlns:a16="http://schemas.microsoft.com/office/drawing/2014/main" id="{3D2952EF-E6DB-4C48-B20B-247CE2857257}"/>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6" name="Text Placeholder 9">
            <a:extLst>
              <a:ext uri="{FF2B5EF4-FFF2-40B4-BE49-F238E27FC236}">
                <a16:creationId xmlns:a16="http://schemas.microsoft.com/office/drawing/2014/main" id="{654BEC63-1276-D73F-6E8D-64F2FF3847A8}"/>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15" name="Picture Placeholder 2" descr="Partner logo.&#10;">
            <a:extLst>
              <a:ext uri="{FF2B5EF4-FFF2-40B4-BE49-F238E27FC236}">
                <a16:creationId xmlns:a16="http://schemas.microsoft.com/office/drawing/2014/main" id="{87051EF0-A3DE-6CC6-7FB7-69634DED9EC8}"/>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2069301978"/>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teaching">
    <p:spTree>
      <p:nvGrpSpPr>
        <p:cNvPr id="1" name=""/>
        <p:cNvGrpSpPr/>
        <p:nvPr/>
      </p:nvGrpSpPr>
      <p:grpSpPr>
        <a:xfrm>
          <a:off x="0" y="0"/>
          <a:ext cx="0" cy="0"/>
          <a:chOff x="0" y="0"/>
          <a:chExt cx="0" cy="0"/>
        </a:xfrm>
      </p:grpSpPr>
      <p:pic>
        <p:nvPicPr>
          <p:cNvPr id="9" name="Picture 8" descr="A lecturer writing on a white board">
            <a:extLst>
              <a:ext uri="{FF2B5EF4-FFF2-40B4-BE49-F238E27FC236}">
                <a16:creationId xmlns:a16="http://schemas.microsoft.com/office/drawing/2014/main" id="{9D7E975D-7EAA-8A13-F793-C7ECAFA89B1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C83678E8-BAEC-EEB9-4524-7F5094060FB0}"/>
              </a:ext>
              <a:ext uri="{C183D7F6-B498-43B3-948B-1728B52AA6E4}">
                <adec:decorative xmlns:adec="http://schemas.microsoft.com/office/drawing/2017/decorative" val="1"/>
              </a:ext>
            </a:extLst>
          </p:cNvPr>
          <p:cNvSpPr/>
          <p:nvPr userDrawn="1"/>
        </p:nvSpPr>
        <p:spPr>
          <a:xfrm>
            <a:off x="0" y="0"/>
            <a:ext cx="7986252" cy="6858000"/>
          </a:xfrm>
          <a:prstGeom prst="rect">
            <a:avLst/>
          </a:prstGeom>
          <a:gradFill>
            <a:gsLst>
              <a:gs pos="62000">
                <a:schemeClr val="bg1">
                  <a:alpha val="36000"/>
                </a:schemeClr>
              </a:gs>
              <a:gs pos="0">
                <a:schemeClr val="bg1">
                  <a:alpha val="36000"/>
                </a:schemeClr>
              </a:gs>
              <a:gs pos="93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descr="University of Nottingham logo">
            <a:extLst>
              <a:ext uri="{FF2B5EF4-FFF2-40B4-BE49-F238E27FC236}">
                <a16:creationId xmlns:a16="http://schemas.microsoft.com/office/drawing/2014/main" id="{3078B252-73A9-8E34-6C5E-BAD062758BCE}"/>
              </a:ext>
            </a:extLst>
          </p:cNvPr>
          <p:cNvGrpSpPr/>
          <p:nvPr userDrawn="1"/>
        </p:nvGrpSpPr>
        <p:grpSpPr>
          <a:xfrm>
            <a:off x="0" y="0"/>
            <a:ext cx="2414586" cy="900112"/>
            <a:chOff x="0" y="0"/>
            <a:chExt cx="2414586" cy="900112"/>
          </a:xfrm>
        </p:grpSpPr>
        <p:pic>
          <p:nvPicPr>
            <p:cNvPr id="2" name="Picture 1" descr="University of Nottingham logo">
              <a:extLst>
                <a:ext uri="{FF2B5EF4-FFF2-40B4-BE49-F238E27FC236}">
                  <a16:creationId xmlns:a16="http://schemas.microsoft.com/office/drawing/2014/main" id="{DAE6A334-8BAA-FF81-501D-901663A8A27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14586" cy="900112"/>
            </a:xfrm>
            <a:prstGeom prst="rect">
              <a:avLst/>
            </a:prstGeom>
          </p:spPr>
        </p:pic>
        <p:pic>
          <p:nvPicPr>
            <p:cNvPr id="4" name="Picture 3" descr="University of Nottingham logo">
              <a:extLst>
                <a:ext uri="{FF2B5EF4-FFF2-40B4-BE49-F238E27FC236}">
                  <a16:creationId xmlns:a16="http://schemas.microsoft.com/office/drawing/2014/main" id="{99027B22-A8ED-5D91-EFD1-E3AC533D7CB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0"/>
              <a:ext cx="900000" cy="900000"/>
            </a:xfrm>
            <a:prstGeom prst="rect">
              <a:avLst/>
            </a:prstGeom>
          </p:spPr>
        </p:pic>
      </p:grpSp>
      <p:sp>
        <p:nvSpPr>
          <p:cNvPr id="3" name="Title 1">
            <a:extLst>
              <a:ext uri="{FF2B5EF4-FFF2-40B4-BE49-F238E27FC236}">
                <a16:creationId xmlns:a16="http://schemas.microsoft.com/office/drawing/2014/main" id="{DB6A4C14-B5C9-AA71-CA7D-1FE42F599BEB}"/>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tx1"/>
                </a:solidFill>
              </a:defRPr>
            </a:lvl1pPr>
          </a:lstStyle>
          <a:p>
            <a:r>
              <a:rPr lang="en-GB"/>
              <a:t>The title goes here</a:t>
            </a:r>
            <a:endParaRPr lang="en-US"/>
          </a:p>
        </p:txBody>
      </p:sp>
      <p:sp>
        <p:nvSpPr>
          <p:cNvPr id="8" name="Subtitle 2">
            <a:extLst>
              <a:ext uri="{FF2B5EF4-FFF2-40B4-BE49-F238E27FC236}">
                <a16:creationId xmlns:a16="http://schemas.microsoft.com/office/drawing/2014/main" id="{CF8056D7-DE00-AEA8-6D9E-F000D561AD14}"/>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1" name="Text Placeholder 9">
            <a:extLst>
              <a:ext uri="{FF2B5EF4-FFF2-40B4-BE49-F238E27FC236}">
                <a16:creationId xmlns:a16="http://schemas.microsoft.com/office/drawing/2014/main" id="{D3A581F9-D81B-A0D3-54C1-4A8DFB1730FE}"/>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10" name="Picture Placeholder 2" descr="Partner logo.&#10;">
            <a:extLst>
              <a:ext uri="{FF2B5EF4-FFF2-40B4-BE49-F238E27FC236}">
                <a16:creationId xmlns:a16="http://schemas.microsoft.com/office/drawing/2014/main" id="{C4FF0AC7-FEE7-726F-206C-31391A208623}"/>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3124049393"/>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UK">
    <p:spTree>
      <p:nvGrpSpPr>
        <p:cNvPr id="1" name=""/>
        <p:cNvGrpSpPr/>
        <p:nvPr/>
      </p:nvGrpSpPr>
      <p:grpSpPr>
        <a:xfrm>
          <a:off x="0" y="0"/>
          <a:ext cx="0" cy="0"/>
          <a:chOff x="0" y="0"/>
          <a:chExt cx="0" cy="0"/>
        </a:xfrm>
      </p:grpSpPr>
      <p:pic>
        <p:nvPicPr>
          <p:cNvPr id="3" name="Picture 2" descr="I picture of the Trent Building on a bright day">
            <a:extLst>
              <a:ext uri="{FF2B5EF4-FFF2-40B4-BE49-F238E27FC236}">
                <a16:creationId xmlns:a16="http://schemas.microsoft.com/office/drawing/2014/main" id="{6BD05CDF-6F3D-E5F3-AAAF-26A13E5C44A4}"/>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27EB532D-E8E1-8966-DC50-74E1AF744B21}"/>
              </a:ext>
              <a:ext uri="{C183D7F6-B498-43B3-948B-1728B52AA6E4}">
                <adec:decorative xmlns:adec="http://schemas.microsoft.com/office/drawing/2017/decorative" val="1"/>
              </a:ext>
            </a:extLst>
          </p:cNvPr>
          <p:cNvSpPr/>
          <p:nvPr userDrawn="1"/>
        </p:nvSpPr>
        <p:spPr>
          <a:xfrm>
            <a:off x="0" y="0"/>
            <a:ext cx="7986252" cy="6858000"/>
          </a:xfrm>
          <a:prstGeom prst="rect">
            <a:avLst/>
          </a:prstGeom>
          <a:gradFill>
            <a:gsLst>
              <a:gs pos="62000">
                <a:schemeClr val="bg1">
                  <a:alpha val="36000"/>
                </a:schemeClr>
              </a:gs>
              <a:gs pos="0">
                <a:schemeClr val="bg1">
                  <a:alpha val="36000"/>
                </a:schemeClr>
              </a:gs>
              <a:gs pos="93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descr="University of Nottingham logo">
            <a:extLst>
              <a:ext uri="{FF2B5EF4-FFF2-40B4-BE49-F238E27FC236}">
                <a16:creationId xmlns:a16="http://schemas.microsoft.com/office/drawing/2014/main" id="{2B2D1A39-0397-9271-C41D-BD0DDBC49432}"/>
              </a:ext>
            </a:extLst>
          </p:cNvPr>
          <p:cNvGrpSpPr/>
          <p:nvPr userDrawn="1"/>
        </p:nvGrpSpPr>
        <p:grpSpPr>
          <a:xfrm>
            <a:off x="0" y="0"/>
            <a:ext cx="2414586" cy="900112"/>
            <a:chOff x="0" y="0"/>
            <a:chExt cx="2414586" cy="900112"/>
          </a:xfrm>
        </p:grpSpPr>
        <p:pic>
          <p:nvPicPr>
            <p:cNvPr id="6" name="Picture 5" descr="University of Nottingham logo">
              <a:extLst>
                <a:ext uri="{FF2B5EF4-FFF2-40B4-BE49-F238E27FC236}">
                  <a16:creationId xmlns:a16="http://schemas.microsoft.com/office/drawing/2014/main" id="{B6936C8D-5139-3496-BA36-DA3B9A8D405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14586" cy="900112"/>
            </a:xfrm>
            <a:prstGeom prst="rect">
              <a:avLst/>
            </a:prstGeom>
          </p:spPr>
        </p:pic>
        <p:pic>
          <p:nvPicPr>
            <p:cNvPr id="2" name="Picture 1" descr="University of Nottingham logo">
              <a:extLst>
                <a:ext uri="{FF2B5EF4-FFF2-40B4-BE49-F238E27FC236}">
                  <a16:creationId xmlns:a16="http://schemas.microsoft.com/office/drawing/2014/main" id="{5132A84A-F57F-6FA7-519F-93E0C35B71F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0"/>
              <a:ext cx="900000" cy="900000"/>
            </a:xfrm>
            <a:prstGeom prst="rect">
              <a:avLst/>
            </a:prstGeom>
          </p:spPr>
        </p:pic>
      </p:grpSp>
      <p:sp>
        <p:nvSpPr>
          <p:cNvPr id="4" name="Title 1">
            <a:extLst>
              <a:ext uri="{FF2B5EF4-FFF2-40B4-BE49-F238E27FC236}">
                <a16:creationId xmlns:a16="http://schemas.microsoft.com/office/drawing/2014/main" id="{BC1D7A32-2962-8D38-3872-0223C4B7CB60}"/>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tx1"/>
                </a:solidFill>
              </a:defRPr>
            </a:lvl1pPr>
          </a:lstStyle>
          <a:p>
            <a:r>
              <a:rPr lang="en-GB"/>
              <a:t>The title goes here</a:t>
            </a:r>
            <a:endParaRPr lang="en-US"/>
          </a:p>
        </p:txBody>
      </p:sp>
      <p:sp>
        <p:nvSpPr>
          <p:cNvPr id="7" name="Subtitle 2">
            <a:extLst>
              <a:ext uri="{FF2B5EF4-FFF2-40B4-BE49-F238E27FC236}">
                <a16:creationId xmlns:a16="http://schemas.microsoft.com/office/drawing/2014/main" id="{84D72A9E-1EF8-9E50-2D9F-E2FBD578FFBC}"/>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9" name="Text Placeholder 9">
            <a:extLst>
              <a:ext uri="{FF2B5EF4-FFF2-40B4-BE49-F238E27FC236}">
                <a16:creationId xmlns:a16="http://schemas.microsoft.com/office/drawing/2014/main" id="{0B8EA4E0-4AC7-76E6-62C9-CEEC9D8C2C87}"/>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8" name="Picture Placeholder 2" descr="Partner logo.&#10;">
            <a:extLst>
              <a:ext uri="{FF2B5EF4-FFF2-40B4-BE49-F238E27FC236}">
                <a16:creationId xmlns:a16="http://schemas.microsoft.com/office/drawing/2014/main" id="{C5153F9A-EC43-77E6-376C-598AC060ADFA}"/>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2906975815"/>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Nottingham logo">
            <a:extLst>
              <a:ext uri="{FF2B5EF4-FFF2-40B4-BE49-F238E27FC236}">
                <a16:creationId xmlns:a16="http://schemas.microsoft.com/office/drawing/2014/main" id="{9D85A3C1-D82A-B562-D697-12A7A834D48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14586" cy="900112"/>
          </a:xfrm>
          <a:prstGeom prst="rect">
            <a:avLst/>
          </a:prstGeom>
        </p:spPr>
      </p:pic>
      <p:sp>
        <p:nvSpPr>
          <p:cNvPr id="2" name="Title 1">
            <a:extLst>
              <a:ext uri="{FF2B5EF4-FFF2-40B4-BE49-F238E27FC236}">
                <a16:creationId xmlns:a16="http://schemas.microsoft.com/office/drawing/2014/main" id="{DB6853EA-4853-ACD6-CC82-7D33A6FB25BF}"/>
              </a:ext>
            </a:extLst>
          </p:cNvPr>
          <p:cNvSpPr>
            <a:spLocks noGrp="1"/>
          </p:cNvSpPr>
          <p:nvPr>
            <p:ph type="ctrTitle" hasCustomPrompt="1"/>
          </p:nvPr>
        </p:nvSpPr>
        <p:spPr>
          <a:xfrm>
            <a:off x="425450" y="2258844"/>
            <a:ext cx="7793990" cy="1620837"/>
          </a:xfrm>
          <a:prstGeom prst="rect">
            <a:avLst/>
          </a:prstGeom>
        </p:spPr>
        <p:txBody>
          <a:bodyPr anchor="ctr"/>
          <a:lstStyle>
            <a:lvl1pPr algn="l">
              <a:lnSpc>
                <a:spcPts val="6000"/>
              </a:lnSpc>
              <a:defRPr sz="6000">
                <a:latin typeface="Georgia" panose="02040502050405020303" pitchFamily="18" charset="0"/>
              </a:defRPr>
            </a:lvl1pPr>
          </a:lstStyle>
          <a:p>
            <a:r>
              <a:rPr lang="en-GB"/>
              <a:t>The title </a:t>
            </a:r>
            <a:br>
              <a:rPr lang="en-GB"/>
            </a:br>
            <a:r>
              <a:rPr lang="en-GB"/>
              <a:t>goes here</a:t>
            </a:r>
            <a:endParaRPr lang="en-US"/>
          </a:p>
        </p:txBody>
      </p:sp>
      <p:sp>
        <p:nvSpPr>
          <p:cNvPr id="3" name="Subtitle 2">
            <a:extLst>
              <a:ext uri="{FF2B5EF4-FFF2-40B4-BE49-F238E27FC236}">
                <a16:creationId xmlns:a16="http://schemas.microsoft.com/office/drawing/2014/main" id="{74A30556-8831-6682-C9D7-CE486771B94F}"/>
              </a:ext>
            </a:extLst>
          </p:cNvPr>
          <p:cNvSpPr>
            <a:spLocks noGrp="1"/>
          </p:cNvSpPr>
          <p:nvPr>
            <p:ph type="subTitle" idx="1" hasCustomPrompt="1"/>
          </p:nvPr>
        </p:nvSpPr>
        <p:spPr>
          <a:xfrm>
            <a:off x="425450" y="4244162"/>
            <a:ext cx="7793990" cy="720096"/>
          </a:xfrm>
          <a:prstGeom prst="rect">
            <a:avLst/>
          </a:prstGeom>
        </p:spPr>
        <p:txBody>
          <a:bodyPr>
            <a:normAutofit/>
          </a:bodyPr>
          <a:lstStyle>
            <a:lvl1pPr marL="0" indent="0" algn="l">
              <a:buNone/>
              <a:defRPr sz="3200" b="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a:t>
            </a:r>
            <a:endParaRPr lang="en-US"/>
          </a:p>
        </p:txBody>
      </p:sp>
      <p:sp>
        <p:nvSpPr>
          <p:cNvPr id="7" name="Text Placeholder 9">
            <a:extLst>
              <a:ext uri="{FF2B5EF4-FFF2-40B4-BE49-F238E27FC236}">
                <a16:creationId xmlns:a16="http://schemas.microsoft.com/office/drawing/2014/main" id="{C196E396-D43A-21AF-902E-40BD0AF6B4C9}"/>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Click to add text</a:t>
            </a:r>
            <a:endParaRPr lang="en-US"/>
          </a:p>
        </p:txBody>
      </p:sp>
      <p:sp>
        <p:nvSpPr>
          <p:cNvPr id="5" name="Picture Placeholder 2" descr="Partner logo.&#10;">
            <a:extLst>
              <a:ext uri="{FF2B5EF4-FFF2-40B4-BE49-F238E27FC236}">
                <a16:creationId xmlns:a16="http://schemas.microsoft.com/office/drawing/2014/main" id="{A686251C-E48A-AA4A-6E4A-BC5C83A05AB8}"/>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2329628349"/>
      </p:ext>
    </p:extLst>
  </p:cSld>
  <p:clrMapOvr>
    <a:masterClrMapping/>
  </p:clrMapOvr>
  <p:extLst>
    <p:ext uri="{DCECCB84-F9BA-43D5-87BE-67443E8EF086}">
      <p15:sldGuideLst xmlns:p15="http://schemas.microsoft.com/office/powerpoint/2012/main">
        <p15:guide id="1" orient="horz" pos="1423">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_China">
    <p:spTree>
      <p:nvGrpSpPr>
        <p:cNvPr id="1" name=""/>
        <p:cNvGrpSpPr/>
        <p:nvPr/>
      </p:nvGrpSpPr>
      <p:grpSpPr>
        <a:xfrm>
          <a:off x="0" y="0"/>
          <a:ext cx="0" cy="0"/>
          <a:chOff x="0" y="0"/>
          <a:chExt cx="0" cy="0"/>
        </a:xfrm>
      </p:grpSpPr>
      <p:pic>
        <p:nvPicPr>
          <p:cNvPr id="17" name="Picture 16" descr="A picture of the China campus at sunset">
            <a:extLst>
              <a:ext uri="{FF2B5EF4-FFF2-40B4-BE49-F238E27FC236}">
                <a16:creationId xmlns:a16="http://schemas.microsoft.com/office/drawing/2014/main" id="{3362EB9C-5AAD-43BA-3FD9-74FC97B7F0F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1" cy="6858000"/>
          </a:xfrm>
          <a:prstGeom prst="rect">
            <a:avLst/>
          </a:prstGeom>
        </p:spPr>
      </p:pic>
      <p:grpSp>
        <p:nvGrpSpPr>
          <p:cNvPr id="4" name="Group 3" descr="University of Nottingham logo">
            <a:extLst>
              <a:ext uri="{FF2B5EF4-FFF2-40B4-BE49-F238E27FC236}">
                <a16:creationId xmlns:a16="http://schemas.microsoft.com/office/drawing/2014/main" id="{64A855BE-1E23-08C7-2D4C-463A35683911}"/>
              </a:ext>
            </a:extLst>
          </p:cNvPr>
          <p:cNvGrpSpPr/>
          <p:nvPr userDrawn="1"/>
        </p:nvGrpSpPr>
        <p:grpSpPr>
          <a:xfrm>
            <a:off x="0" y="0"/>
            <a:ext cx="2414586" cy="900112"/>
            <a:chOff x="0" y="0"/>
            <a:chExt cx="2414586" cy="900112"/>
          </a:xfrm>
        </p:grpSpPr>
        <p:pic>
          <p:nvPicPr>
            <p:cNvPr id="6" name="Picture 5" descr="University of Nottingham logo">
              <a:extLst>
                <a:ext uri="{FF2B5EF4-FFF2-40B4-BE49-F238E27FC236}">
                  <a16:creationId xmlns:a16="http://schemas.microsoft.com/office/drawing/2014/main" id="{B6936C8D-5139-3496-BA36-DA3B9A8D405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14586" cy="900112"/>
            </a:xfrm>
            <a:prstGeom prst="rect">
              <a:avLst/>
            </a:prstGeom>
          </p:spPr>
        </p:pic>
        <p:pic>
          <p:nvPicPr>
            <p:cNvPr id="2" name="Picture 1" descr="University of Nottingham logo">
              <a:extLst>
                <a:ext uri="{FF2B5EF4-FFF2-40B4-BE49-F238E27FC236}">
                  <a16:creationId xmlns:a16="http://schemas.microsoft.com/office/drawing/2014/main" id="{262AEAE6-DD60-DF47-23EC-66DCA2A2584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0"/>
              <a:ext cx="900000" cy="900000"/>
            </a:xfrm>
            <a:prstGeom prst="rect">
              <a:avLst/>
            </a:prstGeom>
          </p:spPr>
        </p:pic>
      </p:grpSp>
      <p:sp>
        <p:nvSpPr>
          <p:cNvPr id="3" name="Title 1">
            <a:extLst>
              <a:ext uri="{FF2B5EF4-FFF2-40B4-BE49-F238E27FC236}">
                <a16:creationId xmlns:a16="http://schemas.microsoft.com/office/drawing/2014/main" id="{C0D04B19-D275-4903-FB7C-59F4342B7BB9}"/>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tx1"/>
                </a:solidFill>
              </a:defRPr>
            </a:lvl1pPr>
          </a:lstStyle>
          <a:p>
            <a:r>
              <a:rPr lang="en-GB"/>
              <a:t>The title goes here</a:t>
            </a:r>
            <a:endParaRPr lang="en-US"/>
          </a:p>
        </p:txBody>
      </p:sp>
      <p:sp>
        <p:nvSpPr>
          <p:cNvPr id="5" name="Subtitle 2">
            <a:extLst>
              <a:ext uri="{FF2B5EF4-FFF2-40B4-BE49-F238E27FC236}">
                <a16:creationId xmlns:a16="http://schemas.microsoft.com/office/drawing/2014/main" id="{74706116-848E-CFD6-3CFC-91CCB1945E27}"/>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8" name="Text Placeholder 9">
            <a:extLst>
              <a:ext uri="{FF2B5EF4-FFF2-40B4-BE49-F238E27FC236}">
                <a16:creationId xmlns:a16="http://schemas.microsoft.com/office/drawing/2014/main" id="{6619C8FE-768C-3612-1440-9A6561A8B3CE}"/>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7" name="Picture Placeholder 2" descr="Partner logo.">
            <a:extLst>
              <a:ext uri="{FF2B5EF4-FFF2-40B4-BE49-F238E27FC236}">
                <a16:creationId xmlns:a16="http://schemas.microsoft.com/office/drawing/2014/main" id="{D36CBA7F-C2A7-43D6-A0CA-C9D42B551B9E}"/>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1706572858"/>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Malaysia">
    <p:spTree>
      <p:nvGrpSpPr>
        <p:cNvPr id="1" name=""/>
        <p:cNvGrpSpPr/>
        <p:nvPr/>
      </p:nvGrpSpPr>
      <p:grpSpPr>
        <a:xfrm>
          <a:off x="0" y="0"/>
          <a:ext cx="0" cy="0"/>
          <a:chOff x="0" y="0"/>
          <a:chExt cx="0" cy="0"/>
        </a:xfrm>
      </p:grpSpPr>
      <p:pic>
        <p:nvPicPr>
          <p:cNvPr id="40" name="Picture 39" descr="View of the Malaysia campus through the trees with a body of water in front of the building&#10;">
            <a:extLst>
              <a:ext uri="{FF2B5EF4-FFF2-40B4-BE49-F238E27FC236}">
                <a16:creationId xmlns:a16="http://schemas.microsoft.com/office/drawing/2014/main" id="{8A8D9DF8-CB1D-EAF2-E07B-89D7D22340A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0D6A51CC-9C5E-8F0A-07A8-7AFF5C6C357F}"/>
              </a:ext>
              <a:ext uri="{C183D7F6-B498-43B3-948B-1728B52AA6E4}">
                <adec:decorative xmlns:adec="http://schemas.microsoft.com/office/drawing/2017/decorative" val="1"/>
              </a:ext>
            </a:extLst>
          </p:cNvPr>
          <p:cNvSpPr/>
          <p:nvPr userDrawn="1"/>
        </p:nvSpPr>
        <p:spPr>
          <a:xfrm>
            <a:off x="0" y="0"/>
            <a:ext cx="7986252" cy="6858000"/>
          </a:xfrm>
          <a:prstGeom prst="rect">
            <a:avLst/>
          </a:prstGeom>
          <a:gradFill>
            <a:gsLst>
              <a:gs pos="62000">
                <a:srgbClr val="000000">
                  <a:alpha val="50000"/>
                </a:srgbClr>
              </a:gs>
              <a:gs pos="0">
                <a:srgbClr val="000000"/>
              </a:gs>
              <a:gs pos="93000">
                <a:srgbClr val="11273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descr="University of Nottingham logo">
            <a:extLst>
              <a:ext uri="{FF2B5EF4-FFF2-40B4-BE49-F238E27FC236}">
                <a16:creationId xmlns:a16="http://schemas.microsoft.com/office/drawing/2014/main" id="{E88CCC24-EB1E-6A4A-85E4-27558E47186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4" name="Title 1">
            <a:extLst>
              <a:ext uri="{FF2B5EF4-FFF2-40B4-BE49-F238E27FC236}">
                <a16:creationId xmlns:a16="http://schemas.microsoft.com/office/drawing/2014/main" id="{309FB2E1-0CA5-164F-BB88-A99DCC79315E}"/>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bg1"/>
                </a:solidFill>
              </a:defRPr>
            </a:lvl1pPr>
          </a:lstStyle>
          <a:p>
            <a:r>
              <a:rPr lang="en-GB"/>
              <a:t>The title goes here</a:t>
            </a:r>
            <a:endParaRPr lang="en-US"/>
          </a:p>
        </p:txBody>
      </p:sp>
      <p:sp>
        <p:nvSpPr>
          <p:cNvPr id="5" name="Subtitle 2">
            <a:extLst>
              <a:ext uri="{FF2B5EF4-FFF2-40B4-BE49-F238E27FC236}">
                <a16:creationId xmlns:a16="http://schemas.microsoft.com/office/drawing/2014/main" id="{4CC4A3B0-71B3-4C2B-7CB1-FF680E1BD51C}"/>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7" name="Text Placeholder 9">
            <a:extLst>
              <a:ext uri="{FF2B5EF4-FFF2-40B4-BE49-F238E27FC236}">
                <a16:creationId xmlns:a16="http://schemas.microsoft.com/office/drawing/2014/main" id="{953B9A27-851E-55AB-119E-61C5C475DA46}"/>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6" name="Picture Placeholder 2" descr="Partner logo.">
            <a:extLst>
              <a:ext uri="{FF2B5EF4-FFF2-40B4-BE49-F238E27FC236}">
                <a16:creationId xmlns:a16="http://schemas.microsoft.com/office/drawing/2014/main" id="{32116587-F663-143F-75BC-3014C842DB40}"/>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3167706048"/>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_Sutton_Bonington">
    <p:spTree>
      <p:nvGrpSpPr>
        <p:cNvPr id="1" name=""/>
        <p:cNvGrpSpPr/>
        <p:nvPr/>
      </p:nvGrpSpPr>
      <p:grpSpPr>
        <a:xfrm>
          <a:off x="0" y="0"/>
          <a:ext cx="0" cy="0"/>
          <a:chOff x="0" y="0"/>
          <a:chExt cx="0" cy="0"/>
        </a:xfrm>
      </p:grpSpPr>
      <p:pic>
        <p:nvPicPr>
          <p:cNvPr id="10" name="Picture 9" descr="A view of the Sutton Bonington campus on a bright day">
            <a:extLst>
              <a:ext uri="{FF2B5EF4-FFF2-40B4-BE49-F238E27FC236}">
                <a16:creationId xmlns:a16="http://schemas.microsoft.com/office/drawing/2014/main" id="{7B4A215F-5265-E937-A182-3ADB3161F9D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789"/>
            <a:ext cx="12192000" cy="6864789"/>
          </a:xfrm>
          <a:prstGeom prst="rect">
            <a:avLst/>
          </a:prstGeom>
        </p:spPr>
      </p:pic>
      <p:sp>
        <p:nvSpPr>
          <p:cNvPr id="2" name="Rectangle 1">
            <a:extLst>
              <a:ext uri="{FF2B5EF4-FFF2-40B4-BE49-F238E27FC236}">
                <a16:creationId xmlns:a16="http://schemas.microsoft.com/office/drawing/2014/main" id="{F460E3A8-D46A-44E5-62CB-ED130CE69E4E}"/>
              </a:ext>
              <a:ext uri="{C183D7F6-B498-43B3-948B-1728B52AA6E4}">
                <adec:decorative xmlns:adec="http://schemas.microsoft.com/office/drawing/2017/decorative" val="1"/>
              </a:ext>
            </a:extLst>
          </p:cNvPr>
          <p:cNvSpPr/>
          <p:nvPr userDrawn="1"/>
        </p:nvSpPr>
        <p:spPr>
          <a:xfrm>
            <a:off x="0" y="-6789"/>
            <a:ext cx="7986252" cy="6858000"/>
          </a:xfrm>
          <a:prstGeom prst="rect">
            <a:avLst/>
          </a:prstGeom>
          <a:gradFill>
            <a:gsLst>
              <a:gs pos="62000">
                <a:srgbClr val="000000">
                  <a:alpha val="50000"/>
                </a:srgbClr>
              </a:gs>
              <a:gs pos="0">
                <a:srgbClr val="000000"/>
              </a:gs>
              <a:gs pos="93000">
                <a:srgbClr val="11273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University of Nottingham logo">
            <a:extLst>
              <a:ext uri="{FF2B5EF4-FFF2-40B4-BE49-F238E27FC236}">
                <a16:creationId xmlns:a16="http://schemas.microsoft.com/office/drawing/2014/main" id="{085511E6-A05D-133B-58DE-91F1088AC79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5" name="Title 1">
            <a:extLst>
              <a:ext uri="{FF2B5EF4-FFF2-40B4-BE49-F238E27FC236}">
                <a16:creationId xmlns:a16="http://schemas.microsoft.com/office/drawing/2014/main" id="{E933EC02-81D9-2D0A-2981-160986CA1B1D}"/>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bg1"/>
                </a:solidFill>
              </a:defRPr>
            </a:lvl1pPr>
          </a:lstStyle>
          <a:p>
            <a:r>
              <a:rPr lang="en-GB"/>
              <a:t>The title goes here</a:t>
            </a:r>
            <a:endParaRPr lang="en-US"/>
          </a:p>
        </p:txBody>
      </p:sp>
      <p:sp>
        <p:nvSpPr>
          <p:cNvPr id="7" name="Subtitle 2">
            <a:extLst>
              <a:ext uri="{FF2B5EF4-FFF2-40B4-BE49-F238E27FC236}">
                <a16:creationId xmlns:a16="http://schemas.microsoft.com/office/drawing/2014/main" id="{87F47A76-C945-91CB-5549-433224A0BA89}"/>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9" name="Text Placeholder 9">
            <a:extLst>
              <a:ext uri="{FF2B5EF4-FFF2-40B4-BE49-F238E27FC236}">
                <a16:creationId xmlns:a16="http://schemas.microsoft.com/office/drawing/2014/main" id="{68B52A8B-C3B3-C40B-83CE-26F42289F764}"/>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8" name="Picture Placeholder 2" descr="Partner logo.">
            <a:extLst>
              <a:ext uri="{FF2B5EF4-FFF2-40B4-BE49-F238E27FC236}">
                <a16:creationId xmlns:a16="http://schemas.microsoft.com/office/drawing/2014/main" id="{144CEBF8-B4F3-8B7D-FC0E-DEE8182A2037}"/>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2932247290"/>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_Jubilee">
    <p:spTree>
      <p:nvGrpSpPr>
        <p:cNvPr id="1" name=""/>
        <p:cNvGrpSpPr/>
        <p:nvPr/>
      </p:nvGrpSpPr>
      <p:grpSpPr>
        <a:xfrm>
          <a:off x="0" y="0"/>
          <a:ext cx="0" cy="0"/>
          <a:chOff x="0" y="0"/>
          <a:chExt cx="0" cy="0"/>
        </a:xfrm>
      </p:grpSpPr>
      <p:pic>
        <p:nvPicPr>
          <p:cNvPr id="6" name="Picture 5" descr="A view of the Jubilee campus with the buildings reflecting in the water.">
            <a:extLst>
              <a:ext uri="{FF2B5EF4-FFF2-40B4-BE49-F238E27FC236}">
                <a16:creationId xmlns:a16="http://schemas.microsoft.com/office/drawing/2014/main" id="{77FD8D84-1679-38C7-0289-DCCDBBF4271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0E28E206-4F63-08F4-8670-D6D0CE43DA30}"/>
              </a:ext>
              <a:ext uri="{C183D7F6-B498-43B3-948B-1728B52AA6E4}">
                <adec:decorative xmlns:adec="http://schemas.microsoft.com/office/drawing/2017/decorative" val="1"/>
              </a:ext>
            </a:extLst>
          </p:cNvPr>
          <p:cNvSpPr/>
          <p:nvPr userDrawn="1"/>
        </p:nvSpPr>
        <p:spPr>
          <a:xfrm>
            <a:off x="0" y="0"/>
            <a:ext cx="7986252" cy="6858000"/>
          </a:xfrm>
          <a:prstGeom prst="rect">
            <a:avLst/>
          </a:prstGeom>
          <a:gradFill>
            <a:gsLst>
              <a:gs pos="62000">
                <a:srgbClr val="000000">
                  <a:alpha val="50000"/>
                </a:srgbClr>
              </a:gs>
              <a:gs pos="0">
                <a:srgbClr val="000000"/>
              </a:gs>
              <a:gs pos="93000">
                <a:srgbClr val="11273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University of Nottingham logo">
            <a:extLst>
              <a:ext uri="{FF2B5EF4-FFF2-40B4-BE49-F238E27FC236}">
                <a16:creationId xmlns:a16="http://schemas.microsoft.com/office/drawing/2014/main" id="{085511E6-A05D-133B-58DE-91F1088AC79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5" name="Title 1">
            <a:extLst>
              <a:ext uri="{FF2B5EF4-FFF2-40B4-BE49-F238E27FC236}">
                <a16:creationId xmlns:a16="http://schemas.microsoft.com/office/drawing/2014/main" id="{E933EC02-81D9-2D0A-2981-160986CA1B1D}"/>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bg1"/>
                </a:solidFill>
              </a:defRPr>
            </a:lvl1pPr>
          </a:lstStyle>
          <a:p>
            <a:r>
              <a:rPr lang="en-GB"/>
              <a:t>The title goes here</a:t>
            </a:r>
            <a:endParaRPr lang="en-US"/>
          </a:p>
        </p:txBody>
      </p:sp>
      <p:sp>
        <p:nvSpPr>
          <p:cNvPr id="7" name="Subtitle 2">
            <a:extLst>
              <a:ext uri="{FF2B5EF4-FFF2-40B4-BE49-F238E27FC236}">
                <a16:creationId xmlns:a16="http://schemas.microsoft.com/office/drawing/2014/main" id="{87F47A76-C945-91CB-5549-433224A0BA89}"/>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9" name="Text Placeholder 9">
            <a:extLst>
              <a:ext uri="{FF2B5EF4-FFF2-40B4-BE49-F238E27FC236}">
                <a16:creationId xmlns:a16="http://schemas.microsoft.com/office/drawing/2014/main" id="{68B52A8B-C3B3-C40B-83CE-26F42289F764}"/>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8" name="Picture Placeholder 2" descr="Partner logo.">
            <a:extLst>
              <a:ext uri="{FF2B5EF4-FFF2-40B4-BE49-F238E27FC236}">
                <a16:creationId xmlns:a16="http://schemas.microsoft.com/office/drawing/2014/main" id="{144CEBF8-B4F3-8B7D-FC0E-DEE8182A2037}"/>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2888207147"/>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sustainability">
    <p:spTree>
      <p:nvGrpSpPr>
        <p:cNvPr id="1" name=""/>
        <p:cNvGrpSpPr/>
        <p:nvPr/>
      </p:nvGrpSpPr>
      <p:grpSpPr>
        <a:xfrm>
          <a:off x="0" y="0"/>
          <a:ext cx="0" cy="0"/>
          <a:chOff x="0" y="0"/>
          <a:chExt cx="0" cy="0"/>
        </a:xfrm>
      </p:grpSpPr>
      <p:pic>
        <p:nvPicPr>
          <p:cNvPr id="3" name="Picture 2" descr="A blue sky with the GSK Building, Jubilee Campus. This represents sustainability.">
            <a:extLst>
              <a:ext uri="{FF2B5EF4-FFF2-40B4-BE49-F238E27FC236}">
                <a16:creationId xmlns:a16="http://schemas.microsoft.com/office/drawing/2014/main" id="{8E0A4445-18E5-C130-2732-8D1767178C3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8001"/>
          </a:xfrm>
          <a:prstGeom prst="rect">
            <a:avLst/>
          </a:prstGeom>
        </p:spPr>
      </p:pic>
      <p:grpSp>
        <p:nvGrpSpPr>
          <p:cNvPr id="4" name="Group 3" descr="University of Nottingham logo">
            <a:extLst>
              <a:ext uri="{FF2B5EF4-FFF2-40B4-BE49-F238E27FC236}">
                <a16:creationId xmlns:a16="http://schemas.microsoft.com/office/drawing/2014/main" id="{B3F55132-FFB5-5664-C457-AAEEBC1C9461}"/>
              </a:ext>
            </a:extLst>
          </p:cNvPr>
          <p:cNvGrpSpPr/>
          <p:nvPr userDrawn="1"/>
        </p:nvGrpSpPr>
        <p:grpSpPr>
          <a:xfrm>
            <a:off x="0" y="0"/>
            <a:ext cx="2414586" cy="900112"/>
            <a:chOff x="0" y="0"/>
            <a:chExt cx="2414586" cy="900112"/>
          </a:xfrm>
        </p:grpSpPr>
        <p:pic>
          <p:nvPicPr>
            <p:cNvPr id="6" name="Picture 5" descr="University of Nottingham logo">
              <a:extLst>
                <a:ext uri="{FF2B5EF4-FFF2-40B4-BE49-F238E27FC236}">
                  <a16:creationId xmlns:a16="http://schemas.microsoft.com/office/drawing/2014/main" id="{B6936C8D-5139-3496-BA36-DA3B9A8D405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14586" cy="900112"/>
            </a:xfrm>
            <a:prstGeom prst="rect">
              <a:avLst/>
            </a:prstGeom>
          </p:spPr>
        </p:pic>
        <p:pic>
          <p:nvPicPr>
            <p:cNvPr id="2" name="Picture 1" descr="University of Nottingham logo">
              <a:extLst>
                <a:ext uri="{FF2B5EF4-FFF2-40B4-BE49-F238E27FC236}">
                  <a16:creationId xmlns:a16="http://schemas.microsoft.com/office/drawing/2014/main" id="{E56D2AD0-5B66-68D3-EC24-8D74D025FED9}"/>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0"/>
              <a:ext cx="900000" cy="900000"/>
            </a:xfrm>
            <a:prstGeom prst="rect">
              <a:avLst/>
            </a:prstGeom>
          </p:spPr>
        </p:pic>
      </p:grpSp>
      <p:sp>
        <p:nvSpPr>
          <p:cNvPr id="5" name="Title 1">
            <a:extLst>
              <a:ext uri="{FF2B5EF4-FFF2-40B4-BE49-F238E27FC236}">
                <a16:creationId xmlns:a16="http://schemas.microsoft.com/office/drawing/2014/main" id="{E933EC02-81D9-2D0A-2981-160986CA1B1D}"/>
              </a:ext>
            </a:extLst>
          </p:cNvPr>
          <p:cNvSpPr>
            <a:spLocks noGrp="1"/>
          </p:cNvSpPr>
          <p:nvPr>
            <p:ph type="ctrTitle" hasCustomPrompt="1"/>
          </p:nvPr>
        </p:nvSpPr>
        <p:spPr>
          <a:xfrm>
            <a:off x="425450" y="1526601"/>
            <a:ext cx="4679880" cy="1902398"/>
          </a:xfrm>
          <a:prstGeom prst="rect">
            <a:avLst/>
          </a:prstGeom>
        </p:spPr>
        <p:txBody>
          <a:bodyPr wrap="square" anchor="ctr">
            <a:spAutoFit/>
          </a:bodyPr>
          <a:lstStyle>
            <a:lvl1pPr algn="l">
              <a:lnSpc>
                <a:spcPts val="6000"/>
              </a:lnSpc>
              <a:defRPr sz="6000">
                <a:solidFill>
                  <a:schemeClr val="tx1"/>
                </a:solidFill>
              </a:defRPr>
            </a:lvl1pPr>
          </a:lstStyle>
          <a:p>
            <a:r>
              <a:rPr lang="en-GB"/>
              <a:t>The title goes here</a:t>
            </a:r>
            <a:endParaRPr lang="en-US"/>
          </a:p>
        </p:txBody>
      </p:sp>
      <p:sp>
        <p:nvSpPr>
          <p:cNvPr id="7" name="Subtitle 2">
            <a:extLst>
              <a:ext uri="{FF2B5EF4-FFF2-40B4-BE49-F238E27FC236}">
                <a16:creationId xmlns:a16="http://schemas.microsoft.com/office/drawing/2014/main" id="{87F47A76-C945-91CB-5549-433224A0BA89}"/>
              </a:ext>
            </a:extLst>
          </p:cNvPr>
          <p:cNvSpPr>
            <a:spLocks noGrp="1"/>
          </p:cNvSpPr>
          <p:nvPr>
            <p:ph type="subTitle" idx="1" hasCustomPrompt="1"/>
          </p:nvPr>
        </p:nvSpPr>
        <p:spPr>
          <a:xfrm>
            <a:off x="425450" y="3474734"/>
            <a:ext cx="4679880" cy="886397"/>
          </a:xfrm>
          <a:prstGeom prst="rect">
            <a:avLst/>
          </a:prstGeom>
        </p:spPr>
        <p:txBody>
          <a:bodyPr wrap="square">
            <a:spAutoFit/>
          </a:bodyPr>
          <a:lstStyle>
            <a:lvl1pPr marL="0" indent="0" algn="l">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9" name="Text Placeholder 9">
            <a:extLst>
              <a:ext uri="{FF2B5EF4-FFF2-40B4-BE49-F238E27FC236}">
                <a16:creationId xmlns:a16="http://schemas.microsoft.com/office/drawing/2014/main" id="{68B52A8B-C3B3-C40B-83CE-26F42289F764}"/>
              </a:ext>
            </a:extLst>
          </p:cNvPr>
          <p:cNvSpPr>
            <a:spLocks noGrp="1"/>
          </p:cNvSpPr>
          <p:nvPr>
            <p:ph type="body" sz="quarter" idx="11" hasCustomPrompt="1"/>
          </p:nvPr>
        </p:nvSpPr>
        <p:spPr>
          <a:xfrm>
            <a:off x="425372" y="4594902"/>
            <a:ext cx="4679958" cy="360699"/>
          </a:xfrm>
        </p:spPr>
        <p:txBody>
          <a:bodyPr/>
          <a:lstStyle>
            <a:lvl1pPr marL="0" indent="0">
              <a:buNone/>
              <a:defRPr>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8" name="Picture Placeholder 2" descr="Partner logo.">
            <a:extLst>
              <a:ext uri="{FF2B5EF4-FFF2-40B4-BE49-F238E27FC236}">
                <a16:creationId xmlns:a16="http://schemas.microsoft.com/office/drawing/2014/main" id="{144CEBF8-B4F3-8B7D-FC0E-DEE8182A2037}"/>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669076834"/>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research_2">
    <p:spTree>
      <p:nvGrpSpPr>
        <p:cNvPr id="1" name=""/>
        <p:cNvGrpSpPr/>
        <p:nvPr/>
      </p:nvGrpSpPr>
      <p:grpSpPr>
        <a:xfrm>
          <a:off x="0" y="0"/>
          <a:ext cx="0" cy="0"/>
          <a:chOff x="0" y="0"/>
          <a:chExt cx="0" cy="0"/>
        </a:xfrm>
      </p:grpSpPr>
      <p:pic>
        <p:nvPicPr>
          <p:cNvPr id="11" name="Picture 10" descr="Close up image of a solder iron and circuit board representing research and the university">
            <a:extLst>
              <a:ext uri="{FF2B5EF4-FFF2-40B4-BE49-F238E27FC236}">
                <a16:creationId xmlns:a16="http://schemas.microsoft.com/office/drawing/2014/main" id="{B2FCE108-38BB-55A0-EDF7-8C89407783B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2" name="Rectangle 1">
            <a:extLst>
              <a:ext uri="{FF2B5EF4-FFF2-40B4-BE49-F238E27FC236}">
                <a16:creationId xmlns:a16="http://schemas.microsoft.com/office/drawing/2014/main" id="{CA88DF4C-B16B-F94B-4B24-CA9F60B9B474}"/>
              </a:ext>
              <a:ext uri="{C183D7F6-B498-43B3-948B-1728B52AA6E4}">
                <adec:decorative xmlns:adec="http://schemas.microsoft.com/office/drawing/2017/decorative" val="1"/>
              </a:ext>
            </a:extLst>
          </p:cNvPr>
          <p:cNvSpPr/>
          <p:nvPr userDrawn="1"/>
        </p:nvSpPr>
        <p:spPr>
          <a:xfrm>
            <a:off x="0" y="0"/>
            <a:ext cx="7986252" cy="6858000"/>
          </a:xfrm>
          <a:prstGeom prst="rect">
            <a:avLst/>
          </a:prstGeom>
          <a:gradFill>
            <a:gsLst>
              <a:gs pos="62000">
                <a:srgbClr val="000000">
                  <a:alpha val="50000"/>
                </a:srgbClr>
              </a:gs>
              <a:gs pos="0">
                <a:srgbClr val="000000"/>
              </a:gs>
              <a:gs pos="93000">
                <a:srgbClr val="11273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University of Nottingham logo">
            <a:extLst>
              <a:ext uri="{FF2B5EF4-FFF2-40B4-BE49-F238E27FC236}">
                <a16:creationId xmlns:a16="http://schemas.microsoft.com/office/drawing/2014/main" id="{B6936C8D-5139-3496-BA36-DA3B9A8D405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4" name="Title 1">
            <a:extLst>
              <a:ext uri="{FF2B5EF4-FFF2-40B4-BE49-F238E27FC236}">
                <a16:creationId xmlns:a16="http://schemas.microsoft.com/office/drawing/2014/main" id="{31954F94-8460-0421-7AB1-DA51CF9FF5B0}"/>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bg1"/>
                </a:solidFill>
              </a:defRPr>
            </a:lvl1pPr>
          </a:lstStyle>
          <a:p>
            <a:r>
              <a:rPr lang="en-GB"/>
              <a:t>The title goes here</a:t>
            </a:r>
            <a:endParaRPr lang="en-US"/>
          </a:p>
        </p:txBody>
      </p:sp>
      <p:sp>
        <p:nvSpPr>
          <p:cNvPr id="5" name="Subtitle 2">
            <a:extLst>
              <a:ext uri="{FF2B5EF4-FFF2-40B4-BE49-F238E27FC236}">
                <a16:creationId xmlns:a16="http://schemas.microsoft.com/office/drawing/2014/main" id="{55D9DFDB-5A7C-D207-F19E-20F14279B08B}"/>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0" name="Text Placeholder 9">
            <a:extLst>
              <a:ext uri="{FF2B5EF4-FFF2-40B4-BE49-F238E27FC236}">
                <a16:creationId xmlns:a16="http://schemas.microsoft.com/office/drawing/2014/main" id="{920E116F-B78E-E6CF-85BA-9F027A61F56F}"/>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9" name="Picture Placeholder 2" descr="Partner logo.">
            <a:extLst>
              <a:ext uri="{FF2B5EF4-FFF2-40B4-BE49-F238E27FC236}">
                <a16:creationId xmlns:a16="http://schemas.microsoft.com/office/drawing/2014/main" id="{8B1269C2-F17F-E221-0E5A-FBA04F2F119E}"/>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3738334074"/>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_research_3">
    <p:spTree>
      <p:nvGrpSpPr>
        <p:cNvPr id="1" name=""/>
        <p:cNvGrpSpPr/>
        <p:nvPr/>
      </p:nvGrpSpPr>
      <p:grpSpPr>
        <a:xfrm>
          <a:off x="0" y="0"/>
          <a:ext cx="0" cy="0"/>
          <a:chOff x="0" y="0"/>
          <a:chExt cx="0" cy="0"/>
        </a:xfrm>
      </p:grpSpPr>
      <p:pic>
        <p:nvPicPr>
          <p:cNvPr id="3" name="Picture 2" descr="A close up image of a Petri dish representing research at the university.">
            <a:extLst>
              <a:ext uri="{FF2B5EF4-FFF2-40B4-BE49-F238E27FC236}">
                <a16:creationId xmlns:a16="http://schemas.microsoft.com/office/drawing/2014/main" id="{960DD3FF-75B1-18A9-9303-69E04FC310C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sp>
        <p:nvSpPr>
          <p:cNvPr id="5" name="Rectangle 4">
            <a:extLst>
              <a:ext uri="{FF2B5EF4-FFF2-40B4-BE49-F238E27FC236}">
                <a16:creationId xmlns:a16="http://schemas.microsoft.com/office/drawing/2014/main" id="{C56850A0-B8B9-FF66-3068-158E81F693A1}"/>
              </a:ext>
              <a:ext uri="{C183D7F6-B498-43B3-948B-1728B52AA6E4}">
                <adec:decorative xmlns:adec="http://schemas.microsoft.com/office/drawing/2017/decorative" val="1"/>
              </a:ext>
            </a:extLst>
          </p:cNvPr>
          <p:cNvSpPr/>
          <p:nvPr userDrawn="1"/>
        </p:nvSpPr>
        <p:spPr>
          <a:xfrm>
            <a:off x="0" y="0"/>
            <a:ext cx="6096000" cy="6858000"/>
          </a:xfrm>
          <a:prstGeom prst="rect">
            <a:avLst/>
          </a:prstGeom>
          <a:gradFill>
            <a:gsLst>
              <a:gs pos="68000">
                <a:schemeClr val="bg1">
                  <a:alpha val="77000"/>
                </a:schemeClr>
              </a:gs>
              <a:gs pos="0">
                <a:schemeClr val="bg1">
                  <a:alpha val="90000"/>
                </a:schemeClr>
              </a:gs>
              <a:gs pos="93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descr="University of Nottingham logo">
            <a:extLst>
              <a:ext uri="{FF2B5EF4-FFF2-40B4-BE49-F238E27FC236}">
                <a16:creationId xmlns:a16="http://schemas.microsoft.com/office/drawing/2014/main" id="{FE1D6E92-5290-1C2E-0615-02172335E21D}"/>
              </a:ext>
            </a:extLst>
          </p:cNvPr>
          <p:cNvGrpSpPr/>
          <p:nvPr userDrawn="1"/>
        </p:nvGrpSpPr>
        <p:grpSpPr>
          <a:xfrm>
            <a:off x="0" y="0"/>
            <a:ext cx="2414586" cy="900112"/>
            <a:chOff x="0" y="0"/>
            <a:chExt cx="2414586" cy="900112"/>
          </a:xfrm>
        </p:grpSpPr>
        <p:pic>
          <p:nvPicPr>
            <p:cNvPr id="4" name="Picture 3" descr="University of Nottingham logo">
              <a:extLst>
                <a:ext uri="{FF2B5EF4-FFF2-40B4-BE49-F238E27FC236}">
                  <a16:creationId xmlns:a16="http://schemas.microsoft.com/office/drawing/2014/main" id="{5E91A821-D390-B9E9-1E6B-240DC4A2544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14586" cy="900112"/>
            </a:xfrm>
            <a:prstGeom prst="rect">
              <a:avLst/>
            </a:prstGeom>
          </p:spPr>
        </p:pic>
        <p:pic>
          <p:nvPicPr>
            <p:cNvPr id="2" name="Picture 1" descr="University of Nottingham logo">
              <a:extLst>
                <a:ext uri="{FF2B5EF4-FFF2-40B4-BE49-F238E27FC236}">
                  <a16:creationId xmlns:a16="http://schemas.microsoft.com/office/drawing/2014/main" id="{3751951F-6AEC-26B3-51D3-81A4705EA85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0"/>
              <a:ext cx="900000" cy="900000"/>
            </a:xfrm>
            <a:prstGeom prst="rect">
              <a:avLst/>
            </a:prstGeom>
          </p:spPr>
        </p:pic>
      </p:grpSp>
      <p:sp>
        <p:nvSpPr>
          <p:cNvPr id="7" name="Title 1">
            <a:extLst>
              <a:ext uri="{FF2B5EF4-FFF2-40B4-BE49-F238E27FC236}">
                <a16:creationId xmlns:a16="http://schemas.microsoft.com/office/drawing/2014/main" id="{51C3934D-A361-752E-306D-CABE6FAC90D1}"/>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tx1"/>
                </a:solidFill>
              </a:defRPr>
            </a:lvl1pPr>
          </a:lstStyle>
          <a:p>
            <a:r>
              <a:rPr lang="en-GB"/>
              <a:t>The title goes here</a:t>
            </a:r>
            <a:endParaRPr lang="en-US"/>
          </a:p>
        </p:txBody>
      </p:sp>
      <p:sp>
        <p:nvSpPr>
          <p:cNvPr id="8" name="Subtitle 2">
            <a:extLst>
              <a:ext uri="{FF2B5EF4-FFF2-40B4-BE49-F238E27FC236}">
                <a16:creationId xmlns:a16="http://schemas.microsoft.com/office/drawing/2014/main" id="{3E713FE3-C318-030C-E350-B79800091D70}"/>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2" name="Text Placeholder 9">
            <a:extLst>
              <a:ext uri="{FF2B5EF4-FFF2-40B4-BE49-F238E27FC236}">
                <a16:creationId xmlns:a16="http://schemas.microsoft.com/office/drawing/2014/main" id="{64A1B2BA-B0FF-65C8-752C-032EA5940AB5}"/>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11" name="Picture Placeholder 2" descr="Partner logo.">
            <a:extLst>
              <a:ext uri="{FF2B5EF4-FFF2-40B4-BE49-F238E27FC236}">
                <a16:creationId xmlns:a16="http://schemas.microsoft.com/office/drawing/2014/main" id="{E868E9B4-6EE2-4451-F95E-40AABDC86B3B}"/>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2522596221"/>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_knowledge_exchange">
    <p:spTree>
      <p:nvGrpSpPr>
        <p:cNvPr id="1" name=""/>
        <p:cNvGrpSpPr/>
        <p:nvPr/>
      </p:nvGrpSpPr>
      <p:grpSpPr>
        <a:xfrm>
          <a:off x="0" y="0"/>
          <a:ext cx="0" cy="0"/>
          <a:chOff x="0" y="0"/>
          <a:chExt cx="0" cy="0"/>
        </a:xfrm>
      </p:grpSpPr>
      <p:pic>
        <p:nvPicPr>
          <p:cNvPr id="19" name="Picture 18" descr="A group of students with a lecturer in a classroom">
            <a:extLst>
              <a:ext uri="{FF2B5EF4-FFF2-40B4-BE49-F238E27FC236}">
                <a16:creationId xmlns:a16="http://schemas.microsoft.com/office/drawing/2014/main" id="{ACBFB2E8-6E89-BBAA-618E-AEFB6300420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sp>
        <p:nvSpPr>
          <p:cNvPr id="11" name="Rectangle 10">
            <a:extLst>
              <a:ext uri="{FF2B5EF4-FFF2-40B4-BE49-F238E27FC236}">
                <a16:creationId xmlns:a16="http://schemas.microsoft.com/office/drawing/2014/main" id="{B19D4243-D09B-4010-00ED-52DEA9510D1F}"/>
              </a:ext>
              <a:ext uri="{C183D7F6-B498-43B3-948B-1728B52AA6E4}">
                <adec:decorative xmlns:adec="http://schemas.microsoft.com/office/drawing/2017/decorative" val="1"/>
              </a:ext>
            </a:extLst>
          </p:cNvPr>
          <p:cNvSpPr/>
          <p:nvPr userDrawn="1"/>
        </p:nvSpPr>
        <p:spPr>
          <a:xfrm>
            <a:off x="0" y="0"/>
            <a:ext cx="7986252" cy="6858000"/>
          </a:xfrm>
          <a:prstGeom prst="rect">
            <a:avLst/>
          </a:prstGeom>
          <a:gradFill>
            <a:gsLst>
              <a:gs pos="62000">
                <a:schemeClr val="bg1">
                  <a:alpha val="60000"/>
                </a:schemeClr>
              </a:gs>
              <a:gs pos="0">
                <a:schemeClr val="bg1">
                  <a:alpha val="76000"/>
                </a:schemeClr>
              </a:gs>
              <a:gs pos="93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descr="University of Nottingham logo">
            <a:extLst>
              <a:ext uri="{FF2B5EF4-FFF2-40B4-BE49-F238E27FC236}">
                <a16:creationId xmlns:a16="http://schemas.microsoft.com/office/drawing/2014/main" id="{99F41044-EE70-E9F2-8436-AFD161FB20CE}"/>
              </a:ext>
            </a:extLst>
          </p:cNvPr>
          <p:cNvGrpSpPr/>
          <p:nvPr userDrawn="1"/>
        </p:nvGrpSpPr>
        <p:grpSpPr>
          <a:xfrm>
            <a:off x="0" y="0"/>
            <a:ext cx="2414586" cy="900112"/>
            <a:chOff x="0" y="0"/>
            <a:chExt cx="2414586" cy="900112"/>
          </a:xfrm>
        </p:grpSpPr>
        <p:pic>
          <p:nvPicPr>
            <p:cNvPr id="4" name="Picture 3" descr="University of Nottingham logo">
              <a:extLst>
                <a:ext uri="{FF2B5EF4-FFF2-40B4-BE49-F238E27FC236}">
                  <a16:creationId xmlns:a16="http://schemas.microsoft.com/office/drawing/2014/main" id="{5E91A821-D390-B9E9-1E6B-240DC4A2544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14586" cy="900112"/>
            </a:xfrm>
            <a:prstGeom prst="rect">
              <a:avLst/>
            </a:prstGeom>
          </p:spPr>
        </p:pic>
        <p:pic>
          <p:nvPicPr>
            <p:cNvPr id="2" name="Picture 1" descr="University of Nottingham logo">
              <a:extLst>
                <a:ext uri="{FF2B5EF4-FFF2-40B4-BE49-F238E27FC236}">
                  <a16:creationId xmlns:a16="http://schemas.microsoft.com/office/drawing/2014/main" id="{DD42F20C-5448-89E8-1BAC-6774371348E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0"/>
              <a:ext cx="900000" cy="900000"/>
            </a:xfrm>
            <a:prstGeom prst="rect">
              <a:avLst/>
            </a:prstGeom>
          </p:spPr>
        </p:pic>
      </p:grpSp>
      <p:sp>
        <p:nvSpPr>
          <p:cNvPr id="6" name="Title 1">
            <a:extLst>
              <a:ext uri="{FF2B5EF4-FFF2-40B4-BE49-F238E27FC236}">
                <a16:creationId xmlns:a16="http://schemas.microsoft.com/office/drawing/2014/main" id="{E739940D-65C5-FB7F-9FCE-1C2E3D92DC65}"/>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tx1"/>
                </a:solidFill>
              </a:defRPr>
            </a:lvl1pPr>
          </a:lstStyle>
          <a:p>
            <a:r>
              <a:rPr lang="en-GB"/>
              <a:t>The title goes here</a:t>
            </a:r>
            <a:endParaRPr lang="en-US"/>
          </a:p>
        </p:txBody>
      </p:sp>
      <p:sp>
        <p:nvSpPr>
          <p:cNvPr id="7" name="Subtitle 2">
            <a:extLst>
              <a:ext uri="{FF2B5EF4-FFF2-40B4-BE49-F238E27FC236}">
                <a16:creationId xmlns:a16="http://schemas.microsoft.com/office/drawing/2014/main" id="{B6A391B4-D1A3-07B0-2040-B1E4DD0E15B6}"/>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0" name="Text Placeholder 9">
            <a:extLst>
              <a:ext uri="{FF2B5EF4-FFF2-40B4-BE49-F238E27FC236}">
                <a16:creationId xmlns:a16="http://schemas.microsoft.com/office/drawing/2014/main" id="{7EE723E9-5220-358B-4CE9-424926AAE43C}"/>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8" name="Picture Placeholder 2" descr="Partner logo.">
            <a:extLst>
              <a:ext uri="{FF2B5EF4-FFF2-40B4-BE49-F238E27FC236}">
                <a16:creationId xmlns:a16="http://schemas.microsoft.com/office/drawing/2014/main" id="{DAD97A24-4AE6-1670-120F-0B2EA9952131}"/>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3066223546"/>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_faculty_arts">
    <p:spTree>
      <p:nvGrpSpPr>
        <p:cNvPr id="1" name=""/>
        <p:cNvGrpSpPr/>
        <p:nvPr/>
      </p:nvGrpSpPr>
      <p:grpSpPr>
        <a:xfrm>
          <a:off x="0" y="0"/>
          <a:ext cx="0" cy="0"/>
          <a:chOff x="0" y="0"/>
          <a:chExt cx="0" cy="0"/>
        </a:xfrm>
      </p:grpSpPr>
      <p:pic>
        <p:nvPicPr>
          <p:cNvPr id="5" name="Picture 4" descr="Student indoor looking at printed posters to represent the arts faculty at the university">
            <a:extLst>
              <a:ext uri="{FF2B5EF4-FFF2-40B4-BE49-F238E27FC236}">
                <a16:creationId xmlns:a16="http://schemas.microsoft.com/office/drawing/2014/main" id="{9C68E323-7A9A-640F-9BA6-836C099A90A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8BABB96-EBB8-3E88-4702-73479B334BB3}"/>
              </a:ext>
              <a:ext uri="{C183D7F6-B498-43B3-948B-1728B52AA6E4}">
                <adec:decorative xmlns:adec="http://schemas.microsoft.com/office/drawing/2017/decorative" val="1"/>
              </a:ext>
            </a:extLst>
          </p:cNvPr>
          <p:cNvSpPr/>
          <p:nvPr userDrawn="1"/>
        </p:nvSpPr>
        <p:spPr>
          <a:xfrm>
            <a:off x="0" y="0"/>
            <a:ext cx="7986252" cy="6858000"/>
          </a:xfrm>
          <a:prstGeom prst="rect">
            <a:avLst/>
          </a:prstGeom>
          <a:gradFill>
            <a:gsLst>
              <a:gs pos="62000">
                <a:srgbClr val="000000">
                  <a:alpha val="50000"/>
                </a:srgbClr>
              </a:gs>
              <a:gs pos="0">
                <a:srgbClr val="000000"/>
              </a:gs>
              <a:gs pos="93000">
                <a:srgbClr val="11273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University of Nottingham logo">
            <a:extLst>
              <a:ext uri="{FF2B5EF4-FFF2-40B4-BE49-F238E27FC236}">
                <a16:creationId xmlns:a16="http://schemas.microsoft.com/office/drawing/2014/main" id="{14686114-02E6-D92C-A5FC-B12555FEF71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6" name="Title 1">
            <a:extLst>
              <a:ext uri="{FF2B5EF4-FFF2-40B4-BE49-F238E27FC236}">
                <a16:creationId xmlns:a16="http://schemas.microsoft.com/office/drawing/2014/main" id="{E739940D-65C5-FB7F-9FCE-1C2E3D92DC65}"/>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bg1"/>
                </a:solidFill>
              </a:defRPr>
            </a:lvl1pPr>
          </a:lstStyle>
          <a:p>
            <a:r>
              <a:rPr lang="en-GB"/>
              <a:t>The title goes here</a:t>
            </a:r>
            <a:endParaRPr lang="en-US"/>
          </a:p>
        </p:txBody>
      </p:sp>
      <p:sp>
        <p:nvSpPr>
          <p:cNvPr id="7" name="Subtitle 2">
            <a:extLst>
              <a:ext uri="{FF2B5EF4-FFF2-40B4-BE49-F238E27FC236}">
                <a16:creationId xmlns:a16="http://schemas.microsoft.com/office/drawing/2014/main" id="{B6A391B4-D1A3-07B0-2040-B1E4DD0E15B6}"/>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0" name="Text Placeholder 9">
            <a:extLst>
              <a:ext uri="{FF2B5EF4-FFF2-40B4-BE49-F238E27FC236}">
                <a16:creationId xmlns:a16="http://schemas.microsoft.com/office/drawing/2014/main" id="{7EE723E9-5220-358B-4CE9-424926AAE43C}"/>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8" name="Picture Placeholder 2" descr="Partner logo.">
            <a:extLst>
              <a:ext uri="{FF2B5EF4-FFF2-40B4-BE49-F238E27FC236}">
                <a16:creationId xmlns:a16="http://schemas.microsoft.com/office/drawing/2014/main" id="{DAD97A24-4AE6-1670-120F-0B2EA9952131}"/>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35953852"/>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_faculty_social_sciences">
    <p:spTree>
      <p:nvGrpSpPr>
        <p:cNvPr id="1" name=""/>
        <p:cNvGrpSpPr/>
        <p:nvPr/>
      </p:nvGrpSpPr>
      <p:grpSpPr>
        <a:xfrm>
          <a:off x="0" y="0"/>
          <a:ext cx="0" cy="0"/>
          <a:chOff x="0" y="0"/>
          <a:chExt cx="0" cy="0"/>
        </a:xfrm>
      </p:grpSpPr>
      <p:pic>
        <p:nvPicPr>
          <p:cNvPr id="5" name="Picture 4" descr="A student sitting in a library reading a book to represent social sciences faculty">
            <a:extLst>
              <a:ext uri="{FF2B5EF4-FFF2-40B4-BE49-F238E27FC236}">
                <a16:creationId xmlns:a16="http://schemas.microsoft.com/office/drawing/2014/main" id="{B565E0CA-EE73-59A5-7B15-8184F1AF3AF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5032" y="0"/>
            <a:ext cx="12197032" cy="6858000"/>
          </a:xfrm>
          <a:prstGeom prst="rect">
            <a:avLst/>
          </a:prstGeom>
        </p:spPr>
      </p:pic>
      <p:sp>
        <p:nvSpPr>
          <p:cNvPr id="3" name="Rectangle 2">
            <a:extLst>
              <a:ext uri="{FF2B5EF4-FFF2-40B4-BE49-F238E27FC236}">
                <a16:creationId xmlns:a16="http://schemas.microsoft.com/office/drawing/2014/main" id="{368267CD-D760-80CB-6ECD-FEC9C2891901}"/>
              </a:ext>
              <a:ext uri="{C183D7F6-B498-43B3-948B-1728B52AA6E4}">
                <adec:decorative xmlns:adec="http://schemas.microsoft.com/office/drawing/2017/decorative" val="1"/>
              </a:ext>
            </a:extLst>
          </p:cNvPr>
          <p:cNvSpPr/>
          <p:nvPr userDrawn="1"/>
        </p:nvSpPr>
        <p:spPr>
          <a:xfrm>
            <a:off x="0" y="0"/>
            <a:ext cx="7986252" cy="6858000"/>
          </a:xfrm>
          <a:prstGeom prst="rect">
            <a:avLst/>
          </a:prstGeom>
          <a:gradFill>
            <a:gsLst>
              <a:gs pos="62000">
                <a:schemeClr val="bg1">
                  <a:alpha val="60000"/>
                </a:schemeClr>
              </a:gs>
              <a:gs pos="0">
                <a:schemeClr val="bg1"/>
              </a:gs>
              <a:gs pos="93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descr="The University of Nottingham logo.">
            <a:extLst>
              <a:ext uri="{FF2B5EF4-FFF2-40B4-BE49-F238E27FC236}">
                <a16:creationId xmlns:a16="http://schemas.microsoft.com/office/drawing/2014/main" id="{F5B6BDB7-93E8-A9D5-A974-108B82ACE397}"/>
              </a:ext>
            </a:extLst>
          </p:cNvPr>
          <p:cNvGrpSpPr/>
          <p:nvPr userDrawn="1"/>
        </p:nvGrpSpPr>
        <p:grpSpPr>
          <a:xfrm>
            <a:off x="0" y="0"/>
            <a:ext cx="2414586" cy="900112"/>
            <a:chOff x="0" y="0"/>
            <a:chExt cx="2414586" cy="900112"/>
          </a:xfrm>
        </p:grpSpPr>
        <p:pic>
          <p:nvPicPr>
            <p:cNvPr id="4" name="Picture 3" descr="University of Nottingham logo">
              <a:extLst>
                <a:ext uri="{FF2B5EF4-FFF2-40B4-BE49-F238E27FC236}">
                  <a16:creationId xmlns:a16="http://schemas.microsoft.com/office/drawing/2014/main" id="{5E91A821-D390-B9E9-1E6B-240DC4A2544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14586" cy="900112"/>
            </a:xfrm>
            <a:prstGeom prst="rect">
              <a:avLst/>
            </a:prstGeom>
          </p:spPr>
        </p:pic>
        <p:pic>
          <p:nvPicPr>
            <p:cNvPr id="2" name="Picture 1" descr="University of Nottingham logo">
              <a:extLst>
                <a:ext uri="{FF2B5EF4-FFF2-40B4-BE49-F238E27FC236}">
                  <a16:creationId xmlns:a16="http://schemas.microsoft.com/office/drawing/2014/main" id="{DD42F20C-5448-89E8-1BAC-6774371348E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0"/>
              <a:ext cx="900000" cy="900000"/>
            </a:xfrm>
            <a:prstGeom prst="rect">
              <a:avLst/>
            </a:prstGeom>
          </p:spPr>
        </p:pic>
      </p:grpSp>
      <p:sp>
        <p:nvSpPr>
          <p:cNvPr id="6" name="Title 1">
            <a:extLst>
              <a:ext uri="{FF2B5EF4-FFF2-40B4-BE49-F238E27FC236}">
                <a16:creationId xmlns:a16="http://schemas.microsoft.com/office/drawing/2014/main" id="{E739940D-65C5-FB7F-9FCE-1C2E3D92DC65}"/>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tx1"/>
                </a:solidFill>
              </a:defRPr>
            </a:lvl1pPr>
          </a:lstStyle>
          <a:p>
            <a:r>
              <a:rPr lang="en-GB"/>
              <a:t>The title goes here</a:t>
            </a:r>
            <a:endParaRPr lang="en-US"/>
          </a:p>
        </p:txBody>
      </p:sp>
      <p:sp>
        <p:nvSpPr>
          <p:cNvPr id="7" name="Subtitle 2">
            <a:extLst>
              <a:ext uri="{FF2B5EF4-FFF2-40B4-BE49-F238E27FC236}">
                <a16:creationId xmlns:a16="http://schemas.microsoft.com/office/drawing/2014/main" id="{B6A391B4-D1A3-07B0-2040-B1E4DD0E15B6}"/>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0" name="Text Placeholder 9">
            <a:extLst>
              <a:ext uri="{FF2B5EF4-FFF2-40B4-BE49-F238E27FC236}">
                <a16:creationId xmlns:a16="http://schemas.microsoft.com/office/drawing/2014/main" id="{7EE723E9-5220-358B-4CE9-424926AAE43C}"/>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8" name="Picture Placeholder 2" descr="Partner logo.">
            <a:extLst>
              <a:ext uri="{FF2B5EF4-FFF2-40B4-BE49-F238E27FC236}">
                <a16:creationId xmlns:a16="http://schemas.microsoft.com/office/drawing/2014/main" id="{DAD97A24-4AE6-1670-120F-0B2EA9952131}"/>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1666655727"/>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_faculty_engineering">
    <p:spTree>
      <p:nvGrpSpPr>
        <p:cNvPr id="1" name=""/>
        <p:cNvGrpSpPr/>
        <p:nvPr/>
      </p:nvGrpSpPr>
      <p:grpSpPr>
        <a:xfrm>
          <a:off x="0" y="0"/>
          <a:ext cx="0" cy="0"/>
          <a:chOff x="0" y="0"/>
          <a:chExt cx="0" cy="0"/>
        </a:xfrm>
      </p:grpSpPr>
      <p:pic>
        <p:nvPicPr>
          <p:cNvPr id="11" name="Picture 10" descr="A picture containing person wearing goggles while operating machinery to represent the engineering faculty">
            <a:extLst>
              <a:ext uri="{FF2B5EF4-FFF2-40B4-BE49-F238E27FC236}">
                <a16:creationId xmlns:a16="http://schemas.microsoft.com/office/drawing/2014/main" id="{937042E3-1F94-D876-D855-C0086C1E1D5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3" name="Rectangle 2">
            <a:extLst>
              <a:ext uri="{FF2B5EF4-FFF2-40B4-BE49-F238E27FC236}">
                <a16:creationId xmlns:a16="http://schemas.microsoft.com/office/drawing/2014/main" id="{BAC677D0-4A7D-B2D4-5884-B7CA0698A545}"/>
              </a:ext>
              <a:ext uri="{C183D7F6-B498-43B3-948B-1728B52AA6E4}">
                <adec:decorative xmlns:adec="http://schemas.microsoft.com/office/drawing/2017/decorative" val="1"/>
              </a:ext>
            </a:extLst>
          </p:cNvPr>
          <p:cNvSpPr/>
          <p:nvPr userDrawn="1"/>
        </p:nvSpPr>
        <p:spPr>
          <a:xfrm>
            <a:off x="0" y="0"/>
            <a:ext cx="7986252" cy="6858000"/>
          </a:xfrm>
          <a:prstGeom prst="rect">
            <a:avLst/>
          </a:prstGeom>
          <a:gradFill>
            <a:gsLst>
              <a:gs pos="52000">
                <a:schemeClr val="bg1">
                  <a:alpha val="60000"/>
                </a:schemeClr>
              </a:gs>
              <a:gs pos="0">
                <a:schemeClr val="bg1"/>
              </a:gs>
              <a:gs pos="77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descr="University of Nottingham logo">
            <a:extLst>
              <a:ext uri="{FF2B5EF4-FFF2-40B4-BE49-F238E27FC236}">
                <a16:creationId xmlns:a16="http://schemas.microsoft.com/office/drawing/2014/main" id="{183F7270-4379-F8B2-5D8E-518A76505B08}"/>
              </a:ext>
            </a:extLst>
          </p:cNvPr>
          <p:cNvGrpSpPr/>
          <p:nvPr userDrawn="1"/>
        </p:nvGrpSpPr>
        <p:grpSpPr>
          <a:xfrm>
            <a:off x="0" y="0"/>
            <a:ext cx="2414586" cy="900112"/>
            <a:chOff x="0" y="0"/>
            <a:chExt cx="2414586" cy="900112"/>
          </a:xfrm>
        </p:grpSpPr>
        <p:pic>
          <p:nvPicPr>
            <p:cNvPr id="4" name="Picture 3" descr="University of Nottingham logo">
              <a:extLst>
                <a:ext uri="{FF2B5EF4-FFF2-40B4-BE49-F238E27FC236}">
                  <a16:creationId xmlns:a16="http://schemas.microsoft.com/office/drawing/2014/main" id="{5E91A821-D390-B9E9-1E6B-240DC4A2544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2414586" cy="900112"/>
            </a:xfrm>
            <a:prstGeom prst="rect">
              <a:avLst/>
            </a:prstGeom>
          </p:spPr>
        </p:pic>
        <p:pic>
          <p:nvPicPr>
            <p:cNvPr id="2" name="Picture 1" descr="University of Nottingham logo&#10;">
              <a:extLst>
                <a:ext uri="{FF2B5EF4-FFF2-40B4-BE49-F238E27FC236}">
                  <a16:creationId xmlns:a16="http://schemas.microsoft.com/office/drawing/2014/main" id="{DD42F20C-5448-89E8-1BAC-6774371348E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0"/>
              <a:ext cx="900000" cy="900000"/>
            </a:xfrm>
            <a:prstGeom prst="rect">
              <a:avLst/>
            </a:prstGeom>
          </p:spPr>
        </p:pic>
      </p:grpSp>
      <p:sp>
        <p:nvSpPr>
          <p:cNvPr id="6" name="Title 1">
            <a:extLst>
              <a:ext uri="{FF2B5EF4-FFF2-40B4-BE49-F238E27FC236}">
                <a16:creationId xmlns:a16="http://schemas.microsoft.com/office/drawing/2014/main" id="{E739940D-65C5-FB7F-9FCE-1C2E3D92DC65}"/>
              </a:ext>
            </a:extLst>
          </p:cNvPr>
          <p:cNvSpPr>
            <a:spLocks noGrp="1"/>
          </p:cNvSpPr>
          <p:nvPr>
            <p:ph type="ctrTitle" hasCustomPrompt="1"/>
          </p:nvPr>
        </p:nvSpPr>
        <p:spPr>
          <a:xfrm>
            <a:off x="425989" y="1817028"/>
            <a:ext cx="4679880" cy="1902398"/>
          </a:xfrm>
          <a:prstGeom prst="rect">
            <a:avLst/>
          </a:prstGeom>
        </p:spPr>
        <p:txBody>
          <a:bodyPr wrap="square" anchor="ctr">
            <a:spAutoFit/>
          </a:bodyPr>
          <a:lstStyle>
            <a:lvl1pPr algn="l">
              <a:lnSpc>
                <a:spcPts val="6000"/>
              </a:lnSpc>
              <a:defRPr sz="6000">
                <a:solidFill>
                  <a:schemeClr val="tx1"/>
                </a:solidFill>
              </a:defRPr>
            </a:lvl1pPr>
          </a:lstStyle>
          <a:p>
            <a:r>
              <a:rPr lang="en-GB"/>
              <a:t>The title goes here</a:t>
            </a:r>
            <a:endParaRPr lang="en-US"/>
          </a:p>
        </p:txBody>
      </p:sp>
      <p:sp>
        <p:nvSpPr>
          <p:cNvPr id="7" name="Subtitle 2">
            <a:extLst>
              <a:ext uri="{FF2B5EF4-FFF2-40B4-BE49-F238E27FC236}">
                <a16:creationId xmlns:a16="http://schemas.microsoft.com/office/drawing/2014/main" id="{B6A391B4-D1A3-07B0-2040-B1E4DD0E15B6}"/>
              </a:ext>
            </a:extLst>
          </p:cNvPr>
          <p:cNvSpPr>
            <a:spLocks noGrp="1"/>
          </p:cNvSpPr>
          <p:nvPr>
            <p:ph type="subTitle" idx="1" hasCustomPrompt="1"/>
          </p:nvPr>
        </p:nvSpPr>
        <p:spPr>
          <a:xfrm>
            <a:off x="425989" y="3947752"/>
            <a:ext cx="4679880" cy="886397"/>
          </a:xfrm>
          <a:prstGeom prst="rect">
            <a:avLst/>
          </a:prstGeom>
        </p:spPr>
        <p:txBody>
          <a:bodyPr wrap="square">
            <a:spAutoFit/>
          </a:bodyPr>
          <a:lstStyle>
            <a:lvl1pPr marL="0" indent="0" algn="l">
              <a:buNone/>
              <a:defRPr sz="32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0" name="Text Placeholder 9">
            <a:extLst>
              <a:ext uri="{FF2B5EF4-FFF2-40B4-BE49-F238E27FC236}">
                <a16:creationId xmlns:a16="http://schemas.microsoft.com/office/drawing/2014/main" id="{7EE723E9-5220-358B-4CE9-424926AAE43C}"/>
              </a:ext>
            </a:extLst>
          </p:cNvPr>
          <p:cNvSpPr>
            <a:spLocks noGrp="1"/>
          </p:cNvSpPr>
          <p:nvPr>
            <p:ph type="body" sz="quarter" idx="11" hasCustomPrompt="1"/>
          </p:nvPr>
        </p:nvSpPr>
        <p:spPr>
          <a:xfrm>
            <a:off x="425450" y="5207617"/>
            <a:ext cx="4679958" cy="360699"/>
          </a:xfrm>
        </p:spPr>
        <p:txBody>
          <a:bodyPr/>
          <a:lstStyle>
            <a:lvl1pPr marL="0" indent="0">
              <a:buNone/>
              <a:defRPr>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8" name="Picture Placeholder 2" descr="Partner logo.">
            <a:extLst>
              <a:ext uri="{FF2B5EF4-FFF2-40B4-BE49-F238E27FC236}">
                <a16:creationId xmlns:a16="http://schemas.microsoft.com/office/drawing/2014/main" id="{DAD97A24-4AE6-1670-120F-0B2EA9952131}"/>
              </a:ext>
            </a:extLst>
          </p:cNvPr>
          <p:cNvSpPr>
            <a:spLocks noGrp="1"/>
          </p:cNvSpPr>
          <p:nvPr>
            <p:ph type="pic" sz="quarter" idx="10" hasCustomPrompt="1"/>
          </p:nvPr>
        </p:nvSpPr>
        <p:spPr>
          <a:xfrm>
            <a:off x="9951739"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Tree>
    <p:extLst>
      <p:ext uri="{BB962C8B-B14F-4D97-AF65-F5344CB8AC3E}">
        <p14:creationId xmlns:p14="http://schemas.microsoft.com/office/powerpoint/2010/main" val="3625721578"/>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_blue_1">
    <p:bg>
      <p:bgPr>
        <a:solidFill>
          <a:schemeClr val="tx1"/>
        </a:solidFill>
        <a:effectLst/>
      </p:bgPr>
    </p:bg>
    <p:spTree>
      <p:nvGrpSpPr>
        <p:cNvPr id="1" name=""/>
        <p:cNvGrpSpPr/>
        <p:nvPr/>
      </p:nvGrpSpPr>
      <p:grpSpPr>
        <a:xfrm>
          <a:off x="0" y="0"/>
          <a:ext cx="0" cy="0"/>
          <a:chOff x="0" y="0"/>
          <a:chExt cx="0" cy="0"/>
        </a:xfrm>
      </p:grpSpPr>
      <p:pic>
        <p:nvPicPr>
          <p:cNvPr id="4" name="Picture 3" descr="University of Nottingham logo">
            <a:extLst>
              <a:ext uri="{FF2B5EF4-FFF2-40B4-BE49-F238E27FC236}">
                <a16:creationId xmlns:a16="http://schemas.microsoft.com/office/drawing/2014/main" id="{F1EA9D3F-EDF8-DEC2-BF2D-AE3CF2580B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6" name="Title 1">
            <a:extLst>
              <a:ext uri="{FF2B5EF4-FFF2-40B4-BE49-F238E27FC236}">
                <a16:creationId xmlns:a16="http://schemas.microsoft.com/office/drawing/2014/main" id="{9D22ABA4-3700-BF47-C5C3-AD2A7C00FBAE}"/>
              </a:ext>
            </a:extLst>
          </p:cNvPr>
          <p:cNvSpPr>
            <a:spLocks noGrp="1"/>
          </p:cNvSpPr>
          <p:nvPr>
            <p:ph type="ctrTitle" hasCustomPrompt="1"/>
          </p:nvPr>
        </p:nvSpPr>
        <p:spPr>
          <a:xfrm>
            <a:off x="426528" y="1808163"/>
            <a:ext cx="9269952" cy="1796732"/>
          </a:xfrm>
          <a:prstGeom prst="rect">
            <a:avLst/>
          </a:prstGeom>
        </p:spPr>
        <p:txBody>
          <a:bodyPr anchor="ctr"/>
          <a:lstStyle>
            <a:lvl1pPr algn="l">
              <a:lnSpc>
                <a:spcPts val="6000"/>
              </a:lnSpc>
              <a:defRPr sz="6000">
                <a:solidFill>
                  <a:schemeClr val="bg1"/>
                </a:solidFill>
              </a:defRPr>
            </a:lvl1pPr>
          </a:lstStyle>
          <a:p>
            <a:r>
              <a:rPr lang="en-GB"/>
              <a:t>Title of presentation </a:t>
            </a:r>
            <a:br>
              <a:rPr lang="en-GB"/>
            </a:br>
            <a:r>
              <a:rPr lang="en-GB"/>
              <a:t>or section goes here</a:t>
            </a:r>
            <a:endParaRPr lang="en-US"/>
          </a:p>
        </p:txBody>
      </p:sp>
      <p:sp>
        <p:nvSpPr>
          <p:cNvPr id="7" name="Subtitle 2">
            <a:extLst>
              <a:ext uri="{FF2B5EF4-FFF2-40B4-BE49-F238E27FC236}">
                <a16:creationId xmlns:a16="http://schemas.microsoft.com/office/drawing/2014/main" id="{491764B8-A98D-B024-D18E-427B6AC849E5}"/>
              </a:ext>
            </a:extLst>
          </p:cNvPr>
          <p:cNvSpPr>
            <a:spLocks noGrp="1"/>
          </p:cNvSpPr>
          <p:nvPr>
            <p:ph type="subTitle" idx="1" hasCustomPrompt="1"/>
          </p:nvPr>
        </p:nvSpPr>
        <p:spPr>
          <a:xfrm>
            <a:off x="426528"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2" name="Text Placeholder 9">
            <a:extLst>
              <a:ext uri="{FF2B5EF4-FFF2-40B4-BE49-F238E27FC236}">
                <a16:creationId xmlns:a16="http://schemas.microsoft.com/office/drawing/2014/main" id="{B93E08E4-1BF9-8CA3-4C65-FF7B43AB225D}"/>
              </a:ext>
            </a:extLst>
          </p:cNvPr>
          <p:cNvSpPr>
            <a:spLocks noGrp="1"/>
          </p:cNvSpPr>
          <p:nvPr>
            <p:ph type="body" sz="quarter" idx="11" hasCustomPrompt="1"/>
          </p:nvPr>
        </p:nvSpPr>
        <p:spPr>
          <a:xfrm>
            <a:off x="425989" y="5229240"/>
            <a:ext cx="4225925"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10" name="Picture Placeholder 2" descr="Partner logo.">
            <a:extLst>
              <a:ext uri="{FF2B5EF4-FFF2-40B4-BE49-F238E27FC236}">
                <a16:creationId xmlns:a16="http://schemas.microsoft.com/office/drawing/2014/main" id="{320CE6D5-BD3C-E1D9-4759-3B4EA6BE4B38}"/>
              </a:ext>
            </a:extLst>
          </p:cNvPr>
          <p:cNvSpPr>
            <a:spLocks noGrp="1"/>
          </p:cNvSpPr>
          <p:nvPr>
            <p:ph type="pic" sz="quarter" idx="12" hasCustomPrompt="1"/>
          </p:nvPr>
        </p:nvSpPr>
        <p:spPr>
          <a:xfrm>
            <a:off x="9557363"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7757749"/>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_blue_2">
    <p:bg>
      <p:bgPr>
        <a:solidFill>
          <a:schemeClr val="tx1"/>
        </a:solidFill>
        <a:effectLst/>
      </p:bgPr>
    </p:bg>
    <p:spTree>
      <p:nvGrpSpPr>
        <p:cNvPr id="1" name=""/>
        <p:cNvGrpSpPr/>
        <p:nvPr/>
      </p:nvGrpSpPr>
      <p:grpSpPr>
        <a:xfrm>
          <a:off x="0" y="0"/>
          <a:ext cx="0" cy="0"/>
          <a:chOff x="0" y="0"/>
          <a:chExt cx="0" cy="0"/>
        </a:xfrm>
      </p:grpSpPr>
      <p:pic>
        <p:nvPicPr>
          <p:cNvPr id="4" name="Picture 3" descr="University of Nottingham logo">
            <a:extLst>
              <a:ext uri="{FF2B5EF4-FFF2-40B4-BE49-F238E27FC236}">
                <a16:creationId xmlns:a16="http://schemas.microsoft.com/office/drawing/2014/main" id="{F1EA9D3F-EDF8-DEC2-BF2D-AE3CF2580B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8" name="Title 1">
            <a:extLst>
              <a:ext uri="{FF2B5EF4-FFF2-40B4-BE49-F238E27FC236}">
                <a16:creationId xmlns:a16="http://schemas.microsoft.com/office/drawing/2014/main" id="{FD2D73A5-D9F3-41EE-E7DB-D68266D900C2}"/>
              </a:ext>
            </a:extLst>
          </p:cNvPr>
          <p:cNvSpPr>
            <a:spLocks noGrp="1"/>
          </p:cNvSpPr>
          <p:nvPr>
            <p:ph type="ctrTitle" hasCustomPrompt="1"/>
          </p:nvPr>
        </p:nvSpPr>
        <p:spPr>
          <a:xfrm>
            <a:off x="426528" y="1808163"/>
            <a:ext cx="9269952" cy="1796732"/>
          </a:xfrm>
          <a:prstGeom prst="rect">
            <a:avLst/>
          </a:prstGeom>
        </p:spPr>
        <p:txBody>
          <a:bodyPr anchor="ctr"/>
          <a:lstStyle>
            <a:lvl1pPr algn="l">
              <a:lnSpc>
                <a:spcPts val="6000"/>
              </a:lnSpc>
              <a:defRPr sz="6000">
                <a:solidFill>
                  <a:schemeClr val="bg1"/>
                </a:solidFill>
              </a:defRPr>
            </a:lvl1pPr>
          </a:lstStyle>
          <a:p>
            <a:r>
              <a:rPr lang="en-GB"/>
              <a:t>Title of presentation </a:t>
            </a:r>
            <a:br>
              <a:rPr lang="en-GB"/>
            </a:br>
            <a:r>
              <a:rPr lang="en-GB"/>
              <a:t>or section goes here</a:t>
            </a:r>
            <a:endParaRPr lang="en-US"/>
          </a:p>
        </p:txBody>
      </p:sp>
      <p:sp>
        <p:nvSpPr>
          <p:cNvPr id="9" name="Subtitle 2">
            <a:extLst>
              <a:ext uri="{FF2B5EF4-FFF2-40B4-BE49-F238E27FC236}">
                <a16:creationId xmlns:a16="http://schemas.microsoft.com/office/drawing/2014/main" id="{E54708EE-9DCC-D954-B2AB-46FED4C0EAF1}"/>
              </a:ext>
            </a:extLst>
          </p:cNvPr>
          <p:cNvSpPr>
            <a:spLocks noGrp="1"/>
          </p:cNvSpPr>
          <p:nvPr>
            <p:ph type="subTitle" idx="1" hasCustomPrompt="1"/>
          </p:nvPr>
        </p:nvSpPr>
        <p:spPr>
          <a:xfrm>
            <a:off x="426528"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0" name="Text Placeholder 9">
            <a:extLst>
              <a:ext uri="{FF2B5EF4-FFF2-40B4-BE49-F238E27FC236}">
                <a16:creationId xmlns:a16="http://schemas.microsoft.com/office/drawing/2014/main" id="{FB033AEE-5A46-6AD6-1141-0D13DA32B825}"/>
              </a:ext>
            </a:extLst>
          </p:cNvPr>
          <p:cNvSpPr>
            <a:spLocks noGrp="1"/>
          </p:cNvSpPr>
          <p:nvPr>
            <p:ph type="body" sz="quarter" idx="11" hasCustomPrompt="1"/>
          </p:nvPr>
        </p:nvSpPr>
        <p:spPr>
          <a:xfrm>
            <a:off x="425989" y="5229240"/>
            <a:ext cx="4225925"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11" name="Picture Placeholder 2" descr="Partner logo.">
            <a:extLst>
              <a:ext uri="{FF2B5EF4-FFF2-40B4-BE49-F238E27FC236}">
                <a16:creationId xmlns:a16="http://schemas.microsoft.com/office/drawing/2014/main" id="{236E9D49-337F-82A4-1332-A4CD0B82E4CB}"/>
              </a:ext>
            </a:extLst>
          </p:cNvPr>
          <p:cNvSpPr>
            <a:spLocks noGrp="1"/>
          </p:cNvSpPr>
          <p:nvPr>
            <p:ph type="pic" sz="quarter" idx="12" hasCustomPrompt="1"/>
          </p:nvPr>
        </p:nvSpPr>
        <p:spPr>
          <a:xfrm>
            <a:off x="9557363"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2073634"/>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_blue_3">
    <p:bg>
      <p:bgPr>
        <a:solidFill>
          <a:schemeClr val="tx1"/>
        </a:solidFill>
        <a:effectLst/>
      </p:bgPr>
    </p:bg>
    <p:spTree>
      <p:nvGrpSpPr>
        <p:cNvPr id="1" name=""/>
        <p:cNvGrpSpPr/>
        <p:nvPr/>
      </p:nvGrpSpPr>
      <p:grpSpPr>
        <a:xfrm>
          <a:off x="0" y="0"/>
          <a:ext cx="0" cy="0"/>
          <a:chOff x="0" y="0"/>
          <a:chExt cx="0" cy="0"/>
        </a:xfrm>
      </p:grpSpPr>
      <p:pic>
        <p:nvPicPr>
          <p:cNvPr id="4" name="Picture 3" descr="University of Nottingham logo">
            <a:extLst>
              <a:ext uri="{FF2B5EF4-FFF2-40B4-BE49-F238E27FC236}">
                <a16:creationId xmlns:a16="http://schemas.microsoft.com/office/drawing/2014/main" id="{F1EA9D3F-EDF8-DEC2-BF2D-AE3CF2580B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8" name="Title 1">
            <a:extLst>
              <a:ext uri="{FF2B5EF4-FFF2-40B4-BE49-F238E27FC236}">
                <a16:creationId xmlns:a16="http://schemas.microsoft.com/office/drawing/2014/main" id="{5B4F4275-3E4F-D80E-F9C8-47C67E6181CD}"/>
              </a:ext>
            </a:extLst>
          </p:cNvPr>
          <p:cNvSpPr>
            <a:spLocks noGrp="1"/>
          </p:cNvSpPr>
          <p:nvPr>
            <p:ph type="ctrTitle" hasCustomPrompt="1"/>
          </p:nvPr>
        </p:nvSpPr>
        <p:spPr>
          <a:xfrm>
            <a:off x="426528" y="1808163"/>
            <a:ext cx="9269952" cy="1796732"/>
          </a:xfrm>
          <a:prstGeom prst="rect">
            <a:avLst/>
          </a:prstGeom>
        </p:spPr>
        <p:txBody>
          <a:bodyPr anchor="ctr"/>
          <a:lstStyle>
            <a:lvl1pPr algn="l">
              <a:lnSpc>
                <a:spcPts val="6000"/>
              </a:lnSpc>
              <a:defRPr sz="6000">
                <a:solidFill>
                  <a:schemeClr val="bg1"/>
                </a:solidFill>
              </a:defRPr>
            </a:lvl1pPr>
          </a:lstStyle>
          <a:p>
            <a:r>
              <a:rPr lang="en-GB"/>
              <a:t>Title of presentation </a:t>
            </a:r>
            <a:br>
              <a:rPr lang="en-GB"/>
            </a:br>
            <a:r>
              <a:rPr lang="en-GB"/>
              <a:t>or section goes here</a:t>
            </a:r>
            <a:endParaRPr lang="en-US"/>
          </a:p>
        </p:txBody>
      </p:sp>
      <p:sp>
        <p:nvSpPr>
          <p:cNvPr id="9" name="Subtitle 2">
            <a:extLst>
              <a:ext uri="{FF2B5EF4-FFF2-40B4-BE49-F238E27FC236}">
                <a16:creationId xmlns:a16="http://schemas.microsoft.com/office/drawing/2014/main" id="{C1D309B2-0B3C-7544-CF55-A9DA0836EA0D}"/>
              </a:ext>
            </a:extLst>
          </p:cNvPr>
          <p:cNvSpPr>
            <a:spLocks noGrp="1"/>
          </p:cNvSpPr>
          <p:nvPr>
            <p:ph type="subTitle" idx="1" hasCustomPrompt="1"/>
          </p:nvPr>
        </p:nvSpPr>
        <p:spPr>
          <a:xfrm>
            <a:off x="426528"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0" name="Text Placeholder 9">
            <a:extLst>
              <a:ext uri="{FF2B5EF4-FFF2-40B4-BE49-F238E27FC236}">
                <a16:creationId xmlns:a16="http://schemas.microsoft.com/office/drawing/2014/main" id="{453F9965-8A47-94FA-C04E-A27D2EA8DD9D}"/>
              </a:ext>
            </a:extLst>
          </p:cNvPr>
          <p:cNvSpPr>
            <a:spLocks noGrp="1"/>
          </p:cNvSpPr>
          <p:nvPr>
            <p:ph type="body" sz="quarter" idx="11" hasCustomPrompt="1"/>
          </p:nvPr>
        </p:nvSpPr>
        <p:spPr>
          <a:xfrm>
            <a:off x="425989" y="5229240"/>
            <a:ext cx="4225925"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11" name="Picture Placeholder 2" descr="Partner logo.">
            <a:extLst>
              <a:ext uri="{FF2B5EF4-FFF2-40B4-BE49-F238E27FC236}">
                <a16:creationId xmlns:a16="http://schemas.microsoft.com/office/drawing/2014/main" id="{17790C14-E84E-D22B-241E-70A189E4A886}"/>
              </a:ext>
            </a:extLst>
          </p:cNvPr>
          <p:cNvSpPr>
            <a:spLocks noGrp="1"/>
          </p:cNvSpPr>
          <p:nvPr>
            <p:ph type="pic" sz="quarter" idx="12" hasCustomPrompt="1"/>
          </p:nvPr>
        </p:nvSpPr>
        <p:spPr>
          <a:xfrm>
            <a:off x="9557363"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0004752"/>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_blue_4">
    <p:bg>
      <p:bgPr>
        <a:solidFill>
          <a:schemeClr val="tx1"/>
        </a:solidFill>
        <a:effectLst/>
      </p:bgPr>
    </p:bg>
    <p:spTree>
      <p:nvGrpSpPr>
        <p:cNvPr id="1" name=""/>
        <p:cNvGrpSpPr/>
        <p:nvPr/>
      </p:nvGrpSpPr>
      <p:grpSpPr>
        <a:xfrm>
          <a:off x="0" y="0"/>
          <a:ext cx="0" cy="0"/>
          <a:chOff x="0" y="0"/>
          <a:chExt cx="0" cy="0"/>
        </a:xfrm>
      </p:grpSpPr>
      <p:pic>
        <p:nvPicPr>
          <p:cNvPr id="4" name="Picture 3" descr="University of Nottingham logo">
            <a:extLst>
              <a:ext uri="{FF2B5EF4-FFF2-40B4-BE49-F238E27FC236}">
                <a16:creationId xmlns:a16="http://schemas.microsoft.com/office/drawing/2014/main" id="{F1EA9D3F-EDF8-DEC2-BF2D-AE3CF2580B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8" name="Title 1">
            <a:extLst>
              <a:ext uri="{FF2B5EF4-FFF2-40B4-BE49-F238E27FC236}">
                <a16:creationId xmlns:a16="http://schemas.microsoft.com/office/drawing/2014/main" id="{998903FF-2ED4-C86B-64A8-AC2ED1D19996}"/>
              </a:ext>
            </a:extLst>
          </p:cNvPr>
          <p:cNvSpPr>
            <a:spLocks noGrp="1"/>
          </p:cNvSpPr>
          <p:nvPr>
            <p:ph type="ctrTitle" hasCustomPrompt="1"/>
          </p:nvPr>
        </p:nvSpPr>
        <p:spPr>
          <a:xfrm>
            <a:off x="426528" y="1808163"/>
            <a:ext cx="9269952" cy="1796732"/>
          </a:xfrm>
          <a:prstGeom prst="rect">
            <a:avLst/>
          </a:prstGeom>
        </p:spPr>
        <p:txBody>
          <a:bodyPr anchor="ctr"/>
          <a:lstStyle>
            <a:lvl1pPr algn="l">
              <a:lnSpc>
                <a:spcPts val="6000"/>
              </a:lnSpc>
              <a:defRPr sz="6000">
                <a:solidFill>
                  <a:schemeClr val="bg1"/>
                </a:solidFill>
              </a:defRPr>
            </a:lvl1pPr>
          </a:lstStyle>
          <a:p>
            <a:r>
              <a:rPr lang="en-GB"/>
              <a:t>Title of presentation </a:t>
            </a:r>
            <a:br>
              <a:rPr lang="en-GB"/>
            </a:br>
            <a:r>
              <a:rPr lang="en-GB"/>
              <a:t>or section goes here</a:t>
            </a:r>
            <a:endParaRPr lang="en-US"/>
          </a:p>
        </p:txBody>
      </p:sp>
      <p:sp>
        <p:nvSpPr>
          <p:cNvPr id="9" name="Subtitle 2">
            <a:extLst>
              <a:ext uri="{FF2B5EF4-FFF2-40B4-BE49-F238E27FC236}">
                <a16:creationId xmlns:a16="http://schemas.microsoft.com/office/drawing/2014/main" id="{E65196FB-C293-6637-2C20-F6F5A3B3F2FB}"/>
              </a:ext>
            </a:extLst>
          </p:cNvPr>
          <p:cNvSpPr>
            <a:spLocks noGrp="1"/>
          </p:cNvSpPr>
          <p:nvPr>
            <p:ph type="subTitle" idx="1" hasCustomPrompt="1"/>
          </p:nvPr>
        </p:nvSpPr>
        <p:spPr>
          <a:xfrm>
            <a:off x="426528"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10" name="Text Placeholder 9">
            <a:extLst>
              <a:ext uri="{FF2B5EF4-FFF2-40B4-BE49-F238E27FC236}">
                <a16:creationId xmlns:a16="http://schemas.microsoft.com/office/drawing/2014/main" id="{8FEF38FB-2DE7-E0FC-2BEF-2C1C3010133B}"/>
              </a:ext>
            </a:extLst>
          </p:cNvPr>
          <p:cNvSpPr>
            <a:spLocks noGrp="1"/>
          </p:cNvSpPr>
          <p:nvPr>
            <p:ph type="body" sz="quarter" idx="11" hasCustomPrompt="1"/>
          </p:nvPr>
        </p:nvSpPr>
        <p:spPr>
          <a:xfrm>
            <a:off x="425989" y="5229240"/>
            <a:ext cx="4225925" cy="360699"/>
          </a:xfrm>
        </p:spPr>
        <p:txBody>
          <a:bodyPr/>
          <a:lstStyle>
            <a:lvl1pPr marL="0" indent="0">
              <a:buNone/>
              <a:defRPr>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GB"/>
              <a:t>Name of presenter</a:t>
            </a:r>
            <a:endParaRPr lang="en-US"/>
          </a:p>
        </p:txBody>
      </p:sp>
      <p:sp>
        <p:nvSpPr>
          <p:cNvPr id="11" name="Picture Placeholder 2" descr="Partner logo.">
            <a:extLst>
              <a:ext uri="{FF2B5EF4-FFF2-40B4-BE49-F238E27FC236}">
                <a16:creationId xmlns:a16="http://schemas.microsoft.com/office/drawing/2014/main" id="{D29B8919-ECAB-740A-54B2-F6ADBF999ED0}"/>
              </a:ext>
            </a:extLst>
          </p:cNvPr>
          <p:cNvSpPr>
            <a:spLocks noGrp="1"/>
          </p:cNvSpPr>
          <p:nvPr>
            <p:ph type="pic" sz="quarter" idx="12" hasCustomPrompt="1"/>
          </p:nvPr>
        </p:nvSpPr>
        <p:spPr>
          <a:xfrm>
            <a:off x="9557363" y="5499101"/>
            <a:ext cx="1800000" cy="900112"/>
          </a:xfrm>
          <a:solidFill>
            <a:schemeClr val="bg1"/>
          </a:solidFill>
        </p:spPr>
        <p:txBody>
          <a:bodyPr lIns="180000" rIns="180000" anchor="ctr">
            <a:normAutofit/>
          </a:bodyPr>
          <a:lstStyle>
            <a:lvl1pPr marL="0" indent="0" algn="ctr">
              <a:buNone/>
              <a:defRPr sz="1200"/>
            </a:lvl1pPr>
          </a:lstStyle>
          <a:p>
            <a:r>
              <a:rPr lang="en-US"/>
              <a:t>Insert a partner logo here or remove this box if not needed</a:t>
            </a:r>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9895809"/>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_blue_1">
    <p:bg>
      <p:bgPr>
        <a:solidFill>
          <a:schemeClr val="tx1"/>
        </a:solidFill>
        <a:effectLst/>
      </p:bgPr>
    </p:bg>
    <p:spTree>
      <p:nvGrpSpPr>
        <p:cNvPr id="1" name=""/>
        <p:cNvGrpSpPr/>
        <p:nvPr/>
      </p:nvGrpSpPr>
      <p:grpSpPr>
        <a:xfrm>
          <a:off x="0" y="0"/>
          <a:ext cx="0" cy="0"/>
          <a:chOff x="0" y="0"/>
          <a:chExt cx="0" cy="0"/>
        </a:xfrm>
      </p:grpSpPr>
      <p:pic>
        <p:nvPicPr>
          <p:cNvPr id="3" name="Picture 2" descr="University of Nottingham castle icon">
            <a:extLst>
              <a:ext uri="{FF2B5EF4-FFF2-40B4-BE49-F238E27FC236}">
                <a16:creationId xmlns:a16="http://schemas.microsoft.com/office/drawing/2014/main" id="{ABE46430-C869-FB5B-1543-5658FF4DB28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
        <p:nvSpPr>
          <p:cNvPr id="6" name="Title 1">
            <a:extLst>
              <a:ext uri="{FF2B5EF4-FFF2-40B4-BE49-F238E27FC236}">
                <a16:creationId xmlns:a16="http://schemas.microsoft.com/office/drawing/2014/main" id="{9D22ABA4-3700-BF47-C5C3-AD2A7C00FBAE}"/>
              </a:ext>
            </a:extLst>
          </p:cNvPr>
          <p:cNvSpPr>
            <a:spLocks noGrp="1"/>
          </p:cNvSpPr>
          <p:nvPr>
            <p:ph type="ctrTitle" hasCustomPrompt="1"/>
          </p:nvPr>
        </p:nvSpPr>
        <p:spPr>
          <a:xfrm>
            <a:off x="427089" y="1808163"/>
            <a:ext cx="9269952" cy="1796732"/>
          </a:xfrm>
          <a:prstGeom prst="rect">
            <a:avLst/>
          </a:prstGeom>
        </p:spPr>
        <p:txBody>
          <a:bodyPr anchor="ctr"/>
          <a:lstStyle>
            <a:lvl1pPr algn="l">
              <a:lnSpc>
                <a:spcPts val="6000"/>
              </a:lnSpc>
              <a:defRPr sz="6000">
                <a:solidFill>
                  <a:schemeClr val="bg1"/>
                </a:solidFill>
              </a:defRPr>
            </a:lvl1pPr>
          </a:lstStyle>
          <a:p>
            <a:r>
              <a:rPr lang="en-GB"/>
              <a:t>Section title</a:t>
            </a:r>
            <a:endParaRPr lang="en-US"/>
          </a:p>
        </p:txBody>
      </p:sp>
      <p:sp>
        <p:nvSpPr>
          <p:cNvPr id="7" name="Subtitle 2">
            <a:extLst>
              <a:ext uri="{FF2B5EF4-FFF2-40B4-BE49-F238E27FC236}">
                <a16:creationId xmlns:a16="http://schemas.microsoft.com/office/drawing/2014/main" id="{491764B8-A98D-B024-D18E-427B6AC849E5}"/>
              </a:ext>
            </a:extLst>
          </p:cNvPr>
          <p:cNvSpPr>
            <a:spLocks noGrp="1"/>
          </p:cNvSpPr>
          <p:nvPr>
            <p:ph type="subTitle" idx="1" hasCustomPrompt="1"/>
          </p:nvPr>
        </p:nvSpPr>
        <p:spPr>
          <a:xfrm>
            <a:off x="427089"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9369648"/>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_blue_2">
    <p:bg>
      <p:bgPr>
        <a:solidFill>
          <a:schemeClr val="tx1"/>
        </a:solidFill>
        <a:effectLst/>
      </p:bgPr>
    </p:bg>
    <p:spTree>
      <p:nvGrpSpPr>
        <p:cNvPr id="1" name=""/>
        <p:cNvGrpSpPr/>
        <p:nvPr/>
      </p:nvGrpSpPr>
      <p:grpSpPr>
        <a:xfrm>
          <a:off x="0" y="0"/>
          <a:ext cx="0" cy="0"/>
          <a:chOff x="0" y="0"/>
          <a:chExt cx="0" cy="0"/>
        </a:xfrm>
      </p:grpSpPr>
      <p:pic>
        <p:nvPicPr>
          <p:cNvPr id="6" name="Picture 5" descr="University of Nottingham castle icon">
            <a:extLst>
              <a:ext uri="{FF2B5EF4-FFF2-40B4-BE49-F238E27FC236}">
                <a16:creationId xmlns:a16="http://schemas.microsoft.com/office/drawing/2014/main" id="{0F4B7E7B-C184-0FD6-967A-1495A016AA9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
        <p:nvSpPr>
          <p:cNvPr id="2" name="Title 1">
            <a:extLst>
              <a:ext uri="{FF2B5EF4-FFF2-40B4-BE49-F238E27FC236}">
                <a16:creationId xmlns:a16="http://schemas.microsoft.com/office/drawing/2014/main" id="{9C167CB6-25ED-5142-E060-0D1155D6892C}"/>
              </a:ext>
            </a:extLst>
          </p:cNvPr>
          <p:cNvSpPr>
            <a:spLocks noGrp="1"/>
          </p:cNvSpPr>
          <p:nvPr>
            <p:ph type="ctrTitle" hasCustomPrompt="1"/>
          </p:nvPr>
        </p:nvSpPr>
        <p:spPr>
          <a:xfrm>
            <a:off x="427089" y="1808163"/>
            <a:ext cx="9269952" cy="1796732"/>
          </a:xfrm>
          <a:prstGeom prst="rect">
            <a:avLst/>
          </a:prstGeom>
        </p:spPr>
        <p:txBody>
          <a:bodyPr anchor="ctr"/>
          <a:lstStyle>
            <a:lvl1pPr algn="l">
              <a:lnSpc>
                <a:spcPts val="6000"/>
              </a:lnSpc>
              <a:defRPr sz="6000">
                <a:solidFill>
                  <a:schemeClr val="bg1"/>
                </a:solidFill>
              </a:defRPr>
            </a:lvl1pPr>
          </a:lstStyle>
          <a:p>
            <a:r>
              <a:rPr lang="en-GB"/>
              <a:t>Section title</a:t>
            </a:r>
            <a:endParaRPr lang="en-US"/>
          </a:p>
        </p:txBody>
      </p:sp>
      <p:sp>
        <p:nvSpPr>
          <p:cNvPr id="3" name="Subtitle 2">
            <a:extLst>
              <a:ext uri="{FF2B5EF4-FFF2-40B4-BE49-F238E27FC236}">
                <a16:creationId xmlns:a16="http://schemas.microsoft.com/office/drawing/2014/main" id="{C0ED93F1-6799-698D-3691-2B55FC98EC6A}"/>
              </a:ext>
            </a:extLst>
          </p:cNvPr>
          <p:cNvSpPr>
            <a:spLocks noGrp="1"/>
          </p:cNvSpPr>
          <p:nvPr>
            <p:ph type="subTitle" idx="1" hasCustomPrompt="1"/>
          </p:nvPr>
        </p:nvSpPr>
        <p:spPr>
          <a:xfrm>
            <a:off x="427089"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5535909"/>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_blue_3">
    <p:bg>
      <p:bgPr>
        <a:solidFill>
          <a:schemeClr val="tx1"/>
        </a:solidFill>
        <a:effectLst/>
      </p:bgPr>
    </p:bg>
    <p:spTree>
      <p:nvGrpSpPr>
        <p:cNvPr id="1" name=""/>
        <p:cNvGrpSpPr/>
        <p:nvPr/>
      </p:nvGrpSpPr>
      <p:grpSpPr>
        <a:xfrm>
          <a:off x="0" y="0"/>
          <a:ext cx="0" cy="0"/>
          <a:chOff x="0" y="0"/>
          <a:chExt cx="0" cy="0"/>
        </a:xfrm>
      </p:grpSpPr>
      <p:pic>
        <p:nvPicPr>
          <p:cNvPr id="6" name="Picture 5" descr="University of Nottingham castle icon">
            <a:extLst>
              <a:ext uri="{FF2B5EF4-FFF2-40B4-BE49-F238E27FC236}">
                <a16:creationId xmlns:a16="http://schemas.microsoft.com/office/drawing/2014/main" id="{4674787E-5F7F-8AEF-E91C-2886513254B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
        <p:nvSpPr>
          <p:cNvPr id="2" name="Title 1">
            <a:extLst>
              <a:ext uri="{FF2B5EF4-FFF2-40B4-BE49-F238E27FC236}">
                <a16:creationId xmlns:a16="http://schemas.microsoft.com/office/drawing/2014/main" id="{3C312E4A-B2A7-E044-D5F9-97AD9A7D5544}"/>
              </a:ext>
            </a:extLst>
          </p:cNvPr>
          <p:cNvSpPr>
            <a:spLocks noGrp="1"/>
          </p:cNvSpPr>
          <p:nvPr>
            <p:ph type="ctrTitle" hasCustomPrompt="1"/>
          </p:nvPr>
        </p:nvSpPr>
        <p:spPr>
          <a:xfrm>
            <a:off x="427089" y="1808163"/>
            <a:ext cx="9269952" cy="1796732"/>
          </a:xfrm>
          <a:prstGeom prst="rect">
            <a:avLst/>
          </a:prstGeom>
        </p:spPr>
        <p:txBody>
          <a:bodyPr anchor="ctr"/>
          <a:lstStyle>
            <a:lvl1pPr algn="l">
              <a:lnSpc>
                <a:spcPts val="6000"/>
              </a:lnSpc>
              <a:defRPr sz="6000">
                <a:solidFill>
                  <a:schemeClr val="bg1"/>
                </a:solidFill>
              </a:defRPr>
            </a:lvl1pPr>
          </a:lstStyle>
          <a:p>
            <a:r>
              <a:rPr lang="en-GB"/>
              <a:t>Section title</a:t>
            </a:r>
            <a:endParaRPr lang="en-US"/>
          </a:p>
        </p:txBody>
      </p:sp>
      <p:sp>
        <p:nvSpPr>
          <p:cNvPr id="3" name="Subtitle 2">
            <a:extLst>
              <a:ext uri="{FF2B5EF4-FFF2-40B4-BE49-F238E27FC236}">
                <a16:creationId xmlns:a16="http://schemas.microsoft.com/office/drawing/2014/main" id="{AAE034DB-22D0-BF2A-EC1A-44865177D672}"/>
              </a:ext>
            </a:extLst>
          </p:cNvPr>
          <p:cNvSpPr>
            <a:spLocks noGrp="1"/>
          </p:cNvSpPr>
          <p:nvPr>
            <p:ph type="subTitle" idx="1" hasCustomPrompt="1"/>
          </p:nvPr>
        </p:nvSpPr>
        <p:spPr>
          <a:xfrm>
            <a:off x="427089"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666049"/>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_blue_4">
    <p:bg>
      <p:bgPr>
        <a:solidFill>
          <a:schemeClr val="tx1"/>
        </a:solidFill>
        <a:effectLst/>
      </p:bgPr>
    </p:bg>
    <p:spTree>
      <p:nvGrpSpPr>
        <p:cNvPr id="1" name=""/>
        <p:cNvGrpSpPr/>
        <p:nvPr/>
      </p:nvGrpSpPr>
      <p:grpSpPr>
        <a:xfrm>
          <a:off x="0" y="0"/>
          <a:ext cx="0" cy="0"/>
          <a:chOff x="0" y="0"/>
          <a:chExt cx="0" cy="0"/>
        </a:xfrm>
      </p:grpSpPr>
      <p:pic>
        <p:nvPicPr>
          <p:cNvPr id="6" name="Picture 5" descr="University of Nottingham castle icon">
            <a:extLst>
              <a:ext uri="{FF2B5EF4-FFF2-40B4-BE49-F238E27FC236}">
                <a16:creationId xmlns:a16="http://schemas.microsoft.com/office/drawing/2014/main" id="{EE74AC68-18AF-B6C5-ADFC-35E4DB4B926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
        <p:nvSpPr>
          <p:cNvPr id="2" name="Title 1">
            <a:extLst>
              <a:ext uri="{FF2B5EF4-FFF2-40B4-BE49-F238E27FC236}">
                <a16:creationId xmlns:a16="http://schemas.microsoft.com/office/drawing/2014/main" id="{391B7C56-46BC-877A-A8BB-101B90BFD2BB}"/>
              </a:ext>
            </a:extLst>
          </p:cNvPr>
          <p:cNvSpPr>
            <a:spLocks noGrp="1"/>
          </p:cNvSpPr>
          <p:nvPr>
            <p:ph type="ctrTitle" hasCustomPrompt="1"/>
          </p:nvPr>
        </p:nvSpPr>
        <p:spPr>
          <a:xfrm>
            <a:off x="427089" y="1808163"/>
            <a:ext cx="9269952" cy="1796732"/>
          </a:xfrm>
          <a:prstGeom prst="rect">
            <a:avLst/>
          </a:prstGeom>
        </p:spPr>
        <p:txBody>
          <a:bodyPr anchor="ctr"/>
          <a:lstStyle>
            <a:lvl1pPr algn="l">
              <a:lnSpc>
                <a:spcPts val="6000"/>
              </a:lnSpc>
              <a:defRPr sz="6000">
                <a:solidFill>
                  <a:schemeClr val="bg1"/>
                </a:solidFill>
              </a:defRPr>
            </a:lvl1pPr>
          </a:lstStyle>
          <a:p>
            <a:r>
              <a:rPr lang="en-GB"/>
              <a:t>Section title</a:t>
            </a:r>
            <a:endParaRPr lang="en-US"/>
          </a:p>
        </p:txBody>
      </p:sp>
      <p:sp>
        <p:nvSpPr>
          <p:cNvPr id="3" name="Subtitle 2">
            <a:extLst>
              <a:ext uri="{FF2B5EF4-FFF2-40B4-BE49-F238E27FC236}">
                <a16:creationId xmlns:a16="http://schemas.microsoft.com/office/drawing/2014/main" id="{7C2F8BB8-6D58-2478-03AA-191002128E55}"/>
              </a:ext>
            </a:extLst>
          </p:cNvPr>
          <p:cNvSpPr>
            <a:spLocks noGrp="1"/>
          </p:cNvSpPr>
          <p:nvPr>
            <p:ph type="subTitle" idx="1" hasCustomPrompt="1"/>
          </p:nvPr>
        </p:nvSpPr>
        <p:spPr>
          <a:xfrm>
            <a:off x="427089" y="3969375"/>
            <a:ext cx="9269952" cy="720096"/>
          </a:xfrm>
          <a:prstGeom prst="rect">
            <a:avLst/>
          </a:prstGeom>
        </p:spPr>
        <p:txBody>
          <a:bodyPr>
            <a:norm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Your subheading goes here</a:t>
            </a:r>
            <a:endParaRPr lang="en-US"/>
          </a:p>
        </p:txBody>
      </p:sp>
      <p:sp>
        <p:nvSpPr>
          <p:cNvPr id="5" name="Rectangle 4">
            <a:extLst>
              <a:ext uri="{FF2B5EF4-FFF2-40B4-BE49-F238E27FC236}">
                <a16:creationId xmlns:a16="http://schemas.microsoft.com/office/drawing/2014/main" id="{83F5C707-8C61-7BF9-EF26-9346A3915584}"/>
              </a:ext>
              <a:ext uri="{C183D7F6-B498-43B3-948B-1728B52AA6E4}">
                <adec:decorative xmlns:adec="http://schemas.microsoft.com/office/drawing/2017/decorative" val="1"/>
              </a:ext>
            </a:extLst>
          </p:cNvPr>
          <p:cNvSpPr/>
          <p:nvPr userDrawn="1"/>
        </p:nvSpPr>
        <p:spPr>
          <a:xfrm>
            <a:off x="11766550" y="0"/>
            <a:ext cx="425450" cy="68580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2696935"/>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D73FB3-9B19-99C1-3D3B-5F99A94D0E99}"/>
              </a:ext>
            </a:extLst>
          </p:cNvPr>
          <p:cNvSpPr/>
          <p:nvPr userDrawn="1"/>
        </p:nvSpPr>
        <p:spPr>
          <a:xfrm>
            <a:off x="-1315704" y="900000"/>
            <a:ext cx="1284984" cy="719250"/>
          </a:xfrm>
          <a:prstGeom prst="rect">
            <a:avLst/>
          </a:prstGeom>
          <a:solidFill>
            <a:srgbClr val="92D4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4" name="Title Placeholder 1">
            <a:extLst>
              <a:ext uri="{FF2B5EF4-FFF2-40B4-BE49-F238E27FC236}">
                <a16:creationId xmlns:a16="http://schemas.microsoft.com/office/drawing/2014/main" id="{E2FC18C2-35C0-6A2D-7CC1-B9CB79EDB5D2}"/>
              </a:ext>
            </a:extLst>
          </p:cNvPr>
          <p:cNvSpPr>
            <a:spLocks noGrp="1"/>
          </p:cNvSpPr>
          <p:nvPr>
            <p:ph type="title" hasCustomPrompt="1"/>
          </p:nvPr>
        </p:nvSpPr>
        <p:spPr>
          <a:xfrm>
            <a:off x="1325563" y="0"/>
            <a:ext cx="1044098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3" name="Content Placeholder 2">
            <a:extLst>
              <a:ext uri="{FF2B5EF4-FFF2-40B4-BE49-F238E27FC236}">
                <a16:creationId xmlns:a16="http://schemas.microsoft.com/office/drawing/2014/main" id="{97ECA4DB-7437-56B6-3837-AC3C5EEB09F8}"/>
              </a:ext>
            </a:extLst>
          </p:cNvPr>
          <p:cNvSpPr>
            <a:spLocks noGrp="1"/>
          </p:cNvSpPr>
          <p:nvPr>
            <p:ph idx="1"/>
          </p:nvPr>
        </p:nvSpPr>
        <p:spPr>
          <a:xfrm>
            <a:off x="425451" y="1358900"/>
            <a:ext cx="11341100" cy="4860925"/>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1110949193"/>
      </p:ext>
    </p:extLst>
  </p:cSld>
  <p:clrMapOvr>
    <a:masterClrMapping/>
  </p:clrMapOvr>
  <p:extLst>
    <p:ext uri="{DCECCB84-F9BA-43D5-87BE-67443E8EF086}">
      <p15:sldGuideLst xmlns:p15="http://schemas.microsoft.com/office/powerpoint/2012/main">
        <p15:guide id="1" orient="horz" pos="1026">
          <p15:clr>
            <a:srgbClr val="9FCC3B"/>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_subtitl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FBF756-7938-DF8A-6396-399256C9906D}"/>
              </a:ext>
            </a:extLst>
          </p:cNvPr>
          <p:cNvSpPr/>
          <p:nvPr userDrawn="1"/>
        </p:nvSpPr>
        <p:spPr>
          <a:xfrm>
            <a:off x="-1315704" y="9000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6" name="Title Placeholder 1">
            <a:extLst>
              <a:ext uri="{FF2B5EF4-FFF2-40B4-BE49-F238E27FC236}">
                <a16:creationId xmlns:a16="http://schemas.microsoft.com/office/drawing/2014/main" id="{E7C0ADF4-0D4B-B1BD-FF64-E8E537692D8A}"/>
              </a:ext>
            </a:extLst>
          </p:cNvPr>
          <p:cNvSpPr>
            <a:spLocks noGrp="1"/>
          </p:cNvSpPr>
          <p:nvPr>
            <p:ph type="title" hasCustomPrompt="1"/>
          </p:nvPr>
        </p:nvSpPr>
        <p:spPr>
          <a:xfrm>
            <a:off x="1325563" y="0"/>
            <a:ext cx="10440987" cy="900000"/>
          </a:xfrm>
          <a:prstGeom prst="rect">
            <a:avLst/>
          </a:prstGeom>
        </p:spPr>
        <p:txBody>
          <a:bodyPr vert="horz" lIns="0" tIns="216000" rIns="0" bIns="144000" rtlCol="0" anchor="t" anchorCtr="0">
            <a:normAutofit/>
          </a:bodyPr>
          <a:lstStyle>
            <a:lvl1pPr>
              <a:defRPr>
                <a:latin typeface="+mj-lt"/>
                <a:cs typeface="Arial" panose="020B0604020202020204" pitchFamily="34" charset="0"/>
              </a:defRPr>
            </a:lvl1pPr>
          </a:lstStyle>
          <a:p>
            <a:r>
              <a:rPr lang="en-GB"/>
              <a:t>Your title goes here</a:t>
            </a:r>
            <a:endParaRPr lang="en-US"/>
          </a:p>
        </p:txBody>
      </p:sp>
      <p:sp>
        <p:nvSpPr>
          <p:cNvPr id="2" name="Text Placeholder 2">
            <a:extLst>
              <a:ext uri="{FF2B5EF4-FFF2-40B4-BE49-F238E27FC236}">
                <a16:creationId xmlns:a16="http://schemas.microsoft.com/office/drawing/2014/main" id="{2F1BA355-872A-DEBD-83F0-DEB26F407380}"/>
              </a:ext>
            </a:extLst>
          </p:cNvPr>
          <p:cNvSpPr>
            <a:spLocks noGrp="1"/>
          </p:cNvSpPr>
          <p:nvPr>
            <p:ph type="body" idx="15" hasCustomPrompt="1"/>
          </p:nvPr>
        </p:nvSpPr>
        <p:spPr>
          <a:xfrm>
            <a:off x="433472" y="1358900"/>
            <a:ext cx="11333076" cy="450367"/>
          </a:xfrm>
          <a:prstGeom prst="rect">
            <a:avLst/>
          </a:prstGeom>
        </p:spPr>
        <p:txBody>
          <a:bodyPr anchor="b">
            <a:noAutofit/>
          </a:bodyPr>
          <a:lstStyle>
            <a:lvl1pPr marL="0" indent="0">
              <a:buNone/>
              <a:defRPr sz="3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Subheading goes here</a:t>
            </a:r>
          </a:p>
        </p:txBody>
      </p:sp>
      <p:sp>
        <p:nvSpPr>
          <p:cNvPr id="3" name="Content Placeholder 2">
            <a:extLst>
              <a:ext uri="{FF2B5EF4-FFF2-40B4-BE49-F238E27FC236}">
                <a16:creationId xmlns:a16="http://schemas.microsoft.com/office/drawing/2014/main" id="{97ECA4DB-7437-56B6-3837-AC3C5EEB09F8}"/>
              </a:ext>
            </a:extLst>
          </p:cNvPr>
          <p:cNvSpPr>
            <a:spLocks noGrp="1"/>
          </p:cNvSpPr>
          <p:nvPr>
            <p:ph idx="1"/>
          </p:nvPr>
        </p:nvSpPr>
        <p:spPr>
          <a:xfrm>
            <a:off x="425450" y="2158669"/>
            <a:ext cx="11341100" cy="3777961"/>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1751026920"/>
      </p:ext>
    </p:extLst>
  </p:cSld>
  <p:clrMapOvr>
    <a:masterClrMapping/>
  </p:clrMapOvr>
  <p:extLst>
    <p:ext uri="{DCECCB84-F9BA-43D5-87BE-67443E8EF086}">
      <p15:sldGuideLst xmlns:p15="http://schemas.microsoft.com/office/powerpoint/2012/main">
        <p15:guide id="1" orient="horz" pos="1026">
          <p15:clr>
            <a:srgbClr val="9FCC3B"/>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_half">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9B2B3E-7582-7286-13C3-D6FB10512B05}"/>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8" name="Title Placeholder 1">
            <a:extLst>
              <a:ext uri="{FF2B5EF4-FFF2-40B4-BE49-F238E27FC236}">
                <a16:creationId xmlns:a16="http://schemas.microsoft.com/office/drawing/2014/main" id="{C7E7DBA9-86CE-B2F4-C934-CC6EEA02C1EF}"/>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3" name="Content Placeholder 2">
            <a:extLst>
              <a:ext uri="{FF2B5EF4-FFF2-40B4-BE49-F238E27FC236}">
                <a16:creationId xmlns:a16="http://schemas.microsoft.com/office/drawing/2014/main" id="{97ECA4DB-7437-56B6-3837-AC3C5EEB09F8}"/>
              </a:ext>
            </a:extLst>
          </p:cNvPr>
          <p:cNvSpPr>
            <a:spLocks noGrp="1"/>
          </p:cNvSpPr>
          <p:nvPr>
            <p:ph idx="1" hasCustomPrompt="1"/>
          </p:nvPr>
        </p:nvSpPr>
        <p:spPr>
          <a:xfrm>
            <a:off x="433473" y="2708904"/>
            <a:ext cx="5219518" cy="3510921"/>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rgbClr val="CFD4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6554756" y="458788"/>
            <a:ext cx="5211794" cy="5761037"/>
          </a:xfrm>
          <a:prstGeom prst="rect">
            <a:avLst/>
          </a:prstGeom>
        </p:spPr>
        <p:txBody>
          <a:bodyPr bIns="0"/>
          <a:lstStyle/>
          <a:p>
            <a:pPr lvl="0"/>
            <a:r>
              <a:rPr lang="en-GB"/>
              <a:t>Click to edit Master text styles</a:t>
            </a:r>
          </a:p>
        </p:txBody>
      </p:sp>
      <p:sp>
        <p:nvSpPr>
          <p:cNvPr id="13" name="Slide Number Placeholder 5">
            <a:extLst>
              <a:ext uri="{FF2B5EF4-FFF2-40B4-BE49-F238E27FC236}">
                <a16:creationId xmlns:a16="http://schemas.microsoft.com/office/drawing/2014/main" id="{81B6B00A-DA58-B7AA-2824-078C084AEA87}"/>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3570903176"/>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guide id="4" orient="horz" pos="1876">
          <p15:clr>
            <a:srgbClr val="9FCC3B"/>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_half_subtitl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0181FBF-FF29-7EEB-B956-87316803BB80}"/>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F534CF4F-FADD-27CF-D87D-D9D07A4A137B}"/>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11" name="Text Placeholder 2">
            <a:extLst>
              <a:ext uri="{FF2B5EF4-FFF2-40B4-BE49-F238E27FC236}">
                <a16:creationId xmlns:a16="http://schemas.microsoft.com/office/drawing/2014/main" id="{087C9B7B-EA93-3AB0-06E0-7F98E483636F}"/>
              </a:ext>
            </a:extLst>
          </p:cNvPr>
          <p:cNvSpPr>
            <a:spLocks noGrp="1"/>
          </p:cNvSpPr>
          <p:nvPr>
            <p:ph type="body" idx="15" hasCustomPrompt="1"/>
          </p:nvPr>
        </p:nvSpPr>
        <p:spPr>
          <a:xfrm>
            <a:off x="433473" y="2707856"/>
            <a:ext cx="5211677" cy="450367"/>
          </a:xfrm>
          <a:prstGeom prst="rect">
            <a:avLst/>
          </a:prstGeom>
        </p:spPr>
        <p:txBody>
          <a:bodyPr anchor="b">
            <a:noAutofit/>
          </a:bodyPr>
          <a:lstStyle>
            <a:lvl1pPr marL="0" indent="0">
              <a:buNone/>
              <a:defRPr sz="3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Subheading goes here</a:t>
            </a:r>
          </a:p>
        </p:txBody>
      </p:sp>
      <p:sp>
        <p:nvSpPr>
          <p:cNvPr id="4" name="Content Placeholder 2">
            <a:extLst>
              <a:ext uri="{FF2B5EF4-FFF2-40B4-BE49-F238E27FC236}">
                <a16:creationId xmlns:a16="http://schemas.microsoft.com/office/drawing/2014/main" id="{4DEDEE7F-F97B-7B97-02BF-AF74423C78AE}"/>
              </a:ext>
            </a:extLst>
          </p:cNvPr>
          <p:cNvSpPr>
            <a:spLocks noGrp="1"/>
          </p:cNvSpPr>
          <p:nvPr>
            <p:ph idx="1" hasCustomPrompt="1"/>
          </p:nvPr>
        </p:nvSpPr>
        <p:spPr>
          <a:xfrm>
            <a:off x="433473" y="3519012"/>
            <a:ext cx="5211677" cy="2700813"/>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rgbClr val="CFD4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6554756" y="458788"/>
            <a:ext cx="5211794" cy="5761037"/>
          </a:xfrm>
          <a:prstGeom prst="rect">
            <a:avLst/>
          </a:prstGeom>
        </p:spPr>
        <p:txBody>
          <a:bodyPr bIns="0"/>
          <a:lstStyle/>
          <a:p>
            <a:pPr lvl="0"/>
            <a:r>
              <a:rPr lang="en-GB"/>
              <a:t>Click to edit Master text styles</a:t>
            </a:r>
          </a:p>
        </p:txBody>
      </p:sp>
      <p:sp>
        <p:nvSpPr>
          <p:cNvPr id="14" name="Slide Number Placeholder 5">
            <a:extLst>
              <a:ext uri="{FF2B5EF4-FFF2-40B4-BE49-F238E27FC236}">
                <a16:creationId xmlns:a16="http://schemas.microsoft.com/office/drawing/2014/main" id="{BCB23B47-37ED-75C0-0F34-9D3C03F7930F}"/>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709080025"/>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guide id="4" orient="horz" pos="1876">
          <p15:clr>
            <a:srgbClr val="9FCC3B"/>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_half_header">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6096000" y="1358900"/>
            <a:ext cx="6096000" cy="5499100"/>
          </a:xfrm>
          <a:prstGeom prst="rect">
            <a:avLst/>
          </a:prstGeom>
          <a:solidFill>
            <a:srgbClr val="CFD4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774E01E-D3F9-8614-6E3C-62268CBD2CB4}"/>
              </a:ext>
              <a:ext uri="{C183D7F6-B498-43B3-948B-1728B52AA6E4}">
                <adec:decorative xmlns:adec="http://schemas.microsoft.com/office/drawing/2017/decorative" val="1"/>
              </a:ext>
            </a:extLst>
          </p:cNvPr>
          <p:cNvSpPr/>
          <p:nvPr userDrawn="1"/>
        </p:nvSpPr>
        <p:spPr>
          <a:xfrm>
            <a:off x="0" y="-1"/>
            <a:ext cx="12192000" cy="135890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University of Nottingham castle icon">
            <a:extLst>
              <a:ext uri="{FF2B5EF4-FFF2-40B4-BE49-F238E27FC236}">
                <a16:creationId xmlns:a16="http://schemas.microsoft.com/office/drawing/2014/main" id="{D7395279-FD9F-F3B7-B55E-F407BE7B3E7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
        <p:nvSpPr>
          <p:cNvPr id="6" name="Title Placeholder 1">
            <a:extLst>
              <a:ext uri="{FF2B5EF4-FFF2-40B4-BE49-F238E27FC236}">
                <a16:creationId xmlns:a16="http://schemas.microsoft.com/office/drawing/2014/main" id="{F91BDDD1-ABB8-5513-0EBE-12EB29040A15}"/>
              </a:ext>
            </a:extLst>
          </p:cNvPr>
          <p:cNvSpPr>
            <a:spLocks noGrp="1"/>
          </p:cNvSpPr>
          <p:nvPr>
            <p:ph type="title" hasCustomPrompt="1"/>
          </p:nvPr>
        </p:nvSpPr>
        <p:spPr>
          <a:xfrm>
            <a:off x="1325563" y="5386"/>
            <a:ext cx="10440987" cy="900000"/>
          </a:xfrm>
          <a:prstGeom prst="rect">
            <a:avLst/>
          </a:prstGeom>
        </p:spPr>
        <p:txBody>
          <a:bodyPr vert="horz" lIns="0" tIns="216000" rIns="0" bIns="144000" rtlCol="0" anchor="t" anchorCtr="0">
            <a:normAutofit/>
          </a:bodyPr>
          <a:lstStyle>
            <a:lvl1pPr>
              <a:defRPr>
                <a:solidFill>
                  <a:schemeClr val="bg1"/>
                </a:solidFill>
                <a:latin typeface="+mj-lt"/>
              </a:defRPr>
            </a:lvl1pPr>
          </a:lstStyle>
          <a:p>
            <a:r>
              <a:rPr lang="en-GB"/>
              <a:t>Your title goes here</a:t>
            </a:r>
            <a:endParaRPr lang="en-US"/>
          </a:p>
        </p:txBody>
      </p:sp>
      <p:sp>
        <p:nvSpPr>
          <p:cNvPr id="3" name="Content Placeholder 2">
            <a:extLst>
              <a:ext uri="{FF2B5EF4-FFF2-40B4-BE49-F238E27FC236}">
                <a16:creationId xmlns:a16="http://schemas.microsoft.com/office/drawing/2014/main" id="{97ECA4DB-7437-56B6-3837-AC3C5EEB09F8}"/>
              </a:ext>
            </a:extLst>
          </p:cNvPr>
          <p:cNvSpPr>
            <a:spLocks noGrp="1"/>
          </p:cNvSpPr>
          <p:nvPr>
            <p:ph idx="1" hasCustomPrompt="1"/>
          </p:nvPr>
        </p:nvSpPr>
        <p:spPr>
          <a:xfrm>
            <a:off x="433473" y="1817688"/>
            <a:ext cx="5219518" cy="4402138"/>
          </a:xfrm>
          <a:prstGeom prst="rect">
            <a:avLst/>
          </a:prstGeom>
        </p:spPr>
        <p:txBody>
          <a:bodyPr bIns="0"/>
          <a:lstStyle/>
          <a:p>
            <a:pPr lvl="0"/>
            <a:r>
              <a:rPr lang="en-GB"/>
              <a:t>Text goes here</a:t>
            </a: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6554756" y="1812413"/>
            <a:ext cx="5211794" cy="4407411"/>
          </a:xfrm>
          <a:prstGeom prst="rect">
            <a:avLst/>
          </a:prstGeom>
        </p:spPr>
        <p:txBody>
          <a:bodyPr bIns="0"/>
          <a:lstStyle/>
          <a:p>
            <a:pPr lvl="0"/>
            <a:r>
              <a:rPr lang="en-GB"/>
              <a:t>Click to edit Master text styles</a:t>
            </a:r>
          </a:p>
        </p:txBody>
      </p:sp>
      <p:sp>
        <p:nvSpPr>
          <p:cNvPr id="13" name="Slide Number Placeholder 5">
            <a:extLst>
              <a:ext uri="{FF2B5EF4-FFF2-40B4-BE49-F238E27FC236}">
                <a16:creationId xmlns:a16="http://schemas.microsoft.com/office/drawing/2014/main" id="{81B6B00A-DA58-B7AA-2824-078C084AEA87}"/>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4037463530"/>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_half_header_subtitl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6096000" y="1358900"/>
            <a:ext cx="6096000" cy="5499100"/>
          </a:xfrm>
          <a:prstGeom prst="rect">
            <a:avLst/>
          </a:prstGeom>
          <a:solidFill>
            <a:srgbClr val="CFD4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774E01E-D3F9-8614-6E3C-62268CBD2CB4}"/>
              </a:ext>
              <a:ext uri="{C183D7F6-B498-43B3-948B-1728B52AA6E4}">
                <adec:decorative xmlns:adec="http://schemas.microsoft.com/office/drawing/2017/decorative" val="1"/>
              </a:ext>
            </a:extLst>
          </p:cNvPr>
          <p:cNvSpPr/>
          <p:nvPr userDrawn="1"/>
        </p:nvSpPr>
        <p:spPr>
          <a:xfrm>
            <a:off x="0" y="-1"/>
            <a:ext cx="12192000" cy="135890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University of Nottingham castle icon">
            <a:extLst>
              <a:ext uri="{FF2B5EF4-FFF2-40B4-BE49-F238E27FC236}">
                <a16:creationId xmlns:a16="http://schemas.microsoft.com/office/drawing/2014/main" id="{D7395279-FD9F-F3B7-B55E-F407BE7B3E7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
        <p:nvSpPr>
          <p:cNvPr id="6" name="Title Placeholder 1">
            <a:extLst>
              <a:ext uri="{FF2B5EF4-FFF2-40B4-BE49-F238E27FC236}">
                <a16:creationId xmlns:a16="http://schemas.microsoft.com/office/drawing/2014/main" id="{F91BDDD1-ABB8-5513-0EBE-12EB29040A15}"/>
              </a:ext>
            </a:extLst>
          </p:cNvPr>
          <p:cNvSpPr>
            <a:spLocks noGrp="1"/>
          </p:cNvSpPr>
          <p:nvPr>
            <p:ph type="title" hasCustomPrompt="1"/>
          </p:nvPr>
        </p:nvSpPr>
        <p:spPr>
          <a:xfrm>
            <a:off x="1325563" y="5386"/>
            <a:ext cx="10440987" cy="900000"/>
          </a:xfrm>
          <a:prstGeom prst="rect">
            <a:avLst/>
          </a:prstGeom>
        </p:spPr>
        <p:txBody>
          <a:bodyPr vert="horz" lIns="0" tIns="216000" rIns="0" bIns="144000" rtlCol="0" anchor="t" anchorCtr="0">
            <a:normAutofit/>
          </a:bodyPr>
          <a:lstStyle>
            <a:lvl1pPr>
              <a:defRPr>
                <a:solidFill>
                  <a:schemeClr val="bg1"/>
                </a:solidFill>
                <a:latin typeface="+mj-lt"/>
              </a:defRPr>
            </a:lvl1pPr>
          </a:lstStyle>
          <a:p>
            <a:r>
              <a:rPr lang="en-GB"/>
              <a:t>Your title goes here</a:t>
            </a:r>
            <a:endParaRPr lang="en-US"/>
          </a:p>
        </p:txBody>
      </p:sp>
      <p:sp>
        <p:nvSpPr>
          <p:cNvPr id="9" name="Text Placeholder 2">
            <a:extLst>
              <a:ext uri="{FF2B5EF4-FFF2-40B4-BE49-F238E27FC236}">
                <a16:creationId xmlns:a16="http://schemas.microsoft.com/office/drawing/2014/main" id="{A116A886-E557-330B-11EE-42F5D3EE412A}"/>
              </a:ext>
            </a:extLst>
          </p:cNvPr>
          <p:cNvSpPr>
            <a:spLocks noGrp="1"/>
          </p:cNvSpPr>
          <p:nvPr>
            <p:ph type="body" idx="16" hasCustomPrompt="1"/>
          </p:nvPr>
        </p:nvSpPr>
        <p:spPr>
          <a:xfrm>
            <a:off x="433473" y="1812413"/>
            <a:ext cx="5211677" cy="450367"/>
          </a:xfrm>
          <a:prstGeom prst="rect">
            <a:avLst/>
          </a:prstGeom>
        </p:spPr>
        <p:txBody>
          <a:bodyPr anchor="b">
            <a:noAutofit/>
          </a:bodyPr>
          <a:lstStyle>
            <a:lvl1pPr marL="0" indent="0">
              <a:buNone/>
              <a:defRPr sz="3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Subheading goes here</a:t>
            </a:r>
          </a:p>
        </p:txBody>
      </p:sp>
      <p:sp>
        <p:nvSpPr>
          <p:cNvPr id="8" name="Content Placeholder 2">
            <a:extLst>
              <a:ext uri="{FF2B5EF4-FFF2-40B4-BE49-F238E27FC236}">
                <a16:creationId xmlns:a16="http://schemas.microsoft.com/office/drawing/2014/main" id="{09079674-2601-E1DB-B666-2D0B774D04F2}"/>
              </a:ext>
            </a:extLst>
          </p:cNvPr>
          <p:cNvSpPr>
            <a:spLocks noGrp="1"/>
          </p:cNvSpPr>
          <p:nvPr>
            <p:ph idx="15" hasCustomPrompt="1"/>
          </p:nvPr>
        </p:nvSpPr>
        <p:spPr>
          <a:xfrm>
            <a:off x="433473" y="2623569"/>
            <a:ext cx="5211677" cy="3596255"/>
          </a:xfrm>
          <a:prstGeom prst="rect">
            <a:avLst/>
          </a:prstGeom>
        </p:spPr>
        <p:txBody>
          <a:bodyPr bIns="0"/>
          <a:lstStyle/>
          <a:p>
            <a:pPr lvl="0"/>
            <a:r>
              <a:rPr lang="en-GB"/>
              <a:t>Text goes here</a:t>
            </a: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6554756" y="1812413"/>
            <a:ext cx="5211794" cy="4407411"/>
          </a:xfrm>
          <a:prstGeom prst="rect">
            <a:avLst/>
          </a:prstGeom>
        </p:spPr>
        <p:txBody>
          <a:bodyPr bIns="0"/>
          <a:lstStyle/>
          <a:p>
            <a:pPr lvl="0"/>
            <a:r>
              <a:rPr lang="en-GB"/>
              <a:t>Click to edit Master text styles</a:t>
            </a:r>
          </a:p>
        </p:txBody>
      </p:sp>
      <p:sp>
        <p:nvSpPr>
          <p:cNvPr id="13" name="Slide Number Placeholder 5">
            <a:extLst>
              <a:ext uri="{FF2B5EF4-FFF2-40B4-BE49-F238E27FC236}">
                <a16:creationId xmlns:a16="http://schemas.microsoft.com/office/drawing/2014/main" id="{81B6B00A-DA58-B7AA-2824-078C084AEA87}"/>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707873341"/>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_thir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B3C1180-494D-3A45-3D53-7113F7295561}"/>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0DCDDB14-B4F8-AF81-C172-8590ED48C960}"/>
              </a:ext>
            </a:extLst>
          </p:cNvPr>
          <p:cNvSpPr>
            <a:spLocks noGrp="1"/>
          </p:cNvSpPr>
          <p:nvPr>
            <p:ph type="title" hasCustomPrompt="1"/>
          </p:nvPr>
        </p:nvSpPr>
        <p:spPr>
          <a:xfrm>
            <a:off x="433473" y="1358900"/>
            <a:ext cx="7192876"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4" name="Content Placeholder 2">
            <a:extLst>
              <a:ext uri="{FF2B5EF4-FFF2-40B4-BE49-F238E27FC236}">
                <a16:creationId xmlns:a16="http://schemas.microsoft.com/office/drawing/2014/main" id="{02E2F637-A3FE-B82F-49CB-F653C711B928}"/>
              </a:ext>
            </a:extLst>
          </p:cNvPr>
          <p:cNvSpPr>
            <a:spLocks noGrp="1"/>
          </p:cNvSpPr>
          <p:nvPr>
            <p:ph idx="1" hasCustomPrompt="1"/>
          </p:nvPr>
        </p:nvSpPr>
        <p:spPr>
          <a:xfrm>
            <a:off x="433472" y="2708904"/>
            <a:ext cx="7192877" cy="3510921"/>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8075613" y="0"/>
            <a:ext cx="4116387" cy="6858000"/>
          </a:xfrm>
          <a:prstGeom prst="rect">
            <a:avLst/>
          </a:prstGeom>
          <a:solidFill>
            <a:srgbClr val="CFD4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8526463" y="458788"/>
            <a:ext cx="3240087" cy="5761037"/>
          </a:xfrm>
          <a:prstGeom prst="rect">
            <a:avLst/>
          </a:prstGeom>
        </p:spPr>
        <p:txBody>
          <a:bodyPr bIns="0"/>
          <a:lstStyle/>
          <a:p>
            <a:pPr lvl="0"/>
            <a:r>
              <a:rPr lang="en-GB"/>
              <a:t>Click to edit Master text styles</a:t>
            </a:r>
          </a:p>
        </p:txBody>
      </p:sp>
      <p:sp>
        <p:nvSpPr>
          <p:cNvPr id="14" name="Slide Number Placeholder 5">
            <a:extLst>
              <a:ext uri="{FF2B5EF4-FFF2-40B4-BE49-F238E27FC236}">
                <a16:creationId xmlns:a16="http://schemas.microsoft.com/office/drawing/2014/main" id="{275EE26C-6F7A-8BE8-0244-7469236EB1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571514296"/>
      </p:ext>
    </p:extLst>
  </p:cSld>
  <p:clrMapOvr>
    <a:masterClrMapping/>
  </p:clrMapOvr>
  <p:extLst>
    <p:ext uri="{DCECCB84-F9BA-43D5-87BE-67443E8EF086}">
      <p15:sldGuideLst xmlns:p15="http://schemas.microsoft.com/office/powerpoint/2012/main">
        <p15:guide id="1" pos="4804">
          <p15:clr>
            <a:srgbClr val="FBAE40"/>
          </p15:clr>
        </p15:guide>
        <p15:guide id="2" pos="5087">
          <p15:clr>
            <a:srgbClr val="FBAE40"/>
          </p15:clr>
        </p15:guide>
        <p15:guide id="3" pos="5371">
          <p15:clr>
            <a:srgbClr val="FBAE40"/>
          </p15:clr>
        </p15:guide>
        <p15:guide id="4" orient="horz" pos="1865">
          <p15:clr>
            <a:srgbClr val="9FCC3B"/>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_third_NB">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B3C1180-494D-3A45-3D53-7113F7295561}"/>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0DCDDB14-B4F8-AF81-C172-8590ED48C960}"/>
              </a:ext>
            </a:extLst>
          </p:cNvPr>
          <p:cNvSpPr>
            <a:spLocks noGrp="1"/>
          </p:cNvSpPr>
          <p:nvPr>
            <p:ph type="title" hasCustomPrompt="1"/>
          </p:nvPr>
        </p:nvSpPr>
        <p:spPr>
          <a:xfrm>
            <a:off x="433473" y="1358900"/>
            <a:ext cx="7192876"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4" name="Content Placeholder 2">
            <a:extLst>
              <a:ext uri="{FF2B5EF4-FFF2-40B4-BE49-F238E27FC236}">
                <a16:creationId xmlns:a16="http://schemas.microsoft.com/office/drawing/2014/main" id="{02E2F637-A3FE-B82F-49CB-F653C711B928}"/>
              </a:ext>
            </a:extLst>
          </p:cNvPr>
          <p:cNvSpPr>
            <a:spLocks noGrp="1"/>
          </p:cNvSpPr>
          <p:nvPr>
            <p:ph idx="1" hasCustomPrompt="1"/>
          </p:nvPr>
        </p:nvSpPr>
        <p:spPr>
          <a:xfrm>
            <a:off x="433472" y="2708904"/>
            <a:ext cx="7192877" cy="3510921"/>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8075613" y="0"/>
            <a:ext cx="4116387" cy="6858000"/>
          </a:xfrm>
          <a:prstGeom prst="rect">
            <a:avLst/>
          </a:prstGeom>
          <a:solidFill>
            <a:srgbClr val="1127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8526463" y="458788"/>
            <a:ext cx="3240087" cy="5761037"/>
          </a:xfrm>
          <a:prstGeom prst="rect">
            <a:avLst/>
          </a:prstGeom>
        </p:spPr>
        <p:txBody>
          <a:bodyPr bIns="0"/>
          <a:lstStyle>
            <a:lvl1pPr>
              <a:defRPr>
                <a:solidFill>
                  <a:srgbClr val="FAF6EF"/>
                </a:solidFill>
              </a:defRPr>
            </a:lvl1pPr>
          </a:lstStyle>
          <a:p>
            <a:pPr lvl="0"/>
            <a:r>
              <a:rPr lang="en-GB"/>
              <a:t>Click to edit Master text styles</a:t>
            </a:r>
          </a:p>
        </p:txBody>
      </p:sp>
      <p:sp>
        <p:nvSpPr>
          <p:cNvPr id="14" name="Slide Number Placeholder 5">
            <a:extLst>
              <a:ext uri="{FF2B5EF4-FFF2-40B4-BE49-F238E27FC236}">
                <a16:creationId xmlns:a16="http://schemas.microsoft.com/office/drawing/2014/main" id="{275EE26C-6F7A-8BE8-0244-7469236EB1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1963250856"/>
      </p:ext>
    </p:extLst>
  </p:cSld>
  <p:clrMapOvr>
    <a:masterClrMapping/>
  </p:clrMapOvr>
  <p:extLst>
    <p:ext uri="{DCECCB84-F9BA-43D5-87BE-67443E8EF086}">
      <p15:sldGuideLst xmlns:p15="http://schemas.microsoft.com/office/powerpoint/2012/main">
        <p15:guide id="1" pos="4804">
          <p15:clr>
            <a:srgbClr val="FBAE40"/>
          </p15:clr>
        </p15:guide>
        <p15:guide id="2" pos="5087">
          <p15:clr>
            <a:srgbClr val="FBAE40"/>
          </p15:clr>
        </p15:guide>
        <p15:guide id="3" pos="5371">
          <p15:clr>
            <a:srgbClr val="FBAE40"/>
          </p15:clr>
        </p15:guide>
        <p15:guide id="4" orient="horz" pos="1865">
          <p15:clr>
            <a:srgbClr val="9FCC3B"/>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_third_subtitl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6BBED16-29E0-32E0-53EF-E6BDB0D777AB}"/>
              </a:ext>
            </a:extLst>
          </p:cNvPr>
          <p:cNvSpPr/>
          <p:nvPr userDrawn="1"/>
        </p:nvSpPr>
        <p:spPr>
          <a:xfrm>
            <a:off x="-1315704" y="2258900"/>
            <a:ext cx="1284984" cy="719250"/>
          </a:xfrm>
          <a:prstGeom prst="rect">
            <a:avLst/>
          </a:prstGeom>
          <a:solidFill>
            <a:schemeClr val="accent4">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3" name="Title Placeholder 1">
            <a:extLst>
              <a:ext uri="{FF2B5EF4-FFF2-40B4-BE49-F238E27FC236}">
                <a16:creationId xmlns:a16="http://schemas.microsoft.com/office/drawing/2014/main" id="{EE7D4E18-50DC-7E45-B2D8-00BB10340B44}"/>
              </a:ext>
            </a:extLst>
          </p:cNvPr>
          <p:cNvSpPr>
            <a:spLocks noGrp="1"/>
          </p:cNvSpPr>
          <p:nvPr>
            <p:ph type="title" hasCustomPrompt="1"/>
          </p:nvPr>
        </p:nvSpPr>
        <p:spPr>
          <a:xfrm>
            <a:off x="433473" y="1358900"/>
            <a:ext cx="7192876"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5" name="Text Placeholder 2">
            <a:extLst>
              <a:ext uri="{FF2B5EF4-FFF2-40B4-BE49-F238E27FC236}">
                <a16:creationId xmlns:a16="http://schemas.microsoft.com/office/drawing/2014/main" id="{0E56A981-CD9B-8BA7-562F-FBFBA8722568}"/>
              </a:ext>
            </a:extLst>
          </p:cNvPr>
          <p:cNvSpPr>
            <a:spLocks noGrp="1"/>
          </p:cNvSpPr>
          <p:nvPr>
            <p:ph type="body" idx="15" hasCustomPrompt="1"/>
          </p:nvPr>
        </p:nvSpPr>
        <p:spPr>
          <a:xfrm>
            <a:off x="433473" y="2708904"/>
            <a:ext cx="7192877" cy="450367"/>
          </a:xfrm>
          <a:prstGeom prst="rect">
            <a:avLst/>
          </a:prstGeom>
        </p:spPr>
        <p:txBody>
          <a:bodyPr anchor="b">
            <a:noAutofit/>
          </a:bodyPr>
          <a:lstStyle>
            <a:lvl1pPr marL="0" indent="0">
              <a:buNone/>
              <a:defRPr sz="3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Subheading goes here</a:t>
            </a:r>
          </a:p>
        </p:txBody>
      </p:sp>
      <p:sp>
        <p:nvSpPr>
          <p:cNvPr id="6" name="Content Placeholder 2">
            <a:extLst>
              <a:ext uri="{FF2B5EF4-FFF2-40B4-BE49-F238E27FC236}">
                <a16:creationId xmlns:a16="http://schemas.microsoft.com/office/drawing/2014/main" id="{0D55CA27-D589-3763-3734-33D517728468}"/>
              </a:ext>
            </a:extLst>
          </p:cNvPr>
          <p:cNvSpPr>
            <a:spLocks noGrp="1"/>
          </p:cNvSpPr>
          <p:nvPr>
            <p:ph idx="1" hasCustomPrompt="1"/>
          </p:nvPr>
        </p:nvSpPr>
        <p:spPr>
          <a:xfrm>
            <a:off x="433473" y="3520060"/>
            <a:ext cx="7192877" cy="2699765"/>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8075613" y="0"/>
            <a:ext cx="4116387" cy="6858000"/>
          </a:xfrm>
          <a:prstGeom prst="rect">
            <a:avLst/>
          </a:prstGeom>
          <a:solidFill>
            <a:srgbClr val="CFD4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8526463" y="458788"/>
            <a:ext cx="3240087" cy="5761037"/>
          </a:xfrm>
          <a:prstGeom prst="rect">
            <a:avLst/>
          </a:prstGeom>
        </p:spPr>
        <p:txBody>
          <a:bodyPr bIns="0"/>
          <a:lstStyle/>
          <a:p>
            <a:pPr lvl="0"/>
            <a:r>
              <a:rPr lang="en-GB"/>
              <a:t>Click to edit Master text styles</a:t>
            </a:r>
          </a:p>
        </p:txBody>
      </p:sp>
      <p:sp>
        <p:nvSpPr>
          <p:cNvPr id="14" name="Slide Number Placeholder 5">
            <a:extLst>
              <a:ext uri="{FF2B5EF4-FFF2-40B4-BE49-F238E27FC236}">
                <a16:creationId xmlns:a16="http://schemas.microsoft.com/office/drawing/2014/main" id="{246B96E7-E547-78AA-C543-83A207229589}"/>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686553084"/>
      </p:ext>
    </p:extLst>
  </p:cSld>
  <p:clrMapOvr>
    <a:masterClrMapping/>
  </p:clrMapOvr>
  <p:extLst>
    <p:ext uri="{DCECCB84-F9BA-43D5-87BE-67443E8EF086}">
      <p15:sldGuideLst xmlns:p15="http://schemas.microsoft.com/office/powerpoint/2012/main">
        <p15:guide id="1" pos="4804">
          <p15:clr>
            <a:srgbClr val="FBAE40"/>
          </p15:clr>
        </p15:guide>
        <p15:guide id="2" pos="5087">
          <p15:clr>
            <a:srgbClr val="FBAE40"/>
          </p15:clr>
        </p15:guide>
        <p15:guide id="3" pos="5371">
          <p15:clr>
            <a:srgbClr val="FBAE40"/>
          </p15:clr>
        </p15:guide>
        <p15:guide id="4" orient="horz" pos="1876">
          <p15:clr>
            <a:srgbClr val="9FCC3B"/>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_third_subtitle_NB">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6BBED16-29E0-32E0-53EF-E6BDB0D777AB}"/>
              </a:ext>
            </a:extLst>
          </p:cNvPr>
          <p:cNvSpPr/>
          <p:nvPr userDrawn="1"/>
        </p:nvSpPr>
        <p:spPr>
          <a:xfrm>
            <a:off x="-1315704" y="2258900"/>
            <a:ext cx="1284984" cy="719250"/>
          </a:xfrm>
          <a:prstGeom prst="rect">
            <a:avLst/>
          </a:prstGeom>
          <a:solidFill>
            <a:schemeClr val="accent4">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3" name="Title Placeholder 1">
            <a:extLst>
              <a:ext uri="{FF2B5EF4-FFF2-40B4-BE49-F238E27FC236}">
                <a16:creationId xmlns:a16="http://schemas.microsoft.com/office/drawing/2014/main" id="{EE7D4E18-50DC-7E45-B2D8-00BB10340B44}"/>
              </a:ext>
            </a:extLst>
          </p:cNvPr>
          <p:cNvSpPr>
            <a:spLocks noGrp="1"/>
          </p:cNvSpPr>
          <p:nvPr>
            <p:ph type="title" hasCustomPrompt="1"/>
          </p:nvPr>
        </p:nvSpPr>
        <p:spPr>
          <a:xfrm>
            <a:off x="433473" y="1358900"/>
            <a:ext cx="7192876"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5" name="Text Placeholder 2">
            <a:extLst>
              <a:ext uri="{FF2B5EF4-FFF2-40B4-BE49-F238E27FC236}">
                <a16:creationId xmlns:a16="http://schemas.microsoft.com/office/drawing/2014/main" id="{0E56A981-CD9B-8BA7-562F-FBFBA8722568}"/>
              </a:ext>
            </a:extLst>
          </p:cNvPr>
          <p:cNvSpPr>
            <a:spLocks noGrp="1"/>
          </p:cNvSpPr>
          <p:nvPr>
            <p:ph type="body" idx="15" hasCustomPrompt="1"/>
          </p:nvPr>
        </p:nvSpPr>
        <p:spPr>
          <a:xfrm>
            <a:off x="433473" y="2708904"/>
            <a:ext cx="7192877" cy="450367"/>
          </a:xfrm>
          <a:prstGeom prst="rect">
            <a:avLst/>
          </a:prstGeom>
        </p:spPr>
        <p:txBody>
          <a:bodyPr anchor="b">
            <a:noAutofit/>
          </a:bodyPr>
          <a:lstStyle>
            <a:lvl1pPr marL="0" indent="0">
              <a:buNone/>
              <a:defRPr sz="3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Subheading goes here</a:t>
            </a:r>
          </a:p>
        </p:txBody>
      </p:sp>
      <p:sp>
        <p:nvSpPr>
          <p:cNvPr id="6" name="Content Placeholder 2">
            <a:extLst>
              <a:ext uri="{FF2B5EF4-FFF2-40B4-BE49-F238E27FC236}">
                <a16:creationId xmlns:a16="http://schemas.microsoft.com/office/drawing/2014/main" id="{0D55CA27-D589-3763-3734-33D517728468}"/>
              </a:ext>
            </a:extLst>
          </p:cNvPr>
          <p:cNvSpPr>
            <a:spLocks noGrp="1"/>
          </p:cNvSpPr>
          <p:nvPr>
            <p:ph idx="1" hasCustomPrompt="1"/>
          </p:nvPr>
        </p:nvSpPr>
        <p:spPr>
          <a:xfrm>
            <a:off x="433473" y="3520060"/>
            <a:ext cx="7192877" cy="2699765"/>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8075613" y="0"/>
            <a:ext cx="4116387" cy="6858000"/>
          </a:xfrm>
          <a:prstGeom prst="rect">
            <a:avLst/>
          </a:prstGeom>
          <a:solidFill>
            <a:srgbClr val="1127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8526463" y="440315"/>
            <a:ext cx="3240087" cy="5761037"/>
          </a:xfrm>
          <a:prstGeom prst="rect">
            <a:avLst/>
          </a:prstGeom>
        </p:spPr>
        <p:txBody>
          <a:bodyPr bIns="0"/>
          <a:lstStyle>
            <a:lvl1pPr>
              <a:defRPr>
                <a:solidFill>
                  <a:srgbClr val="FAF6EF"/>
                </a:solidFill>
              </a:defRPr>
            </a:lvl1pPr>
          </a:lstStyle>
          <a:p>
            <a:pPr lvl="0"/>
            <a:r>
              <a:rPr lang="en-GB"/>
              <a:t>Click to edit Master text styles</a:t>
            </a:r>
          </a:p>
        </p:txBody>
      </p:sp>
      <p:sp>
        <p:nvSpPr>
          <p:cNvPr id="14" name="Slide Number Placeholder 5">
            <a:extLst>
              <a:ext uri="{FF2B5EF4-FFF2-40B4-BE49-F238E27FC236}">
                <a16:creationId xmlns:a16="http://schemas.microsoft.com/office/drawing/2014/main" id="{246B96E7-E547-78AA-C543-83A207229589}"/>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3566339301"/>
      </p:ext>
    </p:extLst>
  </p:cSld>
  <p:clrMapOvr>
    <a:masterClrMapping/>
  </p:clrMapOvr>
  <p:extLst>
    <p:ext uri="{DCECCB84-F9BA-43D5-87BE-67443E8EF086}">
      <p15:sldGuideLst xmlns:p15="http://schemas.microsoft.com/office/powerpoint/2012/main">
        <p15:guide id="1" pos="4804">
          <p15:clr>
            <a:srgbClr val="FBAE40"/>
          </p15:clr>
        </p15:guide>
        <p15:guide id="2" pos="5087">
          <p15:clr>
            <a:srgbClr val="FBAE40"/>
          </p15:clr>
        </p15:guide>
        <p15:guide id="3" pos="5371">
          <p15:clr>
            <a:srgbClr val="FBAE40"/>
          </p15:clr>
        </p15:guide>
        <p15:guide id="4" orient="horz" pos="1876">
          <p15:clr>
            <a:srgbClr val="9FCC3B"/>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_column_1">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5AA1B0-C99D-5E34-36D6-FAE430BD23A4}"/>
              </a:ext>
            </a:extLst>
          </p:cNvPr>
          <p:cNvSpPr>
            <a:spLocks noGrp="1"/>
          </p:cNvSpPr>
          <p:nvPr>
            <p:ph type="title" hasCustomPrompt="1"/>
          </p:nvPr>
        </p:nvSpPr>
        <p:spPr>
          <a:xfrm>
            <a:off x="1325563" y="5386"/>
            <a:ext cx="1044098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6" name="TextBox 5">
            <a:extLst>
              <a:ext uri="{FF2B5EF4-FFF2-40B4-BE49-F238E27FC236}">
                <a16:creationId xmlns:a16="http://schemas.microsoft.com/office/drawing/2014/main" id="{5F355204-F707-A2D7-9431-4397130C1DC7}"/>
              </a:ext>
            </a:extLst>
          </p:cNvPr>
          <p:cNvSpPr txBox="1"/>
          <p:nvPr userDrawn="1"/>
        </p:nvSpPr>
        <p:spPr>
          <a:xfrm>
            <a:off x="343005" y="1593063"/>
            <a:ext cx="1448319" cy="1323439"/>
          </a:xfrm>
          <a:prstGeom prst="rect">
            <a:avLst/>
          </a:prstGeom>
          <a:noFill/>
        </p:spPr>
        <p:txBody>
          <a:bodyPr wrap="square">
            <a:spAutoFit/>
          </a:bodyPr>
          <a:lstStyle/>
          <a:p>
            <a:pPr lvl="0"/>
            <a:r>
              <a:rPr lang="en-GB" sz="8000" b="1">
                <a:solidFill>
                  <a:srgbClr val="009BC1"/>
                </a:solidFill>
              </a:rPr>
              <a:t>01</a:t>
            </a:r>
          </a:p>
        </p:txBody>
      </p:sp>
      <p:sp>
        <p:nvSpPr>
          <p:cNvPr id="3" name="Content Placeholder 2">
            <a:extLst>
              <a:ext uri="{FF2B5EF4-FFF2-40B4-BE49-F238E27FC236}">
                <a16:creationId xmlns:a16="http://schemas.microsoft.com/office/drawing/2014/main" id="{97ECA4DB-7437-56B6-3837-AC3C5EEB09F8}"/>
              </a:ext>
            </a:extLst>
          </p:cNvPr>
          <p:cNvSpPr>
            <a:spLocks noGrp="1"/>
          </p:cNvSpPr>
          <p:nvPr>
            <p:ph idx="1" hasCustomPrompt="1"/>
          </p:nvPr>
        </p:nvSpPr>
        <p:spPr>
          <a:xfrm>
            <a:off x="425451" y="3159585"/>
            <a:ext cx="3345691" cy="2790204"/>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goes here</a:t>
            </a:r>
            <a:endParaRPr lang="en-US"/>
          </a:p>
        </p:txBody>
      </p:sp>
      <p:sp>
        <p:nvSpPr>
          <p:cNvPr id="7" name="TextBox 6">
            <a:extLst>
              <a:ext uri="{FF2B5EF4-FFF2-40B4-BE49-F238E27FC236}">
                <a16:creationId xmlns:a16="http://schemas.microsoft.com/office/drawing/2014/main" id="{669B91C6-3DB9-F614-38EC-2285A437201C}"/>
              </a:ext>
            </a:extLst>
          </p:cNvPr>
          <p:cNvSpPr txBox="1"/>
          <p:nvPr userDrawn="1"/>
        </p:nvSpPr>
        <p:spPr>
          <a:xfrm>
            <a:off x="4294951" y="1593063"/>
            <a:ext cx="1448319" cy="1323439"/>
          </a:xfrm>
          <a:prstGeom prst="rect">
            <a:avLst/>
          </a:prstGeom>
          <a:noFill/>
        </p:spPr>
        <p:txBody>
          <a:bodyPr wrap="square">
            <a:spAutoFit/>
          </a:bodyPr>
          <a:lstStyle/>
          <a:p>
            <a:pPr lvl="0"/>
            <a:r>
              <a:rPr lang="en-GB" sz="8000" b="1">
                <a:solidFill>
                  <a:srgbClr val="009BC1"/>
                </a:solidFill>
              </a:rPr>
              <a:t>02</a:t>
            </a:r>
          </a:p>
        </p:txBody>
      </p:sp>
      <p:sp>
        <p:nvSpPr>
          <p:cNvPr id="8" name="Content Placeholder 2">
            <a:extLst>
              <a:ext uri="{FF2B5EF4-FFF2-40B4-BE49-F238E27FC236}">
                <a16:creationId xmlns:a16="http://schemas.microsoft.com/office/drawing/2014/main" id="{E5178B68-4973-59C0-D306-617FE8FC88C2}"/>
              </a:ext>
            </a:extLst>
          </p:cNvPr>
          <p:cNvSpPr>
            <a:spLocks noGrp="1"/>
          </p:cNvSpPr>
          <p:nvPr>
            <p:ph idx="16" hasCustomPrompt="1"/>
          </p:nvPr>
        </p:nvSpPr>
        <p:spPr>
          <a:xfrm>
            <a:off x="4385772" y="3159585"/>
            <a:ext cx="3345691" cy="2790204"/>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goes here</a:t>
            </a:r>
            <a:endParaRPr lang="en-US"/>
          </a:p>
        </p:txBody>
      </p:sp>
      <p:sp>
        <p:nvSpPr>
          <p:cNvPr id="9" name="TextBox 8">
            <a:extLst>
              <a:ext uri="{FF2B5EF4-FFF2-40B4-BE49-F238E27FC236}">
                <a16:creationId xmlns:a16="http://schemas.microsoft.com/office/drawing/2014/main" id="{0AC90D3A-884C-1A78-8C9D-522CF00F72B3}"/>
              </a:ext>
            </a:extLst>
          </p:cNvPr>
          <p:cNvSpPr txBox="1"/>
          <p:nvPr userDrawn="1"/>
        </p:nvSpPr>
        <p:spPr>
          <a:xfrm>
            <a:off x="8246897" y="1572882"/>
            <a:ext cx="1448319" cy="1323439"/>
          </a:xfrm>
          <a:prstGeom prst="rect">
            <a:avLst/>
          </a:prstGeom>
          <a:noFill/>
        </p:spPr>
        <p:txBody>
          <a:bodyPr wrap="square">
            <a:spAutoFit/>
          </a:bodyPr>
          <a:lstStyle/>
          <a:p>
            <a:pPr lvl="0"/>
            <a:r>
              <a:rPr lang="en-GB" sz="8000" b="1">
                <a:solidFill>
                  <a:srgbClr val="009BC1"/>
                </a:solidFill>
              </a:rPr>
              <a:t>03</a:t>
            </a:r>
          </a:p>
        </p:txBody>
      </p:sp>
      <p:sp>
        <p:nvSpPr>
          <p:cNvPr id="10" name="Content Placeholder 2">
            <a:extLst>
              <a:ext uri="{FF2B5EF4-FFF2-40B4-BE49-F238E27FC236}">
                <a16:creationId xmlns:a16="http://schemas.microsoft.com/office/drawing/2014/main" id="{6988ED98-95EA-FDDD-D6DB-6552BA7D87B7}"/>
              </a:ext>
            </a:extLst>
          </p:cNvPr>
          <p:cNvSpPr>
            <a:spLocks noGrp="1"/>
          </p:cNvSpPr>
          <p:nvPr>
            <p:ph idx="18" hasCustomPrompt="1"/>
          </p:nvPr>
        </p:nvSpPr>
        <p:spPr>
          <a:xfrm>
            <a:off x="8346300" y="3159585"/>
            <a:ext cx="3345691" cy="2790204"/>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goes here</a:t>
            </a:r>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5181828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_column_2">
    <p:bg>
      <p:bgPr>
        <a:solidFill>
          <a:schemeClr val="bg1"/>
        </a:solidFill>
        <a:effectLst/>
      </p:bgPr>
    </p:bg>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BA62D1B7-1580-A1C2-197B-0F085CE1F293}"/>
              </a:ext>
            </a:extLst>
          </p:cNvPr>
          <p:cNvSpPr>
            <a:spLocks noGrp="1"/>
          </p:cNvSpPr>
          <p:nvPr>
            <p:ph type="title" hasCustomPrompt="1"/>
          </p:nvPr>
        </p:nvSpPr>
        <p:spPr>
          <a:xfrm>
            <a:off x="1325563" y="5386"/>
            <a:ext cx="1044098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2" name="TextBox 1">
            <a:extLst>
              <a:ext uri="{FF2B5EF4-FFF2-40B4-BE49-F238E27FC236}">
                <a16:creationId xmlns:a16="http://schemas.microsoft.com/office/drawing/2014/main" id="{C6B1A70D-F4F8-FBC6-92C6-09996629C5F8}"/>
              </a:ext>
            </a:extLst>
          </p:cNvPr>
          <p:cNvSpPr txBox="1"/>
          <p:nvPr userDrawn="1"/>
        </p:nvSpPr>
        <p:spPr>
          <a:xfrm>
            <a:off x="343005" y="1593063"/>
            <a:ext cx="1448319" cy="1323439"/>
          </a:xfrm>
          <a:prstGeom prst="rect">
            <a:avLst/>
          </a:prstGeom>
          <a:noFill/>
        </p:spPr>
        <p:txBody>
          <a:bodyPr wrap="square">
            <a:spAutoFit/>
          </a:bodyPr>
          <a:lstStyle/>
          <a:p>
            <a:pPr lvl="0"/>
            <a:r>
              <a:rPr lang="en-GB" sz="8000" b="1">
                <a:solidFill>
                  <a:srgbClr val="009BC1"/>
                </a:solidFill>
              </a:rPr>
              <a:t>04</a:t>
            </a:r>
          </a:p>
        </p:txBody>
      </p:sp>
      <p:sp>
        <p:nvSpPr>
          <p:cNvPr id="3" name="Content Placeholder 2">
            <a:extLst>
              <a:ext uri="{FF2B5EF4-FFF2-40B4-BE49-F238E27FC236}">
                <a16:creationId xmlns:a16="http://schemas.microsoft.com/office/drawing/2014/main" id="{97ECA4DB-7437-56B6-3837-AC3C5EEB09F8}"/>
              </a:ext>
            </a:extLst>
          </p:cNvPr>
          <p:cNvSpPr>
            <a:spLocks noGrp="1"/>
          </p:cNvSpPr>
          <p:nvPr>
            <p:ph idx="1" hasCustomPrompt="1"/>
          </p:nvPr>
        </p:nvSpPr>
        <p:spPr>
          <a:xfrm>
            <a:off x="425451" y="3159585"/>
            <a:ext cx="3345691" cy="2790204"/>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goes here</a:t>
            </a:r>
            <a:endParaRPr lang="en-US"/>
          </a:p>
        </p:txBody>
      </p:sp>
      <p:sp>
        <p:nvSpPr>
          <p:cNvPr id="4" name="TextBox 3">
            <a:extLst>
              <a:ext uri="{FF2B5EF4-FFF2-40B4-BE49-F238E27FC236}">
                <a16:creationId xmlns:a16="http://schemas.microsoft.com/office/drawing/2014/main" id="{F738888D-3FC8-5D56-A009-4CF75EA4CDC4}"/>
              </a:ext>
            </a:extLst>
          </p:cNvPr>
          <p:cNvSpPr txBox="1"/>
          <p:nvPr userDrawn="1"/>
        </p:nvSpPr>
        <p:spPr>
          <a:xfrm>
            <a:off x="4294951" y="1593063"/>
            <a:ext cx="1448319" cy="1323439"/>
          </a:xfrm>
          <a:prstGeom prst="rect">
            <a:avLst/>
          </a:prstGeom>
          <a:noFill/>
        </p:spPr>
        <p:txBody>
          <a:bodyPr wrap="square">
            <a:spAutoFit/>
          </a:bodyPr>
          <a:lstStyle/>
          <a:p>
            <a:pPr lvl="0"/>
            <a:r>
              <a:rPr lang="en-GB" sz="8000" b="1">
                <a:solidFill>
                  <a:srgbClr val="009BC1"/>
                </a:solidFill>
              </a:rPr>
              <a:t>05</a:t>
            </a:r>
          </a:p>
        </p:txBody>
      </p:sp>
      <p:sp>
        <p:nvSpPr>
          <p:cNvPr id="8" name="Content Placeholder 2">
            <a:extLst>
              <a:ext uri="{FF2B5EF4-FFF2-40B4-BE49-F238E27FC236}">
                <a16:creationId xmlns:a16="http://schemas.microsoft.com/office/drawing/2014/main" id="{E5178B68-4973-59C0-D306-617FE8FC88C2}"/>
              </a:ext>
            </a:extLst>
          </p:cNvPr>
          <p:cNvSpPr>
            <a:spLocks noGrp="1"/>
          </p:cNvSpPr>
          <p:nvPr>
            <p:ph idx="16" hasCustomPrompt="1"/>
          </p:nvPr>
        </p:nvSpPr>
        <p:spPr>
          <a:xfrm>
            <a:off x="4385772" y="3159585"/>
            <a:ext cx="3345691" cy="2790204"/>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goes here</a:t>
            </a:r>
            <a:endParaRPr lang="en-US"/>
          </a:p>
        </p:txBody>
      </p:sp>
      <p:sp>
        <p:nvSpPr>
          <p:cNvPr id="6" name="TextBox 5">
            <a:extLst>
              <a:ext uri="{FF2B5EF4-FFF2-40B4-BE49-F238E27FC236}">
                <a16:creationId xmlns:a16="http://schemas.microsoft.com/office/drawing/2014/main" id="{43DB0D2A-C2E3-F25D-53F4-CF13865C9109}"/>
              </a:ext>
            </a:extLst>
          </p:cNvPr>
          <p:cNvSpPr txBox="1"/>
          <p:nvPr userDrawn="1"/>
        </p:nvSpPr>
        <p:spPr>
          <a:xfrm>
            <a:off x="8246897" y="1572882"/>
            <a:ext cx="1448319" cy="1323439"/>
          </a:xfrm>
          <a:prstGeom prst="rect">
            <a:avLst/>
          </a:prstGeom>
          <a:noFill/>
        </p:spPr>
        <p:txBody>
          <a:bodyPr wrap="square">
            <a:spAutoFit/>
          </a:bodyPr>
          <a:lstStyle/>
          <a:p>
            <a:pPr lvl="0"/>
            <a:r>
              <a:rPr lang="en-GB" sz="8000" b="1">
                <a:solidFill>
                  <a:srgbClr val="009BC1"/>
                </a:solidFill>
              </a:rPr>
              <a:t>06</a:t>
            </a:r>
          </a:p>
        </p:txBody>
      </p:sp>
      <p:sp>
        <p:nvSpPr>
          <p:cNvPr id="10" name="Content Placeholder 2">
            <a:extLst>
              <a:ext uri="{FF2B5EF4-FFF2-40B4-BE49-F238E27FC236}">
                <a16:creationId xmlns:a16="http://schemas.microsoft.com/office/drawing/2014/main" id="{6988ED98-95EA-FDDD-D6DB-6552BA7D87B7}"/>
              </a:ext>
            </a:extLst>
          </p:cNvPr>
          <p:cNvSpPr>
            <a:spLocks noGrp="1"/>
          </p:cNvSpPr>
          <p:nvPr>
            <p:ph idx="18" hasCustomPrompt="1"/>
          </p:nvPr>
        </p:nvSpPr>
        <p:spPr>
          <a:xfrm>
            <a:off x="8346300" y="3159585"/>
            <a:ext cx="3345691" cy="2790204"/>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goes here</a:t>
            </a:r>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4620713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_half_dark">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DB74EC4-F077-7ACF-63E6-7A6072899E75}"/>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FB144ED2-A07C-2BEB-4CC6-8EE32AF098D4}"/>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3" name="Content Placeholder 2">
            <a:extLst>
              <a:ext uri="{FF2B5EF4-FFF2-40B4-BE49-F238E27FC236}">
                <a16:creationId xmlns:a16="http://schemas.microsoft.com/office/drawing/2014/main" id="{5ED18B36-7136-2B46-5099-B25A0C21EFC4}"/>
              </a:ext>
            </a:extLst>
          </p:cNvPr>
          <p:cNvSpPr>
            <a:spLocks noGrp="1"/>
          </p:cNvSpPr>
          <p:nvPr>
            <p:ph idx="1" hasCustomPrompt="1"/>
          </p:nvPr>
        </p:nvSpPr>
        <p:spPr>
          <a:xfrm>
            <a:off x="433473" y="2708904"/>
            <a:ext cx="5219518" cy="3510921"/>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6554756" y="458788"/>
            <a:ext cx="5211794" cy="5761037"/>
          </a:xfrm>
          <a:prstGeom prst="rect">
            <a:avLst/>
          </a:prstGeom>
        </p:spPr>
        <p:txBody>
          <a:bodyPr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a:t>
            </a:r>
          </a:p>
        </p:txBody>
      </p:sp>
      <p:sp>
        <p:nvSpPr>
          <p:cNvPr id="13" name="Slide Number Placeholder 5">
            <a:extLst>
              <a:ext uri="{FF2B5EF4-FFF2-40B4-BE49-F238E27FC236}">
                <a16:creationId xmlns:a16="http://schemas.microsoft.com/office/drawing/2014/main" id="{2513B074-6D4D-5E65-E763-4CBE80D66406}"/>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1737095826"/>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guide id="4" orient="horz" pos="1876">
          <p15:clr>
            <a:srgbClr val="9FCC3B"/>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_half_header_revers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8FCFD66-2782-25FD-4B6B-8E3FBA800BD4}"/>
              </a:ext>
              <a:ext uri="{C183D7F6-B498-43B3-948B-1728B52AA6E4}">
                <adec:decorative xmlns:adec="http://schemas.microsoft.com/office/drawing/2017/decorative" val="1"/>
              </a:ext>
            </a:extLst>
          </p:cNvPr>
          <p:cNvSpPr/>
          <p:nvPr userDrawn="1"/>
        </p:nvSpPr>
        <p:spPr>
          <a:xfrm>
            <a:off x="0" y="1358900"/>
            <a:ext cx="6096000" cy="5499100"/>
          </a:xfrm>
          <a:prstGeom prst="rect">
            <a:avLst/>
          </a:prstGeom>
          <a:solidFill>
            <a:srgbClr val="CFD4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Placeholder 1">
            <a:extLst>
              <a:ext uri="{FF2B5EF4-FFF2-40B4-BE49-F238E27FC236}">
                <a16:creationId xmlns:a16="http://schemas.microsoft.com/office/drawing/2014/main" id="{F91BDDD1-ABB8-5513-0EBE-12EB29040A15}"/>
              </a:ext>
            </a:extLst>
          </p:cNvPr>
          <p:cNvSpPr>
            <a:spLocks noGrp="1"/>
          </p:cNvSpPr>
          <p:nvPr>
            <p:ph type="title" hasCustomPrompt="1"/>
          </p:nvPr>
        </p:nvSpPr>
        <p:spPr>
          <a:xfrm>
            <a:off x="1325563" y="5386"/>
            <a:ext cx="10440987" cy="900000"/>
          </a:xfrm>
          <a:prstGeom prst="rect">
            <a:avLst/>
          </a:prstGeom>
        </p:spPr>
        <p:txBody>
          <a:bodyPr vert="horz" lIns="0" tIns="216000" rIns="0" bIns="144000" rtlCol="0" anchor="t" anchorCtr="0">
            <a:normAutofit/>
          </a:bodyPr>
          <a:lstStyle>
            <a:lvl1pPr>
              <a:defRPr>
                <a:solidFill>
                  <a:schemeClr val="tx1"/>
                </a:solidFill>
                <a:latin typeface="+mj-lt"/>
              </a:defRPr>
            </a:lvl1pPr>
          </a:lstStyle>
          <a:p>
            <a:r>
              <a:rPr lang="en-GB"/>
              <a:t>Your title goes here</a:t>
            </a:r>
            <a:endParaRPr lang="en-US"/>
          </a:p>
        </p:txBody>
      </p:sp>
      <p:sp>
        <p:nvSpPr>
          <p:cNvPr id="3" name="Content Placeholder 2">
            <a:extLst>
              <a:ext uri="{FF2B5EF4-FFF2-40B4-BE49-F238E27FC236}">
                <a16:creationId xmlns:a16="http://schemas.microsoft.com/office/drawing/2014/main" id="{97ECA4DB-7437-56B6-3837-AC3C5EEB09F8}"/>
              </a:ext>
            </a:extLst>
          </p:cNvPr>
          <p:cNvSpPr>
            <a:spLocks noGrp="1"/>
          </p:cNvSpPr>
          <p:nvPr>
            <p:ph idx="1" hasCustomPrompt="1"/>
          </p:nvPr>
        </p:nvSpPr>
        <p:spPr>
          <a:xfrm>
            <a:off x="433473" y="1817688"/>
            <a:ext cx="5219518" cy="4402138"/>
          </a:xfrm>
          <a:prstGeom prst="rect">
            <a:avLst/>
          </a:prstGeom>
        </p:spPr>
        <p:txBody>
          <a:bodyPr bIns="0"/>
          <a:lstStyle/>
          <a:p>
            <a:pPr lvl="0"/>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6096000" y="1358900"/>
            <a:ext cx="6096000" cy="54991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BEB655E7-91E1-1C07-7B06-2DA668B7F525}"/>
              </a:ext>
            </a:extLst>
          </p:cNvPr>
          <p:cNvSpPr>
            <a:spLocks noGrp="1"/>
          </p:cNvSpPr>
          <p:nvPr>
            <p:ph idx="14"/>
          </p:nvPr>
        </p:nvSpPr>
        <p:spPr>
          <a:xfrm>
            <a:off x="6554756" y="1812413"/>
            <a:ext cx="5211794" cy="4407411"/>
          </a:xfrm>
          <a:prstGeom prst="rect">
            <a:avLst/>
          </a:prstGeom>
        </p:spPr>
        <p:txBody>
          <a:bodyPr bIns="0"/>
          <a:lstStyle>
            <a:lvl1pPr>
              <a:defRPr>
                <a:solidFill>
                  <a:schemeClr val="bg1"/>
                </a:solidFill>
              </a:defRPr>
            </a:lvl1pPr>
          </a:lstStyle>
          <a:p>
            <a:pPr lvl="0"/>
            <a:r>
              <a:rPr lang="en-GB"/>
              <a:t>Click to edit Master text styles</a:t>
            </a:r>
          </a:p>
        </p:txBody>
      </p:sp>
      <p:sp>
        <p:nvSpPr>
          <p:cNvPr id="13" name="Slide Number Placeholder 5">
            <a:extLst>
              <a:ext uri="{FF2B5EF4-FFF2-40B4-BE49-F238E27FC236}">
                <a16:creationId xmlns:a16="http://schemas.microsoft.com/office/drawing/2014/main" id="{81B6B00A-DA58-B7AA-2824-078C084AEA87}"/>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1447983563"/>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_grid_1">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5E44EC-D851-12E4-A4FC-326A1D3AEFC7}"/>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pic>
        <p:nvPicPr>
          <p:cNvPr id="27" name="Picture 26" descr="Image of the Trent Building through the trees">
            <a:extLst>
              <a:ext uri="{FF2B5EF4-FFF2-40B4-BE49-F238E27FC236}">
                <a16:creationId xmlns:a16="http://schemas.microsoft.com/office/drawing/2014/main" id="{9E54FF2A-2B74-5BA4-CF40-EC745ED38FA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3429000"/>
            <a:ext cx="3035299" cy="3429000"/>
          </a:xfrm>
          <a:prstGeom prst="rect">
            <a:avLst/>
          </a:prstGeom>
        </p:spPr>
      </p:pic>
      <p:sp>
        <p:nvSpPr>
          <p:cNvPr id="13" name="Picture Placeholder 12">
            <a:extLst>
              <a:ext uri="{FF2B5EF4-FFF2-40B4-BE49-F238E27FC236}">
                <a16:creationId xmlns:a16="http://schemas.microsoft.com/office/drawing/2014/main" id="{EDCCA7DA-43AB-3A07-EF33-FACF17E6C0B3}"/>
              </a:ext>
            </a:extLst>
          </p:cNvPr>
          <p:cNvSpPr>
            <a:spLocks noGrp="1"/>
          </p:cNvSpPr>
          <p:nvPr>
            <p:ph type="pic" sz="quarter" idx="10" hasCustomPrompt="1"/>
          </p:nvPr>
        </p:nvSpPr>
        <p:spPr>
          <a:xfrm>
            <a:off x="0" y="3429000"/>
            <a:ext cx="3035300" cy="3429000"/>
          </a:xfrm>
          <a:prstGeom prst="rect">
            <a:avLst/>
          </a:prstGeom>
        </p:spPr>
        <p:txBody>
          <a:bodyPr anchor="ctr"/>
          <a:lstStyle>
            <a:lvl1pPr marL="0" indent="0" algn="ctr">
              <a:buNone/>
              <a:defRPr/>
            </a:lvl1pPr>
          </a:lstStyle>
          <a:p>
            <a:r>
              <a:rPr lang="en-US"/>
              <a:t>  </a:t>
            </a:r>
          </a:p>
        </p:txBody>
      </p:sp>
      <p:sp>
        <p:nvSpPr>
          <p:cNvPr id="4" name="Rectangle 3">
            <a:extLst>
              <a:ext uri="{FF2B5EF4-FFF2-40B4-BE49-F238E27FC236}">
                <a16:creationId xmlns:a16="http://schemas.microsoft.com/office/drawing/2014/main" id="{DD8AE549-3D8C-F8C5-5564-74DC0B0E758A}"/>
              </a:ext>
              <a:ext uri="{C183D7F6-B498-43B3-948B-1728B52AA6E4}">
                <adec:decorative xmlns:adec="http://schemas.microsoft.com/office/drawing/2017/decorative" val="1"/>
              </a:ext>
            </a:extLst>
          </p:cNvPr>
          <p:cNvSpPr/>
          <p:nvPr userDrawn="1"/>
        </p:nvSpPr>
        <p:spPr>
          <a:xfrm>
            <a:off x="3035592" y="3429000"/>
            <a:ext cx="3060408" cy="3429000"/>
          </a:xfrm>
          <a:prstGeom prst="rect">
            <a:avLst/>
          </a:prstGeom>
          <a:solidFill>
            <a:srgbClr val="66C3D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180000" rtlCol="0" anchor="ctr"/>
          <a:lstStyle/>
          <a:p>
            <a:pPr algn="ctr"/>
            <a:endParaRPr lang="en-US"/>
          </a:p>
        </p:txBody>
      </p:sp>
      <p:sp>
        <p:nvSpPr>
          <p:cNvPr id="17" name="Text Placeholder 16">
            <a:extLst>
              <a:ext uri="{FF2B5EF4-FFF2-40B4-BE49-F238E27FC236}">
                <a16:creationId xmlns:a16="http://schemas.microsoft.com/office/drawing/2014/main" id="{EED4FDFF-01CC-7D91-5FE8-76C56AA43EA9}"/>
              </a:ext>
            </a:extLst>
          </p:cNvPr>
          <p:cNvSpPr>
            <a:spLocks noGrp="1"/>
          </p:cNvSpPr>
          <p:nvPr>
            <p:ph type="body" sz="quarter" idx="12" hasCustomPrompt="1"/>
          </p:nvPr>
        </p:nvSpPr>
        <p:spPr>
          <a:xfrm>
            <a:off x="3035300" y="3429000"/>
            <a:ext cx="3060700" cy="3429000"/>
          </a:xfrm>
          <a:prstGeom prst="rect">
            <a:avLst/>
          </a:prstGeom>
        </p:spPr>
        <p:txBody>
          <a:bodyPr lIns="360000" tIns="360000" rIns="360000" bIns="900000"/>
          <a:lstStyle>
            <a:lvl1pPr marL="0" indent="0">
              <a:buNone/>
              <a:defRPr sz="2800" b="1"/>
            </a:lvl1pPr>
            <a:lvl2pPr marL="0" indent="0">
              <a:buNone/>
              <a:defRPr sz="2400"/>
            </a:lvl2pPr>
          </a:lstStyle>
          <a:p>
            <a:pPr lvl="0"/>
            <a:r>
              <a:rPr lang="en-GB"/>
              <a:t>Text box 1</a:t>
            </a:r>
          </a:p>
          <a:p>
            <a:pPr lvl="1"/>
            <a:r>
              <a:rPr lang="en-GB"/>
              <a:t>Text goes here</a:t>
            </a:r>
            <a:endParaRPr lang="en-US"/>
          </a:p>
        </p:txBody>
      </p:sp>
      <p:sp>
        <p:nvSpPr>
          <p:cNvPr id="7" name="Rectangle 6">
            <a:extLst>
              <a:ext uri="{FF2B5EF4-FFF2-40B4-BE49-F238E27FC236}">
                <a16:creationId xmlns:a16="http://schemas.microsoft.com/office/drawing/2014/main" id="{C791FD6D-ACBB-795F-A648-16926841CC51}"/>
              </a:ext>
              <a:ext uri="{C183D7F6-B498-43B3-948B-1728B52AA6E4}">
                <adec:decorative xmlns:adec="http://schemas.microsoft.com/office/drawing/2017/decorative" val="1"/>
              </a:ext>
            </a:extLst>
          </p:cNvPr>
          <p:cNvSpPr/>
          <p:nvPr userDrawn="1"/>
        </p:nvSpPr>
        <p:spPr>
          <a:xfrm>
            <a:off x="6096000" y="0"/>
            <a:ext cx="3060408"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Ins="360000" rtlCol="0" anchor="ctr"/>
          <a:lstStyle/>
          <a:p>
            <a:pPr algn="ctr"/>
            <a:endParaRPr lang="en-US"/>
          </a:p>
        </p:txBody>
      </p:sp>
      <p:sp>
        <p:nvSpPr>
          <p:cNvPr id="18" name="Text Placeholder 16">
            <a:extLst>
              <a:ext uri="{FF2B5EF4-FFF2-40B4-BE49-F238E27FC236}">
                <a16:creationId xmlns:a16="http://schemas.microsoft.com/office/drawing/2014/main" id="{CF8E0CD1-94EB-05D7-D056-7768B00D423C}"/>
              </a:ext>
            </a:extLst>
          </p:cNvPr>
          <p:cNvSpPr>
            <a:spLocks noGrp="1"/>
          </p:cNvSpPr>
          <p:nvPr>
            <p:ph type="body" sz="quarter" idx="13" hasCustomPrompt="1"/>
          </p:nvPr>
        </p:nvSpPr>
        <p:spPr>
          <a:xfrm>
            <a:off x="6109950" y="0"/>
            <a:ext cx="3046458" cy="3429000"/>
          </a:xfrm>
          <a:prstGeom prst="rect">
            <a:avLst/>
          </a:prstGeom>
        </p:spPr>
        <p:txBody>
          <a:bodyPr lIns="360000" tIns="432000" rIns="360000" bIns="360000"/>
          <a:lstStyle>
            <a:lvl1pPr marL="0" indent="0">
              <a:buNone/>
              <a:defRPr sz="2800" b="1"/>
            </a:lvl1pPr>
            <a:lvl2pPr marL="0" indent="0">
              <a:buNone/>
              <a:defRPr sz="2400"/>
            </a:lvl2pPr>
          </a:lstStyle>
          <a:p>
            <a:pPr lvl="0"/>
            <a:r>
              <a:rPr lang="en-GB"/>
              <a:t>Text box 2</a:t>
            </a:r>
          </a:p>
          <a:p>
            <a:pPr lvl="1"/>
            <a:r>
              <a:rPr lang="en-GB"/>
              <a:t>Text goes here</a:t>
            </a:r>
            <a:endParaRPr lang="en-US"/>
          </a:p>
        </p:txBody>
      </p:sp>
      <p:sp>
        <p:nvSpPr>
          <p:cNvPr id="6" name="Rectangle 5">
            <a:extLst>
              <a:ext uri="{FF2B5EF4-FFF2-40B4-BE49-F238E27FC236}">
                <a16:creationId xmlns:a16="http://schemas.microsoft.com/office/drawing/2014/main" id="{000767FC-B0EE-2180-5D56-1FD4F2E49ED5}"/>
              </a:ext>
              <a:ext uri="{C183D7F6-B498-43B3-948B-1728B52AA6E4}">
                <adec:decorative xmlns:adec="http://schemas.microsoft.com/office/drawing/2017/decorative" val="1"/>
              </a:ext>
            </a:extLst>
          </p:cNvPr>
          <p:cNvSpPr/>
          <p:nvPr userDrawn="1"/>
        </p:nvSpPr>
        <p:spPr>
          <a:xfrm>
            <a:off x="9156408" y="0"/>
            <a:ext cx="3035592"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16">
            <a:extLst>
              <a:ext uri="{FF2B5EF4-FFF2-40B4-BE49-F238E27FC236}">
                <a16:creationId xmlns:a16="http://schemas.microsoft.com/office/drawing/2014/main" id="{7D5F2ED6-EDF6-AE45-DB32-B0BFFD4C080C}"/>
              </a:ext>
            </a:extLst>
          </p:cNvPr>
          <p:cNvSpPr>
            <a:spLocks noGrp="1"/>
          </p:cNvSpPr>
          <p:nvPr>
            <p:ph type="body" sz="quarter" idx="14" hasCustomPrompt="1"/>
          </p:nvPr>
        </p:nvSpPr>
        <p:spPr>
          <a:xfrm>
            <a:off x="9170358" y="0"/>
            <a:ext cx="3021642" cy="3429000"/>
          </a:xfrm>
          <a:prstGeom prst="rect">
            <a:avLst/>
          </a:prstGeom>
        </p:spPr>
        <p:txBody>
          <a:bodyPr lIns="360000" tIns="432000" rIns="360000" bIns="360000"/>
          <a:lstStyle>
            <a:lvl1pPr marL="0" indent="0">
              <a:buNone/>
              <a:defRPr sz="2800" b="1">
                <a:solidFill>
                  <a:schemeClr val="bg1"/>
                </a:solidFill>
              </a:defRPr>
            </a:lvl1pPr>
            <a:lvl2pPr marL="0" indent="0">
              <a:buNone/>
              <a:defRPr sz="2400">
                <a:solidFill>
                  <a:schemeClr val="bg1"/>
                </a:solidFill>
              </a:defRPr>
            </a:lvl2pPr>
          </a:lstStyle>
          <a:p>
            <a:pPr lvl="0"/>
            <a:r>
              <a:rPr lang="en-GB"/>
              <a:t>Text box 3</a:t>
            </a:r>
          </a:p>
          <a:p>
            <a:pPr lvl="1"/>
            <a:r>
              <a:rPr lang="en-GB"/>
              <a:t>Text goes here</a:t>
            </a:r>
            <a:endParaRPr lang="en-US"/>
          </a:p>
        </p:txBody>
      </p:sp>
      <p:pic>
        <p:nvPicPr>
          <p:cNvPr id="5" name="Picture 4" descr="Two students looking at a computer together.">
            <a:extLst>
              <a:ext uri="{FF2B5EF4-FFF2-40B4-BE49-F238E27FC236}">
                <a16:creationId xmlns:a16="http://schemas.microsoft.com/office/drawing/2014/main" id="{E088E9FE-9D2F-707D-553D-DD7D8D0BF58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6075071" y="3429001"/>
            <a:ext cx="6116930" cy="3429000"/>
          </a:xfrm>
          <a:prstGeom prst="rect">
            <a:avLst/>
          </a:prstGeom>
        </p:spPr>
      </p:pic>
      <p:sp>
        <p:nvSpPr>
          <p:cNvPr id="14" name="Picture Placeholder 12">
            <a:extLst>
              <a:ext uri="{FF2B5EF4-FFF2-40B4-BE49-F238E27FC236}">
                <a16:creationId xmlns:a16="http://schemas.microsoft.com/office/drawing/2014/main" id="{15B60017-6E9F-37A8-BC85-B1B623D25C22}"/>
              </a:ext>
            </a:extLst>
          </p:cNvPr>
          <p:cNvSpPr>
            <a:spLocks noGrp="1"/>
          </p:cNvSpPr>
          <p:nvPr>
            <p:ph type="pic" sz="quarter" idx="11"/>
          </p:nvPr>
        </p:nvSpPr>
        <p:spPr>
          <a:xfrm>
            <a:off x="6109950" y="3429000"/>
            <a:ext cx="6082050" cy="3429000"/>
          </a:xfrm>
          <a:prstGeom prst="rect">
            <a:avLst/>
          </a:prstGeom>
        </p:spPr>
        <p:txBody>
          <a:bodyPr anchor="ctr"/>
          <a:lstStyle>
            <a:lvl1pPr marL="0" indent="0" algn="ctr">
              <a:buNone/>
              <a:defRPr>
                <a:solidFill>
                  <a:schemeClr val="bg1"/>
                </a:solidFill>
              </a:defRPr>
            </a:lvl1pPr>
          </a:lstStyle>
          <a:p>
            <a:endParaRPr lang="en-US"/>
          </a:p>
        </p:txBody>
      </p:sp>
      <p:sp>
        <p:nvSpPr>
          <p:cNvPr id="19" name="Slide Number Placeholder 5">
            <a:extLst>
              <a:ext uri="{FF2B5EF4-FFF2-40B4-BE49-F238E27FC236}">
                <a16:creationId xmlns:a16="http://schemas.microsoft.com/office/drawing/2014/main" id="{447ADA44-5ECF-D81F-2E99-B0A321C86A92}"/>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152715701"/>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_grid_2">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BFA4EF-A742-5BA9-C34E-7BBDD53BD33E}"/>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4" name="Rectangle 3">
            <a:extLst>
              <a:ext uri="{FF2B5EF4-FFF2-40B4-BE49-F238E27FC236}">
                <a16:creationId xmlns:a16="http://schemas.microsoft.com/office/drawing/2014/main" id="{DD8AE549-3D8C-F8C5-5564-74DC0B0E758A}"/>
              </a:ext>
              <a:ext uri="{C183D7F6-B498-43B3-948B-1728B52AA6E4}">
                <adec:decorative xmlns:adec="http://schemas.microsoft.com/office/drawing/2017/decorative" val="1"/>
              </a:ext>
            </a:extLst>
          </p:cNvPr>
          <p:cNvSpPr/>
          <p:nvPr userDrawn="1"/>
        </p:nvSpPr>
        <p:spPr>
          <a:xfrm>
            <a:off x="0" y="3429000"/>
            <a:ext cx="6095998" cy="3429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6">
            <a:extLst>
              <a:ext uri="{FF2B5EF4-FFF2-40B4-BE49-F238E27FC236}">
                <a16:creationId xmlns:a16="http://schemas.microsoft.com/office/drawing/2014/main" id="{13120BCC-8BEC-DF67-24F5-634A4A8C8B4C}"/>
              </a:ext>
            </a:extLst>
          </p:cNvPr>
          <p:cNvSpPr>
            <a:spLocks noGrp="1"/>
          </p:cNvSpPr>
          <p:nvPr>
            <p:ph type="body" sz="quarter" idx="12" hasCustomPrompt="1"/>
          </p:nvPr>
        </p:nvSpPr>
        <p:spPr>
          <a:xfrm>
            <a:off x="433473" y="3429000"/>
            <a:ext cx="5662527" cy="3429000"/>
          </a:xfrm>
          <a:prstGeom prst="rect">
            <a:avLst/>
          </a:prstGeom>
        </p:spPr>
        <p:txBody>
          <a:bodyPr lIns="0" tIns="360000" rIns="360000" bIns="900000"/>
          <a:lstStyle>
            <a:lvl1pPr marL="0" indent="0">
              <a:buNone/>
              <a:defRPr sz="2800" b="1">
                <a:solidFill>
                  <a:schemeClr val="tx1"/>
                </a:solidFill>
              </a:defRPr>
            </a:lvl1pPr>
            <a:lvl2pPr marL="0" indent="0">
              <a:buNone/>
              <a:defRPr sz="2400">
                <a:solidFill>
                  <a:schemeClr val="tx1"/>
                </a:solidFill>
              </a:defRPr>
            </a:lvl2pPr>
          </a:lstStyle>
          <a:p>
            <a:pPr lvl="0"/>
            <a:r>
              <a:rPr lang="en-GB"/>
              <a:t>Text box 1</a:t>
            </a:r>
          </a:p>
          <a:p>
            <a:pPr lvl="1"/>
            <a:r>
              <a:rPr lang="en-GB"/>
              <a:t>Text goes here</a:t>
            </a:r>
            <a:endParaRPr lang="en-US"/>
          </a:p>
        </p:txBody>
      </p:sp>
      <p:sp>
        <p:nvSpPr>
          <p:cNvPr id="6" name="Rectangle 5">
            <a:extLst>
              <a:ext uri="{FF2B5EF4-FFF2-40B4-BE49-F238E27FC236}">
                <a16:creationId xmlns:a16="http://schemas.microsoft.com/office/drawing/2014/main" id="{97B0674E-8EA7-AED4-D11A-4B5776ED278A}"/>
              </a:ext>
              <a:ext uri="{C183D7F6-B498-43B3-948B-1728B52AA6E4}">
                <adec:decorative xmlns:adec="http://schemas.microsoft.com/office/drawing/2017/decorative" val="1"/>
              </a:ext>
            </a:extLst>
          </p:cNvPr>
          <p:cNvSpPr/>
          <p:nvPr userDrawn="1"/>
        </p:nvSpPr>
        <p:spPr>
          <a:xfrm>
            <a:off x="6096000" y="0"/>
            <a:ext cx="6096000" cy="3429000"/>
          </a:xfrm>
          <a:prstGeom prst="rect">
            <a:avLst/>
          </a:prstGeom>
          <a:solidFill>
            <a:srgbClr val="10263B"/>
          </a:solidFill>
          <a:ln>
            <a:noFill/>
          </a:ln>
        </p:spPr>
        <p:style>
          <a:lnRef idx="2">
            <a:schemeClr val="accent1">
              <a:shade val="50000"/>
            </a:schemeClr>
          </a:lnRef>
          <a:fillRef idx="1">
            <a:schemeClr val="accent1"/>
          </a:fillRef>
          <a:effectRef idx="0">
            <a:schemeClr val="accent1"/>
          </a:effectRef>
          <a:fontRef idx="minor">
            <a:schemeClr val="lt1"/>
          </a:fontRef>
        </p:style>
        <p:txBody>
          <a:bodyPr rIns="360000" rtlCol="0" anchor="ctr"/>
          <a:lstStyle/>
          <a:p>
            <a:pPr algn="ctr"/>
            <a:endParaRPr lang="en-US"/>
          </a:p>
        </p:txBody>
      </p:sp>
      <p:sp>
        <p:nvSpPr>
          <p:cNvPr id="13" name="Text Placeholder 16">
            <a:extLst>
              <a:ext uri="{FF2B5EF4-FFF2-40B4-BE49-F238E27FC236}">
                <a16:creationId xmlns:a16="http://schemas.microsoft.com/office/drawing/2014/main" id="{CDB2B333-8E79-CCA2-11F6-ACE5708FCD46}"/>
              </a:ext>
            </a:extLst>
          </p:cNvPr>
          <p:cNvSpPr>
            <a:spLocks noGrp="1"/>
          </p:cNvSpPr>
          <p:nvPr>
            <p:ph type="body" sz="quarter" idx="13" hasCustomPrompt="1"/>
          </p:nvPr>
        </p:nvSpPr>
        <p:spPr>
          <a:xfrm>
            <a:off x="6109950" y="0"/>
            <a:ext cx="5656600" cy="3429000"/>
          </a:xfrm>
          <a:prstGeom prst="rect">
            <a:avLst/>
          </a:prstGeom>
        </p:spPr>
        <p:txBody>
          <a:bodyPr lIns="360000" tIns="432000" rIns="360000" bIns="360000"/>
          <a:lstStyle>
            <a:lvl1pPr marL="0" indent="0">
              <a:buNone/>
              <a:defRPr sz="2800" b="1">
                <a:solidFill>
                  <a:schemeClr val="bg1"/>
                </a:solidFill>
              </a:defRPr>
            </a:lvl1pPr>
            <a:lvl2pPr marL="0" indent="0">
              <a:buNone/>
              <a:defRPr sz="2400">
                <a:solidFill>
                  <a:schemeClr val="bg1"/>
                </a:solidFill>
              </a:defRPr>
            </a:lvl2pPr>
          </a:lstStyle>
          <a:p>
            <a:pPr lvl="0"/>
            <a:r>
              <a:rPr lang="en-GB"/>
              <a:t>Text box 2</a:t>
            </a:r>
          </a:p>
          <a:p>
            <a:pPr lvl="1"/>
            <a:r>
              <a:rPr lang="en-GB"/>
              <a:t>Text goes here</a:t>
            </a:r>
            <a:endParaRPr lang="en-US"/>
          </a:p>
        </p:txBody>
      </p:sp>
      <p:pic>
        <p:nvPicPr>
          <p:cNvPr id="7" name="Picture 6" descr="A group of students sitting at a table discussing their notes">
            <a:extLst>
              <a:ext uri="{FF2B5EF4-FFF2-40B4-BE49-F238E27FC236}">
                <a16:creationId xmlns:a16="http://schemas.microsoft.com/office/drawing/2014/main" id="{277CEDCB-2DF9-43E7-3E2C-8D6555253C5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109950" y="3429000"/>
            <a:ext cx="6082050" cy="3429000"/>
          </a:xfrm>
          <a:prstGeom prst="rect">
            <a:avLst/>
          </a:prstGeom>
        </p:spPr>
      </p:pic>
      <p:sp>
        <p:nvSpPr>
          <p:cNvPr id="10" name="Picture Placeholder 12">
            <a:extLst>
              <a:ext uri="{FF2B5EF4-FFF2-40B4-BE49-F238E27FC236}">
                <a16:creationId xmlns:a16="http://schemas.microsoft.com/office/drawing/2014/main" id="{212BCA2A-7A54-C6A7-06AA-26279F9F3116}"/>
              </a:ext>
            </a:extLst>
          </p:cNvPr>
          <p:cNvSpPr>
            <a:spLocks noGrp="1"/>
          </p:cNvSpPr>
          <p:nvPr>
            <p:ph type="pic" sz="quarter" idx="11"/>
          </p:nvPr>
        </p:nvSpPr>
        <p:spPr>
          <a:xfrm>
            <a:off x="6109950" y="3429000"/>
            <a:ext cx="6082050" cy="3429000"/>
          </a:xfrm>
          <a:prstGeom prst="rect">
            <a:avLst/>
          </a:prstGeom>
        </p:spPr>
        <p:txBody>
          <a:bodyPr anchor="ctr"/>
          <a:lstStyle>
            <a:lvl1pPr marL="0" indent="0" algn="ctr">
              <a:buNone/>
              <a:defRPr>
                <a:solidFill>
                  <a:schemeClr val="bg1"/>
                </a:solidFill>
              </a:defRPr>
            </a:lvl1pPr>
          </a:lstStyle>
          <a:p>
            <a:endParaRPr lang="en-US"/>
          </a:p>
        </p:txBody>
      </p:sp>
      <p:sp>
        <p:nvSpPr>
          <p:cNvPr id="27" name="Slide Number Placeholder 5">
            <a:extLst>
              <a:ext uri="{FF2B5EF4-FFF2-40B4-BE49-F238E27FC236}">
                <a16:creationId xmlns:a16="http://schemas.microsoft.com/office/drawing/2014/main" id="{92DEC5A4-D2F7-DF4A-E9B6-9EEEB81A0D46}"/>
              </a:ext>
            </a:extLst>
          </p:cNvPr>
          <p:cNvSpPr txBox="1">
            <a:spLocks/>
          </p:cNvSpPr>
          <p:nvPr userDrawn="1"/>
        </p:nvSpPr>
        <p:spPr>
          <a:xfrm>
            <a:off x="11046660" y="6399212"/>
            <a:ext cx="719890" cy="197810"/>
          </a:xfrm>
          <a:prstGeom prst="rect">
            <a:avLst/>
          </a:prstGeom>
        </p:spPr>
        <p:txBody>
          <a:bodyPr lIns="0" tIns="0" rIns="0" bIns="0"/>
          <a:lstStyle>
            <a:defPPr>
              <a:defRPr lang="en-US"/>
            </a:defPPr>
            <a:lvl1pPr marL="0" algn="r" defTabSz="914400" rtl="0" eaLnBrk="1" latinLnBrk="0" hangingPunct="1">
              <a:defRPr sz="12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20EACED-CA5D-B048-836B-BF30EF0E914A}" type="slidenum">
              <a:rPr lang="en-US" smtClean="0">
                <a:solidFill>
                  <a:schemeClr val="bg1"/>
                </a:solidFill>
              </a:rPr>
              <a:pPr/>
              <a:t>‹#›</a:t>
            </a:fld>
            <a:endParaRPr lang="en-US">
              <a:solidFill>
                <a:schemeClr val="bg1"/>
              </a:solidFill>
            </a:endParaRPr>
          </a:p>
        </p:txBody>
      </p:sp>
    </p:spTree>
    <p:extLst>
      <p:ext uri="{BB962C8B-B14F-4D97-AF65-F5344CB8AC3E}">
        <p14:creationId xmlns:p14="http://schemas.microsoft.com/office/powerpoint/2010/main" val="3374174960"/>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_half_imag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9C39AFA-7D75-A7A1-4DAF-0ABAD9DF1B34}"/>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E647E610-1FA4-7CBB-1A5C-327EEBFC458C}"/>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5" name="Content Placeholder 2">
            <a:extLst>
              <a:ext uri="{FF2B5EF4-FFF2-40B4-BE49-F238E27FC236}">
                <a16:creationId xmlns:a16="http://schemas.microsoft.com/office/drawing/2014/main" id="{A1E3DEE5-A7EF-7B8E-B77B-FA9951B99AF2}"/>
              </a:ext>
            </a:extLst>
          </p:cNvPr>
          <p:cNvSpPr>
            <a:spLocks noGrp="1"/>
          </p:cNvSpPr>
          <p:nvPr>
            <p:ph idx="1" hasCustomPrompt="1"/>
          </p:nvPr>
        </p:nvSpPr>
        <p:spPr>
          <a:xfrm>
            <a:off x="433473" y="2708904"/>
            <a:ext cx="5219518" cy="3510921"/>
          </a:xfrm>
          <a:prstGeom prst="rect">
            <a:avLst/>
          </a:prstGeom>
        </p:spPr>
        <p:txBody>
          <a:bodyPr bIns="0"/>
          <a:lstStyle/>
          <a:p>
            <a:pPr lvl="0"/>
            <a:r>
              <a:rPr lang="en-GB"/>
              <a:t>Text goes here</a:t>
            </a:r>
            <a:endParaRPr lang="en-US"/>
          </a:p>
        </p:txBody>
      </p:sp>
      <p:pic>
        <p:nvPicPr>
          <p:cNvPr id="9" name="Picture 8" descr="Picture of a goose at the Jubilee campus surrounded by grass and yellow flowers.&#10;">
            <a:extLst>
              <a:ext uri="{FF2B5EF4-FFF2-40B4-BE49-F238E27FC236}">
                <a16:creationId xmlns:a16="http://schemas.microsoft.com/office/drawing/2014/main" id="{D44FE04A-D494-B805-4FFC-3E58CDD2289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103840" y="0"/>
            <a:ext cx="6088160" cy="6858000"/>
          </a:xfrm>
          <a:prstGeom prst="rect">
            <a:avLst/>
          </a:prstGeom>
        </p:spPr>
      </p:pic>
      <p:sp>
        <p:nvSpPr>
          <p:cNvPr id="6" name="Picture Placeholder 4">
            <a:extLst>
              <a:ext uri="{FF2B5EF4-FFF2-40B4-BE49-F238E27FC236}">
                <a16:creationId xmlns:a16="http://schemas.microsoft.com/office/drawing/2014/main" id="{C3D460CB-C830-EC38-98D8-0FCA20D78F62}"/>
              </a:ext>
            </a:extLst>
          </p:cNvPr>
          <p:cNvSpPr>
            <a:spLocks noGrp="1"/>
          </p:cNvSpPr>
          <p:nvPr>
            <p:ph type="pic" sz="quarter" idx="11"/>
          </p:nvPr>
        </p:nvSpPr>
        <p:spPr>
          <a:xfrm>
            <a:off x="6096000" y="0"/>
            <a:ext cx="6096000" cy="6858000"/>
          </a:xfrm>
          <a:prstGeom prst="rect">
            <a:avLst/>
          </a:prstGeom>
        </p:spPr>
        <p:txBody>
          <a:bodyPr anchor="ctr"/>
          <a:lstStyle>
            <a:lvl1pPr marL="0" indent="0" algn="ctr">
              <a:buNone/>
              <a:defRPr>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ECD0FB5E-1C0D-25FF-B88F-DE34AC42DB9C}"/>
              </a:ext>
            </a:extLst>
          </p:cNvPr>
          <p:cNvSpPr>
            <a:spLocks noGrp="1"/>
          </p:cNvSpPr>
          <p:nvPr>
            <p:ph type="sldNum" sz="quarter" idx="4"/>
          </p:nvPr>
        </p:nvSpPr>
        <p:spPr>
          <a:xfrm>
            <a:off x="11046660" y="6399213"/>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669705688"/>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guide id="4" orient="horz" pos="1876">
          <p15:clr>
            <a:srgbClr val="9FCC3B"/>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_third_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1D539C-2810-8838-FCB1-661F2CC4B5E5}"/>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2BD230BE-0CFA-E6A8-3D27-DD65772DDEF5}"/>
              </a:ext>
            </a:extLst>
          </p:cNvPr>
          <p:cNvSpPr>
            <a:spLocks noGrp="1"/>
          </p:cNvSpPr>
          <p:nvPr>
            <p:ph type="title" hasCustomPrompt="1"/>
          </p:nvPr>
        </p:nvSpPr>
        <p:spPr>
          <a:xfrm>
            <a:off x="433473" y="1358900"/>
            <a:ext cx="71928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6" name="Content Placeholder 2">
            <a:extLst>
              <a:ext uri="{FF2B5EF4-FFF2-40B4-BE49-F238E27FC236}">
                <a16:creationId xmlns:a16="http://schemas.microsoft.com/office/drawing/2014/main" id="{3375DF16-3906-148C-E1CC-C228D62951A9}"/>
              </a:ext>
            </a:extLst>
          </p:cNvPr>
          <p:cNvSpPr>
            <a:spLocks noGrp="1"/>
          </p:cNvSpPr>
          <p:nvPr>
            <p:ph idx="1" hasCustomPrompt="1"/>
          </p:nvPr>
        </p:nvSpPr>
        <p:spPr>
          <a:xfrm>
            <a:off x="433472" y="2708904"/>
            <a:ext cx="7192877" cy="3510921"/>
          </a:xfrm>
          <a:prstGeom prst="rect">
            <a:avLst/>
          </a:prstGeom>
        </p:spPr>
        <p:txBody>
          <a:bodyPr bIns="0"/>
          <a:lstStyle/>
          <a:p>
            <a:pPr lvl="0"/>
            <a:r>
              <a:rPr lang="en-GB"/>
              <a:t>Text goes here</a:t>
            </a:r>
            <a:endParaRPr lang="en-US"/>
          </a:p>
        </p:txBody>
      </p:sp>
      <p:pic>
        <p:nvPicPr>
          <p:cNvPr id="4" name="Picture 3" descr="Student sitting at a table looking up in thought">
            <a:extLst>
              <a:ext uri="{FF2B5EF4-FFF2-40B4-BE49-F238E27FC236}">
                <a16:creationId xmlns:a16="http://schemas.microsoft.com/office/drawing/2014/main" id="{1CA42153-23F5-5B5B-930F-FC9F400FB5C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079197" y="0"/>
            <a:ext cx="4112804" cy="6858000"/>
          </a:xfrm>
          <a:prstGeom prst="rect">
            <a:avLst/>
          </a:prstGeom>
        </p:spPr>
      </p:pic>
      <p:sp>
        <p:nvSpPr>
          <p:cNvPr id="5" name="Picture Placeholder 4">
            <a:extLst>
              <a:ext uri="{FF2B5EF4-FFF2-40B4-BE49-F238E27FC236}">
                <a16:creationId xmlns:a16="http://schemas.microsoft.com/office/drawing/2014/main" id="{B6FF842C-0A1C-5BFB-750B-CF8A5DCA7216}"/>
              </a:ext>
            </a:extLst>
          </p:cNvPr>
          <p:cNvSpPr>
            <a:spLocks noGrp="1"/>
          </p:cNvSpPr>
          <p:nvPr>
            <p:ph type="pic" sz="quarter" idx="11"/>
          </p:nvPr>
        </p:nvSpPr>
        <p:spPr>
          <a:xfrm>
            <a:off x="8075613" y="0"/>
            <a:ext cx="4116387" cy="6858000"/>
          </a:xfrm>
          <a:prstGeom prst="rect">
            <a:avLst/>
          </a:prstGeom>
        </p:spPr>
        <p:txBody>
          <a:bodyPr anchor="ctr"/>
          <a:lstStyle>
            <a:lvl1pPr marL="0" indent="0" algn="ctr">
              <a:buNone/>
              <a:defRPr>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275EE26C-6F7A-8BE8-0244-7469236EB1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116937839"/>
      </p:ext>
    </p:extLst>
  </p:cSld>
  <p:clrMapOvr>
    <a:masterClrMapping/>
  </p:clrMapOvr>
  <p:extLst>
    <p:ext uri="{DCECCB84-F9BA-43D5-87BE-67443E8EF086}">
      <p15:sldGuideLst xmlns:p15="http://schemas.microsoft.com/office/powerpoint/2012/main">
        <p15:guide id="1" pos="4804">
          <p15:clr>
            <a:srgbClr val="FBAE40"/>
          </p15:clr>
        </p15:guide>
        <p15:guide id="2" pos="5087">
          <p15:clr>
            <a:srgbClr val="FBAE40"/>
          </p15:clr>
        </p15:guide>
        <p15:guide id="3" pos="5371">
          <p15:clr>
            <a:srgbClr val="FBAE40"/>
          </p15:clr>
        </p15:guide>
        <p15:guide id="4" orient="horz" pos="1876">
          <p15:clr>
            <a:srgbClr val="9FCC3B"/>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acts_figures_1">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3D343D-58FF-90A8-CF12-B58A1EB3555B}"/>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DAA4E089-8BEE-9B30-F0FF-FE3EA050FD8F}"/>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5" name="Content Placeholder 2">
            <a:extLst>
              <a:ext uri="{FF2B5EF4-FFF2-40B4-BE49-F238E27FC236}">
                <a16:creationId xmlns:a16="http://schemas.microsoft.com/office/drawing/2014/main" id="{A1E3DEE5-A7EF-7B8E-B77B-FA9951B99AF2}"/>
              </a:ext>
            </a:extLst>
          </p:cNvPr>
          <p:cNvSpPr>
            <a:spLocks noGrp="1"/>
          </p:cNvSpPr>
          <p:nvPr>
            <p:ph idx="1" hasCustomPrompt="1"/>
          </p:nvPr>
        </p:nvSpPr>
        <p:spPr>
          <a:xfrm>
            <a:off x="433473" y="2708904"/>
            <a:ext cx="5219518" cy="3510921"/>
          </a:xfrm>
          <a:prstGeom prst="rect">
            <a:avLst/>
          </a:prstGeom>
        </p:spPr>
        <p:txBody>
          <a:bodyPr bIns="0"/>
          <a:lstStyle/>
          <a:p>
            <a:pPr lvl="0"/>
            <a:r>
              <a:rPr lang="en-GB"/>
              <a:t>Text goes here</a:t>
            </a:r>
            <a:endParaRPr lang="en-US"/>
          </a:p>
        </p:txBody>
      </p:sp>
      <p:sp>
        <p:nvSpPr>
          <p:cNvPr id="30" name="Rectangle 29">
            <a:extLst>
              <a:ext uri="{FF2B5EF4-FFF2-40B4-BE49-F238E27FC236}">
                <a16:creationId xmlns:a16="http://schemas.microsoft.com/office/drawing/2014/main" id="{46172501-84CA-2832-09E3-09993272AE44}"/>
              </a:ext>
              <a:ext uri="{C183D7F6-B498-43B3-948B-1728B52AA6E4}">
                <adec:decorative xmlns:adec="http://schemas.microsoft.com/office/drawing/2017/decorative" val="1"/>
              </a:ext>
            </a:extLst>
          </p:cNvPr>
          <p:cNvSpPr/>
          <p:nvPr userDrawn="1"/>
        </p:nvSpPr>
        <p:spPr>
          <a:xfrm>
            <a:off x="6096000" y="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ontent Placeholder 2">
            <a:extLst>
              <a:ext uri="{FF2B5EF4-FFF2-40B4-BE49-F238E27FC236}">
                <a16:creationId xmlns:a16="http://schemas.microsoft.com/office/drawing/2014/main" id="{D4264C15-FC9D-A249-9CBE-5788F74796DE}"/>
              </a:ext>
            </a:extLst>
          </p:cNvPr>
          <p:cNvSpPr>
            <a:spLocks noGrp="1"/>
          </p:cNvSpPr>
          <p:nvPr>
            <p:ph idx="11" hasCustomPrompt="1"/>
          </p:nvPr>
        </p:nvSpPr>
        <p:spPr>
          <a:xfrm>
            <a:off x="6546851" y="458787"/>
            <a:ext cx="5219700" cy="1253440"/>
          </a:xfrm>
          <a:prstGeom prst="rect">
            <a:avLst/>
          </a:prstGeom>
        </p:spPr>
        <p:txBody>
          <a:bodyPr bIns="0">
            <a:noAutofit/>
          </a:bodyPr>
          <a:lstStyle>
            <a:lvl1pPr marL="0" indent="0">
              <a:buNone/>
              <a:defRPr sz="9600" b="1" i="0">
                <a:solidFill>
                  <a:schemeClr val="bg1"/>
                </a:solidFill>
                <a:latin typeface="+mj-lt"/>
              </a:defRPr>
            </a:lvl1pPr>
          </a:lstStyle>
          <a:p>
            <a:pPr lvl="0"/>
            <a:r>
              <a:rPr lang="en-GB"/>
              <a:t>1 in 5</a:t>
            </a:r>
            <a:endParaRPr lang="en-US"/>
          </a:p>
        </p:txBody>
      </p:sp>
      <p:sp>
        <p:nvSpPr>
          <p:cNvPr id="32" name="Content Placeholder 2">
            <a:extLst>
              <a:ext uri="{FF2B5EF4-FFF2-40B4-BE49-F238E27FC236}">
                <a16:creationId xmlns:a16="http://schemas.microsoft.com/office/drawing/2014/main" id="{CBF27F4D-00D6-8DC3-B716-37C42ED523D8}"/>
              </a:ext>
            </a:extLst>
          </p:cNvPr>
          <p:cNvSpPr>
            <a:spLocks noGrp="1"/>
          </p:cNvSpPr>
          <p:nvPr>
            <p:ph idx="10" hasCustomPrompt="1"/>
          </p:nvPr>
        </p:nvSpPr>
        <p:spPr>
          <a:xfrm>
            <a:off x="6546851" y="2005609"/>
            <a:ext cx="5219699" cy="803563"/>
          </a:xfrm>
          <a:prstGeom prst="rect">
            <a:avLst/>
          </a:prstGeom>
        </p:spPr>
        <p:txBody>
          <a:bodyPr bIns="0"/>
          <a:lstStyle>
            <a:lvl1pPr marL="0" indent="0">
              <a:buNone/>
              <a:defRPr>
                <a:solidFill>
                  <a:schemeClr val="bg1"/>
                </a:solidFill>
              </a:defRPr>
            </a:lvl1pPr>
          </a:lstStyle>
          <a:p>
            <a:pPr lvl="0"/>
            <a:r>
              <a:rPr lang="en-GB"/>
              <a:t>Lorem ipsum </a:t>
            </a:r>
            <a:r>
              <a:rPr lang="en-GB" err="1"/>
              <a:t>dolor</a:t>
            </a:r>
            <a:r>
              <a:rPr lang="en-GB"/>
              <a:t> sit </a:t>
            </a:r>
            <a:r>
              <a:rPr lang="en-GB" err="1"/>
              <a:t>amet</a:t>
            </a:r>
            <a:endParaRPr lang="en-US"/>
          </a:p>
        </p:txBody>
      </p:sp>
      <p:sp>
        <p:nvSpPr>
          <p:cNvPr id="27" name="Rectangle 26">
            <a:extLst>
              <a:ext uri="{FF2B5EF4-FFF2-40B4-BE49-F238E27FC236}">
                <a16:creationId xmlns:a16="http://schemas.microsoft.com/office/drawing/2014/main" id="{FB09CE73-4B0C-AB83-FA25-0A89E08DECC5}"/>
              </a:ext>
              <a:ext uri="{C183D7F6-B498-43B3-948B-1728B52AA6E4}">
                <adec:decorative xmlns:adec="http://schemas.microsoft.com/office/drawing/2017/decorative" val="1"/>
              </a:ext>
            </a:extLst>
          </p:cNvPr>
          <p:cNvSpPr/>
          <p:nvPr userDrawn="1"/>
        </p:nvSpPr>
        <p:spPr>
          <a:xfrm>
            <a:off x="6096000" y="3429000"/>
            <a:ext cx="3060408"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Ins="360000" rtlCol="0" anchor="ctr"/>
          <a:lstStyle/>
          <a:p>
            <a:pPr algn="ctr"/>
            <a:endParaRPr lang="en-US"/>
          </a:p>
        </p:txBody>
      </p:sp>
      <p:sp>
        <p:nvSpPr>
          <p:cNvPr id="36" name="Content Placeholder 2">
            <a:extLst>
              <a:ext uri="{FF2B5EF4-FFF2-40B4-BE49-F238E27FC236}">
                <a16:creationId xmlns:a16="http://schemas.microsoft.com/office/drawing/2014/main" id="{43F88302-7C4F-4C28-041C-8FC161F7E0CB}"/>
              </a:ext>
            </a:extLst>
          </p:cNvPr>
          <p:cNvSpPr>
            <a:spLocks noGrp="1"/>
          </p:cNvSpPr>
          <p:nvPr>
            <p:ph idx="13" hasCustomPrompt="1"/>
          </p:nvPr>
        </p:nvSpPr>
        <p:spPr>
          <a:xfrm>
            <a:off x="6546851" y="3876637"/>
            <a:ext cx="2249509" cy="1082568"/>
          </a:xfrm>
          <a:prstGeom prst="rect">
            <a:avLst/>
          </a:prstGeom>
        </p:spPr>
        <p:txBody>
          <a:bodyPr bIns="0">
            <a:noAutofit/>
          </a:bodyPr>
          <a:lstStyle>
            <a:lvl1pPr marL="0" indent="0">
              <a:buNone/>
              <a:defRPr sz="7200" b="1" i="0">
                <a:solidFill>
                  <a:schemeClr val="bg1"/>
                </a:solidFill>
                <a:latin typeface="+mj-lt"/>
              </a:defRPr>
            </a:lvl1pPr>
          </a:lstStyle>
          <a:p>
            <a:pPr lvl="0"/>
            <a:r>
              <a:rPr lang="en-GB"/>
              <a:t>75%</a:t>
            </a:r>
            <a:endParaRPr lang="en-US"/>
          </a:p>
        </p:txBody>
      </p:sp>
      <p:sp>
        <p:nvSpPr>
          <p:cNvPr id="35" name="Content Placeholder 2">
            <a:extLst>
              <a:ext uri="{FF2B5EF4-FFF2-40B4-BE49-F238E27FC236}">
                <a16:creationId xmlns:a16="http://schemas.microsoft.com/office/drawing/2014/main" id="{F696236F-C55D-63EF-E40F-86CAA3745B5A}"/>
              </a:ext>
            </a:extLst>
          </p:cNvPr>
          <p:cNvSpPr>
            <a:spLocks noGrp="1"/>
          </p:cNvSpPr>
          <p:nvPr>
            <p:ph idx="12" hasCustomPrompt="1"/>
          </p:nvPr>
        </p:nvSpPr>
        <p:spPr>
          <a:xfrm>
            <a:off x="6546851" y="5252587"/>
            <a:ext cx="2249509" cy="803563"/>
          </a:xfrm>
          <a:prstGeom prst="rect">
            <a:avLst/>
          </a:prstGeom>
        </p:spPr>
        <p:txBody>
          <a:bodyPr bIns="0"/>
          <a:lstStyle>
            <a:lvl1pPr marL="0" indent="0">
              <a:buNone/>
              <a:defRPr>
                <a:solidFill>
                  <a:schemeClr val="bg1"/>
                </a:solidFill>
              </a:defRPr>
            </a:lvl1pPr>
          </a:lstStyle>
          <a:p>
            <a:pPr lvl="0"/>
            <a:r>
              <a:rPr lang="en-GB"/>
              <a:t>Lorem ipsum </a:t>
            </a:r>
            <a:r>
              <a:rPr lang="en-GB" err="1"/>
              <a:t>dolor</a:t>
            </a:r>
            <a:r>
              <a:rPr lang="en-GB"/>
              <a:t> sit </a:t>
            </a:r>
            <a:r>
              <a:rPr lang="en-GB" err="1"/>
              <a:t>amet</a:t>
            </a:r>
            <a:endParaRPr lang="en-US"/>
          </a:p>
        </p:txBody>
      </p:sp>
      <p:sp>
        <p:nvSpPr>
          <p:cNvPr id="28" name="Rectangle 27">
            <a:extLst>
              <a:ext uri="{FF2B5EF4-FFF2-40B4-BE49-F238E27FC236}">
                <a16:creationId xmlns:a16="http://schemas.microsoft.com/office/drawing/2014/main" id="{1A7B29CE-90AB-9EAE-FE9F-A4E16C05FFA0}"/>
              </a:ext>
              <a:ext uri="{C183D7F6-B498-43B3-948B-1728B52AA6E4}">
                <adec:decorative xmlns:adec="http://schemas.microsoft.com/office/drawing/2017/decorative" val="1"/>
              </a:ext>
            </a:extLst>
          </p:cNvPr>
          <p:cNvSpPr/>
          <p:nvPr userDrawn="1"/>
        </p:nvSpPr>
        <p:spPr>
          <a:xfrm>
            <a:off x="9156408" y="3429000"/>
            <a:ext cx="3035592" cy="3429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Content Placeholder 2">
            <a:extLst>
              <a:ext uri="{FF2B5EF4-FFF2-40B4-BE49-F238E27FC236}">
                <a16:creationId xmlns:a16="http://schemas.microsoft.com/office/drawing/2014/main" id="{15B44D9F-3A2F-44F2-0CDF-18ED34B0DDEB}"/>
              </a:ext>
            </a:extLst>
          </p:cNvPr>
          <p:cNvSpPr>
            <a:spLocks noGrp="1"/>
          </p:cNvSpPr>
          <p:nvPr>
            <p:ph idx="15" hasCustomPrompt="1"/>
          </p:nvPr>
        </p:nvSpPr>
        <p:spPr>
          <a:xfrm>
            <a:off x="9606468" y="3876637"/>
            <a:ext cx="2249509" cy="1082568"/>
          </a:xfrm>
          <a:prstGeom prst="rect">
            <a:avLst/>
          </a:prstGeom>
        </p:spPr>
        <p:txBody>
          <a:bodyPr bIns="0">
            <a:noAutofit/>
          </a:bodyPr>
          <a:lstStyle>
            <a:lvl1pPr marL="0" indent="0">
              <a:buNone/>
              <a:defRPr sz="7200" b="1" i="0">
                <a:solidFill>
                  <a:schemeClr val="tx1"/>
                </a:solidFill>
                <a:latin typeface="+mj-lt"/>
              </a:defRPr>
            </a:lvl1pPr>
          </a:lstStyle>
          <a:p>
            <a:pPr lvl="0"/>
            <a:r>
              <a:rPr lang="en-GB"/>
              <a:t>£2m</a:t>
            </a:r>
            <a:endParaRPr lang="en-US"/>
          </a:p>
        </p:txBody>
      </p:sp>
      <p:sp>
        <p:nvSpPr>
          <p:cNvPr id="37" name="Content Placeholder 2">
            <a:extLst>
              <a:ext uri="{FF2B5EF4-FFF2-40B4-BE49-F238E27FC236}">
                <a16:creationId xmlns:a16="http://schemas.microsoft.com/office/drawing/2014/main" id="{97FB61D5-B7FA-990B-A16B-05A03FC0098F}"/>
              </a:ext>
            </a:extLst>
          </p:cNvPr>
          <p:cNvSpPr>
            <a:spLocks noGrp="1"/>
          </p:cNvSpPr>
          <p:nvPr>
            <p:ph idx="14" hasCustomPrompt="1"/>
          </p:nvPr>
        </p:nvSpPr>
        <p:spPr>
          <a:xfrm>
            <a:off x="9606468" y="5252587"/>
            <a:ext cx="2249509" cy="803563"/>
          </a:xfrm>
          <a:prstGeom prst="rect">
            <a:avLst/>
          </a:prstGeom>
        </p:spPr>
        <p:txBody>
          <a:bodyPr bIns="0"/>
          <a:lstStyle>
            <a:lvl1pPr marL="0" indent="0">
              <a:buNone/>
              <a:defRPr>
                <a:solidFill>
                  <a:schemeClr val="tx1"/>
                </a:solidFill>
              </a:defRPr>
            </a:lvl1pPr>
          </a:lstStyle>
          <a:p>
            <a:pPr lvl="0"/>
            <a:r>
              <a:rPr lang="en-GB"/>
              <a:t>Lorem ipsum </a:t>
            </a:r>
            <a:r>
              <a:rPr lang="en-GB" err="1"/>
              <a:t>dolor</a:t>
            </a:r>
            <a:r>
              <a:rPr lang="en-GB"/>
              <a:t> sit </a:t>
            </a:r>
            <a:r>
              <a:rPr lang="en-GB" err="1"/>
              <a:t>amet</a:t>
            </a:r>
            <a:endParaRPr lang="en-US"/>
          </a:p>
        </p:txBody>
      </p:sp>
      <p:sp>
        <p:nvSpPr>
          <p:cNvPr id="12" name="Slide Number Placeholder 5">
            <a:extLst>
              <a:ext uri="{FF2B5EF4-FFF2-40B4-BE49-F238E27FC236}">
                <a16:creationId xmlns:a16="http://schemas.microsoft.com/office/drawing/2014/main" id="{ECD0FB5E-1C0D-25FF-B88F-DE34AC42DB9C}"/>
              </a:ext>
            </a:extLst>
          </p:cNvPr>
          <p:cNvSpPr>
            <a:spLocks noGrp="1"/>
          </p:cNvSpPr>
          <p:nvPr>
            <p:ph type="sldNum" sz="quarter" idx="4"/>
          </p:nvPr>
        </p:nvSpPr>
        <p:spPr>
          <a:xfrm>
            <a:off x="11046660" y="6399213"/>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3318170690"/>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guide id="4" orient="horz" pos="1876">
          <p15:clr>
            <a:srgbClr val="9FCC3B"/>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acts_figures_2">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AFB14D-FD03-B8EA-7C18-4C05CC9350BB}"/>
              </a:ext>
            </a:extLst>
          </p:cNvPr>
          <p:cNvSpPr/>
          <p:nvPr userDrawn="1"/>
        </p:nvSpPr>
        <p:spPr>
          <a:xfrm>
            <a:off x="-1315704" y="2258900"/>
            <a:ext cx="1284984" cy="719250"/>
          </a:xfrm>
          <a:prstGeom prst="rect">
            <a:avLst/>
          </a:prstGeom>
          <a:solidFill>
            <a:srgbClr val="D1E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334A00"/>
                </a:solidFill>
              </a:rPr>
              <a:t>Move your text box to this guide if your title goes over two lines</a:t>
            </a:r>
          </a:p>
        </p:txBody>
      </p:sp>
      <p:sp>
        <p:nvSpPr>
          <p:cNvPr id="2" name="Title Placeholder 1">
            <a:extLst>
              <a:ext uri="{FF2B5EF4-FFF2-40B4-BE49-F238E27FC236}">
                <a16:creationId xmlns:a16="http://schemas.microsoft.com/office/drawing/2014/main" id="{676A4589-2070-6A43-66F9-67B8DA6A1173}"/>
              </a:ext>
            </a:extLst>
          </p:cNvPr>
          <p:cNvSpPr>
            <a:spLocks noGrp="1"/>
          </p:cNvSpPr>
          <p:nvPr>
            <p:ph type="title" hasCustomPrompt="1"/>
          </p:nvPr>
        </p:nvSpPr>
        <p:spPr>
          <a:xfrm>
            <a:off x="433473" y="1358900"/>
            <a:ext cx="521167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5" name="Content Placeholder 2">
            <a:extLst>
              <a:ext uri="{FF2B5EF4-FFF2-40B4-BE49-F238E27FC236}">
                <a16:creationId xmlns:a16="http://schemas.microsoft.com/office/drawing/2014/main" id="{A1E3DEE5-A7EF-7B8E-B77B-FA9951B99AF2}"/>
              </a:ext>
            </a:extLst>
          </p:cNvPr>
          <p:cNvSpPr>
            <a:spLocks noGrp="1"/>
          </p:cNvSpPr>
          <p:nvPr>
            <p:ph idx="1" hasCustomPrompt="1"/>
          </p:nvPr>
        </p:nvSpPr>
        <p:spPr>
          <a:xfrm>
            <a:off x="433473" y="2708904"/>
            <a:ext cx="5219518" cy="3510921"/>
          </a:xfrm>
          <a:prstGeom prst="rect">
            <a:avLst/>
          </a:prstGeom>
        </p:spPr>
        <p:txBody>
          <a:bodyPr bIns="0"/>
          <a:lstStyle/>
          <a:p>
            <a:pPr lvl="0"/>
            <a:r>
              <a:rPr lang="en-GB"/>
              <a:t>Text goes here</a:t>
            </a:r>
            <a:endParaRPr lang="en-US"/>
          </a:p>
        </p:txBody>
      </p:sp>
      <p:sp>
        <p:nvSpPr>
          <p:cNvPr id="27" name="Rectangle 26">
            <a:extLst>
              <a:ext uri="{FF2B5EF4-FFF2-40B4-BE49-F238E27FC236}">
                <a16:creationId xmlns:a16="http://schemas.microsoft.com/office/drawing/2014/main" id="{FB09CE73-4B0C-AB83-FA25-0A89E08DECC5}"/>
              </a:ext>
              <a:ext uri="{C183D7F6-B498-43B3-948B-1728B52AA6E4}">
                <adec:decorative xmlns:adec="http://schemas.microsoft.com/office/drawing/2017/decorative" val="1"/>
              </a:ext>
            </a:extLst>
          </p:cNvPr>
          <p:cNvSpPr/>
          <p:nvPr userDrawn="1"/>
        </p:nvSpPr>
        <p:spPr>
          <a:xfrm>
            <a:off x="6096000" y="-2273"/>
            <a:ext cx="3060408"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Ins="360000" rtlCol="0" anchor="ctr"/>
          <a:lstStyle/>
          <a:p>
            <a:pPr algn="ctr"/>
            <a:endParaRPr lang="en-US"/>
          </a:p>
        </p:txBody>
      </p:sp>
      <p:sp>
        <p:nvSpPr>
          <p:cNvPr id="36" name="Content Placeholder 2">
            <a:extLst>
              <a:ext uri="{FF2B5EF4-FFF2-40B4-BE49-F238E27FC236}">
                <a16:creationId xmlns:a16="http://schemas.microsoft.com/office/drawing/2014/main" id="{43F88302-7C4F-4C28-041C-8FC161F7E0CB}"/>
              </a:ext>
            </a:extLst>
          </p:cNvPr>
          <p:cNvSpPr>
            <a:spLocks noGrp="1"/>
          </p:cNvSpPr>
          <p:nvPr>
            <p:ph idx="13" hasCustomPrompt="1"/>
          </p:nvPr>
        </p:nvSpPr>
        <p:spPr>
          <a:xfrm>
            <a:off x="6546851" y="445364"/>
            <a:ext cx="2249509" cy="1082568"/>
          </a:xfrm>
          <a:prstGeom prst="rect">
            <a:avLst/>
          </a:prstGeom>
        </p:spPr>
        <p:txBody>
          <a:bodyPr bIns="0">
            <a:noAutofit/>
          </a:bodyPr>
          <a:lstStyle>
            <a:lvl1pPr marL="0" indent="0">
              <a:buNone/>
              <a:defRPr sz="7200" b="1" i="0">
                <a:solidFill>
                  <a:schemeClr val="tx1"/>
                </a:solidFill>
                <a:latin typeface="+mj-lt"/>
              </a:defRPr>
            </a:lvl1pPr>
          </a:lstStyle>
          <a:p>
            <a:pPr lvl="0"/>
            <a:r>
              <a:rPr lang="en-GB"/>
              <a:t>75%</a:t>
            </a:r>
            <a:endParaRPr lang="en-US"/>
          </a:p>
        </p:txBody>
      </p:sp>
      <p:sp>
        <p:nvSpPr>
          <p:cNvPr id="35" name="Content Placeholder 2">
            <a:extLst>
              <a:ext uri="{FF2B5EF4-FFF2-40B4-BE49-F238E27FC236}">
                <a16:creationId xmlns:a16="http://schemas.microsoft.com/office/drawing/2014/main" id="{F696236F-C55D-63EF-E40F-86CAA3745B5A}"/>
              </a:ext>
            </a:extLst>
          </p:cNvPr>
          <p:cNvSpPr>
            <a:spLocks noGrp="1"/>
          </p:cNvSpPr>
          <p:nvPr>
            <p:ph idx="12" hasCustomPrompt="1"/>
          </p:nvPr>
        </p:nvSpPr>
        <p:spPr>
          <a:xfrm>
            <a:off x="6546851" y="1821314"/>
            <a:ext cx="2249509" cy="803563"/>
          </a:xfrm>
          <a:prstGeom prst="rect">
            <a:avLst/>
          </a:prstGeom>
        </p:spPr>
        <p:txBody>
          <a:bodyPr bIns="0"/>
          <a:lstStyle>
            <a:lvl1pPr marL="0" indent="0">
              <a:buNone/>
              <a:defRPr>
                <a:solidFill>
                  <a:schemeClr val="tx1"/>
                </a:solidFill>
              </a:defRPr>
            </a:lvl1pPr>
          </a:lstStyle>
          <a:p>
            <a:pPr lvl="0"/>
            <a:r>
              <a:rPr lang="en-GB"/>
              <a:t>Lorem ipsum </a:t>
            </a:r>
            <a:r>
              <a:rPr lang="en-GB" err="1"/>
              <a:t>dolor</a:t>
            </a:r>
            <a:r>
              <a:rPr lang="en-GB"/>
              <a:t> sit </a:t>
            </a:r>
            <a:r>
              <a:rPr lang="en-GB" err="1"/>
              <a:t>amet</a:t>
            </a:r>
            <a:endParaRPr lang="en-US"/>
          </a:p>
        </p:txBody>
      </p:sp>
      <p:sp>
        <p:nvSpPr>
          <p:cNvPr id="28" name="Rectangle 27">
            <a:extLst>
              <a:ext uri="{FF2B5EF4-FFF2-40B4-BE49-F238E27FC236}">
                <a16:creationId xmlns:a16="http://schemas.microsoft.com/office/drawing/2014/main" id="{1A7B29CE-90AB-9EAE-FE9F-A4E16C05FFA0}"/>
              </a:ext>
              <a:ext uri="{C183D7F6-B498-43B3-948B-1728B52AA6E4}">
                <adec:decorative xmlns:adec="http://schemas.microsoft.com/office/drawing/2017/decorative" val="1"/>
              </a:ext>
            </a:extLst>
          </p:cNvPr>
          <p:cNvSpPr/>
          <p:nvPr userDrawn="1"/>
        </p:nvSpPr>
        <p:spPr>
          <a:xfrm>
            <a:off x="9156408" y="-2273"/>
            <a:ext cx="3035592" cy="3429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Content Placeholder 2">
            <a:extLst>
              <a:ext uri="{FF2B5EF4-FFF2-40B4-BE49-F238E27FC236}">
                <a16:creationId xmlns:a16="http://schemas.microsoft.com/office/drawing/2014/main" id="{15B44D9F-3A2F-44F2-0CDF-18ED34B0DDEB}"/>
              </a:ext>
            </a:extLst>
          </p:cNvPr>
          <p:cNvSpPr>
            <a:spLocks noGrp="1"/>
          </p:cNvSpPr>
          <p:nvPr>
            <p:ph idx="15" hasCustomPrompt="1"/>
          </p:nvPr>
        </p:nvSpPr>
        <p:spPr>
          <a:xfrm>
            <a:off x="9606468" y="445364"/>
            <a:ext cx="2249509" cy="1082568"/>
          </a:xfrm>
          <a:prstGeom prst="rect">
            <a:avLst/>
          </a:prstGeom>
        </p:spPr>
        <p:txBody>
          <a:bodyPr bIns="0">
            <a:noAutofit/>
          </a:bodyPr>
          <a:lstStyle>
            <a:lvl1pPr marL="0" indent="0">
              <a:buNone/>
              <a:defRPr sz="7200" b="1" i="0">
                <a:solidFill>
                  <a:schemeClr val="tx1"/>
                </a:solidFill>
                <a:latin typeface="+mj-lt"/>
              </a:defRPr>
            </a:lvl1pPr>
          </a:lstStyle>
          <a:p>
            <a:pPr lvl="0"/>
            <a:r>
              <a:rPr lang="en-GB"/>
              <a:t>£2m</a:t>
            </a:r>
            <a:endParaRPr lang="en-US"/>
          </a:p>
        </p:txBody>
      </p:sp>
      <p:sp>
        <p:nvSpPr>
          <p:cNvPr id="37" name="Content Placeholder 2">
            <a:extLst>
              <a:ext uri="{FF2B5EF4-FFF2-40B4-BE49-F238E27FC236}">
                <a16:creationId xmlns:a16="http://schemas.microsoft.com/office/drawing/2014/main" id="{97FB61D5-B7FA-990B-A16B-05A03FC0098F}"/>
              </a:ext>
            </a:extLst>
          </p:cNvPr>
          <p:cNvSpPr>
            <a:spLocks noGrp="1"/>
          </p:cNvSpPr>
          <p:nvPr>
            <p:ph idx="14" hasCustomPrompt="1"/>
          </p:nvPr>
        </p:nvSpPr>
        <p:spPr>
          <a:xfrm>
            <a:off x="9606468" y="1821314"/>
            <a:ext cx="2249509" cy="803563"/>
          </a:xfrm>
          <a:prstGeom prst="rect">
            <a:avLst/>
          </a:prstGeom>
        </p:spPr>
        <p:txBody>
          <a:bodyPr bIns="0"/>
          <a:lstStyle>
            <a:lvl1pPr marL="0" indent="0">
              <a:buNone/>
              <a:defRPr>
                <a:solidFill>
                  <a:schemeClr val="tx1"/>
                </a:solidFill>
              </a:defRPr>
            </a:lvl1pPr>
          </a:lstStyle>
          <a:p>
            <a:pPr lvl="0"/>
            <a:r>
              <a:rPr lang="en-GB"/>
              <a:t>Lorem ipsum </a:t>
            </a:r>
            <a:r>
              <a:rPr lang="en-GB" err="1"/>
              <a:t>dolor</a:t>
            </a:r>
            <a:r>
              <a:rPr lang="en-GB"/>
              <a:t> sit </a:t>
            </a:r>
            <a:r>
              <a:rPr lang="en-GB" err="1"/>
              <a:t>amet</a:t>
            </a:r>
            <a:endParaRPr lang="en-US"/>
          </a:p>
        </p:txBody>
      </p:sp>
      <p:sp>
        <p:nvSpPr>
          <p:cNvPr id="30" name="Rectangle 29">
            <a:extLst>
              <a:ext uri="{FF2B5EF4-FFF2-40B4-BE49-F238E27FC236}">
                <a16:creationId xmlns:a16="http://schemas.microsoft.com/office/drawing/2014/main" id="{46172501-84CA-2832-09E3-09993272AE44}"/>
              </a:ext>
              <a:ext uri="{C183D7F6-B498-43B3-948B-1728B52AA6E4}">
                <adec:decorative xmlns:adec="http://schemas.microsoft.com/office/drawing/2017/decorative" val="1"/>
              </a:ext>
            </a:extLst>
          </p:cNvPr>
          <p:cNvSpPr/>
          <p:nvPr userDrawn="1"/>
        </p:nvSpPr>
        <p:spPr>
          <a:xfrm>
            <a:off x="6094062" y="3429000"/>
            <a:ext cx="6096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ontent Placeholder 2">
            <a:extLst>
              <a:ext uri="{FF2B5EF4-FFF2-40B4-BE49-F238E27FC236}">
                <a16:creationId xmlns:a16="http://schemas.microsoft.com/office/drawing/2014/main" id="{D4264C15-FC9D-A249-9CBE-5788F74796DE}"/>
              </a:ext>
            </a:extLst>
          </p:cNvPr>
          <p:cNvSpPr>
            <a:spLocks noGrp="1"/>
          </p:cNvSpPr>
          <p:nvPr>
            <p:ph idx="11" hasCustomPrompt="1"/>
          </p:nvPr>
        </p:nvSpPr>
        <p:spPr>
          <a:xfrm>
            <a:off x="6544913" y="3887787"/>
            <a:ext cx="5219700" cy="1253440"/>
          </a:xfrm>
          <a:prstGeom prst="rect">
            <a:avLst/>
          </a:prstGeom>
        </p:spPr>
        <p:txBody>
          <a:bodyPr bIns="0">
            <a:noAutofit/>
          </a:bodyPr>
          <a:lstStyle>
            <a:lvl1pPr marL="0" indent="0">
              <a:buNone/>
              <a:defRPr sz="9600" b="1" i="0">
                <a:solidFill>
                  <a:schemeClr val="bg1"/>
                </a:solidFill>
                <a:latin typeface="+mj-lt"/>
              </a:defRPr>
            </a:lvl1pPr>
          </a:lstStyle>
          <a:p>
            <a:pPr lvl="0"/>
            <a:r>
              <a:rPr lang="en-GB"/>
              <a:t>1 in 5</a:t>
            </a:r>
            <a:endParaRPr lang="en-US"/>
          </a:p>
        </p:txBody>
      </p:sp>
      <p:sp>
        <p:nvSpPr>
          <p:cNvPr id="32" name="Content Placeholder 2">
            <a:extLst>
              <a:ext uri="{FF2B5EF4-FFF2-40B4-BE49-F238E27FC236}">
                <a16:creationId xmlns:a16="http://schemas.microsoft.com/office/drawing/2014/main" id="{CBF27F4D-00D6-8DC3-B716-37C42ED523D8}"/>
              </a:ext>
            </a:extLst>
          </p:cNvPr>
          <p:cNvSpPr>
            <a:spLocks noGrp="1"/>
          </p:cNvSpPr>
          <p:nvPr>
            <p:ph idx="10" hasCustomPrompt="1"/>
          </p:nvPr>
        </p:nvSpPr>
        <p:spPr>
          <a:xfrm>
            <a:off x="6544913" y="5434609"/>
            <a:ext cx="5219699" cy="803563"/>
          </a:xfrm>
          <a:prstGeom prst="rect">
            <a:avLst/>
          </a:prstGeom>
        </p:spPr>
        <p:txBody>
          <a:bodyPr bIns="0"/>
          <a:lstStyle>
            <a:lvl1pPr marL="0" indent="0">
              <a:buNone/>
              <a:defRPr>
                <a:solidFill>
                  <a:schemeClr val="bg1"/>
                </a:solidFill>
              </a:defRPr>
            </a:lvl1pPr>
          </a:lstStyle>
          <a:p>
            <a:pPr lvl="0"/>
            <a:r>
              <a:rPr lang="en-GB"/>
              <a:t>Lorem ipsum </a:t>
            </a:r>
            <a:r>
              <a:rPr lang="en-GB" err="1"/>
              <a:t>dolor</a:t>
            </a:r>
            <a:r>
              <a:rPr lang="en-GB"/>
              <a:t> sit </a:t>
            </a:r>
            <a:r>
              <a:rPr lang="en-GB" err="1"/>
              <a:t>amet</a:t>
            </a:r>
            <a:endParaRPr lang="en-US"/>
          </a:p>
        </p:txBody>
      </p:sp>
      <p:sp>
        <p:nvSpPr>
          <p:cNvPr id="12" name="Slide Number Placeholder 5">
            <a:extLst>
              <a:ext uri="{FF2B5EF4-FFF2-40B4-BE49-F238E27FC236}">
                <a16:creationId xmlns:a16="http://schemas.microsoft.com/office/drawing/2014/main" id="{ECD0FB5E-1C0D-25FF-B88F-DE34AC42DB9C}"/>
              </a:ext>
            </a:extLst>
          </p:cNvPr>
          <p:cNvSpPr>
            <a:spLocks noGrp="1"/>
          </p:cNvSpPr>
          <p:nvPr>
            <p:ph type="sldNum" sz="quarter" idx="4"/>
          </p:nvPr>
        </p:nvSpPr>
        <p:spPr>
          <a:xfrm>
            <a:off x="11046660" y="6399213"/>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768227699"/>
      </p:ext>
    </p:extLst>
  </p:cSld>
  <p:clrMapOvr>
    <a:masterClrMapping/>
  </p:clrMapOvr>
  <p:extLst>
    <p:ext uri="{DCECCB84-F9BA-43D5-87BE-67443E8EF086}">
      <p15:sldGuideLst xmlns:p15="http://schemas.microsoft.com/office/powerpoint/2012/main">
        <p15:guide id="1" pos="3556">
          <p15:clr>
            <a:srgbClr val="FBAE40"/>
          </p15:clr>
        </p15:guide>
        <p15:guide id="2" pos="3840">
          <p15:clr>
            <a:srgbClr val="FBAE40"/>
          </p15:clr>
        </p15:guide>
        <p15:guide id="3" pos="4124">
          <p15:clr>
            <a:srgbClr val="FBAE40"/>
          </p15:clr>
        </p15:guide>
        <p15:guide id="4" orient="horz" pos="1876">
          <p15:clr>
            <a:srgbClr val="9FCC3B"/>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Content">
    <p:bg>
      <p:bgPr>
        <a:solidFill>
          <a:schemeClr val="bg1"/>
        </a:solidFill>
        <a:effectLst/>
      </p:bgPr>
    </p:bg>
    <p:spTree>
      <p:nvGrpSpPr>
        <p:cNvPr id="1" name=""/>
        <p:cNvGrpSpPr/>
        <p:nvPr/>
      </p:nvGrpSpPr>
      <p:grpSpPr>
        <a:xfrm>
          <a:off x="0" y="0"/>
          <a:ext cx="0" cy="0"/>
          <a:chOff x="0" y="0"/>
          <a:chExt cx="0" cy="0"/>
        </a:xfrm>
      </p:grpSpPr>
      <p:pic>
        <p:nvPicPr>
          <p:cNvPr id="4" name="Picture 3" descr="An image of a person heating glass tubes in a workshop wearing safety gear">
            <a:extLst>
              <a:ext uri="{FF2B5EF4-FFF2-40B4-BE49-F238E27FC236}">
                <a16:creationId xmlns:a16="http://schemas.microsoft.com/office/drawing/2014/main" id="{B066E837-9D3C-251E-819F-79926122AB2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ext Placeholder 5">
            <a:extLst>
              <a:ext uri="{FF2B5EF4-FFF2-40B4-BE49-F238E27FC236}">
                <a16:creationId xmlns:a16="http://schemas.microsoft.com/office/drawing/2014/main" id="{963773DA-86C6-B330-CF4F-A36E9B51F5EA}"/>
              </a:ext>
            </a:extLst>
          </p:cNvPr>
          <p:cNvSpPr>
            <a:spLocks noGrp="1"/>
          </p:cNvSpPr>
          <p:nvPr>
            <p:ph type="body" sz="quarter" idx="11" hasCustomPrompt="1"/>
          </p:nvPr>
        </p:nvSpPr>
        <p:spPr>
          <a:xfrm>
            <a:off x="0" y="0"/>
            <a:ext cx="900113" cy="900112"/>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3" name="Picture Placeholder 2">
            <a:extLst>
              <a:ext uri="{FF2B5EF4-FFF2-40B4-BE49-F238E27FC236}">
                <a16:creationId xmlns:a16="http://schemas.microsoft.com/office/drawing/2014/main" id="{38FB8D2C-97CD-1805-B625-00C5EC150556}"/>
              </a:ext>
            </a:extLst>
          </p:cNvPr>
          <p:cNvSpPr>
            <a:spLocks noGrp="1"/>
          </p:cNvSpPr>
          <p:nvPr>
            <p:ph type="pic" sz="quarter" idx="10"/>
          </p:nvPr>
        </p:nvSpPr>
        <p:spPr>
          <a:xfrm>
            <a:off x="0" y="0"/>
            <a:ext cx="12192000" cy="6858000"/>
          </a:xfrm>
        </p:spPr>
        <p:txBody>
          <a:bodyPr anchor="ctr"/>
          <a:lstStyle>
            <a:lvl1pPr marL="0" indent="0" algn="ctr">
              <a:buNone/>
              <a:defRPr>
                <a:solidFill>
                  <a:schemeClr val="bg1"/>
                </a:solidFill>
              </a:defRPr>
            </a:lvl1pPr>
          </a:lstStyle>
          <a:p>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31270782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_only">
    <p:bg>
      <p:bgPr>
        <a:solidFill>
          <a:schemeClr val="bg1"/>
        </a:solidFill>
        <a:effectLst/>
      </p:bgPr>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2D29242E-E9EF-E406-E157-D46F6BBDF472}"/>
              </a:ext>
            </a:extLst>
          </p:cNvPr>
          <p:cNvSpPr>
            <a:spLocks noGrp="1"/>
          </p:cNvSpPr>
          <p:nvPr>
            <p:ph type="title" hasCustomPrompt="1"/>
          </p:nvPr>
        </p:nvSpPr>
        <p:spPr>
          <a:xfrm>
            <a:off x="1325563" y="0"/>
            <a:ext cx="10440987" cy="900000"/>
          </a:xfrm>
          <a:prstGeom prst="rect">
            <a:avLst/>
          </a:prstGeom>
        </p:spPr>
        <p:txBody>
          <a:bodyPr vert="horz" lIns="0" tIns="216000" rIns="0" bIns="144000" rtlCol="0" anchor="t" anchorCtr="0">
            <a:normAutofit/>
          </a:bodyPr>
          <a:lstStyle>
            <a:lvl1pPr>
              <a:defRPr>
                <a:latin typeface="+mj-lt"/>
              </a:defRPr>
            </a:lvl1pPr>
          </a:lstStyle>
          <a:p>
            <a:r>
              <a:rPr lang="en-GB"/>
              <a:t>Your title goes here</a:t>
            </a:r>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576439573"/>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pic>
        <p:nvPicPr>
          <p:cNvPr id="2" name="Picture 1" descr="The University of Nottingham logo.">
            <a:extLst>
              <a:ext uri="{FF2B5EF4-FFF2-40B4-BE49-F238E27FC236}">
                <a16:creationId xmlns:a16="http://schemas.microsoft.com/office/drawing/2014/main" id="{09C51863-6EFE-20EA-B8AF-703D276164E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
        <p:nvSpPr>
          <p:cNvPr id="6" name="Text Placeholder 5">
            <a:extLst>
              <a:ext uri="{FF2B5EF4-FFF2-40B4-BE49-F238E27FC236}">
                <a16:creationId xmlns:a16="http://schemas.microsoft.com/office/drawing/2014/main" id="{5DF74E32-2383-DB11-F16E-2B4CE6017261}"/>
              </a:ext>
            </a:extLst>
          </p:cNvPr>
          <p:cNvSpPr>
            <a:spLocks noGrp="1"/>
          </p:cNvSpPr>
          <p:nvPr>
            <p:ph type="body" sz="quarter" idx="10" hasCustomPrompt="1"/>
          </p:nvPr>
        </p:nvSpPr>
        <p:spPr>
          <a:xfrm>
            <a:off x="425450" y="1628776"/>
            <a:ext cx="11341100" cy="3960512"/>
          </a:xfrm>
        </p:spPr>
        <p:txBody>
          <a:bodyPr anchor="ctr">
            <a:normAutofit/>
          </a:bodyPr>
          <a:lstStyle>
            <a:lvl1pPr marL="0" indent="0">
              <a:buNone/>
              <a:defRPr sz="4400" b="1" i="0">
                <a:solidFill>
                  <a:schemeClr val="bg1"/>
                </a:solidFill>
                <a:latin typeface="+mj-lt"/>
              </a:defRPr>
            </a:lvl1pPr>
            <a:lvl2pPr marL="0" indent="0">
              <a:spcBef>
                <a:spcPts val="1200"/>
              </a:spcBef>
              <a:buNone/>
              <a:defRPr b="0" i="0">
                <a:solidFill>
                  <a:schemeClr val="bg1"/>
                </a:solidFill>
                <a:latin typeface="+mj-lt"/>
              </a:defRPr>
            </a:lvl2pPr>
            <a:lvl3pPr>
              <a:defRPr b="1" i="0">
                <a:solidFill>
                  <a:schemeClr val="bg1"/>
                </a:solidFill>
                <a:latin typeface="Georgia" panose="02040502050405020303" pitchFamily="18" charset="0"/>
              </a:defRPr>
            </a:lvl3pPr>
            <a:lvl4pPr>
              <a:defRPr b="1" i="0">
                <a:solidFill>
                  <a:schemeClr val="bg1"/>
                </a:solidFill>
                <a:latin typeface="Georgia" panose="02040502050405020303" pitchFamily="18" charset="0"/>
              </a:defRPr>
            </a:lvl4pPr>
            <a:lvl5pPr>
              <a:defRPr b="1" i="0">
                <a:solidFill>
                  <a:schemeClr val="bg1"/>
                </a:solidFill>
                <a:latin typeface="Georgia" panose="02040502050405020303" pitchFamily="18" charset="0"/>
              </a:defRPr>
            </a:lvl5pPr>
          </a:lstStyle>
          <a:p>
            <a:pPr lvl="0"/>
            <a:r>
              <a:rPr lang="en-US"/>
              <a:t>“Your inspiring quote goes here.”</a:t>
            </a:r>
          </a:p>
          <a:p>
            <a:pPr lvl="1"/>
            <a:r>
              <a:rPr lang="en-US"/>
              <a:t>– Name of person, year</a:t>
            </a:r>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41866702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36636982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Full_blank">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FAE1E0-DF47-D7BC-2E0F-0A302DD8874E}"/>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172269497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ull_blank_blu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FAE1E0-DF47-D7BC-2E0F-0A302DD8874E}"/>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23781255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tx1"/>
        </a:solid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6933EE2B-307D-7AE4-C35B-9A718BF02841}"/>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bg1"/>
                </a:solidFill>
              </a:defRPr>
            </a:lvl1pPr>
          </a:lstStyle>
          <a:p>
            <a:fld id="{820EACED-CA5D-B048-836B-BF30EF0E914A}" type="slidenum">
              <a:rPr lang="en-US" smtClean="0"/>
              <a:pPr/>
              <a:t>‹#›</a:t>
            </a:fld>
            <a:endParaRPr lang="en-US"/>
          </a:p>
        </p:txBody>
      </p:sp>
      <p:pic>
        <p:nvPicPr>
          <p:cNvPr id="2" name="Picture 1" descr="University of Nottingham castle icon">
            <a:extLst>
              <a:ext uri="{FF2B5EF4-FFF2-40B4-BE49-F238E27FC236}">
                <a16:creationId xmlns:a16="http://schemas.microsoft.com/office/drawing/2014/main" id="{C5BFE164-6BFE-040B-E8AE-85C76B8EAD0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00113" cy="900112"/>
          </a:xfrm>
          <a:prstGeom prst="rect">
            <a:avLst/>
          </a:prstGeom>
        </p:spPr>
      </p:pic>
    </p:spTree>
    <p:extLst>
      <p:ext uri="{BB962C8B-B14F-4D97-AF65-F5344CB8AC3E}">
        <p14:creationId xmlns:p14="http://schemas.microsoft.com/office/powerpoint/2010/main" val="386225490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nd_slide">
    <p:bg>
      <p:bgPr>
        <a:solidFill>
          <a:schemeClr val="tx1"/>
        </a:solidFill>
        <a:effectLst/>
      </p:bgPr>
    </p:bg>
    <p:spTree>
      <p:nvGrpSpPr>
        <p:cNvPr id="1" name=""/>
        <p:cNvGrpSpPr/>
        <p:nvPr/>
      </p:nvGrpSpPr>
      <p:grpSpPr>
        <a:xfrm>
          <a:off x="0" y="0"/>
          <a:ext cx="0" cy="0"/>
          <a:chOff x="0" y="0"/>
          <a:chExt cx="0" cy="0"/>
        </a:xfrm>
      </p:grpSpPr>
      <p:pic>
        <p:nvPicPr>
          <p:cNvPr id="2" name="Picture 1" descr="University of Nottingham Logo.">
            <a:extLst>
              <a:ext uri="{FF2B5EF4-FFF2-40B4-BE49-F238E27FC236}">
                <a16:creationId xmlns:a16="http://schemas.microsoft.com/office/drawing/2014/main" id="{4F1ADCAE-67D1-E4DF-B7A1-5951DE4C0DC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2436553" cy="900112"/>
          </a:xfrm>
          <a:prstGeom prst="rect">
            <a:avLst/>
          </a:prstGeom>
        </p:spPr>
      </p:pic>
      <p:sp>
        <p:nvSpPr>
          <p:cNvPr id="7" name="TextBox 6">
            <a:extLst>
              <a:ext uri="{FF2B5EF4-FFF2-40B4-BE49-F238E27FC236}">
                <a16:creationId xmlns:a16="http://schemas.microsoft.com/office/drawing/2014/main" id="{34A48EF3-956C-7FE0-B44A-55E4E8B574B2}"/>
              </a:ext>
            </a:extLst>
          </p:cNvPr>
          <p:cNvSpPr txBox="1"/>
          <p:nvPr userDrawn="1"/>
        </p:nvSpPr>
        <p:spPr>
          <a:xfrm>
            <a:off x="877173" y="2258844"/>
            <a:ext cx="6571467" cy="923330"/>
          </a:xfrm>
          <a:prstGeom prst="rect">
            <a:avLst/>
          </a:prstGeom>
          <a:noFill/>
        </p:spPr>
        <p:txBody>
          <a:bodyPr wrap="square" lIns="0" tIns="0" rIns="0" bIns="0" rtlCol="0">
            <a:spAutoFit/>
          </a:bodyPr>
          <a:lstStyle/>
          <a:p>
            <a:r>
              <a:rPr lang="en-US" sz="6000" b="1" i="0">
                <a:solidFill>
                  <a:schemeClr val="bg1"/>
                </a:solidFill>
                <a:latin typeface="+mj-lt"/>
              </a:rPr>
              <a:t>Thank you</a:t>
            </a:r>
          </a:p>
        </p:txBody>
      </p:sp>
      <p:sp>
        <p:nvSpPr>
          <p:cNvPr id="3" name="Subtitle 2">
            <a:extLst>
              <a:ext uri="{FF2B5EF4-FFF2-40B4-BE49-F238E27FC236}">
                <a16:creationId xmlns:a16="http://schemas.microsoft.com/office/drawing/2014/main" id="{74A30556-8831-6682-C9D7-CE486771B94F}"/>
              </a:ext>
            </a:extLst>
          </p:cNvPr>
          <p:cNvSpPr>
            <a:spLocks noGrp="1"/>
          </p:cNvSpPr>
          <p:nvPr>
            <p:ph type="subTitle" idx="1" hasCustomPrompt="1"/>
          </p:nvPr>
        </p:nvSpPr>
        <p:spPr>
          <a:xfrm>
            <a:off x="882474" y="3722240"/>
            <a:ext cx="9144000" cy="426687"/>
          </a:xfrm>
          <a:prstGeom prst="rect">
            <a:avLst/>
          </a:prstGeom>
        </p:spPr>
        <p:txBody>
          <a:bodyPr>
            <a:normAutofit/>
          </a:bodyPr>
          <a:lstStyle>
            <a:lvl1pPr marL="0" indent="0" algn="l">
              <a:buNone/>
              <a:defRPr sz="3200" b="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Any questions?</a:t>
            </a:r>
            <a:endParaRPr lang="en-US"/>
          </a:p>
        </p:txBody>
      </p:sp>
    </p:spTree>
    <p:extLst>
      <p:ext uri="{BB962C8B-B14F-4D97-AF65-F5344CB8AC3E}">
        <p14:creationId xmlns:p14="http://schemas.microsoft.com/office/powerpoint/2010/main" val="1715048681"/>
      </p:ext>
    </p:extLst>
  </p:cSld>
  <p:clrMapOvr>
    <a:masterClrMapping/>
  </p:clrMapOvr>
  <p:extLst>
    <p:ext uri="{DCECCB84-F9BA-43D5-87BE-67443E8EF086}">
      <p15:sldGuideLst xmlns:p15="http://schemas.microsoft.com/office/powerpoint/2012/main">
        <p15:guide id="1" orient="horz" pos="1423">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GB" altLang="en-US"/>
              <a:t>Your Name</a:t>
            </a:r>
          </a:p>
        </p:txBody>
      </p:sp>
      <p:sp>
        <p:nvSpPr>
          <p:cNvPr id="6" name="Rectangle 7"/>
          <p:cNvSpPr>
            <a:spLocks noGrp="1" noChangeArrowheads="1"/>
          </p:cNvSpPr>
          <p:nvPr>
            <p:ph type="sldNum" sz="quarter" idx="12"/>
          </p:nvPr>
        </p:nvSpPr>
        <p:spPr>
          <a:ln/>
        </p:spPr>
        <p:txBody>
          <a:bodyPr/>
          <a:lstStyle>
            <a:lvl1pPr>
              <a:defRPr/>
            </a:lvl1pPr>
          </a:lstStyle>
          <a:p>
            <a:pPr>
              <a:defRPr/>
            </a:pPr>
            <a:fld id="{2F447EBC-305D-44C7-89E1-564E18FC1CD4}" type="slidenum">
              <a:rPr lang="en-GB" altLang="en-US"/>
              <a:pPr>
                <a:defRPr/>
              </a:pPr>
              <a:t>‹#›</a:t>
            </a:fld>
            <a:endParaRPr lang="en-GB" altLang="en-US"/>
          </a:p>
        </p:txBody>
      </p:sp>
    </p:spTree>
    <p:extLst>
      <p:ext uri="{BB962C8B-B14F-4D97-AF65-F5344CB8AC3E}">
        <p14:creationId xmlns:p14="http://schemas.microsoft.com/office/powerpoint/2010/main" val="19480257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609600" y="1600201"/>
            <a:ext cx="10972800" cy="4530725"/>
          </a:xfrm>
        </p:spPr>
        <p:txBody>
          <a:bodyPr/>
          <a:lstStyle/>
          <a:p>
            <a:endParaRPr lang="en-GB"/>
          </a:p>
        </p:txBody>
      </p:sp>
      <p:sp>
        <p:nvSpPr>
          <p:cNvPr id="4" name="Date Placeholder 3"/>
          <p:cNvSpPr>
            <a:spLocks noGrp="1"/>
          </p:cNvSpPr>
          <p:nvPr>
            <p:ph type="dt" sz="half" idx="10"/>
          </p:nvPr>
        </p:nvSpPr>
        <p:spPr>
          <a:xfrm>
            <a:off x="609600" y="6248400"/>
            <a:ext cx="2844800" cy="457200"/>
          </a:xfrm>
        </p:spPr>
        <p:txBody>
          <a:bodyPr/>
          <a:lstStyle>
            <a:lvl1pPr>
              <a:defRPr/>
            </a:lvl1pPr>
          </a:lstStyle>
          <a:p>
            <a:endParaRPr lang="tr-TR" altLang="en-US"/>
          </a:p>
        </p:txBody>
      </p:sp>
      <p:sp>
        <p:nvSpPr>
          <p:cNvPr id="5" name="Footer Placeholder 4"/>
          <p:cNvSpPr>
            <a:spLocks noGrp="1"/>
          </p:cNvSpPr>
          <p:nvPr>
            <p:ph type="ftr" sz="quarter" idx="11"/>
          </p:nvPr>
        </p:nvSpPr>
        <p:spPr>
          <a:xfrm>
            <a:off x="4165600" y="6248400"/>
            <a:ext cx="3860800" cy="457200"/>
          </a:xfrm>
        </p:spPr>
        <p:txBody>
          <a:bodyPr/>
          <a:lstStyle>
            <a:lvl1pPr>
              <a:defRPr/>
            </a:lvl1pPr>
          </a:lstStyle>
          <a:p>
            <a:endParaRPr lang="tr-TR" altLang="en-US"/>
          </a:p>
        </p:txBody>
      </p:sp>
      <p:sp>
        <p:nvSpPr>
          <p:cNvPr id="6" name="Slide Number Placeholder 5"/>
          <p:cNvSpPr>
            <a:spLocks noGrp="1"/>
          </p:cNvSpPr>
          <p:nvPr>
            <p:ph type="sldNum" sz="quarter" idx="12"/>
          </p:nvPr>
        </p:nvSpPr>
        <p:spPr>
          <a:xfrm>
            <a:off x="8737600" y="6248400"/>
            <a:ext cx="2844800" cy="457200"/>
          </a:xfrm>
        </p:spPr>
        <p:txBody>
          <a:bodyPr/>
          <a:lstStyle>
            <a:lvl1pPr>
              <a:defRPr/>
            </a:lvl1pPr>
          </a:lstStyle>
          <a:p>
            <a:fld id="{F9FBA879-C18A-4CA7-90D1-24E8AA1C9A68}" type="slidenum">
              <a:rPr lang="tr-TR" altLang="en-US"/>
              <a:pPr/>
              <a:t>‹#›</a:t>
            </a:fld>
            <a:endParaRPr lang="tr-TR" altLang="en-US"/>
          </a:p>
        </p:txBody>
      </p:sp>
    </p:spTree>
    <p:extLst>
      <p:ext uri="{BB962C8B-B14F-4D97-AF65-F5344CB8AC3E}">
        <p14:creationId xmlns:p14="http://schemas.microsoft.com/office/powerpoint/2010/main" val="162308454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GB" altLang="en-US"/>
              <a:t>Your Name</a:t>
            </a:r>
          </a:p>
        </p:txBody>
      </p:sp>
      <p:sp>
        <p:nvSpPr>
          <p:cNvPr id="7" name="Rectangle 7"/>
          <p:cNvSpPr>
            <a:spLocks noGrp="1" noChangeArrowheads="1"/>
          </p:cNvSpPr>
          <p:nvPr>
            <p:ph type="sldNum" sz="quarter" idx="12"/>
          </p:nvPr>
        </p:nvSpPr>
        <p:spPr>
          <a:ln/>
        </p:spPr>
        <p:txBody>
          <a:bodyPr/>
          <a:lstStyle>
            <a:lvl1pPr>
              <a:defRPr/>
            </a:lvl1pPr>
          </a:lstStyle>
          <a:p>
            <a:pPr>
              <a:defRPr/>
            </a:pPr>
            <a:fld id="{42E2FB47-38F2-4A27-BF5C-77D879EB4AD7}" type="slidenum">
              <a:rPr lang="en-GB" altLang="en-US"/>
              <a:pPr>
                <a:defRPr/>
              </a:pPr>
              <a:t>‹#›</a:t>
            </a:fld>
            <a:endParaRPr lang="en-GB" altLang="en-US"/>
          </a:p>
        </p:txBody>
      </p:sp>
    </p:spTree>
    <p:extLst>
      <p:ext uri="{BB962C8B-B14F-4D97-AF65-F5344CB8AC3E}">
        <p14:creationId xmlns:p14="http://schemas.microsoft.com/office/powerpoint/2010/main" val="571580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University of Nottingham castle icon">
            <a:extLst>
              <a:ext uri="{FF2B5EF4-FFF2-40B4-BE49-F238E27FC236}">
                <a16:creationId xmlns:a16="http://schemas.microsoft.com/office/drawing/2014/main" id="{A0DB6D3F-5204-F4BF-012D-207A745E3A1B}"/>
              </a:ext>
            </a:extLst>
          </p:cNvPr>
          <p:cNvPicPr>
            <a:picLocks noChangeAspect="1"/>
          </p:cNvPicPr>
          <p:nvPr userDrawn="1"/>
        </p:nvPicPr>
        <p:blipFill>
          <a:blip r:embed="rId59" cstate="screen">
            <a:extLst>
              <a:ext uri="{28A0092B-C50C-407E-A947-70E740481C1C}">
                <a14:useLocalDpi xmlns:a14="http://schemas.microsoft.com/office/drawing/2010/main"/>
              </a:ext>
            </a:extLst>
          </a:blip>
          <a:stretch>
            <a:fillRect/>
          </a:stretch>
        </p:blipFill>
        <p:spPr>
          <a:xfrm>
            <a:off x="0" y="0"/>
            <a:ext cx="900000" cy="900000"/>
          </a:xfrm>
          <a:prstGeom prst="rect">
            <a:avLst/>
          </a:prstGeom>
        </p:spPr>
      </p:pic>
      <p:sp>
        <p:nvSpPr>
          <p:cNvPr id="2" name="Title Placeholder 1">
            <a:extLst>
              <a:ext uri="{FF2B5EF4-FFF2-40B4-BE49-F238E27FC236}">
                <a16:creationId xmlns:a16="http://schemas.microsoft.com/office/drawing/2014/main" id="{D2C93A7D-3D18-13F0-94FC-7B0CB5559202}"/>
              </a:ext>
            </a:extLst>
          </p:cNvPr>
          <p:cNvSpPr>
            <a:spLocks noGrp="1"/>
          </p:cNvSpPr>
          <p:nvPr>
            <p:ph type="title"/>
          </p:nvPr>
        </p:nvSpPr>
        <p:spPr>
          <a:xfrm>
            <a:off x="1325563" y="0"/>
            <a:ext cx="10440987" cy="900000"/>
          </a:xfrm>
          <a:prstGeom prst="rect">
            <a:avLst/>
          </a:prstGeom>
        </p:spPr>
        <p:txBody>
          <a:bodyPr vert="horz" lIns="0" tIns="180000" rIns="0" bIns="180000" rtlCol="0" anchor="t" anchorCtr="0">
            <a:normAutofit/>
          </a:bodyPr>
          <a:lstStyle/>
          <a:p>
            <a:r>
              <a:rPr lang="en-GB"/>
              <a:t>Your title goes here</a:t>
            </a:r>
            <a:endParaRPr lang="en-US"/>
          </a:p>
        </p:txBody>
      </p:sp>
      <p:sp>
        <p:nvSpPr>
          <p:cNvPr id="3" name="Text Placeholder 2">
            <a:extLst>
              <a:ext uri="{FF2B5EF4-FFF2-40B4-BE49-F238E27FC236}">
                <a16:creationId xmlns:a16="http://schemas.microsoft.com/office/drawing/2014/main" id="{DF6EA77C-D93E-4080-9229-521D3E95C516}"/>
              </a:ext>
            </a:extLst>
          </p:cNvPr>
          <p:cNvSpPr>
            <a:spLocks noGrp="1"/>
          </p:cNvSpPr>
          <p:nvPr>
            <p:ph type="body" idx="1"/>
          </p:nvPr>
        </p:nvSpPr>
        <p:spPr>
          <a:xfrm>
            <a:off x="425450" y="1358900"/>
            <a:ext cx="11341099" cy="4860925"/>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Slide Number Placeholder 5">
            <a:extLst>
              <a:ext uri="{FF2B5EF4-FFF2-40B4-BE49-F238E27FC236}">
                <a16:creationId xmlns:a16="http://schemas.microsoft.com/office/drawing/2014/main" id="{9721D480-74CD-04ED-591D-8AF32751D46B}"/>
              </a:ext>
            </a:extLst>
          </p:cNvPr>
          <p:cNvSpPr>
            <a:spLocks noGrp="1"/>
          </p:cNvSpPr>
          <p:nvPr>
            <p:ph type="sldNum" sz="quarter" idx="4"/>
          </p:nvPr>
        </p:nvSpPr>
        <p:spPr>
          <a:xfrm>
            <a:off x="11046660" y="6399212"/>
            <a:ext cx="719890" cy="197810"/>
          </a:xfrm>
          <a:prstGeom prst="rect">
            <a:avLst/>
          </a:prstGeom>
        </p:spPr>
        <p:txBody>
          <a:bodyPr lIns="0" tIns="0" rIns="0" bIns="0"/>
          <a:lstStyle>
            <a:lvl1pPr algn="r">
              <a:defRPr sz="1200">
                <a:solidFill>
                  <a:schemeClr val="accent1"/>
                </a:solidFill>
              </a:defRPr>
            </a:lvl1pPr>
          </a:lstStyle>
          <a:p>
            <a:fld id="{820EACED-CA5D-B048-836B-BF30EF0E914A}" type="slidenum">
              <a:rPr lang="en-US" smtClean="0"/>
              <a:pPr/>
              <a:t>‹#›</a:t>
            </a:fld>
            <a:endParaRPr lang="en-US"/>
          </a:p>
        </p:txBody>
      </p:sp>
    </p:spTree>
    <p:extLst>
      <p:ext uri="{BB962C8B-B14F-4D97-AF65-F5344CB8AC3E}">
        <p14:creationId xmlns:p14="http://schemas.microsoft.com/office/powerpoint/2010/main" val="3179706525"/>
      </p:ext>
    </p:extLst>
  </p:cSld>
  <p:clrMap bg1="lt1" tx1="dk1" bg2="lt2" tx2="dk2" accent1="accent1" accent2="accent2" accent3="accent3" accent4="accent4" accent5="accent5" accent6="accent6" hlink="hlink" folHlink="folHlink"/>
  <p:sldLayoutIdLst>
    <p:sldLayoutId id="2147483664" r:id="rId1"/>
    <p:sldLayoutId id="2147483695" r:id="rId2"/>
    <p:sldLayoutId id="2147483668" r:id="rId3"/>
    <p:sldLayoutId id="2147483669" r:id="rId4"/>
    <p:sldLayoutId id="2147483670" r:id="rId5"/>
    <p:sldLayoutId id="2147483677" r:id="rId6"/>
    <p:sldLayoutId id="2147483714" r:id="rId7"/>
    <p:sldLayoutId id="2147483679" r:id="rId8"/>
    <p:sldLayoutId id="2147483680" r:id="rId9"/>
    <p:sldLayoutId id="2147483704" r:id="rId10"/>
    <p:sldLayoutId id="2147483705" r:id="rId11"/>
    <p:sldLayoutId id="2147483681" r:id="rId12"/>
    <p:sldLayoutId id="2147483682" r:id="rId13"/>
    <p:sldLayoutId id="2147483684" r:id="rId14"/>
    <p:sldLayoutId id="2147483683" r:id="rId15"/>
    <p:sldLayoutId id="2147483702" r:id="rId16"/>
    <p:sldLayoutId id="2147483701" r:id="rId17"/>
    <p:sldLayoutId id="2147483703" r:id="rId18"/>
    <p:sldLayoutId id="2147483671" r:id="rId19"/>
    <p:sldLayoutId id="2147483672" r:id="rId20"/>
    <p:sldLayoutId id="2147483673" r:id="rId21"/>
    <p:sldLayoutId id="2147483674" r:id="rId22"/>
    <p:sldLayoutId id="2147483697" r:id="rId23"/>
    <p:sldLayoutId id="2147483698" r:id="rId24"/>
    <p:sldLayoutId id="2147483699" r:id="rId25"/>
    <p:sldLayoutId id="2147483700" r:id="rId26"/>
    <p:sldLayoutId id="2147483660" r:id="rId27"/>
    <p:sldLayoutId id="2147483694" r:id="rId28"/>
    <p:sldLayoutId id="2147483650" r:id="rId29"/>
    <p:sldLayoutId id="2147483662" r:id="rId30"/>
    <p:sldLayoutId id="2147483709" r:id="rId31"/>
    <p:sldLayoutId id="2147483710" r:id="rId32"/>
    <p:sldLayoutId id="2147483675" r:id="rId33"/>
    <p:sldLayoutId id="2147483712" r:id="rId34"/>
    <p:sldLayoutId id="2147483676" r:id="rId35"/>
    <p:sldLayoutId id="2147483713" r:id="rId36"/>
    <p:sldLayoutId id="2147483687" r:id="rId37"/>
    <p:sldLayoutId id="2147483708" r:id="rId38"/>
    <p:sldLayoutId id="2147483665" r:id="rId39"/>
    <p:sldLayoutId id="2147483711" r:id="rId40"/>
    <p:sldLayoutId id="2147483666" r:id="rId41"/>
    <p:sldLayoutId id="2147483667" r:id="rId42"/>
    <p:sldLayoutId id="2147483663" r:id="rId43"/>
    <p:sldLayoutId id="2147483678" r:id="rId44"/>
    <p:sldLayoutId id="2147483689" r:id="rId45"/>
    <p:sldLayoutId id="2147483690" r:id="rId46"/>
    <p:sldLayoutId id="2147483688" r:id="rId47"/>
    <p:sldLayoutId id="2147483693" r:id="rId48"/>
    <p:sldLayoutId id="2147483686" r:id="rId49"/>
    <p:sldLayoutId id="2147483685" r:id="rId50"/>
    <p:sldLayoutId id="2147483706" r:id="rId51"/>
    <p:sldLayoutId id="2147483707" r:id="rId52"/>
    <p:sldLayoutId id="2147483696" r:id="rId53"/>
    <p:sldLayoutId id="2147483692" r:id="rId54"/>
    <p:sldLayoutId id="2147483717" r:id="rId55"/>
    <p:sldLayoutId id="2147483718" r:id="rId56"/>
    <p:sldLayoutId id="2147483719" r:id="rId57"/>
  </p:sldLayoutIdLst>
  <p:hf hdr="0" ftr="0"/>
  <p:txStyles>
    <p:titleStyle>
      <a:lvl1pPr algn="l" defTabSz="914400" rtl="0" eaLnBrk="1" latinLnBrk="0" hangingPunct="1">
        <a:lnSpc>
          <a:spcPts val="4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835">
          <p15:clr>
            <a:srgbClr val="5ACBF0"/>
          </p15:clr>
        </p15:guide>
        <p15:guide id="2" orient="horz" pos="289">
          <p15:clr>
            <a:srgbClr val="5ACBF0"/>
          </p15:clr>
        </p15:guide>
        <p15:guide id="3" pos="7412">
          <p15:clr>
            <a:srgbClr val="5ACBF0"/>
          </p15:clr>
        </p15:guide>
        <p15:guide id="4" orient="horz" pos="4031">
          <p15:clr>
            <a:srgbClr val="5ACBF0"/>
          </p15:clr>
        </p15:guide>
        <p15:guide id="5" pos="268">
          <p15:clr>
            <a:srgbClr val="5ACBF0"/>
          </p15:clr>
        </p15:guide>
        <p15:guide id="7" orient="horz" pos="856">
          <p15:clr>
            <a:srgbClr val="5ACBF0"/>
          </p15:clr>
        </p15:guide>
        <p15:guide id="9" pos="551">
          <p15:clr>
            <a:srgbClr val="5ACBF0"/>
          </p15:clr>
        </p15:guide>
        <p15:guide id="10" orient="horz" pos="572">
          <p15:clr>
            <a:srgbClr val="5ACBF0"/>
          </p15:clr>
        </p15:guide>
        <p15:guide id="11" orient="horz" pos="3918">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xml"/><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xml"/><Relationship Id="rId1" Type="http://schemas.openxmlformats.org/officeDocument/2006/relationships/slideLayout" Target="../slideLayouts/slideLayout5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5.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hyperlink" Target="https://numbbo.github.io/coco/" TargetMode="External"/><Relationship Id="rId2" Type="http://schemas.openxmlformats.org/officeDocument/2006/relationships/notesSlide" Target="../notesSlides/notesSlide5.xml"/><Relationship Id="rId1" Type="http://schemas.openxmlformats.org/officeDocument/2006/relationships/slideLayout" Target="../slideLayouts/slideLayout55.xml"/><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hyperlink" Target="https://arxiv.org/pdf/1308.4008.pdf" TargetMode="External"/><Relationship Id="rId2" Type="http://schemas.openxmlformats.org/officeDocument/2006/relationships/notesSlide" Target="../notesSlides/notesSlide6.xml"/><Relationship Id="rId1" Type="http://schemas.openxmlformats.org/officeDocument/2006/relationships/slideLayout" Target="../slideLayouts/slideLayout55.xml"/><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55.xml"/><Relationship Id="rId1" Type="http://schemas.openxmlformats.org/officeDocument/2006/relationships/tags" Target="../tags/tag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55.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3" Type="http://schemas.openxmlformats.org/officeDocument/2006/relationships/notesSlide" Target="../notesSlides/notesSlide7.xml"/><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slideLayout" Target="../slideLayouts/slideLayout55.xml"/><Relationship Id="rId1" Type="http://schemas.openxmlformats.org/officeDocument/2006/relationships/tags" Target="../tags/tag4.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jpeg"/><Relationship Id="rId10" Type="http://schemas.openxmlformats.org/officeDocument/2006/relationships/image" Target="../media/image39.png"/><Relationship Id="rId4" Type="http://schemas.openxmlformats.org/officeDocument/2006/relationships/image" Target="../media/image30.png"/><Relationship Id="rId9" Type="http://schemas.openxmlformats.org/officeDocument/2006/relationships/image" Target="../media/image38.png"/><Relationship Id="rId14" Type="http://schemas.openxmlformats.org/officeDocument/2006/relationships/image" Target="../media/image4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47.png"/><Relationship Id="rId2" Type="http://schemas.openxmlformats.org/officeDocument/2006/relationships/slideLayout" Target="../slideLayouts/slideLayout55.xml"/><Relationship Id="rId1" Type="http://schemas.openxmlformats.org/officeDocument/2006/relationships/tags" Target="../tags/tag5.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55.xml"/><Relationship Id="rId1" Type="http://schemas.openxmlformats.org/officeDocument/2006/relationships/tags" Target="../tags/tag6.xml"/><Relationship Id="rId6" Type="http://schemas.openxmlformats.org/officeDocument/2006/relationships/image" Target="../media/image50.png"/><Relationship Id="rId5" Type="http://schemas.openxmlformats.org/officeDocument/2006/relationships/image" Target="../media/image46.png"/><Relationship Id="rId4" Type="http://schemas.openxmlformats.org/officeDocument/2006/relationships/image" Target="../media/image49.png"/></Relationships>
</file>

<file path=ppt/slides/_rels/slide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5.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5.xml"/><Relationship Id="rId1" Type="http://schemas.openxmlformats.org/officeDocument/2006/relationships/tags" Target="../tags/tag8.xml"/></Relationships>
</file>

<file path=ppt/slides/_rels/slide18.xml.rels><?xml version="1.0" encoding="UTF-8" standalone="yes"?>
<Relationships xmlns="http://schemas.openxmlformats.org/package/2006/relationships"><Relationship Id="rId3" Type="http://schemas.openxmlformats.org/officeDocument/2006/relationships/hyperlink" Target="http://www.cs.nott.ac.uk/~pszeo/docs/publications/IDA08.pdf" TargetMode="External"/><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56.xml"/><Relationship Id="rId5" Type="http://schemas.openxmlformats.org/officeDocument/2006/relationships/image" Target="../media/image52.png"/><Relationship Id="rId4" Type="http://schemas.openxmlformats.org/officeDocument/2006/relationships/hyperlink" Target="http://www.cs.nott.ac.uk/~pszeo/docs/publications/IDA08.pdf"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6.png"/><Relationship Id="rId2" Type="http://schemas.openxmlformats.org/officeDocument/2006/relationships/notesSlide" Target="../notesSlides/notesSlide12.xml"/><Relationship Id="rId1" Type="http://schemas.openxmlformats.org/officeDocument/2006/relationships/slideLayout" Target="../slideLayouts/slideLayout56.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7.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slideLayout" Target="../slideLayouts/slideLayout55.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5.xml"/><Relationship Id="rId1" Type="http://schemas.openxmlformats.org/officeDocument/2006/relationships/tags" Target="../tags/tag11.xml"/><Relationship Id="rId4" Type="http://schemas.openxmlformats.org/officeDocument/2006/relationships/image" Target="../media/image57.wm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55.xml"/><Relationship Id="rId1" Type="http://schemas.openxmlformats.org/officeDocument/2006/relationships/tags" Target="../tags/tag12.xml"/></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55.xml"/><Relationship Id="rId5" Type="http://schemas.openxmlformats.org/officeDocument/2006/relationships/image" Target="../media/image59.png"/><Relationship Id="rId4" Type="http://schemas.openxmlformats.org/officeDocument/2006/relationships/image" Target="../media/image58.wmf"/></Relationships>
</file>

<file path=ppt/slides/_rels/slide26.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notesSlide" Target="../notesSlides/notesSlide16.xml"/><Relationship Id="rId1" Type="http://schemas.openxmlformats.org/officeDocument/2006/relationships/slideLayout" Target="../slideLayouts/slideLayout55.xml"/><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slideLayout" Target="../slideLayouts/slideLayout55.xml"/><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notesSlide" Target="../notesSlides/notesSlide17.xml"/><Relationship Id="rId1" Type="http://schemas.openxmlformats.org/officeDocument/2006/relationships/slideLayout" Target="../slideLayouts/slideLayout5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5.xml"/><Relationship Id="rId1" Type="http://schemas.openxmlformats.org/officeDocument/2006/relationships/tags" Target="../tags/tag13.xml"/></Relationships>
</file>

<file path=ppt/slides/_rels/slide30.xml.rels><?xml version="1.0" encoding="UTF-8" standalone="yes"?>
<Relationships xmlns="http://schemas.openxmlformats.org/package/2006/relationships"><Relationship Id="rId3" Type="http://schemas.openxmlformats.org/officeDocument/2006/relationships/hyperlink" Target="http://www.cs.nott.ac.uk/~pszeo/docs/publications/TSP_id135final.pdf" TargetMode="External"/><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55.xml"/><Relationship Id="rId1" Type="http://schemas.openxmlformats.org/officeDocument/2006/relationships/tags" Target="../tags/tag14.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55.xml"/><Relationship Id="rId1" Type="http://schemas.openxmlformats.org/officeDocument/2006/relationships/tags" Target="../tags/tag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55.xml"/><Relationship Id="rId1" Type="http://schemas.openxmlformats.org/officeDocument/2006/relationships/tags" Target="../tags/tag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55.xml"/><Relationship Id="rId1" Type="http://schemas.openxmlformats.org/officeDocument/2006/relationships/tags" Target="../tags/tag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5.xml"/><Relationship Id="rId1" Type="http://schemas.openxmlformats.org/officeDocument/2006/relationships/tags" Target="../tags/tag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5.xml"/><Relationship Id="rId1" Type="http://schemas.openxmlformats.org/officeDocument/2006/relationships/tags" Target="../tags/tag19.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64.png"/><Relationship Id="rId7" Type="http://schemas.openxmlformats.org/officeDocument/2006/relationships/image" Target="../media/image66.png"/><Relationship Id="rId2" Type="http://schemas.openxmlformats.org/officeDocument/2006/relationships/slideLayout" Target="../slideLayouts/slideLayout55.xml"/><Relationship Id="rId1" Type="http://schemas.openxmlformats.org/officeDocument/2006/relationships/tags" Target="../tags/tag20.xml"/><Relationship Id="rId6" Type="http://schemas.openxmlformats.org/officeDocument/2006/relationships/oleObject" Target="../embeddings/oleObject2.bin"/><Relationship Id="rId5" Type="http://schemas.openxmlformats.org/officeDocument/2006/relationships/image" Target="../media/image65.png"/><Relationship Id="rId4" Type="http://schemas.openxmlformats.org/officeDocument/2006/relationships/oleObject" Target="../embeddings/oleObject1.bin"/><Relationship Id="rId9" Type="http://schemas.openxmlformats.org/officeDocument/2006/relationships/image" Target="../media/image67.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5.xml"/><Relationship Id="rId1" Type="http://schemas.openxmlformats.org/officeDocument/2006/relationships/tags" Target="../tags/tag21.xml"/><Relationship Id="rId4" Type="http://schemas.openxmlformats.org/officeDocument/2006/relationships/image" Target="../media/image68.wmf"/></Relationships>
</file>

<file path=ppt/slides/_rels/slide4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hyperlink" Target="http://ieeexplore.ieee.org/document/1580625/" TargetMode="External"/><Relationship Id="rId1" Type="http://schemas.openxmlformats.org/officeDocument/2006/relationships/slideLayout" Target="../slideLayouts/slideLayout5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55.xml"/><Relationship Id="rId1" Type="http://schemas.openxmlformats.org/officeDocument/2006/relationships/tags" Target="../tags/tag2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5.xml"/><Relationship Id="rId1" Type="http://schemas.openxmlformats.org/officeDocument/2006/relationships/tags" Target="../tags/tag2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55.xml"/><Relationship Id="rId1" Type="http://schemas.openxmlformats.org/officeDocument/2006/relationships/tags" Target="../tags/tag24.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5.xml"/><Relationship Id="rId1" Type="http://schemas.openxmlformats.org/officeDocument/2006/relationships/tags" Target="../tags/tag25.xml"/></Relationships>
</file>

<file path=ppt/slides/_rels/slide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Layout" Target="../slideLayouts/slideLayout57.xml"/><Relationship Id="rId1" Type="http://schemas.openxmlformats.org/officeDocument/2006/relationships/tags" Target="../tags/tag26.xml"/><Relationship Id="rId4" Type="http://schemas.openxmlformats.org/officeDocument/2006/relationships/hyperlink" Target="http://eprints.uwe.ac.uk/11088/1/11088.pdf"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5.xml"/><Relationship Id="rId1" Type="http://schemas.openxmlformats.org/officeDocument/2006/relationships/tags" Target="../tags/tag27.xml"/><Relationship Id="rId4" Type="http://schemas.openxmlformats.org/officeDocument/2006/relationships/image" Target="../media/image69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55.xml"/><Relationship Id="rId1" Type="http://schemas.openxmlformats.org/officeDocument/2006/relationships/tags" Target="../tags/tag28.xml"/></Relationships>
</file>

<file path=ppt/slides/_rels/slide57.xml.rels><?xml version="1.0" encoding="UTF-8" standalone="yes"?>
<Relationships xmlns="http://schemas.openxmlformats.org/package/2006/relationships"><Relationship Id="rId3" Type="http://schemas.openxmlformats.org/officeDocument/2006/relationships/hyperlink" Target="http://www.cs.nott.ac.uk/~pszeo/docs/publications/IDA08.pdf" TargetMode="External"/><Relationship Id="rId2" Type="http://schemas.openxmlformats.org/officeDocument/2006/relationships/notesSlide" Target="../notesSlides/notesSlide28.xml"/><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5.xml"/></Relationships>
</file>

<file path=ppt/slides/_rels/slide5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55.xml"/><Relationship Id="rId5" Type="http://schemas.openxmlformats.org/officeDocument/2006/relationships/image" Target="../media/image59.png"/><Relationship Id="rId4" Type="http://schemas.openxmlformats.org/officeDocument/2006/relationships/image" Target="../media/image58.wmf"/></Relationships>
</file>

<file path=ppt/slides/_rels/slide60.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notesSlide" Target="../notesSlides/notesSlide31.xml"/><Relationship Id="rId1" Type="http://schemas.openxmlformats.org/officeDocument/2006/relationships/slideLayout" Target="../slideLayouts/slideLayout55.xml"/></Relationships>
</file>

<file path=ppt/slides/_rels/slide61.xml.rels><?xml version="1.0" encoding="UTF-8" standalone="yes"?>
<Relationships xmlns="http://schemas.openxmlformats.org/package/2006/relationships"><Relationship Id="rId2" Type="http://schemas.openxmlformats.org/officeDocument/2006/relationships/image" Target="../media/image72.wmf"/><Relationship Id="rId1" Type="http://schemas.openxmlformats.org/officeDocument/2006/relationships/slideLayout" Target="../slideLayouts/slideLayout55.xml"/></Relationships>
</file>

<file path=ppt/slides/_rels/slide62.x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slideLayout" Target="../slideLayouts/slideLayout55.xml"/></Relationships>
</file>

<file path=ppt/slides/_rels/slide63.x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slideLayout" Target="../slideLayouts/slideLayout55.xml"/></Relationships>
</file>

<file path=ppt/slides/_rels/slide64.x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slideLayout" Target="../slideLayouts/slideLayout55.xml"/></Relationships>
</file>

<file path=ppt/slides/_rels/slide65.x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notesSlide" Target="../notesSlides/notesSlide32.xml"/><Relationship Id="rId1" Type="http://schemas.openxmlformats.org/officeDocument/2006/relationships/slideLayout" Target="../slideLayouts/slideLayout55.xml"/><Relationship Id="rId5" Type="http://schemas.openxmlformats.org/officeDocument/2006/relationships/image" Target="../media/image78.png"/><Relationship Id="rId4" Type="http://schemas.openxmlformats.org/officeDocument/2006/relationships/image" Target="../media/image77.png"/></Relationships>
</file>

<file path=ppt/slides/_rels/slide66.x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slideLayout" Target="../slideLayouts/slideLayout5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5.xml"/></Relationships>
</file>

<file path=ppt/slides/_rels/slide6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4.xml"/><Relationship Id="rId1" Type="http://schemas.openxmlformats.org/officeDocument/2006/relationships/slideLayout" Target="../slideLayouts/slideLayout53.xml"/></Relationships>
</file>

<file path=ppt/slides/_rels/slide70.xml.rels><?xml version="1.0" encoding="UTF-8" standalone="yes"?>
<Relationships xmlns="http://schemas.openxmlformats.org/package/2006/relationships"><Relationship Id="rId3" Type="http://schemas.openxmlformats.org/officeDocument/2006/relationships/hyperlink" Target="https://dl.acm.org/doi/10.1145/3449726.3461422" TargetMode="External"/><Relationship Id="rId2" Type="http://schemas.openxmlformats.org/officeDocument/2006/relationships/slideLayout" Target="../slideLayouts/slideLayout55.xml"/><Relationship Id="rId1" Type="http://schemas.openxmlformats.org/officeDocument/2006/relationships/tags" Target="../tags/tag2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55.xml"/><Relationship Id="rId1" Type="http://schemas.openxmlformats.org/officeDocument/2006/relationships/tags" Target="../tags/tag3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14CD7-4479-A8F5-4954-F8ECA105EC83}"/>
            </a:ext>
          </a:extLst>
        </p:cNvPr>
        <p:cNvGrpSpPr/>
        <p:nvPr/>
      </p:nvGrpSpPr>
      <p:grpSpPr>
        <a:xfrm>
          <a:off x="0" y="0"/>
          <a:ext cx="0" cy="0"/>
          <a:chOff x="0" y="0"/>
          <a:chExt cx="0" cy="0"/>
        </a:xfrm>
      </p:grpSpPr>
      <p:sp>
        <p:nvSpPr>
          <p:cNvPr id="5" name="Title 1" descr="Background image shows the University of Nottingham Trent Building tower against a beautiful blue sky. ">
            <a:extLst>
              <a:ext uri="{FF2B5EF4-FFF2-40B4-BE49-F238E27FC236}">
                <a16:creationId xmlns:a16="http://schemas.microsoft.com/office/drawing/2014/main" id="{9ED510F1-E668-B041-3E53-31130524B6D9}"/>
              </a:ext>
              <a:ext uri="{C183D7F6-B498-43B3-948B-1728B52AA6E4}">
                <adec:decorative xmlns:adec="http://schemas.microsoft.com/office/drawing/2017/decorative" val="0"/>
              </a:ext>
            </a:extLst>
          </p:cNvPr>
          <p:cNvSpPr>
            <a:spLocks noGrp="1"/>
          </p:cNvSpPr>
          <p:nvPr>
            <p:ph type="ctrTitle"/>
          </p:nvPr>
        </p:nvSpPr>
        <p:spPr>
          <a:xfrm>
            <a:off x="654056" y="801055"/>
            <a:ext cx="5289544" cy="2671840"/>
          </a:xfrm>
        </p:spPr>
        <p:txBody>
          <a:bodyPr/>
          <a:lstStyle/>
          <a:p>
            <a:r>
              <a:rPr lang="en-GB" sz="5400" dirty="0"/>
              <a:t>Evolutionary Algorithms II</a:t>
            </a:r>
            <a:endParaRPr lang="en-GB" sz="6500" noProof="0" dirty="0"/>
          </a:p>
        </p:txBody>
      </p:sp>
      <p:sp>
        <p:nvSpPr>
          <p:cNvPr id="3" name="Name of presenter">
            <a:extLst>
              <a:ext uri="{FF2B5EF4-FFF2-40B4-BE49-F238E27FC236}">
                <a16:creationId xmlns:a16="http://schemas.microsoft.com/office/drawing/2014/main" id="{C9D1D43A-A0F5-3C1B-45E2-71BCA3560340}"/>
              </a:ext>
            </a:extLst>
          </p:cNvPr>
          <p:cNvSpPr>
            <a:spLocks noGrp="1"/>
          </p:cNvSpPr>
          <p:nvPr>
            <p:ph type="body" sz="quarter" idx="11"/>
          </p:nvPr>
        </p:nvSpPr>
        <p:spPr>
          <a:xfrm>
            <a:off x="653978" y="3429000"/>
            <a:ext cx="4679958" cy="360699"/>
          </a:xfrm>
        </p:spPr>
        <p:txBody>
          <a:bodyPr>
            <a:normAutofit lnSpcReduction="10000"/>
          </a:bodyPr>
          <a:lstStyle/>
          <a:p>
            <a:r>
              <a:rPr lang="en-GB" noProof="0" dirty="0"/>
              <a:t>Prof Ender Ozcan</a:t>
            </a:r>
          </a:p>
        </p:txBody>
      </p:sp>
    </p:spTree>
    <p:extLst>
      <p:ext uri="{BB962C8B-B14F-4D97-AF65-F5344CB8AC3E}">
        <p14:creationId xmlns:p14="http://schemas.microsoft.com/office/powerpoint/2010/main" val="2223941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C71DE-3279-BE5C-8019-D3B225ECDA96}"/>
            </a:ext>
          </a:extLst>
        </p:cNvPr>
        <p:cNvGrpSpPr/>
        <p:nvPr/>
      </p:nvGrpSpPr>
      <p:grpSpPr>
        <a:xfrm>
          <a:off x="0" y="0"/>
          <a:ext cx="0" cy="0"/>
          <a:chOff x="0" y="0"/>
          <a:chExt cx="0" cy="0"/>
        </a:xfrm>
      </p:grpSpPr>
      <p:pic>
        <p:nvPicPr>
          <p:cNvPr id="4" name="Picture 3" descr="Picture shows a mixed group of graduates joyfully throwing their mortar boards into the air in front of the Trent Building. &#10;&#10;">
            <a:extLst>
              <a:ext uri="{FF2B5EF4-FFF2-40B4-BE49-F238E27FC236}">
                <a16:creationId xmlns:a16="http://schemas.microsoft.com/office/drawing/2014/main" id="{D102F17C-3F1F-2CBB-CF8B-7712A5DAF8CE}"/>
              </a:ext>
            </a:extLst>
          </p:cNvPr>
          <p:cNvPicPr>
            <a:picLocks noGrp="1" noRo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a:ext>
            </a:extLst>
          </a:blip>
          <a:srcRect/>
          <a:stretch/>
        </p:blipFill>
        <p:spPr>
          <a:xfrm>
            <a:off x="8096841" y="-7948"/>
            <a:ext cx="4103096" cy="6865948"/>
          </a:xfrm>
          <a:prstGeom prst="rect">
            <a:avLst/>
          </a:prstGeom>
        </p:spPr>
      </p:pic>
      <p:sp>
        <p:nvSpPr>
          <p:cNvPr id="3" name="TextBox">
            <a:extLst>
              <a:ext uri="{FF2B5EF4-FFF2-40B4-BE49-F238E27FC236}">
                <a16:creationId xmlns:a16="http://schemas.microsoft.com/office/drawing/2014/main" id="{7B76A1F7-5B04-F969-5253-D5F3DB5F4B1A}"/>
              </a:ext>
            </a:extLst>
          </p:cNvPr>
          <p:cNvSpPr txBox="1">
            <a:spLocks noGrp="1" noRot="1" noMove="1" noResize="1" noEditPoints="1" noAdjustHandles="1" noChangeArrowheads="1" noChangeShapeType="1"/>
          </p:cNvSpPr>
          <p:nvPr/>
        </p:nvSpPr>
        <p:spPr>
          <a:xfrm>
            <a:off x="885668" y="851291"/>
            <a:ext cx="6418983" cy="5370701"/>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Bef>
                <a:spcPts val="300"/>
              </a:spcBef>
              <a:spcAft>
                <a:spcPts val="300"/>
              </a:spcAft>
              <a:buFont typeface="Wingdings" pitchFamily="2" charset="2"/>
              <a:buChar char="§"/>
            </a:pPr>
            <a:r>
              <a:rPr lang="en-GB" sz="2400" b="1" noProof="0" dirty="0">
                <a:solidFill>
                  <a:schemeClr val="bg1"/>
                </a:solidFill>
                <a:cs typeface="Arial"/>
              </a:rPr>
              <a:t>Questions…</a:t>
            </a:r>
          </a:p>
          <a:p>
            <a:pPr marL="342900" indent="-342900">
              <a:spcBef>
                <a:spcPts val="300"/>
              </a:spcBef>
              <a:spcAft>
                <a:spcPts val="300"/>
              </a:spcAft>
              <a:buFont typeface="Wingdings" pitchFamily="2" charset="2"/>
              <a:buChar char="§"/>
            </a:pPr>
            <a:endParaRPr lang="en-GB" sz="2400" b="1" noProof="0" dirty="0">
              <a:solidFill>
                <a:schemeClr val="bg1"/>
              </a:solidFill>
              <a:cs typeface="Arial"/>
            </a:endParaRPr>
          </a:p>
          <a:p>
            <a:pPr marL="342900" indent="-342900">
              <a:spcBef>
                <a:spcPts val="300"/>
              </a:spcBef>
              <a:spcAft>
                <a:spcPts val="300"/>
              </a:spcAft>
              <a:buFont typeface="Wingdings" pitchFamily="2" charset="2"/>
              <a:buChar char="§"/>
            </a:pPr>
            <a:r>
              <a:rPr lang="en-GB" sz="2400" b="1" noProof="0" dirty="0">
                <a:solidFill>
                  <a:schemeClr val="bg1"/>
                </a:solidFill>
                <a:cs typeface="Arial"/>
              </a:rPr>
              <a:t>Benchmark Functions</a:t>
            </a:r>
          </a:p>
          <a:p>
            <a:pPr marL="342900" indent="-342900">
              <a:spcBef>
                <a:spcPts val="300"/>
              </a:spcBef>
              <a:spcAft>
                <a:spcPts val="300"/>
              </a:spcAft>
              <a:buFont typeface="Wingdings" pitchFamily="2" charset="2"/>
              <a:buChar char="§"/>
            </a:pPr>
            <a:endParaRPr lang="en-GB" sz="2400" b="1" dirty="0">
              <a:solidFill>
                <a:schemeClr val="bg1"/>
              </a:solidFill>
              <a:cs typeface="Arial"/>
            </a:endParaRPr>
          </a:p>
          <a:p>
            <a:pPr marL="342900" indent="-342900">
              <a:spcBef>
                <a:spcPts val="300"/>
              </a:spcBef>
              <a:spcAft>
                <a:spcPts val="300"/>
              </a:spcAft>
              <a:buFont typeface="Wingdings" pitchFamily="2" charset="2"/>
              <a:buChar char="§"/>
            </a:pPr>
            <a:r>
              <a:rPr lang="en-GB" sz="2400" b="1" noProof="0" dirty="0">
                <a:solidFill>
                  <a:schemeClr val="bg1"/>
                </a:solidFill>
                <a:cs typeface="Arial"/>
              </a:rPr>
              <a:t>Benchmark Functions Experiments</a:t>
            </a:r>
          </a:p>
          <a:p>
            <a:pPr marL="342900" indent="-342900">
              <a:spcBef>
                <a:spcPts val="300"/>
              </a:spcBef>
              <a:spcAft>
                <a:spcPts val="300"/>
              </a:spcAft>
              <a:buFont typeface="Wingdings" pitchFamily="2" charset="2"/>
              <a:buChar char="§"/>
            </a:pPr>
            <a:endParaRPr lang="en-GB" sz="2400" b="1" dirty="0">
              <a:solidFill>
                <a:schemeClr val="bg1"/>
              </a:solidFill>
              <a:cs typeface="Arial"/>
            </a:endParaRPr>
          </a:p>
          <a:p>
            <a:pPr marL="342900" indent="-342900">
              <a:spcBef>
                <a:spcPts val="300"/>
              </a:spcBef>
              <a:spcAft>
                <a:spcPts val="300"/>
              </a:spcAft>
              <a:buFont typeface="Wingdings" pitchFamily="2" charset="2"/>
              <a:buChar char="§"/>
            </a:pPr>
            <a:r>
              <a:rPr lang="en-GB" sz="2400" b="1" dirty="0">
                <a:solidFill>
                  <a:schemeClr val="bg1"/>
                </a:solidFill>
                <a:cs typeface="Arial"/>
              </a:rPr>
              <a:t>Travel Salesman Problem</a:t>
            </a:r>
          </a:p>
          <a:p>
            <a:pPr marL="800100" lvl="1" indent="-342900">
              <a:spcBef>
                <a:spcPts val="300"/>
              </a:spcBef>
              <a:spcAft>
                <a:spcPts val="300"/>
              </a:spcAft>
              <a:buFont typeface="Wingdings" pitchFamily="2" charset="2"/>
              <a:buChar char="§"/>
            </a:pPr>
            <a:r>
              <a:rPr lang="en-GB" sz="2400" b="1" dirty="0">
                <a:solidFill>
                  <a:schemeClr val="bg1"/>
                </a:solidFill>
                <a:cs typeface="Arial"/>
              </a:rPr>
              <a:t>Permutation Based Operator</a:t>
            </a:r>
          </a:p>
          <a:p>
            <a:pPr marL="342900" indent="-342900">
              <a:spcBef>
                <a:spcPts val="300"/>
              </a:spcBef>
              <a:spcAft>
                <a:spcPts val="300"/>
              </a:spcAft>
              <a:buFont typeface="Wingdings" pitchFamily="2" charset="2"/>
              <a:buChar char="§"/>
            </a:pPr>
            <a:endParaRPr lang="en-GB" sz="2400" b="1" noProof="0" dirty="0">
              <a:solidFill>
                <a:schemeClr val="bg1"/>
              </a:solidFill>
              <a:cs typeface="Arial"/>
            </a:endParaRPr>
          </a:p>
          <a:p>
            <a:pPr marL="342900" indent="-342900">
              <a:spcBef>
                <a:spcPts val="300"/>
              </a:spcBef>
              <a:spcAft>
                <a:spcPts val="300"/>
              </a:spcAft>
              <a:buFont typeface="Wingdings" pitchFamily="2" charset="2"/>
              <a:buChar char="§"/>
            </a:pPr>
            <a:r>
              <a:rPr lang="en-GB" sz="2400" b="1" noProof="0" dirty="0">
                <a:solidFill>
                  <a:schemeClr val="bg1"/>
                </a:solidFill>
                <a:cs typeface="Arial"/>
              </a:rPr>
              <a:t>Multi</a:t>
            </a:r>
            <a:r>
              <a:rPr lang="en-GB" sz="2400" b="1" dirty="0">
                <a:solidFill>
                  <a:schemeClr val="bg1"/>
                </a:solidFill>
                <a:cs typeface="Arial"/>
              </a:rPr>
              <a:t>meme Memetic Algorithm</a:t>
            </a:r>
          </a:p>
          <a:p>
            <a:pPr marL="342900" indent="-342900">
              <a:spcBef>
                <a:spcPts val="300"/>
              </a:spcBef>
              <a:spcAft>
                <a:spcPts val="300"/>
              </a:spcAft>
              <a:buFont typeface="Wingdings" pitchFamily="2" charset="2"/>
              <a:buChar char="§"/>
            </a:pPr>
            <a:endParaRPr lang="en-GB" sz="2400" b="1" noProof="0" dirty="0">
              <a:solidFill>
                <a:schemeClr val="bg1"/>
              </a:solidFill>
              <a:cs typeface="Arial"/>
            </a:endParaRPr>
          </a:p>
          <a:p>
            <a:pPr marL="342900" indent="-342900">
              <a:spcBef>
                <a:spcPts val="300"/>
              </a:spcBef>
              <a:spcAft>
                <a:spcPts val="300"/>
              </a:spcAft>
              <a:buFont typeface="Wingdings" pitchFamily="2" charset="2"/>
              <a:buChar char="§"/>
            </a:pPr>
            <a:r>
              <a:rPr lang="en-GB" sz="2400" b="1" noProof="0" dirty="0">
                <a:solidFill>
                  <a:schemeClr val="bg1"/>
                </a:solidFill>
                <a:cs typeface="Arial"/>
              </a:rPr>
              <a:t>Benchmark Functions Exp. - Revisited</a:t>
            </a:r>
          </a:p>
        </p:txBody>
      </p:sp>
      <p:sp>
        <p:nvSpPr>
          <p:cNvPr id="2" name="Title 1">
            <a:extLst>
              <a:ext uri="{FF2B5EF4-FFF2-40B4-BE49-F238E27FC236}">
                <a16:creationId xmlns:a16="http://schemas.microsoft.com/office/drawing/2014/main" id="{3CCE8D1B-1D01-C25A-83EF-5184754DBE45}"/>
              </a:ext>
            </a:extLst>
          </p:cNvPr>
          <p:cNvSpPr>
            <a:spLocks noGrp="1" noRot="1" noMove="1" noResize="1" noEditPoints="1" noAdjustHandles="1" noChangeArrowheads="1" noChangeShapeType="1"/>
          </p:cNvSpPr>
          <p:nvPr>
            <p:ph type="title" idx="4294967295"/>
          </p:nvPr>
        </p:nvSpPr>
        <p:spPr>
          <a:xfrm>
            <a:off x="1123950" y="109537"/>
            <a:ext cx="10440987" cy="900113"/>
          </a:xfrm>
        </p:spPr>
        <p:txBody>
          <a:bodyPr>
            <a:normAutofit/>
          </a:bodyPr>
          <a:lstStyle/>
          <a:p>
            <a:r>
              <a:rPr lang="en-GB" noProof="0" dirty="0">
                <a:solidFill>
                  <a:srgbClr val="FCFBF8"/>
                </a:solidFill>
                <a:latin typeface="Georgia"/>
              </a:rPr>
              <a:t>Outline</a:t>
            </a:r>
          </a:p>
        </p:txBody>
      </p:sp>
    </p:spTree>
    <p:extLst>
      <p:ext uri="{BB962C8B-B14F-4D97-AF65-F5344CB8AC3E}">
        <p14:creationId xmlns:p14="http://schemas.microsoft.com/office/powerpoint/2010/main" val="3786067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D523E-8F2F-D9C2-8CF4-0447AE0959B6}"/>
            </a:ext>
          </a:extLst>
        </p:cNvPr>
        <p:cNvGrpSpPr/>
        <p:nvPr/>
      </p:nvGrpSpPr>
      <p:grpSpPr>
        <a:xfrm>
          <a:off x="0" y="0"/>
          <a:ext cx="0" cy="0"/>
          <a:chOff x="0" y="0"/>
          <a:chExt cx="0" cy="0"/>
        </a:xfrm>
      </p:grpSpPr>
      <p:pic>
        <p:nvPicPr>
          <p:cNvPr id="4" name="Picture 3" descr="Picture shows a mixed group of graduates joyfully throwing their mortar boards into the air in front of the Trent Building. &#10;&#10;">
            <a:extLst>
              <a:ext uri="{FF2B5EF4-FFF2-40B4-BE49-F238E27FC236}">
                <a16:creationId xmlns:a16="http://schemas.microsoft.com/office/drawing/2014/main" id="{1ABD128A-BD45-FF30-BB6D-498B3C06D68A}"/>
              </a:ext>
            </a:extLst>
          </p:cNvPr>
          <p:cNvPicPr>
            <a:picLocks noGrp="1" noRo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a:ext>
            </a:extLst>
          </a:blip>
          <a:srcRect/>
          <a:stretch/>
        </p:blipFill>
        <p:spPr>
          <a:xfrm>
            <a:off x="8096841" y="-7948"/>
            <a:ext cx="4103096" cy="6865948"/>
          </a:xfrm>
          <a:prstGeom prst="rect">
            <a:avLst/>
          </a:prstGeom>
        </p:spPr>
      </p:pic>
      <p:sp>
        <p:nvSpPr>
          <p:cNvPr id="2" name="Title 1">
            <a:extLst>
              <a:ext uri="{FF2B5EF4-FFF2-40B4-BE49-F238E27FC236}">
                <a16:creationId xmlns:a16="http://schemas.microsoft.com/office/drawing/2014/main" id="{CAA99CEA-C64B-1682-9DB1-588AF3A2482D}"/>
              </a:ext>
            </a:extLst>
          </p:cNvPr>
          <p:cNvSpPr>
            <a:spLocks noGrp="1" noRot="1" noMove="1" noResize="1" noEditPoints="1" noAdjustHandles="1" noChangeArrowheads="1" noChangeShapeType="1"/>
          </p:cNvSpPr>
          <p:nvPr>
            <p:ph type="title" idx="4294967295"/>
          </p:nvPr>
        </p:nvSpPr>
        <p:spPr>
          <a:xfrm>
            <a:off x="1123950" y="109537"/>
            <a:ext cx="10440987" cy="900113"/>
          </a:xfrm>
        </p:spPr>
        <p:txBody>
          <a:bodyPr>
            <a:normAutofit/>
          </a:bodyPr>
          <a:lstStyle/>
          <a:p>
            <a:r>
              <a:rPr lang="en-GB" noProof="0" dirty="0">
                <a:solidFill>
                  <a:srgbClr val="FCFBF8"/>
                </a:solidFill>
                <a:latin typeface="Georgia"/>
              </a:rPr>
              <a:t>Learning Outcomes</a:t>
            </a:r>
          </a:p>
        </p:txBody>
      </p:sp>
      <p:sp>
        <p:nvSpPr>
          <p:cNvPr id="5" name="TextBox 4">
            <a:extLst>
              <a:ext uri="{FF2B5EF4-FFF2-40B4-BE49-F238E27FC236}">
                <a16:creationId xmlns:a16="http://schemas.microsoft.com/office/drawing/2014/main" id="{DD4BAFA3-E472-0A95-190D-30414B60E11C}"/>
              </a:ext>
            </a:extLst>
          </p:cNvPr>
          <p:cNvSpPr txBox="1"/>
          <p:nvPr/>
        </p:nvSpPr>
        <p:spPr>
          <a:xfrm>
            <a:off x="293297" y="1105554"/>
            <a:ext cx="7297948" cy="5262979"/>
          </a:xfrm>
          <a:prstGeom prst="rect">
            <a:avLst/>
          </a:prstGeom>
          <a:noFill/>
        </p:spPr>
        <p:txBody>
          <a:bodyPr wrap="square" rtlCol="0">
            <a:spAutoFit/>
          </a:bodyPr>
          <a:lstStyle/>
          <a:p>
            <a:pPr algn="l">
              <a:buFont typeface="Arial" panose="020B0604020202020204" pitchFamily="34" charset="0"/>
              <a:buChar char="•"/>
            </a:pPr>
            <a:r>
              <a:rPr lang="en-GB" sz="2400" b="0" i="0" u="none" strike="noStrike" dirty="0">
                <a:solidFill>
                  <a:srgbClr val="FFFFFF"/>
                </a:solidFill>
                <a:effectLst/>
                <a:latin typeface="Arial" panose="020B0604020202020204" pitchFamily="34" charset="0"/>
              </a:rPr>
              <a:t>Be able to identify different types of EAs</a:t>
            </a:r>
            <a:br>
              <a:rPr lang="en-GB" sz="2400" b="0" i="0" u="none" strike="noStrike" dirty="0">
                <a:solidFill>
                  <a:srgbClr val="FFFFFF"/>
                </a:solidFill>
                <a:effectLst/>
                <a:latin typeface="Arial" panose="020B0604020202020204" pitchFamily="34" charset="0"/>
              </a:rPr>
            </a:br>
            <a:endParaRPr lang="en-GB" sz="2400" b="0" i="0" u="none" strike="noStrike" dirty="0">
              <a:solidFill>
                <a:srgbClr val="FFFFFF"/>
              </a:solidFill>
              <a:effectLst/>
              <a:latin typeface="Arial" panose="020B0604020202020204" pitchFamily="34" charset="0"/>
            </a:endParaRPr>
          </a:p>
          <a:p>
            <a:pPr algn="l">
              <a:buFont typeface="Arial" panose="020B0604020202020204" pitchFamily="34" charset="0"/>
              <a:buChar char="•"/>
            </a:pPr>
            <a:r>
              <a:rPr lang="en-GB" sz="2400" b="0" i="0" u="none" strike="noStrike" dirty="0">
                <a:solidFill>
                  <a:srgbClr val="FFFFFF"/>
                </a:solidFill>
                <a:effectLst/>
                <a:latin typeface="Arial" panose="020B0604020202020204" pitchFamily="34" charset="0"/>
              </a:rPr>
              <a:t>Understand the potential issues with the choice of representation (in particular permutation representation) in relation to the choice of genetic operators</a:t>
            </a:r>
          </a:p>
          <a:p>
            <a:pPr algn="l">
              <a:buFont typeface="Arial" panose="020B0604020202020204" pitchFamily="34" charset="0"/>
              <a:buChar char="•"/>
            </a:pPr>
            <a:endParaRPr lang="en-GB" sz="2400" b="0" i="0" u="none" strike="noStrike" dirty="0">
              <a:solidFill>
                <a:srgbClr val="FFFFFF"/>
              </a:solidFill>
              <a:effectLst/>
              <a:latin typeface="Arial" panose="020B0604020202020204" pitchFamily="34" charset="0"/>
            </a:endParaRPr>
          </a:p>
          <a:p>
            <a:pPr algn="l">
              <a:buFont typeface="Arial" panose="020B0604020202020204" pitchFamily="34" charset="0"/>
              <a:buChar char="•"/>
            </a:pPr>
            <a:r>
              <a:rPr lang="en-GB" sz="2400" b="0" i="0" u="none" strike="noStrike" dirty="0">
                <a:solidFill>
                  <a:srgbClr val="FFFFFF"/>
                </a:solidFill>
                <a:effectLst/>
                <a:latin typeface="Arial" panose="020B0604020202020204" pitchFamily="34" charset="0"/>
              </a:rPr>
              <a:t>Understand the basic components of </a:t>
            </a:r>
            <a:r>
              <a:rPr lang="en-GB" sz="2400" b="0" i="0" u="none" strike="noStrike" dirty="0" err="1">
                <a:solidFill>
                  <a:srgbClr val="FFFFFF"/>
                </a:solidFill>
                <a:effectLst/>
                <a:latin typeface="Arial" panose="020B0604020202020204" pitchFamily="34" charset="0"/>
              </a:rPr>
              <a:t>Multimeme</a:t>
            </a:r>
            <a:r>
              <a:rPr lang="en-GB" sz="2400" b="0" i="0" u="none" strike="noStrike" dirty="0">
                <a:solidFill>
                  <a:srgbClr val="FFFFFF"/>
                </a:solidFill>
                <a:effectLst/>
                <a:latin typeface="Arial" panose="020B0604020202020204" pitchFamily="34" charset="0"/>
              </a:rPr>
              <a:t> Memetic Algorithms and the concepts of self-adaptation/self-generation – learning the jargon</a:t>
            </a:r>
          </a:p>
          <a:p>
            <a:pPr algn="l">
              <a:buFont typeface="Arial" panose="020B0604020202020204" pitchFamily="34" charset="0"/>
              <a:buChar char="•"/>
            </a:pPr>
            <a:endParaRPr lang="en-GB" sz="2400" b="0" i="0" u="none" strike="noStrike" dirty="0">
              <a:solidFill>
                <a:srgbClr val="FFFFFF"/>
              </a:solidFill>
              <a:effectLst/>
              <a:latin typeface="Arial" panose="020B0604020202020204" pitchFamily="34" charset="0"/>
            </a:endParaRPr>
          </a:p>
          <a:p>
            <a:pPr algn="l">
              <a:buFont typeface="Arial" panose="020B0604020202020204" pitchFamily="34" charset="0"/>
              <a:buChar char="•"/>
            </a:pPr>
            <a:r>
              <a:rPr lang="en-GB" sz="2400" b="0" i="0" u="none" strike="noStrike" dirty="0">
                <a:solidFill>
                  <a:srgbClr val="FFFFFF"/>
                </a:solidFill>
                <a:effectLst/>
                <a:latin typeface="Arial" panose="020B0604020202020204" pitchFamily="34" charset="0"/>
              </a:rPr>
              <a:t>Be able to design and apply a Genetic/(</a:t>
            </a:r>
            <a:r>
              <a:rPr lang="en-GB" sz="2400" b="0" i="0" u="none" strike="noStrike" dirty="0" err="1">
                <a:solidFill>
                  <a:srgbClr val="FFFFFF"/>
                </a:solidFill>
                <a:effectLst/>
                <a:latin typeface="Arial" panose="020B0604020202020204" pitchFamily="34" charset="0"/>
              </a:rPr>
              <a:t>Multimeme</a:t>
            </a:r>
            <a:r>
              <a:rPr lang="en-GB" sz="2400" b="0" i="0" u="none" strike="noStrike" dirty="0">
                <a:solidFill>
                  <a:srgbClr val="FFFFFF"/>
                </a:solidFill>
                <a:effectLst/>
                <a:latin typeface="Arial" panose="020B0604020202020204" pitchFamily="34" charset="0"/>
              </a:rPr>
              <a:t>) Memetic Algorithm to an “unseen” problem</a:t>
            </a:r>
          </a:p>
          <a:p>
            <a:endParaRPr lang="en-GB" sz="2400" dirty="0"/>
          </a:p>
        </p:txBody>
      </p:sp>
    </p:spTree>
    <p:extLst>
      <p:ext uri="{BB962C8B-B14F-4D97-AF65-F5344CB8AC3E}">
        <p14:creationId xmlns:p14="http://schemas.microsoft.com/office/powerpoint/2010/main" val="3539879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type="body" idx="1"/>
          </p:nvPr>
        </p:nvSpPr>
        <p:spPr>
          <a:xfrm>
            <a:off x="968376" y="1538287"/>
            <a:ext cx="9721098" cy="4860925"/>
          </a:xfrm>
        </p:spPr>
        <p:txBody>
          <a:bodyPr/>
          <a:lstStyle/>
          <a:p>
            <a:r>
              <a:rPr lang="en-US" altLang="en-US" sz="2800" dirty="0"/>
              <a:t>When does a genetic algorithm perform better than a memetic algorithm?</a:t>
            </a:r>
          </a:p>
          <a:p>
            <a:r>
              <a:rPr lang="en-US" altLang="en-US" sz="2800" dirty="0"/>
              <a:t>Is the choice of </a:t>
            </a:r>
            <a:r>
              <a:rPr lang="en-US" altLang="en-US" sz="2800" b="1" dirty="0"/>
              <a:t>meme</a:t>
            </a:r>
            <a:r>
              <a:rPr lang="en-US" altLang="en-US" sz="2800" dirty="0"/>
              <a:t> (hill climbing/local search algorithm) important?</a:t>
            </a:r>
          </a:p>
          <a:p>
            <a:r>
              <a:rPr lang="en-US" altLang="en-US" sz="2800" dirty="0"/>
              <a:t>Which meme does have a better performance in a memetic algorithm?</a:t>
            </a:r>
          </a:p>
          <a:p>
            <a:r>
              <a:rPr lang="en-US" altLang="en-US" sz="2800" dirty="0">
                <a:solidFill>
                  <a:schemeClr val="tx2">
                    <a:lumMod val="60000"/>
                    <a:lumOff val="40000"/>
                  </a:schemeClr>
                </a:solidFill>
              </a:rPr>
              <a:t>Can we somehow combine several memes to obtain a synergy leading to improved performance?</a:t>
            </a:r>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4</a:t>
            </a:fld>
            <a:endParaRPr lang="tr-TR" altLang="en-US"/>
          </a:p>
        </p:txBody>
      </p:sp>
      <p:sp>
        <p:nvSpPr>
          <p:cNvPr id="53250" name="Rectangle 2"/>
          <p:cNvSpPr>
            <a:spLocks noGrp="1" noChangeArrowheads="1"/>
          </p:cNvSpPr>
          <p:nvPr>
            <p:ph type="title"/>
          </p:nvPr>
        </p:nvSpPr>
        <p:spPr/>
        <p:txBody>
          <a:bodyPr/>
          <a:lstStyle/>
          <a:p>
            <a:r>
              <a:rPr lang="en-US" altLang="en-US" sz="4000" dirty="0"/>
              <a:t>Questions</a:t>
            </a:r>
          </a:p>
        </p:txBody>
      </p:sp>
    </p:spTree>
    <p:custDataLst>
      <p:tags r:id="rId1"/>
    </p:custDataLst>
    <p:extLst>
      <p:ext uri="{BB962C8B-B14F-4D97-AF65-F5344CB8AC3E}">
        <p14:creationId xmlns:p14="http://schemas.microsoft.com/office/powerpoint/2010/main" val="339647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 calcmode="lin" valueType="num">
                                      <p:cBhvr>
                                        <p:cTn id="7" dur="500" fill="hold"/>
                                        <p:tgtEl>
                                          <p:spTgt spid="5325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325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3251">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3251">
                                            <p:txEl>
                                              <p:pRg st="1" end="1"/>
                                            </p:txEl>
                                          </p:spTgt>
                                        </p:tgtEl>
                                        <p:attrNameLst>
                                          <p:attrName>style.visibility</p:attrName>
                                        </p:attrNameLst>
                                      </p:cBhvr>
                                      <p:to>
                                        <p:strVal val="visible"/>
                                      </p:to>
                                    </p:set>
                                    <p:anim calcmode="lin" valueType="num">
                                      <p:cBhvr>
                                        <p:cTn id="14" dur="500" fill="hold"/>
                                        <p:tgtEl>
                                          <p:spTgt spid="53251">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53251">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53251">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53251">
                                            <p:txEl>
                                              <p:pRg st="2" end="2"/>
                                            </p:txEl>
                                          </p:spTgt>
                                        </p:tgtEl>
                                        <p:attrNameLst>
                                          <p:attrName>style.visibility</p:attrName>
                                        </p:attrNameLst>
                                      </p:cBhvr>
                                      <p:to>
                                        <p:strVal val="visible"/>
                                      </p:to>
                                    </p:set>
                                    <p:anim calcmode="lin" valueType="num">
                                      <p:cBhvr>
                                        <p:cTn id="21" dur="500" fill="hold"/>
                                        <p:tgtEl>
                                          <p:spTgt spid="53251">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53251">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5325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53251">
                                            <p:txEl>
                                              <p:pRg st="3" end="3"/>
                                            </p:txEl>
                                          </p:spTgt>
                                        </p:tgtEl>
                                        <p:attrNameLst>
                                          <p:attrName>style.visibility</p:attrName>
                                        </p:attrNameLst>
                                      </p:cBhvr>
                                      <p:to>
                                        <p:strVal val="visible"/>
                                      </p:to>
                                    </p:set>
                                    <p:anim calcmode="lin" valueType="num">
                                      <p:cBhvr>
                                        <p:cTn id="28" dur="500" fill="hold"/>
                                        <p:tgtEl>
                                          <p:spTgt spid="53251">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53251">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532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713A601-867D-6C02-64A2-13D68D364A37}"/>
              </a:ext>
            </a:extLst>
          </p:cNvPr>
          <p:cNvSpPr>
            <a:spLocks noGrp="1"/>
          </p:cNvSpPr>
          <p:nvPr>
            <p:ph type="ctrTitle"/>
          </p:nvPr>
        </p:nvSpPr>
        <p:spPr>
          <a:xfrm>
            <a:off x="427089" y="2013677"/>
            <a:ext cx="10466198" cy="874948"/>
          </a:xfrm>
        </p:spPr>
        <p:txBody>
          <a:bodyPr>
            <a:normAutofit fontScale="90000"/>
          </a:bodyPr>
          <a:lstStyle/>
          <a:p>
            <a:r>
              <a:rPr lang="en-US" altLang="en-US" dirty="0"/>
              <a:t>Benchmark Functions</a:t>
            </a:r>
            <a:endParaRPr lang="en-GB" noProof="0" dirty="0"/>
          </a:p>
        </p:txBody>
      </p:sp>
      <p:sp>
        <p:nvSpPr>
          <p:cNvPr id="13" name="Subtitle 12">
            <a:extLst>
              <a:ext uri="{FF2B5EF4-FFF2-40B4-BE49-F238E27FC236}">
                <a16:creationId xmlns:a16="http://schemas.microsoft.com/office/drawing/2014/main" id="{11F878F4-83B6-FAC2-4EE6-1B0B45EE6C6B}"/>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59495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7263" y="0"/>
            <a:ext cx="10809287" cy="900000"/>
          </a:xfrm>
        </p:spPr>
        <p:txBody>
          <a:bodyPr>
            <a:normAutofit fontScale="90000"/>
          </a:bodyPr>
          <a:lstStyle/>
          <a:p>
            <a:r>
              <a:rPr lang="en-GB" dirty="0"/>
              <a:t>Why to use benchmark (test) functions for optimisation</a:t>
            </a:r>
          </a:p>
        </p:txBody>
      </p:sp>
      <p:sp>
        <p:nvSpPr>
          <p:cNvPr id="3" name="Content Placeholder 2"/>
          <p:cNvSpPr>
            <a:spLocks noGrp="1"/>
          </p:cNvSpPr>
          <p:nvPr>
            <p:ph idx="1"/>
          </p:nvPr>
        </p:nvSpPr>
        <p:spPr>
          <a:xfrm>
            <a:off x="1172368" y="1736097"/>
            <a:ext cx="9847263" cy="4860925"/>
          </a:xfrm>
        </p:spPr>
        <p:txBody>
          <a:bodyPr/>
          <a:lstStyle/>
          <a:p>
            <a:r>
              <a:rPr lang="en-GB" sz="2400" dirty="0"/>
              <a:t>Benchmark functions serves as a testbed for performance comparison of (meta/hyper)heuristic optimisation algorithms</a:t>
            </a:r>
          </a:p>
          <a:p>
            <a:pPr lvl="1"/>
            <a:r>
              <a:rPr lang="en-GB" sz="2400" dirty="0"/>
              <a:t>Their </a:t>
            </a:r>
            <a:r>
              <a:rPr lang="en-GB" sz="2400" b="1" dirty="0"/>
              <a:t>global minimum </a:t>
            </a:r>
            <a:r>
              <a:rPr lang="en-GB" sz="2400" dirty="0"/>
              <a:t>are </a:t>
            </a:r>
            <a:r>
              <a:rPr lang="en-GB" sz="2400" b="1" dirty="0"/>
              <a:t>known</a:t>
            </a:r>
          </a:p>
          <a:p>
            <a:pPr lvl="1"/>
            <a:r>
              <a:rPr lang="en-GB" sz="2400" dirty="0"/>
              <a:t>They can be </a:t>
            </a:r>
            <a:r>
              <a:rPr lang="en-GB" sz="2400" b="1" dirty="0"/>
              <a:t>easily computed</a:t>
            </a:r>
          </a:p>
          <a:p>
            <a:pPr lvl="1"/>
            <a:r>
              <a:rPr lang="en-GB" sz="2400" dirty="0"/>
              <a:t>Each function is recognised to have certain characteristics potentially representing a different real-world problem</a:t>
            </a:r>
          </a:p>
          <a:p>
            <a:pPr lvl="2"/>
            <a:r>
              <a:rPr lang="en-GB" sz="2800" dirty="0"/>
              <a:t>E.g. ,separable vs non-separable</a:t>
            </a:r>
          </a:p>
          <a:p>
            <a:r>
              <a:rPr lang="en-GB" sz="2400" dirty="0">
                <a:hlinkClick r:id="rId3"/>
              </a:rPr>
              <a:t>COmparing Continuous Optimisers </a:t>
            </a:r>
            <a:r>
              <a:rPr lang="en-GB" sz="2400" dirty="0"/>
              <a:t>(COCO) provide benchmark function testbeds: https://numbbo.github.io/coco/</a:t>
            </a:r>
            <a:endParaRPr lang="en-GB" sz="1200" dirty="0"/>
          </a:p>
        </p:txBody>
      </p:sp>
      <p:sp>
        <p:nvSpPr>
          <p:cNvPr id="6" name="Slide Number Placeholder 5"/>
          <p:cNvSpPr>
            <a:spLocks noGrp="1"/>
          </p:cNvSpPr>
          <p:nvPr>
            <p:ph type="sldNum" sz="quarter" idx="12"/>
          </p:nvPr>
        </p:nvSpPr>
        <p:spPr/>
        <p:txBody>
          <a:bodyPr/>
          <a:lstStyle/>
          <a:p>
            <a:pPr>
              <a:defRPr/>
            </a:pPr>
            <a:fld id="{2F447EBC-305D-44C7-89E1-564E18FC1CD4}" type="slidenum">
              <a:rPr lang="en-GB" altLang="en-US" smtClean="0"/>
              <a:pPr>
                <a:defRPr/>
              </a:pPr>
              <a:t>6</a:t>
            </a:fld>
            <a:endParaRPr lang="en-GB" altLang="en-US" dirty="0"/>
          </a:p>
        </p:txBody>
      </p:sp>
      <p:pic>
        <p:nvPicPr>
          <p:cNvPr id="5" name="Picture 4">
            <a:extLst>
              <a:ext uri="{FF2B5EF4-FFF2-40B4-BE49-F238E27FC236}">
                <a16:creationId xmlns:a16="http://schemas.microsoft.com/office/drawing/2014/main" id="{A9F0A798-B8E3-9330-1AB3-9E6B9DE1D62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024632" y="4813707"/>
            <a:ext cx="3381973" cy="1723798"/>
          </a:xfrm>
          <a:prstGeom prst="rect">
            <a:avLst/>
          </a:prstGeom>
        </p:spPr>
      </p:pic>
    </p:spTree>
    <p:extLst>
      <p:ext uri="{BB962C8B-B14F-4D97-AF65-F5344CB8AC3E}">
        <p14:creationId xmlns:p14="http://schemas.microsoft.com/office/powerpoint/2010/main" val="25952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dissolv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dissolv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Classification of benchmark (test) functions</a:t>
            </a:r>
          </a:p>
        </p:txBody>
      </p:sp>
      <p:sp>
        <p:nvSpPr>
          <p:cNvPr id="3" name="Content Placeholder 2"/>
          <p:cNvSpPr>
            <a:spLocks noGrp="1"/>
          </p:cNvSpPr>
          <p:nvPr>
            <p:ph idx="1"/>
          </p:nvPr>
        </p:nvSpPr>
        <p:spPr/>
        <p:txBody>
          <a:bodyPr/>
          <a:lstStyle/>
          <a:p>
            <a:pPr marL="0" indent="0">
              <a:buNone/>
            </a:pPr>
            <a:r>
              <a:rPr lang="en-GB" sz="3200" dirty="0"/>
              <a:t>A common classification is:</a:t>
            </a:r>
          </a:p>
          <a:p>
            <a:pPr lvl="1"/>
            <a:r>
              <a:rPr lang="en-GB" sz="2800" b="1" dirty="0"/>
              <a:t>Continuity (Differentiability)</a:t>
            </a:r>
          </a:p>
          <a:p>
            <a:pPr lvl="2"/>
            <a:r>
              <a:rPr lang="en-GB" sz="2000" b="1" dirty="0"/>
              <a:t>Discontinuous</a:t>
            </a:r>
            <a:r>
              <a:rPr lang="en-GB" sz="2000" dirty="0"/>
              <a:t> vs </a:t>
            </a:r>
            <a:r>
              <a:rPr lang="en-GB" sz="2000" b="1" dirty="0"/>
              <a:t>continuous</a:t>
            </a:r>
          </a:p>
          <a:p>
            <a:pPr lvl="2"/>
            <a:endParaRPr lang="en-GB" sz="2000" b="1" dirty="0"/>
          </a:p>
          <a:p>
            <a:pPr lvl="1"/>
            <a:r>
              <a:rPr lang="en-GB" b="1" dirty="0"/>
              <a:t>Dimensionality</a:t>
            </a:r>
          </a:p>
          <a:p>
            <a:pPr lvl="2"/>
            <a:r>
              <a:rPr lang="en-GB" sz="2000" b="1" dirty="0"/>
              <a:t>Scalability</a:t>
            </a:r>
          </a:p>
          <a:p>
            <a:pPr lvl="1"/>
            <a:r>
              <a:rPr lang="en-GB" b="1" dirty="0"/>
              <a:t>Separability</a:t>
            </a:r>
          </a:p>
          <a:p>
            <a:pPr lvl="1"/>
            <a:r>
              <a:rPr lang="en-GB" sz="2800" b="1" dirty="0"/>
              <a:t>Modality</a:t>
            </a:r>
            <a:endParaRPr lang="en-GB" b="1" dirty="0"/>
          </a:p>
          <a:p>
            <a:pPr lvl="2"/>
            <a:r>
              <a:rPr lang="en-GB" sz="2000" b="1" dirty="0"/>
              <a:t>Unimodal </a:t>
            </a:r>
            <a:endParaRPr lang="en-GB" sz="2000" dirty="0"/>
          </a:p>
          <a:p>
            <a:pPr lvl="2"/>
            <a:r>
              <a:rPr lang="en-GB" sz="2000" b="1" dirty="0"/>
              <a:t>Multimodal </a:t>
            </a:r>
            <a:r>
              <a:rPr lang="en-GB" sz="2000" dirty="0"/>
              <a:t>with few local minima</a:t>
            </a:r>
          </a:p>
          <a:p>
            <a:pPr lvl="2"/>
            <a:r>
              <a:rPr lang="en-GB" sz="2000" b="1" dirty="0"/>
              <a:t>Multimodal </a:t>
            </a:r>
            <a:r>
              <a:rPr lang="en-GB" sz="2000" dirty="0"/>
              <a:t>with exponential number of local minima</a:t>
            </a:r>
          </a:p>
          <a:p>
            <a:pPr marL="457200" lvl="1" indent="0">
              <a:buNone/>
            </a:pPr>
            <a:r>
              <a:rPr lang="en-GB" sz="2800" dirty="0"/>
              <a:t>	</a:t>
            </a:r>
          </a:p>
        </p:txBody>
      </p:sp>
      <p:sp>
        <p:nvSpPr>
          <p:cNvPr id="6" name="Slide Number Placeholder 5"/>
          <p:cNvSpPr>
            <a:spLocks noGrp="1"/>
          </p:cNvSpPr>
          <p:nvPr>
            <p:ph type="sldNum" sz="quarter" idx="12"/>
          </p:nvPr>
        </p:nvSpPr>
        <p:spPr/>
        <p:txBody>
          <a:bodyPr/>
          <a:lstStyle/>
          <a:p>
            <a:pPr>
              <a:defRPr/>
            </a:pPr>
            <a:fld id="{2F447EBC-305D-44C7-89E1-564E18FC1CD4}" type="slidenum">
              <a:rPr lang="en-GB" altLang="en-US" smtClean="0"/>
              <a:pPr>
                <a:defRPr/>
              </a:pPr>
              <a:t>7</a:t>
            </a:fld>
            <a:endParaRPr lang="en-GB" altLang="en-US"/>
          </a:p>
        </p:txBody>
      </p:sp>
      <p:sp>
        <p:nvSpPr>
          <p:cNvPr id="4" name="Rectangle 3"/>
          <p:cNvSpPr/>
          <p:nvPr/>
        </p:nvSpPr>
        <p:spPr>
          <a:xfrm>
            <a:off x="2421564" y="6248400"/>
            <a:ext cx="6434472" cy="276999"/>
          </a:xfrm>
          <a:prstGeom prst="rect">
            <a:avLst/>
          </a:prstGeom>
        </p:spPr>
        <p:txBody>
          <a:bodyPr wrap="square">
            <a:spAutoFit/>
          </a:bodyPr>
          <a:lstStyle/>
          <a:p>
            <a:pPr marL="258365" lvl="1"/>
            <a:r>
              <a:rPr lang="en-GB" sz="1200" dirty="0"/>
              <a:t>A collection of </a:t>
            </a:r>
            <a:r>
              <a:rPr lang="en-GB" sz="1200" b="1" u="sng" dirty="0"/>
              <a:t>unconstrained</a:t>
            </a:r>
            <a:r>
              <a:rPr lang="en-GB" sz="1200" dirty="0"/>
              <a:t> benchmark functions: </a:t>
            </a:r>
            <a:r>
              <a:rPr lang="en-GB" sz="1200" dirty="0">
                <a:hlinkClick r:id="rId3"/>
              </a:rPr>
              <a:t>https://arxiv.org/pdf/1308.4008.pdf</a:t>
            </a:r>
            <a:r>
              <a:rPr lang="en-GB" sz="1200" dirty="0"/>
              <a:t> </a:t>
            </a:r>
          </a:p>
        </p:txBody>
      </p:sp>
      <p:pic>
        <p:nvPicPr>
          <p:cNvPr id="11" name="Picture 10">
            <a:extLst>
              <a:ext uri="{FF2B5EF4-FFF2-40B4-BE49-F238E27FC236}">
                <a16:creationId xmlns:a16="http://schemas.microsoft.com/office/drawing/2014/main" id="{98C58F4B-980F-16FD-400E-38976DE52145}"/>
              </a:ext>
            </a:extLst>
          </p:cNvPr>
          <p:cNvPicPr>
            <a:picLocks noChangeAspect="1"/>
          </p:cNvPicPr>
          <p:nvPr/>
        </p:nvPicPr>
        <p:blipFill>
          <a:blip r:embed="rId4"/>
          <a:stretch>
            <a:fillRect/>
          </a:stretch>
        </p:blipFill>
        <p:spPr>
          <a:xfrm>
            <a:off x="3394011" y="3789362"/>
            <a:ext cx="6304089" cy="461004"/>
          </a:xfrm>
          <a:prstGeom prst="rect">
            <a:avLst/>
          </a:prstGeom>
        </p:spPr>
      </p:pic>
    </p:spTree>
    <p:extLst>
      <p:ext uri="{BB962C8B-B14F-4D97-AF65-F5344CB8AC3E}">
        <p14:creationId xmlns:p14="http://schemas.microsoft.com/office/powerpoint/2010/main" val="1188707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dissolve">
                                      <p:cBhvr>
                                        <p:cTn id="20" dur="500"/>
                                        <p:tgtEl>
                                          <p:spTgt spid="3">
                                            <p:txEl>
                                              <p:pRg st="4" end="4"/>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dissolv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dissolv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dissolve">
                                      <p:cBhvr>
                                        <p:cTn id="38" dur="500"/>
                                        <p:tgtEl>
                                          <p:spTgt spid="3">
                                            <p:txEl>
                                              <p:pRg st="7" end="7"/>
                                            </p:txEl>
                                          </p:spTgt>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dissolve">
                                      <p:cBhvr>
                                        <p:cTn id="41" dur="500"/>
                                        <p:tgtEl>
                                          <p:spTgt spid="3">
                                            <p:txEl>
                                              <p:pRg st="8" end="8"/>
                                            </p:txEl>
                                          </p:spTgt>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dissolve">
                                      <p:cBhvr>
                                        <p:cTn id="44" dur="500"/>
                                        <p:tgtEl>
                                          <p:spTgt spid="3">
                                            <p:txEl>
                                              <p:pRg st="9" end="9"/>
                                            </p:txEl>
                                          </p:spTgt>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dissolv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dissolve">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6859" y="-444"/>
            <a:ext cx="11114305" cy="900000"/>
          </a:xfrm>
        </p:spPr>
        <p:txBody>
          <a:bodyPr>
            <a:normAutofit fontScale="90000"/>
          </a:bodyPr>
          <a:lstStyle/>
          <a:p>
            <a:r>
              <a:rPr lang="en-GB" dirty="0"/>
              <a:t>Example – unimodal function: Sphere function</a:t>
            </a:r>
          </a:p>
        </p:txBody>
      </p:sp>
      <p:sp>
        <p:nvSpPr>
          <p:cNvPr id="13" name="Slide Number Placeholder 12"/>
          <p:cNvSpPr>
            <a:spLocks noGrp="1"/>
          </p:cNvSpPr>
          <p:nvPr>
            <p:ph type="sldNum" sz="quarter" idx="12"/>
          </p:nvPr>
        </p:nvSpPr>
        <p:spPr/>
        <p:txBody>
          <a:bodyPr/>
          <a:lstStyle/>
          <a:p>
            <a:pPr>
              <a:defRPr/>
            </a:pPr>
            <a:fld id="{2F447EBC-305D-44C7-89E1-564E18FC1CD4}" type="slidenum">
              <a:rPr lang="en-GB" altLang="en-US" smtClean="0"/>
              <a:pPr>
                <a:defRPr/>
              </a:pPr>
              <a:t>8</a:t>
            </a:fld>
            <a:endParaRPr lang="en-GB" altLang="en-US"/>
          </a:p>
        </p:txBody>
      </p:sp>
      <p:sp>
        <p:nvSpPr>
          <p:cNvPr id="8" name="TextBox 7"/>
          <p:cNvSpPr txBox="1"/>
          <p:nvPr/>
        </p:nvSpPr>
        <p:spPr>
          <a:xfrm>
            <a:off x="7855562" y="2726924"/>
            <a:ext cx="2539801" cy="1569660"/>
          </a:xfrm>
          <a:prstGeom prst="rect">
            <a:avLst/>
          </a:prstGeom>
          <a:noFill/>
        </p:spPr>
        <p:txBody>
          <a:bodyPr wrap="square" rtlCol="0">
            <a:spAutoFit/>
          </a:bodyPr>
          <a:lstStyle/>
          <a:p>
            <a:pPr marL="342900" indent="-342900">
              <a:buFont typeface="Arial" panose="020B0604020202020204" pitchFamily="34" charset="0"/>
              <a:buChar char="•"/>
            </a:pPr>
            <a:r>
              <a:rPr lang="en-GB" sz="2400" dirty="0"/>
              <a:t>continuous</a:t>
            </a:r>
          </a:p>
          <a:p>
            <a:pPr marL="342900" indent="-342900">
              <a:buFont typeface="Arial" panose="020B0604020202020204" pitchFamily="34" charset="0"/>
              <a:buChar char="•"/>
            </a:pPr>
            <a:r>
              <a:rPr lang="en-GB" sz="2400" dirty="0"/>
              <a:t>differentiable</a:t>
            </a:r>
          </a:p>
          <a:p>
            <a:pPr marL="342900" indent="-342900">
              <a:buFont typeface="Arial" panose="020B0604020202020204" pitchFamily="34" charset="0"/>
              <a:buChar char="•"/>
            </a:pPr>
            <a:r>
              <a:rPr lang="en-GB" sz="2400" dirty="0"/>
              <a:t>separable</a:t>
            </a:r>
          </a:p>
          <a:p>
            <a:pPr marL="342900" indent="-342900">
              <a:buFont typeface="Arial" panose="020B0604020202020204" pitchFamily="34" charset="0"/>
              <a:buChar char="•"/>
            </a:pPr>
            <a:r>
              <a:rPr lang="en-GB" sz="2400" dirty="0"/>
              <a:t>scalable</a:t>
            </a:r>
          </a:p>
        </p:txBody>
      </p:sp>
      <p:pic>
        <p:nvPicPr>
          <p:cNvPr id="11" name="Picture 10"/>
          <p:cNvPicPr>
            <a:picLocks noChangeAspect="1"/>
          </p:cNvPicPr>
          <p:nvPr/>
        </p:nvPicPr>
        <p:blipFill>
          <a:blip r:embed="rId3"/>
          <a:stretch>
            <a:fillRect/>
          </a:stretch>
        </p:blipFill>
        <p:spPr>
          <a:xfrm>
            <a:off x="3634596" y="2146677"/>
            <a:ext cx="2171700" cy="342900"/>
          </a:xfrm>
          <a:prstGeom prst="rect">
            <a:avLst/>
          </a:prstGeom>
          <a:ln>
            <a:solidFill>
              <a:srgbClr val="FF0000"/>
            </a:solidFill>
          </a:ln>
        </p:spPr>
      </p:pic>
      <p:grpSp>
        <p:nvGrpSpPr>
          <p:cNvPr id="15" name="Group 14" descr="2D sphere function where x and y chnages in between -5.12 and 5.12"/>
          <p:cNvGrpSpPr/>
          <p:nvPr/>
        </p:nvGrpSpPr>
        <p:grpSpPr>
          <a:xfrm>
            <a:off x="1848156" y="2510900"/>
            <a:ext cx="4839423" cy="3016355"/>
            <a:chOff x="134369" y="2204864"/>
            <a:chExt cx="6452564" cy="4021807"/>
          </a:xfrm>
        </p:grpSpPr>
        <p:grpSp>
          <p:nvGrpSpPr>
            <p:cNvPr id="10" name="Group 9"/>
            <p:cNvGrpSpPr/>
            <p:nvPr/>
          </p:nvGrpSpPr>
          <p:grpSpPr>
            <a:xfrm>
              <a:off x="1547664" y="2204864"/>
              <a:ext cx="5039269" cy="4021807"/>
              <a:chOff x="1835696" y="2204864"/>
              <a:chExt cx="5039269" cy="4021807"/>
            </a:xfrm>
          </p:grpSpPr>
          <p:pic>
            <p:nvPicPr>
              <p:cNvPr id="1026" name="Picture 2"/>
              <p:cNvPicPr>
                <a:picLocks noChangeAspect="1" noChangeArrowheads="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1979712" y="2420888"/>
                <a:ext cx="4895253" cy="38057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5143872" y="2204864"/>
                <a:ext cx="1368152"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1835696" y="2276872"/>
                <a:ext cx="1368152"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TextBox 6"/>
            <p:cNvSpPr txBox="1"/>
            <p:nvPr/>
          </p:nvSpPr>
          <p:spPr>
            <a:xfrm>
              <a:off x="467544" y="3789040"/>
              <a:ext cx="1152128" cy="492443"/>
            </a:xfrm>
            <a:prstGeom prst="rect">
              <a:avLst/>
            </a:prstGeom>
            <a:noFill/>
          </p:spPr>
          <p:txBody>
            <a:bodyPr wrap="square" rtlCol="0">
              <a:spAutoFit/>
            </a:bodyPr>
            <a:lstStyle/>
            <a:p>
              <a:r>
                <a:rPr lang="en-GB" i="1" dirty="0">
                  <a:latin typeface="Times New Roman" panose="02020603050405020304" pitchFamily="18" charset="0"/>
                  <a:cs typeface="Times New Roman" panose="02020603050405020304" pitchFamily="18" charset="0"/>
                </a:rPr>
                <a:t>n </a:t>
              </a:r>
              <a:r>
                <a:rPr lang="en-GB" dirty="0">
                  <a:latin typeface="Times New Roman" panose="02020603050405020304" pitchFamily="18" charset="0"/>
                  <a:cs typeface="Times New Roman" panose="02020603050405020304" pitchFamily="18" charset="0"/>
                </a:rPr>
                <a:t>= 2</a:t>
              </a:r>
            </a:p>
          </p:txBody>
        </p:sp>
        <p:pic>
          <p:nvPicPr>
            <p:cNvPr id="12" name="Picture 11"/>
            <p:cNvPicPr>
              <a:picLocks noChangeAspect="1"/>
            </p:cNvPicPr>
            <p:nvPr/>
          </p:nvPicPr>
          <p:blipFill>
            <a:blip r:embed="rId5"/>
            <a:stretch>
              <a:fillRect/>
            </a:stretch>
          </p:blipFill>
          <p:spPr>
            <a:xfrm>
              <a:off x="134369" y="4519414"/>
              <a:ext cx="1762125" cy="342900"/>
            </a:xfrm>
            <a:prstGeom prst="rect">
              <a:avLst/>
            </a:prstGeom>
            <a:ln>
              <a:solidFill>
                <a:srgbClr val="FF0000"/>
              </a:solidFill>
            </a:ln>
          </p:spPr>
        </p:pic>
      </p:grpSp>
      <p:pic>
        <p:nvPicPr>
          <p:cNvPr id="5" name="Picture 4"/>
          <p:cNvPicPr>
            <a:picLocks noChangeAspect="1"/>
          </p:cNvPicPr>
          <p:nvPr/>
        </p:nvPicPr>
        <p:blipFill>
          <a:blip r:embed="rId6"/>
          <a:stretch>
            <a:fillRect/>
          </a:stretch>
        </p:blipFill>
        <p:spPr>
          <a:xfrm>
            <a:off x="2337594" y="2082497"/>
            <a:ext cx="1028700" cy="514350"/>
          </a:xfrm>
          <a:prstGeom prst="rect">
            <a:avLst/>
          </a:prstGeom>
          <a:ln>
            <a:solidFill>
              <a:srgbClr val="FF0000"/>
            </a:solidFill>
          </a:ln>
        </p:spPr>
      </p:pic>
    </p:spTree>
    <p:custDataLst>
      <p:tags r:id="rId1"/>
    </p:custDataLst>
    <p:extLst>
      <p:ext uri="{BB962C8B-B14F-4D97-AF65-F5344CB8AC3E}">
        <p14:creationId xmlns:p14="http://schemas.microsoft.com/office/powerpoint/2010/main" val="5518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dissolv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dissolve">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dissolve">
                                      <p:cBhvr>
                                        <p:cTn id="22" dur="5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dissolve">
                                      <p:cBhvr>
                                        <p:cTn id="27"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Delta Evaluation in Function Optimisation</a:t>
            </a:r>
          </a:p>
        </p:txBody>
      </p:sp>
      <p:sp>
        <p:nvSpPr>
          <p:cNvPr id="3" name="Content Placeholder 2"/>
          <p:cNvSpPr>
            <a:spLocks noGrp="1"/>
          </p:cNvSpPr>
          <p:nvPr>
            <p:ph idx="1"/>
          </p:nvPr>
        </p:nvSpPr>
        <p:spPr/>
        <p:txBody>
          <a:bodyPr/>
          <a:lstStyle/>
          <a:p>
            <a:r>
              <a:rPr lang="en-GB" dirty="0"/>
              <a:t>Separable functions allows delta evaluation</a:t>
            </a:r>
          </a:p>
          <a:p>
            <a:r>
              <a:rPr lang="en-GB" dirty="0"/>
              <a:t>Example, sphere function</a:t>
            </a:r>
          </a:p>
          <a:p>
            <a:pPr marL="0" indent="0">
              <a:buNone/>
            </a:pPr>
            <a:endParaRPr lang="en-GB" dirty="0"/>
          </a:p>
          <a:p>
            <a:pPr marL="0" indent="0">
              <a:buNone/>
            </a:pPr>
            <a:r>
              <a:rPr lang="en-GB" dirty="0"/>
              <a:t>             </a:t>
            </a:r>
            <a:r>
              <a:rPr lang="en-GB" i="1" dirty="0"/>
              <a:t>x</a:t>
            </a:r>
            <a:r>
              <a:rPr lang="en-GB" baseline="-25000" dirty="0"/>
              <a:t>43			                 </a:t>
            </a:r>
            <a:r>
              <a:rPr lang="en-GB" i="1" dirty="0"/>
              <a:t>x</a:t>
            </a:r>
            <a:r>
              <a:rPr lang="en-GB" baseline="-25000" dirty="0"/>
              <a:t>43</a:t>
            </a:r>
          </a:p>
          <a:p>
            <a:pPr marL="0" indent="0">
              <a:buNone/>
            </a:pPr>
            <a:r>
              <a:rPr lang="en-GB" i="1" dirty="0"/>
              <a:t>   x</a:t>
            </a:r>
            <a:r>
              <a:rPr lang="en-GB" baseline="-25000" dirty="0"/>
              <a:t>1</a:t>
            </a:r>
            <a:r>
              <a:rPr lang="en-GB" dirty="0"/>
              <a:t>   … 6 …   </a:t>
            </a:r>
            <a:r>
              <a:rPr lang="en-GB" dirty="0" err="1"/>
              <a:t>x</a:t>
            </a:r>
            <a:r>
              <a:rPr lang="en-GB" i="1" baseline="-25000" dirty="0" err="1"/>
              <a:t>n</a:t>
            </a:r>
            <a:r>
              <a:rPr lang="en-GB" dirty="0"/>
              <a:t>    </a:t>
            </a:r>
            <a:r>
              <a:rPr lang="en-GB" dirty="0">
                <a:sym typeface="Symbol" panose="05050102010706020507" pitchFamily="18" charset="2"/>
              </a:rPr>
              <a:t>     </a:t>
            </a:r>
            <a:r>
              <a:rPr lang="en-GB" i="1" dirty="0"/>
              <a:t>x</a:t>
            </a:r>
            <a:r>
              <a:rPr lang="en-GB" baseline="-25000" dirty="0"/>
              <a:t>1</a:t>
            </a:r>
            <a:r>
              <a:rPr lang="en-GB" dirty="0"/>
              <a:t>   … 5 …   </a:t>
            </a:r>
            <a:r>
              <a:rPr lang="en-GB" i="1" dirty="0" err="1"/>
              <a:t>x</a:t>
            </a:r>
            <a:r>
              <a:rPr lang="en-GB" i="1" baseline="-25000" dirty="0" err="1"/>
              <a:t>n</a:t>
            </a:r>
            <a:r>
              <a:rPr lang="en-GB" dirty="0"/>
              <a:t> </a:t>
            </a:r>
          </a:p>
          <a:p>
            <a:pPr marL="0" indent="0">
              <a:buNone/>
            </a:pPr>
            <a:endParaRPr lang="en-GB" dirty="0"/>
          </a:p>
          <a:p>
            <a:pPr marL="0" indent="0">
              <a:buNone/>
            </a:pPr>
            <a:endParaRPr lang="en-GB" sz="700" dirty="0"/>
          </a:p>
          <a:p>
            <a:pPr marL="0" indent="0">
              <a:buNone/>
            </a:pPr>
            <a:r>
              <a:rPr lang="en-GB" dirty="0"/>
              <a:t>        </a:t>
            </a:r>
            <a:r>
              <a:rPr lang="en-GB" sz="2400" i="1" dirty="0"/>
              <a:t>f</a:t>
            </a:r>
            <a:r>
              <a:rPr lang="en-GB" sz="2400" dirty="0"/>
              <a:t>(</a:t>
            </a:r>
            <a:r>
              <a:rPr lang="en-GB" sz="2400" i="1" dirty="0"/>
              <a:t>s</a:t>
            </a:r>
            <a:r>
              <a:rPr lang="en-GB" sz="2400" dirty="0"/>
              <a:t>) = </a:t>
            </a:r>
            <a:r>
              <a:rPr lang="en-GB" sz="2400" dirty="0">
                <a:sym typeface="Symbol"/>
              </a:rPr>
              <a:t>          </a:t>
            </a:r>
            <a:r>
              <a:rPr lang="en-GB" dirty="0">
                <a:sym typeface="Symbol" panose="05050102010706020507" pitchFamily="18" charset="2"/>
              </a:rPr>
              <a:t>       </a:t>
            </a:r>
            <a:r>
              <a:rPr lang="en-GB" sz="2100" i="1" dirty="0"/>
              <a:t>f</a:t>
            </a:r>
            <a:r>
              <a:rPr lang="en-GB" sz="2100" dirty="0"/>
              <a:t>(</a:t>
            </a:r>
            <a:r>
              <a:rPr lang="en-GB" sz="2100" i="1" dirty="0"/>
              <a:t>s'</a:t>
            </a:r>
            <a:r>
              <a:rPr lang="en-GB" sz="2100" dirty="0"/>
              <a:t>) = </a:t>
            </a:r>
            <a:r>
              <a:rPr lang="en-GB" sz="2400" dirty="0">
                <a:sym typeface="Symbol"/>
              </a:rPr>
              <a:t> +  </a:t>
            </a:r>
          </a:p>
          <a:p>
            <a:pPr marL="0" indent="0">
              <a:buNone/>
            </a:pPr>
            <a:r>
              <a:rPr lang="en-GB" sz="2400" dirty="0">
                <a:sym typeface="Symbol"/>
              </a:rPr>
              <a:t>                                                     (5</a:t>
            </a:r>
            <a:r>
              <a:rPr lang="en-GB" sz="2400" baseline="30000" dirty="0">
                <a:sym typeface="Symbol"/>
              </a:rPr>
              <a:t>2 </a:t>
            </a:r>
            <a:r>
              <a:rPr lang="en-GB" sz="2400" dirty="0">
                <a:sym typeface="Symbol"/>
              </a:rPr>
              <a:t>- 6</a:t>
            </a:r>
            <a:r>
              <a:rPr lang="en-GB" sz="2400" baseline="30000" dirty="0">
                <a:sym typeface="Symbol"/>
              </a:rPr>
              <a:t>2</a:t>
            </a:r>
            <a:r>
              <a:rPr lang="en-GB" sz="2400" dirty="0">
                <a:sym typeface="Symbol"/>
              </a:rPr>
              <a:t>)</a:t>
            </a:r>
            <a:r>
              <a:rPr lang="en-GB" dirty="0">
                <a:sym typeface="Symbol"/>
              </a:rPr>
              <a:t>      </a:t>
            </a:r>
            <a:endParaRPr lang="en-GB" dirty="0"/>
          </a:p>
        </p:txBody>
      </p:sp>
      <p:sp>
        <p:nvSpPr>
          <p:cNvPr id="7" name="Slide Number Placeholder 6"/>
          <p:cNvSpPr>
            <a:spLocks noGrp="1"/>
          </p:cNvSpPr>
          <p:nvPr>
            <p:ph type="sldNum" sz="quarter" idx="12"/>
          </p:nvPr>
        </p:nvSpPr>
        <p:spPr/>
        <p:txBody>
          <a:bodyPr/>
          <a:lstStyle/>
          <a:p>
            <a:pPr>
              <a:defRPr/>
            </a:pPr>
            <a:fld id="{2F447EBC-305D-44C7-89E1-564E18FC1CD4}" type="slidenum">
              <a:rPr lang="en-GB" altLang="en-US" smtClean="0"/>
              <a:pPr>
                <a:defRPr/>
              </a:pPr>
              <a:t>9</a:t>
            </a:fld>
            <a:endParaRPr lang="en-GB" altLang="en-US"/>
          </a:p>
        </p:txBody>
      </p:sp>
      <p:pic>
        <p:nvPicPr>
          <p:cNvPr id="5" name="Picture 4"/>
          <p:cNvPicPr>
            <a:picLocks noChangeAspect="1"/>
          </p:cNvPicPr>
          <p:nvPr/>
        </p:nvPicPr>
        <p:blipFill>
          <a:blip r:embed="rId3"/>
          <a:stretch>
            <a:fillRect/>
          </a:stretch>
        </p:blipFill>
        <p:spPr>
          <a:xfrm>
            <a:off x="7534221" y="1993233"/>
            <a:ext cx="1647469" cy="823735"/>
          </a:xfrm>
          <a:prstGeom prst="rect">
            <a:avLst/>
          </a:prstGeom>
          <a:ln>
            <a:solidFill>
              <a:srgbClr val="FF0000"/>
            </a:solidFill>
          </a:ln>
        </p:spPr>
      </p:pic>
      <p:sp>
        <p:nvSpPr>
          <p:cNvPr id="9" name="Rectangle 8"/>
          <p:cNvSpPr/>
          <p:nvPr/>
        </p:nvSpPr>
        <p:spPr>
          <a:xfrm>
            <a:off x="2114154" y="4617600"/>
            <a:ext cx="273152" cy="415498"/>
          </a:xfrm>
          <a:prstGeom prst="rect">
            <a:avLst/>
          </a:prstGeom>
        </p:spPr>
        <p:txBody>
          <a:bodyPr wrap="square">
            <a:spAutoFit/>
          </a:bodyPr>
          <a:lstStyle/>
          <a:p>
            <a:r>
              <a:rPr lang="en-GB" sz="2100" i="1" u="sng" dirty="0"/>
              <a:t>s</a:t>
            </a:r>
            <a:endParaRPr lang="en-GB" sz="2100" u="sng" dirty="0"/>
          </a:p>
        </p:txBody>
      </p:sp>
      <p:sp>
        <p:nvSpPr>
          <p:cNvPr id="10" name="Rectangle 9"/>
          <p:cNvSpPr/>
          <p:nvPr/>
        </p:nvSpPr>
        <p:spPr>
          <a:xfrm>
            <a:off x="5954581" y="4629480"/>
            <a:ext cx="644990" cy="415498"/>
          </a:xfrm>
          <a:prstGeom prst="rect">
            <a:avLst/>
          </a:prstGeom>
        </p:spPr>
        <p:txBody>
          <a:bodyPr wrap="square">
            <a:spAutoFit/>
          </a:bodyPr>
          <a:lstStyle/>
          <a:p>
            <a:r>
              <a:rPr lang="en-GB" sz="2100" i="1" u="sng" dirty="0"/>
              <a:t>s'</a:t>
            </a:r>
            <a:endParaRPr lang="en-GB" sz="2100" u="sng" dirty="0"/>
          </a:p>
        </p:txBody>
      </p:sp>
      <p:sp>
        <p:nvSpPr>
          <p:cNvPr id="6" name="Right Brace 5">
            <a:extLst>
              <a:ext uri="{FF2B5EF4-FFF2-40B4-BE49-F238E27FC236}">
                <a16:creationId xmlns:a16="http://schemas.microsoft.com/office/drawing/2014/main" id="{1E63A833-7EAA-F494-1570-0472D0499170}"/>
              </a:ext>
            </a:extLst>
          </p:cNvPr>
          <p:cNvSpPr/>
          <p:nvPr/>
        </p:nvSpPr>
        <p:spPr>
          <a:xfrm rot="5400000">
            <a:off x="2106662" y="3047191"/>
            <a:ext cx="288136" cy="2876441"/>
          </a:xfrm>
          <a:prstGeom prst="rightBrace">
            <a:avLst>
              <a:gd name="adj1" fmla="val 53668"/>
              <a:gd name="adj2" fmla="val 49092"/>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8" name="Right Brace 7">
            <a:extLst>
              <a:ext uri="{FF2B5EF4-FFF2-40B4-BE49-F238E27FC236}">
                <a16:creationId xmlns:a16="http://schemas.microsoft.com/office/drawing/2014/main" id="{1087AA88-1959-FFEC-86F0-B317C8CB1502}"/>
              </a:ext>
            </a:extLst>
          </p:cNvPr>
          <p:cNvSpPr/>
          <p:nvPr/>
        </p:nvSpPr>
        <p:spPr>
          <a:xfrm rot="5400000">
            <a:off x="5951932" y="3080176"/>
            <a:ext cx="288136" cy="2876441"/>
          </a:xfrm>
          <a:prstGeom prst="rightBrace">
            <a:avLst>
              <a:gd name="adj1" fmla="val 53668"/>
              <a:gd name="adj2" fmla="val 49092"/>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Tree>
    <p:custDataLst>
      <p:tags r:id="rId1"/>
    </p:custDataLst>
    <p:extLst>
      <p:ext uri="{BB962C8B-B14F-4D97-AF65-F5344CB8AC3E}">
        <p14:creationId xmlns:p14="http://schemas.microsoft.com/office/powerpoint/2010/main" val="2587169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500"/>
                                        <p:tgtEl>
                                          <p:spTgt spid="3">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8" end="8"/>
                                            </p:txEl>
                                          </p:spTgt>
                                        </p:tgtEl>
                                        <p:attrNameLst>
                                          <p:attrName>style.visibility</p:attrName>
                                        </p:attrNameLst>
                                      </p:cBhvr>
                                      <p:to>
                                        <p:strVal val="visible"/>
                                      </p:to>
                                    </p:set>
                                    <p:animEffect transition="in" filter="fade">
                                      <p:cBhvr>
                                        <p:cTn id="1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Example – unimodal function:</a:t>
            </a:r>
            <a:br>
              <a:rPr lang="en-GB" dirty="0"/>
            </a:br>
            <a:r>
              <a:rPr lang="en-GB" dirty="0"/>
              <a:t>Step function </a:t>
            </a:r>
          </a:p>
        </p:txBody>
      </p:sp>
      <p:sp>
        <p:nvSpPr>
          <p:cNvPr id="5" name="Slide Number Placeholder 4"/>
          <p:cNvSpPr>
            <a:spLocks noGrp="1"/>
          </p:cNvSpPr>
          <p:nvPr>
            <p:ph type="sldNum" sz="quarter" idx="12"/>
          </p:nvPr>
        </p:nvSpPr>
        <p:spPr/>
        <p:txBody>
          <a:bodyPr/>
          <a:lstStyle/>
          <a:p>
            <a:pPr>
              <a:defRPr/>
            </a:pPr>
            <a:fld id="{2F447EBC-305D-44C7-89E1-564E18FC1CD4}" type="slidenum">
              <a:rPr lang="en-GB" altLang="en-US" smtClean="0"/>
              <a:pPr>
                <a:defRPr/>
              </a:pPr>
              <a:t>10</a:t>
            </a:fld>
            <a:endParaRPr lang="en-GB" altLang="en-US"/>
          </a:p>
        </p:txBody>
      </p:sp>
      <p:sp>
        <p:nvSpPr>
          <p:cNvPr id="8" name="TextBox 7"/>
          <p:cNvSpPr txBox="1"/>
          <p:nvPr/>
        </p:nvSpPr>
        <p:spPr>
          <a:xfrm>
            <a:off x="7731261" y="2691748"/>
            <a:ext cx="3121618" cy="1569660"/>
          </a:xfrm>
          <a:prstGeom prst="rect">
            <a:avLst/>
          </a:prstGeom>
          <a:noFill/>
        </p:spPr>
        <p:txBody>
          <a:bodyPr wrap="square" rtlCol="0">
            <a:spAutoFit/>
          </a:bodyPr>
          <a:lstStyle/>
          <a:p>
            <a:pPr marL="342900" indent="-342900">
              <a:buFont typeface="Arial" panose="020B0604020202020204" pitchFamily="34" charset="0"/>
              <a:buChar char="•"/>
            </a:pPr>
            <a:r>
              <a:rPr lang="en-GB" sz="2400" dirty="0"/>
              <a:t>discontinuous</a:t>
            </a:r>
          </a:p>
          <a:p>
            <a:pPr marL="342900" indent="-342900">
              <a:buFont typeface="Arial" panose="020B0604020202020204" pitchFamily="34" charset="0"/>
              <a:buChar char="•"/>
            </a:pPr>
            <a:r>
              <a:rPr lang="en-GB" sz="2400" dirty="0"/>
              <a:t>Non-differentiable</a:t>
            </a:r>
          </a:p>
          <a:p>
            <a:pPr marL="342900" indent="-342900">
              <a:buFont typeface="Arial" panose="020B0604020202020204" pitchFamily="34" charset="0"/>
              <a:buChar char="•"/>
            </a:pPr>
            <a:r>
              <a:rPr lang="en-GB" sz="2400" dirty="0"/>
              <a:t>separable</a:t>
            </a:r>
          </a:p>
          <a:p>
            <a:pPr marL="342900" indent="-342900">
              <a:buFont typeface="Arial" panose="020B0604020202020204" pitchFamily="34" charset="0"/>
              <a:buChar char="•"/>
            </a:pPr>
            <a:r>
              <a:rPr lang="en-GB" sz="2400" dirty="0"/>
              <a:t>scalable</a:t>
            </a:r>
          </a:p>
        </p:txBody>
      </p:sp>
      <p:pic>
        <p:nvPicPr>
          <p:cNvPr id="11" name="Picture 10"/>
          <p:cNvPicPr>
            <a:picLocks noChangeAspect="1"/>
          </p:cNvPicPr>
          <p:nvPr/>
        </p:nvPicPr>
        <p:blipFill>
          <a:blip r:embed="rId4"/>
          <a:stretch>
            <a:fillRect/>
          </a:stretch>
        </p:blipFill>
        <p:spPr>
          <a:xfrm>
            <a:off x="4513694" y="2132744"/>
            <a:ext cx="2171700" cy="342900"/>
          </a:xfrm>
          <a:prstGeom prst="rect">
            <a:avLst/>
          </a:prstGeom>
          <a:ln>
            <a:solidFill>
              <a:srgbClr val="FF0000"/>
            </a:solidFill>
          </a:ln>
        </p:spPr>
      </p:pic>
      <p:grpSp>
        <p:nvGrpSpPr>
          <p:cNvPr id="3085" name="Group 3084"/>
          <p:cNvGrpSpPr/>
          <p:nvPr/>
        </p:nvGrpSpPr>
        <p:grpSpPr>
          <a:xfrm>
            <a:off x="2471957" y="2688378"/>
            <a:ext cx="4380245" cy="2713802"/>
            <a:chOff x="387857" y="2441504"/>
            <a:chExt cx="5840327" cy="3618402"/>
          </a:xfrm>
        </p:grpSpPr>
        <p:grpSp>
          <p:nvGrpSpPr>
            <p:cNvPr id="3082" name="Group 3081"/>
            <p:cNvGrpSpPr/>
            <p:nvPr/>
          </p:nvGrpSpPr>
          <p:grpSpPr>
            <a:xfrm>
              <a:off x="395536" y="2441504"/>
              <a:ext cx="5832648" cy="3618402"/>
              <a:chOff x="395536" y="2441504"/>
              <a:chExt cx="5832648" cy="3618402"/>
            </a:xfrm>
          </p:grpSpPr>
          <p:sp>
            <p:nvSpPr>
              <p:cNvPr id="7" name="TextBox 6"/>
              <p:cNvSpPr txBox="1"/>
              <p:nvPr/>
            </p:nvSpPr>
            <p:spPr>
              <a:xfrm>
                <a:off x="467544" y="3789040"/>
                <a:ext cx="1152128" cy="492443"/>
              </a:xfrm>
              <a:prstGeom prst="rect">
                <a:avLst/>
              </a:prstGeom>
              <a:noFill/>
            </p:spPr>
            <p:txBody>
              <a:bodyPr wrap="square" rtlCol="0">
                <a:spAutoFit/>
              </a:bodyPr>
              <a:lstStyle/>
              <a:p>
                <a:r>
                  <a:rPr lang="en-GB" i="1" dirty="0">
                    <a:latin typeface="Times New Roman" panose="02020603050405020304" pitchFamily="18" charset="0"/>
                    <a:cs typeface="Times New Roman" panose="02020603050405020304" pitchFamily="18" charset="0"/>
                  </a:rPr>
                  <a:t>n </a:t>
                </a:r>
                <a:r>
                  <a:rPr lang="en-GB" dirty="0">
                    <a:latin typeface="Times New Roman" panose="02020603050405020304" pitchFamily="18" charset="0"/>
                    <a:cs typeface="Times New Roman" panose="02020603050405020304" pitchFamily="18" charset="0"/>
                  </a:rPr>
                  <a:t>= 1</a:t>
                </a:r>
              </a:p>
            </p:txBody>
          </p:sp>
          <p:grpSp>
            <p:nvGrpSpPr>
              <p:cNvPr id="12" name="Group 11"/>
              <p:cNvGrpSpPr/>
              <p:nvPr/>
            </p:nvGrpSpPr>
            <p:grpSpPr>
              <a:xfrm>
                <a:off x="1403648" y="2441504"/>
                <a:ext cx="4824536" cy="3618402"/>
                <a:chOff x="1403648" y="2441504"/>
                <a:chExt cx="4824536" cy="3618402"/>
              </a:xfrm>
            </p:grpSpPr>
            <p:pic>
              <p:nvPicPr>
                <p:cNvPr id="3074" name="Picture 2" descr="Image result for step function picture"/>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1403648" y="2441504"/>
                  <a:ext cx="4824536" cy="3618402"/>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p:nvSpPr>
              <p:spPr>
                <a:xfrm>
                  <a:off x="1671132" y="4723983"/>
                  <a:ext cx="1656184" cy="12252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81" name="Group 3080"/>
              <p:cNvGrpSpPr/>
              <p:nvPr/>
            </p:nvGrpSpPr>
            <p:grpSpPr>
              <a:xfrm>
                <a:off x="395536" y="4974045"/>
                <a:ext cx="1944216" cy="532539"/>
                <a:chOff x="395536" y="4974045"/>
                <a:chExt cx="1944216" cy="532539"/>
              </a:xfrm>
            </p:grpSpPr>
            <p:grpSp>
              <p:nvGrpSpPr>
                <p:cNvPr id="3080" name="Group 3079"/>
                <p:cNvGrpSpPr/>
                <p:nvPr/>
              </p:nvGrpSpPr>
              <p:grpSpPr>
                <a:xfrm>
                  <a:off x="715701" y="5061271"/>
                  <a:ext cx="1460256" cy="409575"/>
                  <a:chOff x="715701" y="5061271"/>
                  <a:chExt cx="1460256" cy="409575"/>
                </a:xfrm>
              </p:grpSpPr>
              <p:pic>
                <p:nvPicPr>
                  <p:cNvPr id="23" name="Picture 22"/>
                  <p:cNvPicPr>
                    <a:picLocks noChangeAspect="1"/>
                  </p:cNvPicPr>
                  <p:nvPr/>
                </p:nvPicPr>
                <p:blipFill>
                  <a:blip r:embed="rId6"/>
                  <a:stretch>
                    <a:fillRect/>
                  </a:stretch>
                </p:blipFill>
                <p:spPr>
                  <a:xfrm>
                    <a:off x="715701" y="5061271"/>
                    <a:ext cx="457200" cy="409575"/>
                  </a:xfrm>
                  <a:prstGeom prst="rect">
                    <a:avLst/>
                  </a:prstGeom>
                </p:spPr>
              </p:pic>
              <p:pic>
                <p:nvPicPr>
                  <p:cNvPr id="22" name="Picture 21"/>
                  <p:cNvPicPr>
                    <a:picLocks noChangeAspect="1"/>
                  </p:cNvPicPr>
                  <p:nvPr/>
                </p:nvPicPr>
                <p:blipFill>
                  <a:blip r:embed="rId7"/>
                  <a:stretch>
                    <a:fillRect/>
                  </a:stretch>
                </p:blipFill>
                <p:spPr>
                  <a:xfrm>
                    <a:off x="1166307" y="5080322"/>
                    <a:ext cx="1009650" cy="371475"/>
                  </a:xfrm>
                  <a:prstGeom prst="rect">
                    <a:avLst/>
                  </a:prstGeom>
                </p:spPr>
              </p:pic>
            </p:grpSp>
            <p:sp>
              <p:nvSpPr>
                <p:cNvPr id="27" name="Rectangle 26"/>
                <p:cNvSpPr/>
                <p:nvPr/>
              </p:nvSpPr>
              <p:spPr>
                <a:xfrm>
                  <a:off x="395536" y="4974045"/>
                  <a:ext cx="1944216" cy="53253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6" name="Rectangle 5"/>
            <p:cNvSpPr/>
            <p:nvPr/>
          </p:nvSpPr>
          <p:spPr>
            <a:xfrm>
              <a:off x="3491880" y="4077072"/>
              <a:ext cx="216024" cy="2751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3244786" y="4494831"/>
              <a:ext cx="405961" cy="1042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9" name="Straight Connector 28"/>
            <p:cNvCxnSpPr/>
            <p:nvPr/>
          </p:nvCxnSpPr>
          <p:spPr>
            <a:xfrm>
              <a:off x="3175270" y="4528735"/>
              <a:ext cx="504056"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3434161" y="4440338"/>
              <a:ext cx="0" cy="2127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076" name="Picture 3075"/>
            <p:cNvPicPr>
              <a:picLocks noChangeAspect="1"/>
            </p:cNvPicPr>
            <p:nvPr/>
          </p:nvPicPr>
          <p:blipFill>
            <a:blip r:embed="rId8"/>
            <a:stretch>
              <a:fillRect/>
            </a:stretch>
          </p:blipFill>
          <p:spPr>
            <a:xfrm>
              <a:off x="3391653" y="4477618"/>
              <a:ext cx="371478" cy="90360"/>
            </a:xfrm>
            <a:prstGeom prst="rect">
              <a:avLst/>
            </a:prstGeom>
          </p:spPr>
        </p:pic>
        <p:grpSp>
          <p:nvGrpSpPr>
            <p:cNvPr id="3083" name="Group 3082"/>
            <p:cNvGrpSpPr/>
            <p:nvPr/>
          </p:nvGrpSpPr>
          <p:grpSpPr>
            <a:xfrm>
              <a:off x="1696743" y="2982663"/>
              <a:ext cx="3961974" cy="1369513"/>
              <a:chOff x="1696743" y="2982663"/>
              <a:chExt cx="3961974" cy="1369513"/>
            </a:xfrm>
          </p:grpSpPr>
          <p:pic>
            <p:nvPicPr>
              <p:cNvPr id="3" name="Picture 2"/>
              <p:cNvPicPr>
                <a:picLocks noChangeAspect="1"/>
              </p:cNvPicPr>
              <p:nvPr/>
            </p:nvPicPr>
            <p:blipFill>
              <a:blip r:embed="rId9"/>
              <a:stretch>
                <a:fillRect/>
              </a:stretch>
            </p:blipFill>
            <p:spPr>
              <a:xfrm>
                <a:off x="3650748" y="2982663"/>
                <a:ext cx="2007969" cy="1369513"/>
              </a:xfrm>
              <a:prstGeom prst="rect">
                <a:avLst/>
              </a:prstGeom>
            </p:spPr>
          </p:pic>
          <p:pic>
            <p:nvPicPr>
              <p:cNvPr id="3077" name="Picture 3076"/>
              <p:cNvPicPr>
                <a:picLocks noChangeAspect="1"/>
              </p:cNvPicPr>
              <p:nvPr/>
            </p:nvPicPr>
            <p:blipFill>
              <a:blip r:embed="rId10"/>
              <a:stretch>
                <a:fillRect/>
              </a:stretch>
            </p:blipFill>
            <p:spPr>
              <a:xfrm flipH="1">
                <a:off x="1696743" y="3011955"/>
                <a:ext cx="1570672" cy="1332691"/>
              </a:xfrm>
              <a:prstGeom prst="rect">
                <a:avLst/>
              </a:prstGeom>
            </p:spPr>
          </p:pic>
        </p:grpSp>
        <p:pic>
          <p:nvPicPr>
            <p:cNvPr id="40" name="Picture 39"/>
            <p:cNvPicPr>
              <a:picLocks noChangeAspect="1"/>
            </p:cNvPicPr>
            <p:nvPr/>
          </p:nvPicPr>
          <p:blipFill>
            <a:blip r:embed="rId8"/>
            <a:stretch>
              <a:fillRect/>
            </a:stretch>
          </p:blipFill>
          <p:spPr>
            <a:xfrm flipH="1">
              <a:off x="3120402" y="4479975"/>
              <a:ext cx="371478" cy="90360"/>
            </a:xfrm>
            <a:prstGeom prst="rect">
              <a:avLst/>
            </a:prstGeom>
          </p:spPr>
        </p:pic>
        <p:pic>
          <p:nvPicPr>
            <p:cNvPr id="3078" name="Picture 3077"/>
            <p:cNvPicPr>
              <a:picLocks noChangeAspect="1"/>
            </p:cNvPicPr>
            <p:nvPr/>
          </p:nvPicPr>
          <p:blipFill>
            <a:blip r:embed="rId11"/>
            <a:stretch>
              <a:fillRect/>
            </a:stretch>
          </p:blipFill>
          <p:spPr>
            <a:xfrm>
              <a:off x="554513" y="5137193"/>
              <a:ext cx="391667" cy="267255"/>
            </a:xfrm>
            <a:prstGeom prst="rect">
              <a:avLst/>
            </a:prstGeom>
          </p:spPr>
        </p:pic>
        <p:sp>
          <p:nvSpPr>
            <p:cNvPr id="3079" name="TextBox 3078"/>
            <p:cNvSpPr txBox="1"/>
            <p:nvPr/>
          </p:nvSpPr>
          <p:spPr>
            <a:xfrm>
              <a:off x="387857" y="5055648"/>
              <a:ext cx="247249" cy="492443"/>
            </a:xfrm>
            <a:prstGeom prst="rect">
              <a:avLst/>
            </a:prstGeom>
            <a:noFill/>
          </p:spPr>
          <p:txBody>
            <a:bodyPr wrap="square" rtlCol="0">
              <a:spAutoFit/>
            </a:bodyPr>
            <a:lstStyle/>
            <a:p>
              <a:r>
                <a:rPr lang="en-GB" dirty="0"/>
                <a:t>-</a:t>
              </a:r>
            </a:p>
          </p:txBody>
        </p:sp>
        <p:sp>
          <p:nvSpPr>
            <p:cNvPr id="38" name="Rectangle 37"/>
            <p:cNvSpPr/>
            <p:nvPr/>
          </p:nvSpPr>
          <p:spPr>
            <a:xfrm>
              <a:off x="3166501" y="4709666"/>
              <a:ext cx="216024" cy="2751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1" name="Group 20"/>
          <p:cNvGrpSpPr/>
          <p:nvPr/>
        </p:nvGrpSpPr>
        <p:grpSpPr>
          <a:xfrm>
            <a:off x="2574134" y="2094258"/>
            <a:ext cx="1685778" cy="794682"/>
            <a:chOff x="251520" y="1417638"/>
            <a:chExt cx="2247704" cy="1059576"/>
          </a:xfrm>
        </p:grpSpPr>
        <p:grpSp>
          <p:nvGrpSpPr>
            <p:cNvPr id="19" name="Group 18"/>
            <p:cNvGrpSpPr/>
            <p:nvPr/>
          </p:nvGrpSpPr>
          <p:grpSpPr>
            <a:xfrm>
              <a:off x="251520" y="1417638"/>
              <a:ext cx="2247704" cy="1059576"/>
              <a:chOff x="251520" y="1417638"/>
              <a:chExt cx="2247704" cy="1059576"/>
            </a:xfrm>
          </p:grpSpPr>
          <p:grpSp>
            <p:nvGrpSpPr>
              <p:cNvPr id="17" name="Group 16"/>
              <p:cNvGrpSpPr/>
              <p:nvPr/>
            </p:nvGrpSpPr>
            <p:grpSpPr>
              <a:xfrm>
                <a:off x="329034" y="1525164"/>
                <a:ext cx="2057400" cy="866775"/>
                <a:chOff x="329034" y="1525164"/>
                <a:chExt cx="2057400" cy="866775"/>
              </a:xfrm>
            </p:grpSpPr>
            <p:pic>
              <p:nvPicPr>
                <p:cNvPr id="15" name="Picture 14"/>
                <p:cNvPicPr>
                  <a:picLocks noChangeAspect="1"/>
                </p:cNvPicPr>
                <p:nvPr/>
              </p:nvPicPr>
              <p:blipFill>
                <a:blip r:embed="rId12"/>
                <a:stretch>
                  <a:fillRect/>
                </a:stretch>
              </p:blipFill>
              <p:spPr>
                <a:xfrm>
                  <a:off x="852909" y="1525164"/>
                  <a:ext cx="1533525" cy="866775"/>
                </a:xfrm>
                <a:prstGeom prst="rect">
                  <a:avLst/>
                </a:prstGeom>
              </p:spPr>
            </p:pic>
            <p:pic>
              <p:nvPicPr>
                <p:cNvPr id="16" name="Picture 15"/>
                <p:cNvPicPr>
                  <a:picLocks noChangeAspect="1"/>
                </p:cNvPicPr>
                <p:nvPr/>
              </p:nvPicPr>
              <p:blipFill>
                <a:blip r:embed="rId13"/>
                <a:stretch>
                  <a:fillRect/>
                </a:stretch>
              </p:blipFill>
              <p:spPr>
                <a:xfrm>
                  <a:off x="329034" y="1686347"/>
                  <a:ext cx="523875" cy="466725"/>
                </a:xfrm>
                <a:prstGeom prst="rect">
                  <a:avLst/>
                </a:prstGeom>
              </p:spPr>
            </p:pic>
          </p:grpSp>
          <p:sp>
            <p:nvSpPr>
              <p:cNvPr id="18" name="Rectangle 17"/>
              <p:cNvSpPr/>
              <p:nvPr/>
            </p:nvSpPr>
            <p:spPr>
              <a:xfrm>
                <a:off x="251520" y="1417638"/>
                <a:ext cx="2247704" cy="10595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p:nvPicPr>
          <p:blipFill>
            <a:blip r:embed="rId14"/>
            <a:stretch>
              <a:fillRect/>
            </a:stretch>
          </p:blipFill>
          <p:spPr>
            <a:xfrm>
              <a:off x="1270298" y="1525164"/>
              <a:ext cx="266700" cy="228600"/>
            </a:xfrm>
            <a:prstGeom prst="rect">
              <a:avLst/>
            </a:prstGeom>
          </p:spPr>
        </p:pic>
      </p:grpSp>
    </p:spTree>
    <p:custDataLst>
      <p:tags r:id="rId1"/>
    </p:custDataLst>
    <p:extLst>
      <p:ext uri="{BB962C8B-B14F-4D97-AF65-F5344CB8AC3E}">
        <p14:creationId xmlns:p14="http://schemas.microsoft.com/office/powerpoint/2010/main" val="3973118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085"/>
                                        </p:tgtEl>
                                        <p:attrNameLst>
                                          <p:attrName>style.visibility</p:attrName>
                                        </p:attrNameLst>
                                      </p:cBhvr>
                                      <p:to>
                                        <p:strVal val="visible"/>
                                      </p:to>
                                    </p:set>
                                    <p:anim calcmode="lin" valueType="num">
                                      <p:cBhvr>
                                        <p:cTn id="7" dur="500" fill="hold"/>
                                        <p:tgtEl>
                                          <p:spTgt spid="3085"/>
                                        </p:tgtEl>
                                        <p:attrNameLst>
                                          <p:attrName>ppt_w</p:attrName>
                                        </p:attrNameLst>
                                      </p:cBhvr>
                                      <p:tavLst>
                                        <p:tav tm="0">
                                          <p:val>
                                            <p:fltVal val="0"/>
                                          </p:val>
                                        </p:tav>
                                        <p:tav tm="100000">
                                          <p:val>
                                            <p:strVal val="#ppt_w"/>
                                          </p:val>
                                        </p:tav>
                                      </p:tavLst>
                                    </p:anim>
                                    <p:anim calcmode="lin" valueType="num">
                                      <p:cBhvr>
                                        <p:cTn id="8" dur="500" fill="hold"/>
                                        <p:tgtEl>
                                          <p:spTgt spid="3085"/>
                                        </p:tgtEl>
                                        <p:attrNameLst>
                                          <p:attrName>ppt_h</p:attrName>
                                        </p:attrNameLst>
                                      </p:cBhvr>
                                      <p:tavLst>
                                        <p:tav tm="0">
                                          <p:val>
                                            <p:fltVal val="0"/>
                                          </p:val>
                                        </p:tav>
                                        <p:tav tm="100000">
                                          <p:val>
                                            <p:strVal val="#ppt_h"/>
                                          </p:val>
                                        </p:tav>
                                      </p:tavLst>
                                    </p:anim>
                                    <p:animEffect transition="in" filter="fade">
                                      <p:cBhvr>
                                        <p:cTn id="9" dur="500"/>
                                        <p:tgtEl>
                                          <p:spTgt spid="3085"/>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Example – multimodal function</a:t>
            </a:r>
            <a:br>
              <a:rPr lang="en-GB" dirty="0"/>
            </a:br>
            <a:r>
              <a:rPr lang="en-GB" dirty="0" err="1"/>
              <a:t>Rastrigin’s</a:t>
            </a:r>
            <a:r>
              <a:rPr lang="en-GB" dirty="0"/>
              <a:t> function </a:t>
            </a:r>
          </a:p>
        </p:txBody>
      </p:sp>
      <p:sp>
        <p:nvSpPr>
          <p:cNvPr id="8" name="Slide Number Placeholder 7"/>
          <p:cNvSpPr>
            <a:spLocks noGrp="1"/>
          </p:cNvSpPr>
          <p:nvPr>
            <p:ph type="sldNum" sz="quarter" idx="12"/>
          </p:nvPr>
        </p:nvSpPr>
        <p:spPr/>
        <p:txBody>
          <a:bodyPr/>
          <a:lstStyle/>
          <a:p>
            <a:pPr>
              <a:defRPr/>
            </a:pPr>
            <a:fld id="{2F447EBC-305D-44C7-89E1-564E18FC1CD4}" type="slidenum">
              <a:rPr lang="en-GB" altLang="en-US" smtClean="0"/>
              <a:pPr>
                <a:defRPr/>
              </a:pPr>
              <a:t>11</a:t>
            </a:fld>
            <a:endParaRPr lang="en-GB" altLang="en-US"/>
          </a:p>
        </p:txBody>
      </p:sp>
      <p:pic>
        <p:nvPicPr>
          <p:cNvPr id="5" name="Picture 4"/>
          <p:cNvPicPr>
            <a:picLocks noChangeAspect="1"/>
          </p:cNvPicPr>
          <p:nvPr/>
        </p:nvPicPr>
        <p:blipFill>
          <a:blip r:embed="rId4"/>
          <a:stretch>
            <a:fillRect/>
          </a:stretch>
        </p:blipFill>
        <p:spPr>
          <a:xfrm>
            <a:off x="2409306" y="2090813"/>
            <a:ext cx="2421731" cy="735806"/>
          </a:xfrm>
          <a:prstGeom prst="rect">
            <a:avLst/>
          </a:prstGeom>
          <a:ln>
            <a:solidFill>
              <a:srgbClr val="FF0000"/>
            </a:solidFill>
          </a:ln>
        </p:spPr>
      </p:pic>
      <p:grpSp>
        <p:nvGrpSpPr>
          <p:cNvPr id="11" name="Group 10"/>
          <p:cNvGrpSpPr/>
          <p:nvPr/>
        </p:nvGrpSpPr>
        <p:grpSpPr>
          <a:xfrm>
            <a:off x="1885523" y="3087829"/>
            <a:ext cx="5211579" cy="2455723"/>
            <a:chOff x="323528" y="2974103"/>
            <a:chExt cx="6948772" cy="3274297"/>
          </a:xfrm>
        </p:grpSpPr>
        <p:sp>
          <p:nvSpPr>
            <p:cNvPr id="10" name="TextBox 9"/>
            <p:cNvSpPr txBox="1"/>
            <p:nvPr/>
          </p:nvSpPr>
          <p:spPr>
            <a:xfrm>
              <a:off x="467544" y="3789040"/>
              <a:ext cx="1152128" cy="492443"/>
            </a:xfrm>
            <a:prstGeom prst="rect">
              <a:avLst/>
            </a:prstGeom>
            <a:noFill/>
          </p:spPr>
          <p:txBody>
            <a:bodyPr wrap="square" rtlCol="0">
              <a:spAutoFit/>
            </a:bodyPr>
            <a:lstStyle/>
            <a:p>
              <a:r>
                <a:rPr lang="en-GB" i="1" dirty="0">
                  <a:latin typeface="Times New Roman" panose="02020603050405020304" pitchFamily="18" charset="0"/>
                  <a:cs typeface="Times New Roman" panose="02020603050405020304" pitchFamily="18" charset="0"/>
                </a:rPr>
                <a:t>n </a:t>
              </a:r>
              <a:r>
                <a:rPr lang="en-GB" dirty="0">
                  <a:latin typeface="Times New Roman" panose="02020603050405020304" pitchFamily="18" charset="0"/>
                  <a:cs typeface="Times New Roman" panose="02020603050405020304" pitchFamily="18" charset="0"/>
                </a:rPr>
                <a:t>= 2</a:t>
              </a:r>
            </a:p>
          </p:txBody>
        </p:sp>
        <p:pic>
          <p:nvPicPr>
            <p:cNvPr id="4098" name="Picture 2" descr="Rastrigin function for n=2"/>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1295636" y="2974103"/>
              <a:ext cx="5976664" cy="32742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6"/>
            <a:stretch>
              <a:fillRect/>
            </a:stretch>
          </p:blipFill>
          <p:spPr>
            <a:xfrm>
              <a:off x="425185" y="4408484"/>
              <a:ext cx="1181100" cy="381000"/>
            </a:xfrm>
            <a:prstGeom prst="rect">
              <a:avLst/>
            </a:prstGeom>
            <a:ln>
              <a:solidFill>
                <a:srgbClr val="FF0000"/>
              </a:solidFill>
            </a:ln>
          </p:spPr>
        </p:pic>
        <p:pic>
          <p:nvPicPr>
            <p:cNvPr id="7" name="Picture 6"/>
            <p:cNvPicPr>
              <a:picLocks noChangeAspect="1"/>
            </p:cNvPicPr>
            <p:nvPr/>
          </p:nvPicPr>
          <p:blipFill>
            <a:blip r:embed="rId7"/>
            <a:stretch>
              <a:fillRect/>
            </a:stretch>
          </p:blipFill>
          <p:spPr>
            <a:xfrm>
              <a:off x="323528" y="5616670"/>
              <a:ext cx="1743075" cy="361950"/>
            </a:xfrm>
            <a:prstGeom prst="rect">
              <a:avLst/>
            </a:prstGeom>
            <a:ln>
              <a:solidFill>
                <a:srgbClr val="FF0000"/>
              </a:solidFill>
            </a:ln>
          </p:spPr>
        </p:pic>
      </p:grpSp>
      <p:sp>
        <p:nvSpPr>
          <p:cNvPr id="16" name="TextBox 15"/>
          <p:cNvSpPr txBox="1"/>
          <p:nvPr/>
        </p:nvSpPr>
        <p:spPr>
          <a:xfrm>
            <a:off x="7749940" y="2458716"/>
            <a:ext cx="2480294" cy="1569660"/>
          </a:xfrm>
          <a:prstGeom prst="rect">
            <a:avLst/>
          </a:prstGeom>
          <a:noFill/>
        </p:spPr>
        <p:txBody>
          <a:bodyPr wrap="square" rtlCol="0">
            <a:spAutoFit/>
          </a:bodyPr>
          <a:lstStyle/>
          <a:p>
            <a:pPr marL="342900" indent="-342900">
              <a:buFont typeface="Arial" panose="020B0604020202020204" pitchFamily="34" charset="0"/>
              <a:buChar char="•"/>
            </a:pPr>
            <a:r>
              <a:rPr lang="en-GB" sz="2400" dirty="0"/>
              <a:t>continuous</a:t>
            </a:r>
          </a:p>
          <a:p>
            <a:pPr marL="342900" indent="-342900">
              <a:buFont typeface="Arial" panose="020B0604020202020204" pitchFamily="34" charset="0"/>
              <a:buChar char="•"/>
            </a:pPr>
            <a:r>
              <a:rPr lang="en-GB" sz="2400" dirty="0"/>
              <a:t>differentiable</a:t>
            </a:r>
          </a:p>
          <a:p>
            <a:pPr marL="342900" indent="-342900">
              <a:buFont typeface="Arial" panose="020B0604020202020204" pitchFamily="34" charset="0"/>
              <a:buChar char="•"/>
            </a:pPr>
            <a:r>
              <a:rPr lang="en-GB" sz="2400" dirty="0"/>
              <a:t>separable</a:t>
            </a:r>
          </a:p>
          <a:p>
            <a:pPr marL="342900" indent="-342900">
              <a:buFont typeface="Arial" panose="020B0604020202020204" pitchFamily="34" charset="0"/>
              <a:buChar char="•"/>
            </a:pPr>
            <a:r>
              <a:rPr lang="en-GB" sz="2400" dirty="0"/>
              <a:t>scalable</a:t>
            </a:r>
          </a:p>
        </p:txBody>
      </p:sp>
    </p:spTree>
    <p:custDataLst>
      <p:tags r:id="rId1"/>
    </p:custDataLst>
    <p:extLst>
      <p:ext uri="{BB962C8B-B14F-4D97-AF65-F5344CB8AC3E}">
        <p14:creationId xmlns:p14="http://schemas.microsoft.com/office/powerpoint/2010/main" val="1210499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362" y="0"/>
            <a:ext cx="9173980" cy="900000"/>
          </a:xfrm>
        </p:spPr>
        <p:txBody>
          <a:bodyPr>
            <a:normAutofit fontScale="90000"/>
          </a:bodyPr>
          <a:lstStyle/>
          <a:p>
            <a:r>
              <a:rPr lang="en-GB" dirty="0"/>
              <a:t>Example – multimodal function Ackley’s function</a:t>
            </a:r>
          </a:p>
        </p:txBody>
      </p:sp>
      <p:sp>
        <p:nvSpPr>
          <p:cNvPr id="7" name="Slide Number Placeholder 6"/>
          <p:cNvSpPr>
            <a:spLocks noGrp="1"/>
          </p:cNvSpPr>
          <p:nvPr>
            <p:ph type="sldNum" sz="quarter" idx="12"/>
          </p:nvPr>
        </p:nvSpPr>
        <p:spPr/>
        <p:txBody>
          <a:bodyPr/>
          <a:lstStyle/>
          <a:p>
            <a:pPr>
              <a:defRPr/>
            </a:pPr>
            <a:fld id="{2F447EBC-305D-44C7-89E1-564E18FC1CD4}" type="slidenum">
              <a:rPr lang="en-GB" altLang="en-US" smtClean="0"/>
              <a:pPr>
                <a:defRPr/>
              </a:pPr>
              <a:t>12</a:t>
            </a:fld>
            <a:endParaRPr lang="en-GB" altLang="en-US"/>
          </a:p>
        </p:txBody>
      </p:sp>
      <p:pic>
        <p:nvPicPr>
          <p:cNvPr id="3" name="Picture 2"/>
          <p:cNvPicPr>
            <a:picLocks noChangeAspect="1"/>
          </p:cNvPicPr>
          <p:nvPr/>
        </p:nvPicPr>
        <p:blipFill>
          <a:blip r:embed="rId3"/>
          <a:stretch>
            <a:fillRect/>
          </a:stretch>
        </p:blipFill>
        <p:spPr>
          <a:xfrm>
            <a:off x="2686837" y="2128281"/>
            <a:ext cx="2814638" cy="657225"/>
          </a:xfrm>
          <a:prstGeom prst="rect">
            <a:avLst/>
          </a:prstGeom>
          <a:ln>
            <a:solidFill>
              <a:srgbClr val="FF0000"/>
            </a:solidFill>
          </a:ln>
        </p:spPr>
      </p:pic>
      <p:grpSp>
        <p:nvGrpSpPr>
          <p:cNvPr id="12" name="Group 11"/>
          <p:cNvGrpSpPr/>
          <p:nvPr/>
        </p:nvGrpSpPr>
        <p:grpSpPr>
          <a:xfrm>
            <a:off x="2197660" y="3158971"/>
            <a:ext cx="4646672" cy="2379821"/>
            <a:chOff x="391372" y="3068960"/>
            <a:chExt cx="6195562" cy="3173094"/>
          </a:xfrm>
        </p:grpSpPr>
        <p:pic>
          <p:nvPicPr>
            <p:cNvPr id="3075" name="Picture 3"/>
            <p:cNvPicPr>
              <a:picLocks noChangeAspect="1" noChangeArrowheads="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1979712" y="3068960"/>
              <a:ext cx="4607222" cy="31730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467544" y="3789040"/>
              <a:ext cx="1152128" cy="492443"/>
            </a:xfrm>
            <a:prstGeom prst="rect">
              <a:avLst/>
            </a:prstGeom>
            <a:noFill/>
          </p:spPr>
          <p:txBody>
            <a:bodyPr wrap="square" rtlCol="0">
              <a:spAutoFit/>
            </a:bodyPr>
            <a:lstStyle/>
            <a:p>
              <a:r>
                <a:rPr lang="en-GB" i="1" dirty="0">
                  <a:latin typeface="Times New Roman" panose="02020603050405020304" pitchFamily="18" charset="0"/>
                  <a:cs typeface="Times New Roman" panose="02020603050405020304" pitchFamily="18" charset="0"/>
                </a:rPr>
                <a:t>n </a:t>
              </a:r>
              <a:r>
                <a:rPr lang="en-GB" dirty="0">
                  <a:latin typeface="Times New Roman" panose="02020603050405020304" pitchFamily="18" charset="0"/>
                  <a:cs typeface="Times New Roman" panose="02020603050405020304" pitchFamily="18" charset="0"/>
                </a:rPr>
                <a:t>= 2</a:t>
              </a:r>
            </a:p>
          </p:txBody>
        </p:sp>
        <p:pic>
          <p:nvPicPr>
            <p:cNvPr id="11" name="Picture 10"/>
            <p:cNvPicPr>
              <a:picLocks noChangeAspect="1"/>
            </p:cNvPicPr>
            <p:nvPr/>
          </p:nvPicPr>
          <p:blipFill>
            <a:blip r:embed="rId5"/>
            <a:stretch>
              <a:fillRect/>
            </a:stretch>
          </p:blipFill>
          <p:spPr>
            <a:xfrm>
              <a:off x="425185" y="4408484"/>
              <a:ext cx="1181100" cy="381000"/>
            </a:xfrm>
            <a:prstGeom prst="rect">
              <a:avLst/>
            </a:prstGeom>
            <a:ln>
              <a:solidFill>
                <a:srgbClr val="FF0000"/>
              </a:solidFill>
            </a:ln>
          </p:spPr>
        </p:pic>
        <p:pic>
          <p:nvPicPr>
            <p:cNvPr id="5" name="Picture 4"/>
            <p:cNvPicPr>
              <a:picLocks noChangeAspect="1"/>
            </p:cNvPicPr>
            <p:nvPr/>
          </p:nvPicPr>
          <p:blipFill>
            <a:blip r:embed="rId6"/>
            <a:stretch>
              <a:fillRect/>
            </a:stretch>
          </p:blipFill>
          <p:spPr>
            <a:xfrm>
              <a:off x="391372" y="5059164"/>
              <a:ext cx="1333500" cy="409575"/>
            </a:xfrm>
            <a:prstGeom prst="rect">
              <a:avLst/>
            </a:prstGeom>
            <a:ln>
              <a:solidFill>
                <a:srgbClr val="FF0000"/>
              </a:solidFill>
            </a:ln>
          </p:spPr>
        </p:pic>
      </p:grpSp>
      <p:sp>
        <p:nvSpPr>
          <p:cNvPr id="8" name="TextBox 7"/>
          <p:cNvSpPr txBox="1"/>
          <p:nvPr/>
        </p:nvSpPr>
        <p:spPr>
          <a:xfrm>
            <a:off x="7500156" y="2456893"/>
            <a:ext cx="2485092" cy="1569660"/>
          </a:xfrm>
          <a:prstGeom prst="rect">
            <a:avLst/>
          </a:prstGeom>
          <a:noFill/>
        </p:spPr>
        <p:txBody>
          <a:bodyPr wrap="square" rtlCol="0">
            <a:spAutoFit/>
          </a:bodyPr>
          <a:lstStyle/>
          <a:p>
            <a:pPr marL="342900" indent="-342900">
              <a:buFont typeface="Arial" panose="020B0604020202020204" pitchFamily="34" charset="0"/>
              <a:buChar char="•"/>
            </a:pPr>
            <a:r>
              <a:rPr lang="en-GB" sz="2400" dirty="0"/>
              <a:t>continuous</a:t>
            </a:r>
          </a:p>
          <a:p>
            <a:pPr marL="342900" indent="-342900">
              <a:buFont typeface="Arial" panose="020B0604020202020204" pitchFamily="34" charset="0"/>
              <a:buChar char="•"/>
            </a:pPr>
            <a:r>
              <a:rPr lang="en-GB" sz="2400" dirty="0"/>
              <a:t>differentiable</a:t>
            </a:r>
          </a:p>
          <a:p>
            <a:pPr marL="342900" indent="-342900">
              <a:buFont typeface="Arial" panose="020B0604020202020204" pitchFamily="34" charset="0"/>
              <a:buChar char="•"/>
            </a:pPr>
            <a:r>
              <a:rPr lang="en-GB" sz="2400" dirty="0"/>
              <a:t>non-separable</a:t>
            </a:r>
          </a:p>
          <a:p>
            <a:pPr marL="342900" indent="-342900">
              <a:buFont typeface="Arial" panose="020B0604020202020204" pitchFamily="34" charset="0"/>
              <a:buChar char="•"/>
            </a:pPr>
            <a:r>
              <a:rPr lang="en-GB" sz="2400" dirty="0"/>
              <a:t>non-scalable</a:t>
            </a:r>
          </a:p>
        </p:txBody>
      </p:sp>
    </p:spTree>
    <p:custDataLst>
      <p:tags r:id="rId1"/>
    </p:custDataLst>
    <p:extLst>
      <p:ext uri="{BB962C8B-B14F-4D97-AF65-F5344CB8AC3E}">
        <p14:creationId xmlns:p14="http://schemas.microsoft.com/office/powerpoint/2010/main" val="1815048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normAutofit fontScale="90000"/>
          </a:bodyPr>
          <a:lstStyle/>
          <a:p>
            <a:r>
              <a:rPr lang="en-US" altLang="en-US" dirty="0"/>
              <a:t>Example – Sphere Function </a:t>
            </a:r>
            <a:r>
              <a:rPr lang="en-US" altLang="en-US" dirty="0" err="1"/>
              <a:t>Optimisation</a:t>
            </a:r>
            <a:endParaRPr lang="tr-TR" altLang="en-US" dirty="0"/>
          </a:p>
        </p:txBody>
      </p:sp>
      <p:sp>
        <p:nvSpPr>
          <p:cNvPr id="76803" name="Rectangle 3"/>
          <p:cNvSpPr>
            <a:spLocks noGrp="1" noChangeArrowheads="1"/>
          </p:cNvSpPr>
          <p:nvPr>
            <p:ph idx="1"/>
          </p:nvPr>
        </p:nvSpPr>
        <p:spPr>
          <a:xfrm>
            <a:off x="609600" y="1937560"/>
            <a:ext cx="10823013" cy="1371600"/>
          </a:xfrm>
        </p:spPr>
        <p:txBody>
          <a:bodyPr/>
          <a:lstStyle/>
          <a:p>
            <a:r>
              <a:rPr lang="en-AU" altLang="en-US" b="1" u="sng" dirty="0"/>
              <a:t>Objective:</a:t>
            </a:r>
            <a:r>
              <a:rPr lang="en-AU" altLang="en-US" dirty="0"/>
              <a:t> </a:t>
            </a:r>
          </a:p>
          <a:p>
            <a:r>
              <a:rPr lang="en-AU" altLang="en-US" dirty="0"/>
              <a:t>Find the set of integers </a:t>
            </a:r>
            <a:r>
              <a:rPr lang="en-AU" altLang="en-US" b="1" i="1" dirty="0">
                <a:latin typeface="Times New Roman" panose="02020603050405020304" pitchFamily="18" charset="0"/>
                <a:cs typeface="Times New Roman" panose="02020603050405020304" pitchFamily="18" charset="0"/>
              </a:rPr>
              <a:t>x</a:t>
            </a:r>
            <a:r>
              <a:rPr lang="en-AU" altLang="en-US" b="1" i="1" baseline="-25000" dirty="0">
                <a:latin typeface="Times New Roman" panose="02020603050405020304" pitchFamily="18" charset="0"/>
                <a:cs typeface="Times New Roman" panose="02020603050405020304" pitchFamily="18" charset="0"/>
              </a:rPr>
              <a:t>i</a:t>
            </a:r>
            <a:r>
              <a:rPr lang="en-AU" altLang="en-US" dirty="0"/>
              <a:t> which maximize the function </a:t>
            </a:r>
            <a:r>
              <a:rPr lang="en-AU" altLang="en-US" b="1" i="1" dirty="0">
                <a:latin typeface="Times New Roman" panose="02020603050405020304" pitchFamily="18" charset="0"/>
                <a:cs typeface="Times New Roman" panose="02020603050405020304" pitchFamily="18" charset="0"/>
              </a:rPr>
              <a:t>f</a:t>
            </a:r>
            <a:r>
              <a:rPr lang="en-AU" altLang="en-US" dirty="0"/>
              <a:t> given below.</a:t>
            </a:r>
            <a:endParaRPr lang="tr-TR" altLang="en-US" dirty="0"/>
          </a:p>
        </p:txBody>
      </p:sp>
      <p:sp>
        <p:nvSpPr>
          <p:cNvPr id="9" name="Slide Number Placeholder 5"/>
          <p:cNvSpPr>
            <a:spLocks noGrp="1"/>
          </p:cNvSpPr>
          <p:nvPr>
            <p:ph type="sldNum" sz="quarter" idx="12"/>
          </p:nvPr>
        </p:nvSpPr>
        <p:spPr/>
        <p:txBody>
          <a:bodyPr/>
          <a:lstStyle/>
          <a:p>
            <a:fld id="{64A29931-B50E-4EF8-9F76-2551037B7C4A}" type="slidenum">
              <a:rPr lang="tr-TR" altLang="en-US"/>
              <a:pPr/>
              <a:t>13</a:t>
            </a:fld>
            <a:endParaRPr lang="tr-TR" altLang="en-US"/>
          </a:p>
        </p:txBody>
      </p:sp>
      <p:sp>
        <p:nvSpPr>
          <p:cNvPr id="76804" name="Text Box 4"/>
          <p:cNvSpPr txBox="1">
            <a:spLocks noChangeArrowheads="1"/>
          </p:cNvSpPr>
          <p:nvPr/>
        </p:nvSpPr>
        <p:spPr bwMode="auto">
          <a:xfrm>
            <a:off x="5501934" y="3765539"/>
            <a:ext cx="37264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AU" altLang="en-US" sz="2400" dirty="0">
                <a:latin typeface="Times New Roman" pitchFamily="18" charset="0"/>
                <a:sym typeface="Symbol" pitchFamily="18" charset="2"/>
              </a:rPr>
              <a:t>for </a:t>
            </a:r>
            <a:r>
              <a:rPr lang="en-AU" altLang="en-US" sz="2400" i="1" dirty="0">
                <a:latin typeface="Times New Roman" pitchFamily="18" charset="0"/>
                <a:sym typeface="Symbol" pitchFamily="18" charset="2"/>
              </a:rPr>
              <a:t>n </a:t>
            </a:r>
            <a:r>
              <a:rPr lang="en-AU" altLang="en-US" sz="2400" dirty="0">
                <a:latin typeface="Times New Roman" pitchFamily="18" charset="0"/>
                <a:sym typeface="Symbol" pitchFamily="18" charset="2"/>
              </a:rPr>
              <a:t>=3,</a:t>
            </a:r>
            <a:r>
              <a:rPr lang="en-AU" altLang="en-US" sz="2400" dirty="0">
                <a:latin typeface="Times New Roman" pitchFamily="18" charset="0"/>
              </a:rPr>
              <a:t>  </a:t>
            </a:r>
            <a:r>
              <a:rPr lang="en-AU" altLang="en-US" sz="2400" i="1" dirty="0">
                <a:latin typeface="Times New Roman" pitchFamily="18" charset="0"/>
              </a:rPr>
              <a:t>f </a:t>
            </a:r>
            <a:r>
              <a:rPr lang="en-AU" altLang="en-US" sz="2400" dirty="0">
                <a:latin typeface="Times New Roman" pitchFamily="18" charset="0"/>
              </a:rPr>
              <a:t>(</a:t>
            </a:r>
            <a:r>
              <a:rPr lang="en-AU" altLang="en-US" sz="2400" i="1" dirty="0">
                <a:latin typeface="Times New Roman" pitchFamily="18" charset="0"/>
              </a:rPr>
              <a:t>x</a:t>
            </a:r>
            <a:r>
              <a:rPr lang="en-AU" altLang="en-US" sz="2400" dirty="0">
                <a:latin typeface="Times New Roman" pitchFamily="18" charset="0"/>
              </a:rPr>
              <a:t>) =</a:t>
            </a:r>
            <a:r>
              <a:rPr lang="en-AU" altLang="en-US" sz="2400" i="1" dirty="0">
                <a:latin typeface="Times New Roman" panose="02020603050405020304" pitchFamily="18" charset="0"/>
                <a:cs typeface="Times New Roman" panose="02020603050405020304" pitchFamily="18" charset="0"/>
              </a:rPr>
              <a:t> x</a:t>
            </a:r>
            <a:r>
              <a:rPr lang="en-AU" altLang="en-US" sz="2400" baseline="-25000" dirty="0">
                <a:latin typeface="Times New Roman" panose="02020603050405020304" pitchFamily="18" charset="0"/>
                <a:cs typeface="Times New Roman" panose="02020603050405020304" pitchFamily="18" charset="0"/>
              </a:rPr>
              <a:t>1</a:t>
            </a:r>
            <a:r>
              <a:rPr lang="en-AU" altLang="en-US" sz="2400" baseline="30000" dirty="0">
                <a:latin typeface="Times New Roman" pitchFamily="18" charset="0"/>
              </a:rPr>
              <a:t>2</a:t>
            </a:r>
            <a:r>
              <a:rPr lang="en-AU" altLang="en-US" sz="2400" dirty="0">
                <a:latin typeface="Courier New" pitchFamily="49" charset="0"/>
              </a:rPr>
              <a:t>+</a:t>
            </a:r>
            <a:r>
              <a:rPr lang="en-AU" altLang="en-US" sz="2400" i="1" dirty="0">
                <a:latin typeface="Times New Roman" panose="02020603050405020304" pitchFamily="18" charset="0"/>
                <a:cs typeface="Times New Roman" panose="02020603050405020304" pitchFamily="18" charset="0"/>
              </a:rPr>
              <a:t>x</a:t>
            </a:r>
            <a:r>
              <a:rPr lang="en-AU" altLang="en-US" sz="2400" baseline="-25000" dirty="0">
                <a:latin typeface="Courier New" pitchFamily="49" charset="0"/>
              </a:rPr>
              <a:t>2</a:t>
            </a:r>
            <a:r>
              <a:rPr lang="en-AU" altLang="en-US" sz="2400" baseline="30000" dirty="0">
                <a:latin typeface="Times New Roman" pitchFamily="18" charset="0"/>
              </a:rPr>
              <a:t>2</a:t>
            </a:r>
            <a:r>
              <a:rPr lang="en-AU" altLang="en-US" sz="2400" dirty="0">
                <a:latin typeface="Courier New" pitchFamily="49" charset="0"/>
              </a:rPr>
              <a:t>+</a:t>
            </a:r>
            <a:r>
              <a:rPr lang="en-AU" altLang="en-US" sz="2400" i="1" dirty="0">
                <a:latin typeface="Times New Roman" panose="02020603050405020304" pitchFamily="18" charset="0"/>
                <a:cs typeface="Times New Roman" panose="02020603050405020304" pitchFamily="18" charset="0"/>
              </a:rPr>
              <a:t>x</a:t>
            </a:r>
            <a:r>
              <a:rPr lang="en-AU" altLang="en-US" sz="2400" baseline="-25000" dirty="0">
                <a:latin typeface="Courier New" pitchFamily="49" charset="0"/>
              </a:rPr>
              <a:t>3</a:t>
            </a:r>
            <a:r>
              <a:rPr lang="en-AU" altLang="en-US" sz="2400" baseline="30000" dirty="0">
                <a:latin typeface="Times New Roman" pitchFamily="18" charset="0"/>
              </a:rPr>
              <a:t>2</a:t>
            </a:r>
            <a:r>
              <a:rPr lang="en-AU" altLang="en-US" sz="2400" dirty="0">
                <a:latin typeface="Courier New" pitchFamily="49" charset="0"/>
                <a:sym typeface="Symbol" pitchFamily="18" charset="2"/>
              </a:rPr>
              <a:t> </a:t>
            </a:r>
            <a:endParaRPr lang="en-AU" altLang="en-US" sz="2400" dirty="0">
              <a:latin typeface="Courier New" pitchFamily="49" charset="0"/>
            </a:endParaRPr>
          </a:p>
        </p:txBody>
      </p:sp>
      <p:sp>
        <p:nvSpPr>
          <p:cNvPr id="76805" name="Text Box 5"/>
          <p:cNvSpPr txBox="1">
            <a:spLocks noChangeArrowheads="1"/>
          </p:cNvSpPr>
          <p:nvPr/>
        </p:nvSpPr>
        <p:spPr bwMode="auto">
          <a:xfrm>
            <a:off x="5454628" y="4372769"/>
            <a:ext cx="320343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AU" altLang="en-US" sz="2100" dirty="0">
                <a:latin typeface="Courier New" pitchFamily="49" charset="0"/>
              </a:rPr>
              <a:t>-512 &lt; </a:t>
            </a:r>
            <a:r>
              <a:rPr lang="en-AU" altLang="en-US" sz="2100" i="1" dirty="0">
                <a:latin typeface="Times New Roman" panose="02020603050405020304" pitchFamily="18" charset="0"/>
                <a:cs typeface="Times New Roman" panose="02020603050405020304" pitchFamily="18" charset="0"/>
              </a:rPr>
              <a:t>x</a:t>
            </a:r>
            <a:r>
              <a:rPr lang="en-AU" altLang="en-US" sz="2100" i="1" baseline="-25000" dirty="0">
                <a:latin typeface="Times New Roman" panose="02020603050405020304" pitchFamily="18" charset="0"/>
                <a:cs typeface="Times New Roman" panose="02020603050405020304" pitchFamily="18" charset="0"/>
              </a:rPr>
              <a:t>i</a:t>
            </a:r>
            <a:r>
              <a:rPr lang="en-AU" altLang="en-US" sz="2100" dirty="0">
                <a:latin typeface="Courier New" pitchFamily="49" charset="0"/>
                <a:sym typeface="Symbol" pitchFamily="18" charset="2"/>
              </a:rPr>
              <a:t> ≤ 512</a:t>
            </a:r>
            <a:endParaRPr lang="en-AU" altLang="en-US" sz="2100" dirty="0">
              <a:latin typeface="Courier New" pitchFamily="49" charset="0"/>
            </a:endParaRPr>
          </a:p>
        </p:txBody>
      </p:sp>
      <p:sp>
        <p:nvSpPr>
          <p:cNvPr id="76806" name="Line 6"/>
          <p:cNvSpPr>
            <a:spLocks noChangeShapeType="1"/>
          </p:cNvSpPr>
          <p:nvPr/>
        </p:nvSpPr>
        <p:spPr bwMode="auto">
          <a:xfrm flipV="1">
            <a:off x="4475560" y="4391045"/>
            <a:ext cx="0" cy="8096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6807" name="Text Box 7"/>
          <p:cNvSpPr txBox="1">
            <a:spLocks noChangeArrowheads="1"/>
          </p:cNvSpPr>
          <p:nvPr/>
        </p:nvSpPr>
        <p:spPr bwMode="auto">
          <a:xfrm>
            <a:off x="3827749" y="5146664"/>
            <a:ext cx="1295698"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2100" dirty="0"/>
              <a:t>Fitness function</a:t>
            </a:r>
            <a:endParaRPr lang="tr-TR" altLang="en-US" sz="2100" dirty="0"/>
          </a:p>
        </p:txBody>
      </p:sp>
      <p:pic>
        <p:nvPicPr>
          <p:cNvPr id="10" name="Picture 9"/>
          <p:cNvPicPr>
            <a:picLocks noChangeAspect="1"/>
          </p:cNvPicPr>
          <p:nvPr/>
        </p:nvPicPr>
        <p:blipFill>
          <a:blip r:embed="rId2"/>
          <a:stretch>
            <a:fillRect/>
          </a:stretch>
        </p:blipFill>
        <p:spPr>
          <a:xfrm>
            <a:off x="3799713" y="3674484"/>
            <a:ext cx="1216168" cy="608084"/>
          </a:xfrm>
          <a:prstGeom prst="rect">
            <a:avLst/>
          </a:prstGeom>
          <a:ln>
            <a:solidFill>
              <a:srgbClr val="FF0000"/>
            </a:solidFill>
          </a:ln>
        </p:spPr>
      </p:pic>
      <p:sp>
        <p:nvSpPr>
          <p:cNvPr id="2" name="Right Arrow 1"/>
          <p:cNvSpPr/>
          <p:nvPr/>
        </p:nvSpPr>
        <p:spPr>
          <a:xfrm>
            <a:off x="5123446" y="3911802"/>
            <a:ext cx="324036" cy="1620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69732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normAutofit fontScale="90000"/>
          </a:bodyPr>
          <a:lstStyle/>
          <a:p>
            <a:r>
              <a:rPr lang="en-US" altLang="en-US" dirty="0"/>
              <a:t>Sphere Function </a:t>
            </a:r>
            <a:r>
              <a:rPr lang="en-US" altLang="en-US" dirty="0" err="1"/>
              <a:t>Optimisation</a:t>
            </a:r>
            <a:r>
              <a:rPr lang="en-US" altLang="en-US" dirty="0"/>
              <a:t> –</a:t>
            </a:r>
            <a:br>
              <a:rPr lang="en-US" altLang="en-US" dirty="0"/>
            </a:br>
            <a:r>
              <a:rPr lang="en-US" altLang="en-US" dirty="0"/>
              <a:t>Representation I</a:t>
            </a:r>
            <a:endParaRPr lang="tr-TR" altLang="en-US" dirty="0"/>
          </a:p>
        </p:txBody>
      </p:sp>
      <p:sp>
        <p:nvSpPr>
          <p:cNvPr id="77827" name="Rectangle 3"/>
          <p:cNvSpPr>
            <a:spLocks noGrp="1" noChangeArrowheads="1"/>
          </p:cNvSpPr>
          <p:nvPr>
            <p:ph idx="1"/>
          </p:nvPr>
        </p:nvSpPr>
        <p:spPr>
          <a:xfrm>
            <a:off x="609600" y="2057401"/>
            <a:ext cx="11047694" cy="1695636"/>
          </a:xfrm>
        </p:spPr>
        <p:txBody>
          <a:bodyPr>
            <a:normAutofit/>
          </a:bodyPr>
          <a:lstStyle/>
          <a:p>
            <a:r>
              <a:rPr lang="en-AU" altLang="en-US" dirty="0"/>
              <a:t>There are 1024 integers in the given interval</a:t>
            </a:r>
            <a:r>
              <a:rPr lang="en-AU" altLang="en-US" b="1" dirty="0"/>
              <a:t> </a:t>
            </a:r>
            <a:r>
              <a:rPr lang="en-AU" altLang="en-US" b="1" dirty="0">
                <a:latin typeface="Courier New" pitchFamily="49" charset="0"/>
              </a:rPr>
              <a:t>-512 &lt; </a:t>
            </a:r>
            <a:r>
              <a:rPr lang="en-AU" altLang="en-US" b="1" i="1" dirty="0">
                <a:latin typeface="Times New Roman" panose="02020603050405020304" pitchFamily="18" charset="0"/>
                <a:cs typeface="Times New Roman" panose="02020603050405020304" pitchFamily="18" charset="0"/>
              </a:rPr>
              <a:t>x</a:t>
            </a:r>
            <a:r>
              <a:rPr lang="en-AU" altLang="en-US" b="1" i="1" baseline="-25000" dirty="0">
                <a:latin typeface="Times New Roman" panose="02020603050405020304" pitchFamily="18" charset="0"/>
                <a:cs typeface="Times New Roman" panose="02020603050405020304" pitchFamily="18" charset="0"/>
              </a:rPr>
              <a:t>i</a:t>
            </a:r>
            <a:r>
              <a:rPr lang="en-AU" altLang="en-US" b="1" dirty="0">
                <a:latin typeface="Courier New" pitchFamily="49" charset="0"/>
                <a:sym typeface="Symbol" pitchFamily="18" charset="2"/>
              </a:rPr>
              <a:t> ≤ 512</a:t>
            </a:r>
            <a:endParaRPr lang="en-AU" altLang="en-US" b="1" dirty="0"/>
          </a:p>
          <a:p>
            <a:r>
              <a:rPr lang="en-AU" altLang="en-US" dirty="0"/>
              <a:t>In binary representation, 1024 different integers can be represented using 10 bits</a:t>
            </a:r>
            <a:endParaRPr lang="tr-TR" altLang="en-US" dirty="0"/>
          </a:p>
        </p:txBody>
      </p:sp>
      <p:sp>
        <p:nvSpPr>
          <p:cNvPr id="6" name="Slide Number Placeholder 5"/>
          <p:cNvSpPr>
            <a:spLocks noGrp="1"/>
          </p:cNvSpPr>
          <p:nvPr>
            <p:ph type="sldNum" sz="quarter" idx="12"/>
          </p:nvPr>
        </p:nvSpPr>
        <p:spPr/>
        <p:txBody>
          <a:bodyPr/>
          <a:lstStyle/>
          <a:p>
            <a:fld id="{92FCE2F6-4EF1-40E3-82CA-1B40911484B4}" type="slidenum">
              <a:rPr lang="tr-TR" altLang="en-US"/>
              <a:pPr/>
              <a:t>14</a:t>
            </a:fld>
            <a:endParaRPr lang="tr-TR" altLang="en-US"/>
          </a:p>
        </p:txBody>
      </p:sp>
      <p:sp>
        <p:nvSpPr>
          <p:cNvPr id="77828" name="Text Box 4"/>
          <p:cNvSpPr txBox="1">
            <a:spLocks noChangeArrowheads="1"/>
          </p:cNvSpPr>
          <p:nvPr/>
        </p:nvSpPr>
        <p:spPr bwMode="auto">
          <a:xfrm>
            <a:off x="960733" y="4575637"/>
            <a:ext cx="473989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AU" altLang="en-US" sz="2800" dirty="0">
                <a:latin typeface="Calibri" panose="020F0502020204030204" pitchFamily="34" charset="0"/>
              </a:rPr>
              <a:t>0	: 0000000000 (-511)</a:t>
            </a:r>
          </a:p>
          <a:p>
            <a:pPr eaLnBrk="0" hangingPunct="0"/>
            <a:r>
              <a:rPr lang="en-AU" altLang="en-US" sz="2800" dirty="0">
                <a:latin typeface="Calibri" panose="020F0502020204030204" pitchFamily="34" charset="0"/>
              </a:rPr>
              <a:t>1	: 0000000001 (-510)</a:t>
            </a:r>
          </a:p>
          <a:p>
            <a:pPr eaLnBrk="0" hangingPunct="0"/>
            <a:r>
              <a:rPr lang="en-AU" altLang="en-US" sz="2800" dirty="0">
                <a:latin typeface="Calibri" panose="020F0502020204030204" pitchFamily="34" charset="0"/>
              </a:rPr>
              <a:t>  ...             ...</a:t>
            </a:r>
          </a:p>
          <a:p>
            <a:pPr eaLnBrk="0" hangingPunct="0"/>
            <a:r>
              <a:rPr lang="en-AU" altLang="en-US" sz="2800" dirty="0">
                <a:latin typeface="Calibri" panose="020F0502020204030204" pitchFamily="34" charset="0"/>
              </a:rPr>
              <a:t>1023	: 1111111111 (512)</a:t>
            </a:r>
          </a:p>
        </p:txBody>
      </p:sp>
      <p:sp>
        <p:nvSpPr>
          <p:cNvPr id="2" name="TextBox 1"/>
          <p:cNvSpPr txBox="1"/>
          <p:nvPr/>
        </p:nvSpPr>
        <p:spPr>
          <a:xfrm>
            <a:off x="960733" y="4131190"/>
            <a:ext cx="2984249" cy="523220"/>
          </a:xfrm>
          <a:prstGeom prst="rect">
            <a:avLst/>
          </a:prstGeom>
          <a:noFill/>
        </p:spPr>
        <p:txBody>
          <a:bodyPr wrap="square" rtlCol="0">
            <a:spAutoFit/>
          </a:bodyPr>
          <a:lstStyle/>
          <a:p>
            <a:r>
              <a:rPr lang="en-GB" sz="2400" u="sng" dirty="0"/>
              <a:t>Encoding of</a:t>
            </a:r>
            <a:r>
              <a:rPr lang="en-GB" sz="2400" dirty="0"/>
              <a:t> </a:t>
            </a:r>
            <a:r>
              <a:rPr lang="en-AU" altLang="en-US" sz="2800" b="1" i="1" dirty="0">
                <a:latin typeface="Times New Roman" panose="02020603050405020304" pitchFamily="18" charset="0"/>
                <a:cs typeface="Times New Roman" panose="02020603050405020304" pitchFamily="18" charset="0"/>
              </a:rPr>
              <a:t>x</a:t>
            </a:r>
            <a:r>
              <a:rPr lang="en-AU" altLang="en-US" sz="2800" b="1" i="1" baseline="-25000" dirty="0">
                <a:latin typeface="Times New Roman" panose="02020603050405020304" pitchFamily="18" charset="0"/>
                <a:cs typeface="Times New Roman" panose="02020603050405020304" pitchFamily="18" charset="0"/>
              </a:rPr>
              <a:t>i</a:t>
            </a:r>
            <a:endParaRPr lang="en-GB" sz="2800" u="sng" dirty="0"/>
          </a:p>
        </p:txBody>
      </p:sp>
      <p:sp>
        <p:nvSpPr>
          <p:cNvPr id="8" name="Text Box 4"/>
          <p:cNvSpPr txBox="1">
            <a:spLocks noChangeArrowheads="1"/>
          </p:cNvSpPr>
          <p:nvPr/>
        </p:nvSpPr>
        <p:spPr bwMode="auto">
          <a:xfrm>
            <a:off x="6365747" y="4575637"/>
            <a:ext cx="529154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buFont typeface="Arial" panose="020B0604020202020204" pitchFamily="34" charset="0"/>
              <a:buChar char="•"/>
            </a:pPr>
            <a:r>
              <a:rPr lang="en-AU" altLang="en-US" sz="2800" dirty="0">
                <a:latin typeface="Calibri" panose="020F0502020204030204" pitchFamily="34" charset="0"/>
              </a:rPr>
              <a:t>Convert binary # into decimal, e.g., </a:t>
            </a:r>
            <a:r>
              <a:rPr lang="en-AU" altLang="en-US" sz="2800" b="1" i="1" dirty="0">
                <a:latin typeface="Times New Roman" panose="02020603050405020304" pitchFamily="18" charset="0"/>
                <a:cs typeface="Times New Roman" panose="02020603050405020304" pitchFamily="18" charset="0"/>
              </a:rPr>
              <a:t>x</a:t>
            </a:r>
            <a:r>
              <a:rPr lang="en-AU" altLang="en-US" sz="2800" b="1" i="1" baseline="-25000" dirty="0">
                <a:latin typeface="Times New Roman" panose="02020603050405020304" pitchFamily="18" charset="0"/>
                <a:cs typeface="Times New Roman" panose="02020603050405020304" pitchFamily="18" charset="0"/>
              </a:rPr>
              <a:t>i</a:t>
            </a:r>
            <a:r>
              <a:rPr lang="en-GB" altLang="en-US" sz="2800" dirty="0"/>
              <a:t> = (</a:t>
            </a:r>
            <a:r>
              <a:rPr lang="en-AU" altLang="en-US" sz="2800" dirty="0">
                <a:latin typeface="Calibri" panose="020F0502020204030204" pitchFamily="34" charset="0"/>
              </a:rPr>
              <a:t>0000000011) = 3</a:t>
            </a:r>
          </a:p>
          <a:p>
            <a:pPr marL="342900" indent="-342900" eaLnBrk="0" hangingPunct="0">
              <a:buFont typeface="Arial" panose="020B0604020202020204" pitchFamily="34" charset="0"/>
              <a:buChar char="•"/>
            </a:pPr>
            <a:r>
              <a:rPr lang="en-AU" altLang="en-US" sz="2800" dirty="0">
                <a:latin typeface="Calibri" panose="020F0502020204030204" pitchFamily="34" charset="0"/>
              </a:rPr>
              <a:t>Subtract 511 from that value, e.g., 3-511 = -509</a:t>
            </a:r>
          </a:p>
        </p:txBody>
      </p:sp>
      <p:sp>
        <p:nvSpPr>
          <p:cNvPr id="4" name="TextBox 3">
            <a:extLst>
              <a:ext uri="{FF2B5EF4-FFF2-40B4-BE49-F238E27FC236}">
                <a16:creationId xmlns:a16="http://schemas.microsoft.com/office/drawing/2014/main" id="{BA51C716-2458-982B-43DA-C16165F3BD4C}"/>
              </a:ext>
            </a:extLst>
          </p:cNvPr>
          <p:cNvSpPr txBox="1"/>
          <p:nvPr/>
        </p:nvSpPr>
        <p:spPr>
          <a:xfrm>
            <a:off x="6365747" y="4146466"/>
            <a:ext cx="4532102" cy="461665"/>
          </a:xfrm>
          <a:prstGeom prst="rect">
            <a:avLst/>
          </a:prstGeom>
          <a:noFill/>
        </p:spPr>
        <p:txBody>
          <a:bodyPr wrap="square">
            <a:spAutoFit/>
          </a:bodyPr>
          <a:lstStyle/>
          <a:p>
            <a:pPr eaLnBrk="0" hangingPunct="0"/>
            <a:r>
              <a:rPr lang="en-AU" altLang="en-US" sz="2400" u="sng" dirty="0">
                <a:latin typeface="Calibri" panose="020F0502020204030204" pitchFamily="34" charset="0"/>
              </a:rPr>
              <a:t>Decoding </a:t>
            </a:r>
            <a:r>
              <a:rPr lang="en-GB" sz="2400" u="sng" dirty="0"/>
              <a:t>of</a:t>
            </a:r>
            <a:r>
              <a:rPr lang="en-GB" sz="2400" dirty="0"/>
              <a:t> </a:t>
            </a:r>
            <a:r>
              <a:rPr lang="en-AU" altLang="en-US" sz="2400" b="1" i="1" dirty="0">
                <a:latin typeface="Times New Roman" panose="02020603050405020304" pitchFamily="18" charset="0"/>
                <a:cs typeface="Times New Roman" panose="02020603050405020304" pitchFamily="18" charset="0"/>
              </a:rPr>
              <a:t>x</a:t>
            </a:r>
            <a:r>
              <a:rPr lang="en-AU" altLang="en-US" sz="2400" b="1" i="1" baseline="-25000" dirty="0">
                <a:latin typeface="Times New Roman" panose="02020603050405020304" pitchFamily="18" charset="0"/>
                <a:cs typeface="Times New Roman" panose="02020603050405020304" pitchFamily="18" charset="0"/>
              </a:rPr>
              <a:t>i</a:t>
            </a:r>
            <a:endParaRPr lang="en-AU" altLang="en-US" sz="2400" dirty="0">
              <a:latin typeface="Calibri" panose="020F0502020204030204" pitchFamily="34" charset="0"/>
            </a:endParaRPr>
          </a:p>
        </p:txBody>
      </p:sp>
    </p:spTree>
    <p:custDataLst>
      <p:tags r:id="rId1"/>
    </p:custDataLst>
    <p:extLst>
      <p:ext uri="{BB962C8B-B14F-4D97-AF65-F5344CB8AC3E}">
        <p14:creationId xmlns:p14="http://schemas.microsoft.com/office/powerpoint/2010/main" val="850070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animEffect transition="in" filter="dissolve">
                                      <p:cBhvr>
                                        <p:cTn id="7" dur="500"/>
                                        <p:tgtEl>
                                          <p:spTgt spid="778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7827">
                                            <p:txEl>
                                              <p:pRg st="1" end="1"/>
                                            </p:txEl>
                                          </p:spTgt>
                                        </p:tgtEl>
                                        <p:attrNameLst>
                                          <p:attrName>style.visibility</p:attrName>
                                        </p:attrNameLst>
                                      </p:cBhvr>
                                      <p:to>
                                        <p:strVal val="visible"/>
                                      </p:to>
                                    </p:set>
                                    <p:animEffect transition="in" filter="dissolve">
                                      <p:cBhvr>
                                        <p:cTn id="12" dur="500"/>
                                        <p:tgtEl>
                                          <p:spTgt spid="778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77828"/>
                                        </p:tgtEl>
                                        <p:attrNameLst>
                                          <p:attrName>style.visibility</p:attrName>
                                        </p:attrNameLst>
                                      </p:cBhvr>
                                      <p:to>
                                        <p:strVal val="visible"/>
                                      </p:to>
                                    </p:set>
                                    <p:animEffect transition="in" filter="dissolve">
                                      <p:cBhvr>
                                        <p:cTn id="25" dur="500"/>
                                        <p:tgtEl>
                                          <p:spTgt spid="7782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dissolv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uild="p"/>
      <p:bldP spid="77828" grpId="0"/>
      <p:bldP spid="2" grpId="0"/>
      <p:bldP spid="8"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fontScale="90000"/>
          </a:bodyPr>
          <a:lstStyle/>
          <a:p>
            <a:r>
              <a:rPr lang="en-US" altLang="en-US" dirty="0"/>
              <a:t>Sphere Function </a:t>
            </a:r>
            <a:r>
              <a:rPr lang="en-US" altLang="en-US" dirty="0" err="1"/>
              <a:t>Optimisation</a:t>
            </a:r>
            <a:r>
              <a:rPr lang="en-US" altLang="en-US" dirty="0"/>
              <a:t> –</a:t>
            </a:r>
            <a:br>
              <a:rPr lang="en-US" altLang="en-US" dirty="0"/>
            </a:br>
            <a:r>
              <a:rPr lang="en-US" altLang="en-US" dirty="0"/>
              <a:t>Representation II</a:t>
            </a:r>
            <a:endParaRPr lang="tr-TR" altLang="en-US" dirty="0"/>
          </a:p>
        </p:txBody>
      </p:sp>
      <p:sp>
        <p:nvSpPr>
          <p:cNvPr id="79875" name="Rectangle 3"/>
          <p:cNvSpPr>
            <a:spLocks noGrp="1" noChangeArrowheads="1"/>
          </p:cNvSpPr>
          <p:nvPr>
            <p:ph idx="1"/>
          </p:nvPr>
        </p:nvSpPr>
        <p:spPr/>
        <p:txBody>
          <a:bodyPr/>
          <a:lstStyle/>
          <a:p>
            <a:r>
              <a:rPr lang="en-AU" altLang="en-US" dirty="0"/>
              <a:t>Function has 3 parameters (dimensions): </a:t>
            </a:r>
            <a:r>
              <a:rPr lang="en-AU" altLang="en-US" i="1" dirty="0">
                <a:latin typeface="Times New Roman" panose="02020603050405020304" pitchFamily="18" charset="0"/>
                <a:cs typeface="Times New Roman" panose="02020603050405020304" pitchFamily="18" charset="0"/>
              </a:rPr>
              <a:t>x</a:t>
            </a:r>
            <a:r>
              <a:rPr lang="en-AU" altLang="en-US" baseline="-25000" dirty="0">
                <a:latin typeface="Times New Roman" panose="02020603050405020304" pitchFamily="18" charset="0"/>
                <a:cs typeface="Times New Roman" panose="02020603050405020304" pitchFamily="18" charset="0"/>
              </a:rPr>
              <a:t>1</a:t>
            </a:r>
            <a:r>
              <a:rPr lang="en-AU" altLang="en-US" dirty="0">
                <a:latin typeface="Courier New" pitchFamily="49" charset="0"/>
              </a:rPr>
              <a:t>, </a:t>
            </a:r>
            <a:r>
              <a:rPr lang="en-AU" altLang="en-US" i="1" dirty="0">
                <a:latin typeface="Times New Roman" panose="02020603050405020304" pitchFamily="18" charset="0"/>
                <a:cs typeface="Times New Roman" panose="02020603050405020304" pitchFamily="18" charset="0"/>
              </a:rPr>
              <a:t>x</a:t>
            </a:r>
            <a:r>
              <a:rPr lang="en-AU" altLang="en-US" baseline="-25000" dirty="0">
                <a:latin typeface="Courier New" pitchFamily="49" charset="0"/>
              </a:rPr>
              <a:t>2</a:t>
            </a:r>
            <a:r>
              <a:rPr lang="en-AU" altLang="en-US" dirty="0">
                <a:latin typeface="Courier New" pitchFamily="49" charset="0"/>
              </a:rPr>
              <a:t>, </a:t>
            </a:r>
            <a:r>
              <a:rPr lang="en-AU" altLang="en-US" i="1" dirty="0">
                <a:latin typeface="Times New Roman" panose="02020603050405020304" pitchFamily="18" charset="0"/>
                <a:cs typeface="Times New Roman" panose="02020603050405020304" pitchFamily="18" charset="0"/>
              </a:rPr>
              <a:t>x</a:t>
            </a:r>
            <a:r>
              <a:rPr lang="en-AU" altLang="en-US" baseline="-25000" dirty="0">
                <a:latin typeface="Courier New" pitchFamily="49" charset="0"/>
              </a:rPr>
              <a:t>3</a:t>
            </a:r>
          </a:p>
          <a:p>
            <a:r>
              <a:rPr lang="en-US" altLang="en-US" dirty="0"/>
              <a:t>Each parameter can be represented by 10 bits</a:t>
            </a:r>
          </a:p>
          <a:p>
            <a:r>
              <a:rPr lang="en-AU" altLang="en-US" dirty="0"/>
              <a:t>Chromosome consists of 30 bits</a:t>
            </a:r>
            <a:endParaRPr lang="en-US" altLang="en-US" dirty="0"/>
          </a:p>
          <a:p>
            <a:r>
              <a:rPr lang="en-US" altLang="en-US" dirty="0"/>
              <a:t>Example</a:t>
            </a:r>
          </a:p>
          <a:p>
            <a:pPr eaLnBrk="0" hangingPunct="0">
              <a:spcBef>
                <a:spcPct val="0"/>
              </a:spcBef>
              <a:buClrTx/>
              <a:buFontTx/>
              <a:buNone/>
            </a:pPr>
            <a:r>
              <a:rPr lang="en-AU" altLang="en-US" sz="2100" b="1" dirty="0">
                <a:solidFill>
                  <a:srgbClr val="FF0000"/>
                </a:solidFill>
                <a:latin typeface="Times New Roman" pitchFamily="18" charset="0"/>
              </a:rPr>
              <a:t>				</a:t>
            </a:r>
            <a:r>
              <a:rPr lang="en-AU" altLang="en-US" sz="2400" b="1" dirty="0">
                <a:solidFill>
                  <a:srgbClr val="FF0000"/>
                </a:solidFill>
                <a:latin typeface="Times New Roman" pitchFamily="18" charset="0"/>
              </a:rPr>
              <a:t>1100101010</a:t>
            </a:r>
            <a:r>
              <a:rPr lang="en-AU" altLang="en-US" sz="2400" b="1" dirty="0">
                <a:solidFill>
                  <a:schemeClr val="tx2">
                    <a:lumMod val="60000"/>
                    <a:lumOff val="40000"/>
                  </a:schemeClr>
                </a:solidFill>
                <a:latin typeface="Times New Roman" pitchFamily="18" charset="0"/>
              </a:rPr>
              <a:t>1100000000</a:t>
            </a:r>
            <a:r>
              <a:rPr lang="en-AU" altLang="en-US" sz="2400" b="1" dirty="0">
                <a:solidFill>
                  <a:srgbClr val="4CB465"/>
                </a:solidFill>
                <a:latin typeface="Times New Roman" pitchFamily="18" charset="0"/>
              </a:rPr>
              <a:t>0000000110</a:t>
            </a:r>
            <a:endParaRPr lang="en-AU" altLang="en-US" sz="2000" dirty="0">
              <a:solidFill>
                <a:srgbClr val="4CB465"/>
              </a:solidFill>
              <a:latin typeface="Times New Roman" pitchFamily="18" charset="0"/>
            </a:endParaRPr>
          </a:p>
          <a:p>
            <a:pPr eaLnBrk="0" hangingPunct="0">
              <a:spcBef>
                <a:spcPct val="0"/>
              </a:spcBef>
              <a:buClrTx/>
              <a:buFontTx/>
              <a:buNone/>
            </a:pPr>
            <a:r>
              <a:rPr lang="en-AU" altLang="en-US" sz="2000" dirty="0">
                <a:solidFill>
                  <a:srgbClr val="FFCCFF"/>
                </a:solidFill>
                <a:latin typeface="Times New Roman" pitchFamily="18" charset="0"/>
              </a:rPr>
              <a:t>          				</a:t>
            </a:r>
            <a:r>
              <a:rPr lang="en-AU" altLang="en-US" sz="2000" b="1" i="1" dirty="0">
                <a:solidFill>
                  <a:srgbClr val="FF0000"/>
                </a:solidFill>
                <a:latin typeface="Times New Roman" pitchFamily="18" charset="0"/>
              </a:rPr>
              <a:t>x</a:t>
            </a:r>
            <a:r>
              <a:rPr lang="en-AU" altLang="en-US" sz="2000" b="1" baseline="-25000" dirty="0">
                <a:solidFill>
                  <a:srgbClr val="FF0000"/>
                </a:solidFill>
                <a:latin typeface="Times New Roman" pitchFamily="18" charset="0"/>
              </a:rPr>
              <a:t>1</a:t>
            </a:r>
            <a:r>
              <a:rPr lang="en-AU" altLang="en-US" sz="2000" b="1" dirty="0">
                <a:solidFill>
                  <a:srgbClr val="FFCCFF"/>
                </a:solidFill>
                <a:latin typeface="Times New Roman" pitchFamily="18" charset="0"/>
              </a:rPr>
              <a:t>               </a:t>
            </a:r>
            <a:r>
              <a:rPr lang="en-AU" altLang="en-US" sz="2000" b="1" dirty="0">
                <a:solidFill>
                  <a:schemeClr val="folHlink"/>
                </a:solidFill>
                <a:latin typeface="Times New Roman" pitchFamily="18" charset="0"/>
              </a:rPr>
              <a:t>     </a:t>
            </a:r>
            <a:r>
              <a:rPr lang="en-AU" altLang="en-US" sz="2000" b="1" i="1" dirty="0">
                <a:solidFill>
                  <a:schemeClr val="tx2">
                    <a:lumMod val="60000"/>
                    <a:lumOff val="40000"/>
                  </a:schemeClr>
                </a:solidFill>
                <a:latin typeface="Times New Roman" pitchFamily="18" charset="0"/>
              </a:rPr>
              <a:t>x</a:t>
            </a:r>
            <a:r>
              <a:rPr lang="en-AU" altLang="en-US" sz="2000" b="1" baseline="-25000" dirty="0">
                <a:solidFill>
                  <a:schemeClr val="tx2">
                    <a:lumMod val="60000"/>
                    <a:lumOff val="40000"/>
                  </a:schemeClr>
                </a:solidFill>
                <a:latin typeface="Times New Roman" pitchFamily="18" charset="0"/>
              </a:rPr>
              <a:t>2</a:t>
            </a:r>
            <a:r>
              <a:rPr lang="en-AU" altLang="en-US" sz="2000" b="1" dirty="0">
                <a:solidFill>
                  <a:schemeClr val="tx2">
                    <a:lumMod val="60000"/>
                    <a:lumOff val="40000"/>
                  </a:schemeClr>
                </a:solidFill>
                <a:latin typeface="Times New Roman" pitchFamily="18" charset="0"/>
              </a:rPr>
              <a:t> </a:t>
            </a:r>
            <a:r>
              <a:rPr lang="en-AU" altLang="en-US" sz="2000" b="1" dirty="0">
                <a:solidFill>
                  <a:srgbClr val="FFCCFF"/>
                </a:solidFill>
                <a:latin typeface="Times New Roman" pitchFamily="18" charset="0"/>
              </a:rPr>
              <a:t>                 </a:t>
            </a:r>
            <a:r>
              <a:rPr lang="en-AU" altLang="en-US" sz="2000" b="1" i="1" dirty="0">
                <a:solidFill>
                  <a:srgbClr val="4CB465"/>
                </a:solidFill>
                <a:latin typeface="Times New Roman" pitchFamily="18" charset="0"/>
              </a:rPr>
              <a:t>x</a:t>
            </a:r>
            <a:r>
              <a:rPr lang="en-AU" altLang="en-US" sz="2000" b="1" baseline="-25000" dirty="0">
                <a:solidFill>
                  <a:srgbClr val="4CB465"/>
                </a:solidFill>
                <a:latin typeface="Times New Roman" pitchFamily="18" charset="0"/>
              </a:rPr>
              <a:t>3</a:t>
            </a:r>
          </a:p>
          <a:p>
            <a:pPr>
              <a:buFont typeface="Wingdings" pitchFamily="2" charset="2"/>
              <a:buNone/>
            </a:pPr>
            <a:endParaRPr lang="tr-TR" altLang="en-US" sz="3200" b="1" baseline="-25000" dirty="0"/>
          </a:p>
          <a:p>
            <a:pPr eaLnBrk="0" hangingPunct="0">
              <a:spcBef>
                <a:spcPct val="0"/>
              </a:spcBef>
              <a:buClrTx/>
              <a:buFontTx/>
              <a:buNone/>
            </a:pPr>
            <a:endParaRPr lang="en-AU" altLang="en-US" dirty="0"/>
          </a:p>
        </p:txBody>
      </p:sp>
      <p:sp>
        <p:nvSpPr>
          <p:cNvPr id="5" name="Slide Number Placeholder 5"/>
          <p:cNvSpPr>
            <a:spLocks noGrp="1"/>
          </p:cNvSpPr>
          <p:nvPr>
            <p:ph type="sldNum" sz="quarter" idx="12"/>
          </p:nvPr>
        </p:nvSpPr>
        <p:spPr/>
        <p:txBody>
          <a:bodyPr/>
          <a:lstStyle/>
          <a:p>
            <a:fld id="{5BBE3340-98B0-41C3-A55C-8D15D8539FF5}" type="slidenum">
              <a:rPr lang="tr-TR" altLang="en-US"/>
              <a:pPr/>
              <a:t>15</a:t>
            </a:fld>
            <a:endParaRPr lang="tr-TR" altLang="en-US"/>
          </a:p>
        </p:txBody>
      </p:sp>
    </p:spTree>
    <p:extLst>
      <p:ext uri="{BB962C8B-B14F-4D97-AF65-F5344CB8AC3E}">
        <p14:creationId xmlns:p14="http://schemas.microsoft.com/office/powerpoint/2010/main" val="310683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normAutofit fontScale="90000"/>
          </a:bodyPr>
          <a:lstStyle/>
          <a:p>
            <a:r>
              <a:rPr lang="en-US" altLang="en-US" dirty="0"/>
              <a:t>Sphere Function </a:t>
            </a:r>
            <a:r>
              <a:rPr lang="en-US" altLang="en-US" dirty="0" err="1"/>
              <a:t>Optimisation</a:t>
            </a:r>
            <a:r>
              <a:rPr lang="en-US" altLang="en-US" dirty="0"/>
              <a:t> – </a:t>
            </a:r>
            <a:br>
              <a:rPr lang="en-US" altLang="en-US" dirty="0"/>
            </a:br>
            <a:r>
              <a:rPr lang="en-US" altLang="en-US" dirty="0"/>
              <a:t>Fitness Evaluation (Decoding)</a:t>
            </a:r>
            <a:endParaRPr lang="tr-TR" altLang="en-US" dirty="0"/>
          </a:p>
        </p:txBody>
      </p:sp>
      <p:sp>
        <p:nvSpPr>
          <p:cNvPr id="80899" name="Rectangle 3"/>
          <p:cNvSpPr>
            <a:spLocks noGrp="1" noChangeArrowheads="1"/>
          </p:cNvSpPr>
          <p:nvPr>
            <p:ph idx="1"/>
          </p:nvPr>
        </p:nvSpPr>
        <p:spPr>
          <a:xfrm>
            <a:off x="320518" y="1358900"/>
            <a:ext cx="11341099" cy="4860925"/>
          </a:xfrm>
        </p:spPr>
        <p:txBody>
          <a:bodyPr/>
          <a:lstStyle/>
          <a:p>
            <a:pPr eaLnBrk="0" hangingPunct="0">
              <a:spcBef>
                <a:spcPct val="0"/>
              </a:spcBef>
              <a:buClrTx/>
              <a:buFontTx/>
              <a:buNone/>
            </a:pPr>
            <a:r>
              <a:rPr lang="en-AU" altLang="en-US" sz="2400" b="1" dirty="0">
                <a:solidFill>
                  <a:srgbClr val="FF0000"/>
                </a:solidFill>
                <a:latin typeface="Times New Roman" pitchFamily="18" charset="0"/>
              </a:rPr>
              <a:t>				1100101010</a:t>
            </a:r>
            <a:r>
              <a:rPr lang="en-AU" altLang="en-US" sz="2400" b="1" dirty="0">
                <a:solidFill>
                  <a:schemeClr val="tx2">
                    <a:lumMod val="60000"/>
                    <a:lumOff val="40000"/>
                  </a:schemeClr>
                </a:solidFill>
                <a:latin typeface="Times New Roman" pitchFamily="18" charset="0"/>
              </a:rPr>
              <a:t>1100000000</a:t>
            </a:r>
            <a:r>
              <a:rPr lang="en-AU" altLang="en-US" sz="2400" b="1" dirty="0">
                <a:solidFill>
                  <a:srgbClr val="4CB465"/>
                </a:solidFill>
                <a:latin typeface="Times New Roman" pitchFamily="18" charset="0"/>
              </a:rPr>
              <a:t>0000000110</a:t>
            </a:r>
            <a:endParaRPr lang="en-AU" altLang="en-US" sz="2000" dirty="0">
              <a:solidFill>
                <a:srgbClr val="4CB465"/>
              </a:solidFill>
              <a:latin typeface="Times New Roman" pitchFamily="18" charset="0"/>
            </a:endParaRPr>
          </a:p>
          <a:p>
            <a:pPr eaLnBrk="0" hangingPunct="0">
              <a:spcBef>
                <a:spcPct val="0"/>
              </a:spcBef>
              <a:buClrTx/>
              <a:buFontTx/>
              <a:buNone/>
            </a:pPr>
            <a:r>
              <a:rPr lang="en-AU" altLang="en-US" sz="2000" dirty="0">
                <a:solidFill>
                  <a:srgbClr val="FFCCFF"/>
                </a:solidFill>
                <a:latin typeface="Times New Roman" pitchFamily="18" charset="0"/>
              </a:rPr>
              <a:t>          				</a:t>
            </a:r>
            <a:r>
              <a:rPr lang="en-AU" altLang="en-US" sz="2000" b="1" i="1" dirty="0">
                <a:solidFill>
                  <a:srgbClr val="FF0000"/>
                </a:solidFill>
                <a:latin typeface="Times New Roman" pitchFamily="18" charset="0"/>
              </a:rPr>
              <a:t>x</a:t>
            </a:r>
            <a:r>
              <a:rPr lang="en-AU" altLang="en-US" sz="2000" b="1" baseline="-25000" dirty="0">
                <a:solidFill>
                  <a:srgbClr val="FF0000"/>
                </a:solidFill>
                <a:latin typeface="Times New Roman" pitchFamily="18" charset="0"/>
              </a:rPr>
              <a:t>1</a:t>
            </a:r>
            <a:r>
              <a:rPr lang="en-AU" altLang="en-US" sz="2000" b="1" dirty="0">
                <a:solidFill>
                  <a:srgbClr val="FFCCFF"/>
                </a:solidFill>
                <a:latin typeface="Times New Roman" pitchFamily="18" charset="0"/>
              </a:rPr>
              <a:t>               </a:t>
            </a:r>
            <a:r>
              <a:rPr lang="en-AU" altLang="en-US" sz="2000" b="1" dirty="0">
                <a:solidFill>
                  <a:schemeClr val="folHlink"/>
                </a:solidFill>
                <a:latin typeface="Times New Roman" pitchFamily="18" charset="0"/>
              </a:rPr>
              <a:t>     </a:t>
            </a:r>
            <a:r>
              <a:rPr lang="en-AU" altLang="en-US" sz="2000" b="1" i="1" dirty="0">
                <a:solidFill>
                  <a:schemeClr val="tx2">
                    <a:lumMod val="60000"/>
                    <a:lumOff val="40000"/>
                  </a:schemeClr>
                </a:solidFill>
                <a:latin typeface="Times New Roman" pitchFamily="18" charset="0"/>
              </a:rPr>
              <a:t>x</a:t>
            </a:r>
            <a:r>
              <a:rPr lang="en-AU" altLang="en-US" sz="2000" b="1" baseline="-25000" dirty="0">
                <a:solidFill>
                  <a:schemeClr val="tx2">
                    <a:lumMod val="60000"/>
                    <a:lumOff val="40000"/>
                  </a:schemeClr>
                </a:solidFill>
                <a:latin typeface="Times New Roman" pitchFamily="18" charset="0"/>
              </a:rPr>
              <a:t>2</a:t>
            </a:r>
            <a:r>
              <a:rPr lang="en-AU" altLang="en-US" sz="2000" b="1" dirty="0">
                <a:solidFill>
                  <a:srgbClr val="FFCCFF"/>
                </a:solidFill>
                <a:latin typeface="Times New Roman" pitchFamily="18" charset="0"/>
              </a:rPr>
              <a:t>                  </a:t>
            </a:r>
            <a:r>
              <a:rPr lang="en-AU" altLang="en-US" sz="2000" b="1" i="1" dirty="0">
                <a:solidFill>
                  <a:srgbClr val="4CB465"/>
                </a:solidFill>
                <a:latin typeface="Times New Roman" pitchFamily="18" charset="0"/>
              </a:rPr>
              <a:t>x</a:t>
            </a:r>
            <a:r>
              <a:rPr lang="en-AU" altLang="en-US" sz="2000" b="1" baseline="-25000" dirty="0">
                <a:solidFill>
                  <a:srgbClr val="4CB465"/>
                </a:solidFill>
                <a:latin typeface="Times New Roman" pitchFamily="18" charset="0"/>
              </a:rPr>
              <a:t>3</a:t>
            </a:r>
          </a:p>
          <a:p>
            <a:pPr>
              <a:buFont typeface="Wingdings" pitchFamily="2" charset="2"/>
              <a:buNone/>
            </a:pPr>
            <a:endParaRPr lang="en-US" altLang="en-US" sz="3200" dirty="0"/>
          </a:p>
          <a:p>
            <a:pPr>
              <a:buFont typeface="Wingdings" pitchFamily="2" charset="2"/>
              <a:buNone/>
            </a:pPr>
            <a:endParaRPr lang="en-US" altLang="en-US" sz="3200" dirty="0"/>
          </a:p>
          <a:p>
            <a:pPr lvl="1" eaLnBrk="0" hangingPunct="0">
              <a:spcBef>
                <a:spcPct val="0"/>
              </a:spcBef>
              <a:buClrTx/>
              <a:buFontTx/>
              <a:buNone/>
            </a:pPr>
            <a:r>
              <a:rPr lang="en-AU" altLang="en-US" sz="2400" i="1" dirty="0">
                <a:latin typeface="Times New Roman" pitchFamily="18" charset="0"/>
              </a:rPr>
              <a:t>x</a:t>
            </a:r>
            <a:r>
              <a:rPr lang="en-AU" altLang="en-US" sz="2400" baseline="-25000" dirty="0">
                <a:latin typeface="Times New Roman" pitchFamily="18" charset="0"/>
              </a:rPr>
              <a:t>1 </a:t>
            </a:r>
            <a:r>
              <a:rPr lang="en-AU" altLang="en-US" sz="2400" dirty="0">
                <a:latin typeface="Times New Roman" pitchFamily="18" charset="0"/>
              </a:rPr>
              <a:t>= (</a:t>
            </a:r>
            <a:r>
              <a:rPr lang="en-AU" altLang="en-US" sz="2400" b="1" dirty="0">
                <a:solidFill>
                  <a:srgbClr val="FF0000"/>
                </a:solidFill>
                <a:latin typeface="Times New Roman" pitchFamily="18" charset="0"/>
              </a:rPr>
              <a:t>810</a:t>
            </a:r>
            <a:r>
              <a:rPr lang="en-AU" altLang="en-US" sz="2400" dirty="0">
                <a:latin typeface="Times New Roman" pitchFamily="18" charset="0"/>
              </a:rPr>
              <a:t> - 511) = 299</a:t>
            </a:r>
          </a:p>
          <a:p>
            <a:pPr lvl="1" eaLnBrk="0" hangingPunct="0">
              <a:spcBef>
                <a:spcPct val="0"/>
              </a:spcBef>
              <a:buClrTx/>
              <a:buFontTx/>
              <a:buNone/>
            </a:pPr>
            <a:r>
              <a:rPr lang="en-AU" altLang="en-US" sz="2400" i="1" dirty="0">
                <a:latin typeface="Times New Roman" pitchFamily="18" charset="0"/>
              </a:rPr>
              <a:t>x</a:t>
            </a:r>
            <a:r>
              <a:rPr lang="en-AU" altLang="en-US" sz="2400" baseline="-25000" dirty="0">
                <a:latin typeface="Times New Roman" pitchFamily="18" charset="0"/>
              </a:rPr>
              <a:t>2 </a:t>
            </a:r>
            <a:r>
              <a:rPr lang="en-AU" altLang="en-US" sz="2400" dirty="0">
                <a:latin typeface="Times New Roman" pitchFamily="18" charset="0"/>
              </a:rPr>
              <a:t>= (</a:t>
            </a:r>
            <a:r>
              <a:rPr lang="en-AU" altLang="en-US" sz="2400" b="1" dirty="0">
                <a:solidFill>
                  <a:schemeClr val="tx2">
                    <a:lumMod val="60000"/>
                    <a:lumOff val="40000"/>
                  </a:schemeClr>
                </a:solidFill>
                <a:latin typeface="Times New Roman" pitchFamily="18" charset="0"/>
              </a:rPr>
              <a:t>768</a:t>
            </a:r>
            <a:r>
              <a:rPr lang="en-AU" altLang="en-US" sz="2400" dirty="0">
                <a:solidFill>
                  <a:schemeClr val="tx2">
                    <a:lumMod val="60000"/>
                    <a:lumOff val="40000"/>
                  </a:schemeClr>
                </a:solidFill>
                <a:latin typeface="Times New Roman" pitchFamily="18" charset="0"/>
              </a:rPr>
              <a:t> </a:t>
            </a:r>
            <a:r>
              <a:rPr lang="en-AU" altLang="en-US" sz="2400" dirty="0">
                <a:latin typeface="Times New Roman" pitchFamily="18" charset="0"/>
              </a:rPr>
              <a:t>- 511) = 257</a:t>
            </a:r>
          </a:p>
          <a:p>
            <a:pPr lvl="1" eaLnBrk="0" hangingPunct="0">
              <a:spcBef>
                <a:spcPct val="0"/>
              </a:spcBef>
              <a:buClrTx/>
              <a:buFontTx/>
              <a:buNone/>
            </a:pPr>
            <a:r>
              <a:rPr lang="en-AU" altLang="en-US" sz="2400" i="1" dirty="0">
                <a:latin typeface="Times New Roman" pitchFamily="18" charset="0"/>
              </a:rPr>
              <a:t>x</a:t>
            </a:r>
            <a:r>
              <a:rPr lang="en-AU" altLang="en-US" sz="2400" baseline="-25000" dirty="0">
                <a:latin typeface="Times New Roman" pitchFamily="18" charset="0"/>
              </a:rPr>
              <a:t>3 </a:t>
            </a:r>
            <a:r>
              <a:rPr lang="en-AU" altLang="en-US" sz="2400" dirty="0">
                <a:latin typeface="Times New Roman" pitchFamily="18" charset="0"/>
              </a:rPr>
              <a:t>= (</a:t>
            </a:r>
            <a:r>
              <a:rPr lang="en-AU" altLang="en-US" sz="2400" b="1" dirty="0">
                <a:solidFill>
                  <a:srgbClr val="4CB465"/>
                </a:solidFill>
                <a:latin typeface="Times New Roman" pitchFamily="18" charset="0"/>
              </a:rPr>
              <a:t>6</a:t>
            </a:r>
            <a:r>
              <a:rPr lang="en-AU" altLang="en-US" sz="2400" dirty="0">
                <a:latin typeface="Times New Roman" pitchFamily="18" charset="0"/>
              </a:rPr>
              <a:t> - 511)     = -505 </a:t>
            </a:r>
          </a:p>
          <a:p>
            <a:pPr lvl="1" eaLnBrk="0" hangingPunct="0">
              <a:spcBef>
                <a:spcPct val="0"/>
              </a:spcBef>
              <a:buClrTx/>
              <a:buFontTx/>
              <a:buNone/>
            </a:pPr>
            <a:r>
              <a:rPr lang="en-AU" altLang="en-US" sz="2400" dirty="0">
                <a:latin typeface="Times New Roman" pitchFamily="18" charset="0"/>
              </a:rPr>
              <a:t>   </a:t>
            </a:r>
          </a:p>
          <a:p>
            <a:pPr lvl="1" eaLnBrk="0" hangingPunct="0">
              <a:spcBef>
                <a:spcPct val="0"/>
              </a:spcBef>
              <a:buClrTx/>
              <a:buFontTx/>
              <a:buNone/>
            </a:pPr>
            <a:r>
              <a:rPr lang="en-AU" altLang="en-US" sz="2400" dirty="0">
                <a:latin typeface="Times New Roman" pitchFamily="18" charset="0"/>
              </a:rPr>
              <a:t>Fitness:     </a:t>
            </a:r>
            <a:r>
              <a:rPr lang="en-AU" altLang="en-US" sz="2400" i="1" dirty="0">
                <a:latin typeface="Times New Roman" pitchFamily="18" charset="0"/>
              </a:rPr>
              <a:t>f</a:t>
            </a:r>
            <a:r>
              <a:rPr lang="en-AU" altLang="en-US" sz="2400" dirty="0">
                <a:latin typeface="Times New Roman" pitchFamily="18" charset="0"/>
              </a:rPr>
              <a:t>(</a:t>
            </a:r>
            <a:r>
              <a:rPr lang="en-AU" altLang="en-US" sz="2400" i="1" dirty="0">
                <a:latin typeface="Times New Roman" pitchFamily="18" charset="0"/>
              </a:rPr>
              <a:t>x</a:t>
            </a:r>
            <a:r>
              <a:rPr lang="en-AU" altLang="en-US" sz="2400" dirty="0">
                <a:latin typeface="Times New Roman" pitchFamily="18" charset="0"/>
              </a:rPr>
              <a:t>)	=  (299)</a:t>
            </a:r>
            <a:r>
              <a:rPr lang="en-AU" altLang="en-US" sz="2400" baseline="30000" dirty="0">
                <a:latin typeface="Times New Roman" pitchFamily="18" charset="0"/>
              </a:rPr>
              <a:t>2 </a:t>
            </a:r>
            <a:r>
              <a:rPr lang="en-AU" altLang="en-US" sz="2400" dirty="0">
                <a:latin typeface="Times New Roman" pitchFamily="18" charset="0"/>
              </a:rPr>
              <a:t>+ (257)</a:t>
            </a:r>
            <a:r>
              <a:rPr lang="en-AU" altLang="en-US" sz="2400" baseline="30000" dirty="0">
                <a:latin typeface="Times New Roman" pitchFamily="18" charset="0"/>
              </a:rPr>
              <a:t>2 </a:t>
            </a:r>
            <a:r>
              <a:rPr lang="en-AU" altLang="en-US" sz="2400" dirty="0">
                <a:latin typeface="Times New Roman" pitchFamily="18" charset="0"/>
              </a:rPr>
              <a:t>+ (-505)</a:t>
            </a:r>
            <a:r>
              <a:rPr lang="en-AU" altLang="en-US" sz="2400" baseline="30000" dirty="0">
                <a:latin typeface="Times New Roman" pitchFamily="18" charset="0"/>
              </a:rPr>
              <a:t>2</a:t>
            </a:r>
          </a:p>
          <a:p>
            <a:pPr lvl="1" eaLnBrk="0" hangingPunct="0">
              <a:spcBef>
                <a:spcPct val="0"/>
              </a:spcBef>
              <a:buClrTx/>
              <a:buFontTx/>
              <a:buNone/>
            </a:pPr>
            <a:r>
              <a:rPr lang="en-AU" altLang="en-US" sz="2400" baseline="30000" dirty="0">
                <a:latin typeface="Times New Roman" pitchFamily="18" charset="0"/>
              </a:rPr>
              <a:t>				</a:t>
            </a:r>
            <a:r>
              <a:rPr lang="en-AU" altLang="en-US" sz="2400" dirty="0">
                <a:latin typeface="Times New Roman" pitchFamily="18" charset="0"/>
              </a:rPr>
              <a:t>=  410425</a:t>
            </a:r>
          </a:p>
          <a:p>
            <a:pPr>
              <a:buFont typeface="Wingdings" pitchFamily="2" charset="2"/>
              <a:buNone/>
            </a:pPr>
            <a:endParaRPr lang="tr-TR" altLang="en-US" sz="3200" dirty="0"/>
          </a:p>
        </p:txBody>
      </p:sp>
      <p:sp>
        <p:nvSpPr>
          <p:cNvPr id="5" name="Slide Number Placeholder 5"/>
          <p:cNvSpPr>
            <a:spLocks noGrp="1"/>
          </p:cNvSpPr>
          <p:nvPr>
            <p:ph type="sldNum" sz="quarter" idx="12"/>
          </p:nvPr>
        </p:nvSpPr>
        <p:spPr/>
        <p:txBody>
          <a:bodyPr/>
          <a:lstStyle/>
          <a:p>
            <a:fld id="{D6D3CD59-727D-43E8-B11D-05A0DB4927BB}" type="slidenum">
              <a:rPr lang="tr-TR" altLang="en-US"/>
              <a:pPr/>
              <a:t>16</a:t>
            </a:fld>
            <a:endParaRPr lang="tr-TR" altLang="en-US"/>
          </a:p>
        </p:txBody>
      </p:sp>
      <p:sp>
        <p:nvSpPr>
          <p:cNvPr id="6" name="Text Box 4"/>
          <p:cNvSpPr txBox="1">
            <a:spLocks noChangeArrowheads="1"/>
          </p:cNvSpPr>
          <p:nvPr/>
        </p:nvSpPr>
        <p:spPr bwMode="auto">
          <a:xfrm>
            <a:off x="768922" y="2610807"/>
            <a:ext cx="27003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AU" altLang="en-US" sz="2400" i="1" dirty="0">
                <a:latin typeface="Times New Roman" pitchFamily="18" charset="0"/>
              </a:rPr>
              <a:t>f </a:t>
            </a:r>
            <a:r>
              <a:rPr lang="en-AU" altLang="en-US" sz="2400" dirty="0">
                <a:latin typeface="Times New Roman" pitchFamily="18" charset="0"/>
              </a:rPr>
              <a:t>(</a:t>
            </a:r>
            <a:r>
              <a:rPr lang="en-AU" altLang="en-US" sz="2400" i="1" dirty="0">
                <a:latin typeface="Times New Roman" pitchFamily="18" charset="0"/>
              </a:rPr>
              <a:t>x</a:t>
            </a:r>
            <a:r>
              <a:rPr lang="en-AU" altLang="en-US" sz="2400" dirty="0">
                <a:latin typeface="Times New Roman" pitchFamily="18" charset="0"/>
              </a:rPr>
              <a:t>) =</a:t>
            </a:r>
            <a:r>
              <a:rPr lang="en-AU" altLang="en-US" sz="2400" i="1" dirty="0">
                <a:latin typeface="Times New Roman" panose="02020603050405020304" pitchFamily="18" charset="0"/>
                <a:cs typeface="Times New Roman" panose="02020603050405020304" pitchFamily="18" charset="0"/>
              </a:rPr>
              <a:t> x</a:t>
            </a:r>
            <a:r>
              <a:rPr lang="en-AU" altLang="en-US" sz="2400" baseline="-25000" dirty="0">
                <a:latin typeface="Times New Roman" panose="02020603050405020304" pitchFamily="18" charset="0"/>
                <a:cs typeface="Times New Roman" panose="02020603050405020304" pitchFamily="18" charset="0"/>
              </a:rPr>
              <a:t>1</a:t>
            </a:r>
            <a:r>
              <a:rPr lang="en-AU" altLang="en-US" sz="2400" baseline="30000" dirty="0">
                <a:latin typeface="Times New Roman" pitchFamily="18" charset="0"/>
              </a:rPr>
              <a:t>2</a:t>
            </a:r>
            <a:r>
              <a:rPr lang="en-AU" altLang="en-US" sz="2400" dirty="0">
                <a:latin typeface="Courier New" pitchFamily="49" charset="0"/>
              </a:rPr>
              <a:t>+</a:t>
            </a:r>
            <a:r>
              <a:rPr lang="en-AU" altLang="en-US" sz="2400" i="1" dirty="0">
                <a:latin typeface="Times New Roman" panose="02020603050405020304" pitchFamily="18" charset="0"/>
                <a:cs typeface="Times New Roman" panose="02020603050405020304" pitchFamily="18" charset="0"/>
              </a:rPr>
              <a:t>x</a:t>
            </a:r>
            <a:r>
              <a:rPr lang="en-AU" altLang="en-US" sz="2400" baseline="-25000" dirty="0">
                <a:latin typeface="Courier New" pitchFamily="49" charset="0"/>
              </a:rPr>
              <a:t>2</a:t>
            </a:r>
            <a:r>
              <a:rPr lang="en-AU" altLang="en-US" sz="2400" baseline="30000" dirty="0">
                <a:latin typeface="Times New Roman" pitchFamily="18" charset="0"/>
              </a:rPr>
              <a:t>2</a:t>
            </a:r>
            <a:r>
              <a:rPr lang="en-AU" altLang="en-US" sz="2400" dirty="0">
                <a:latin typeface="Courier New" pitchFamily="49" charset="0"/>
              </a:rPr>
              <a:t>+</a:t>
            </a:r>
            <a:r>
              <a:rPr lang="en-AU" altLang="en-US" sz="2400" i="1" dirty="0">
                <a:latin typeface="Times New Roman" panose="02020603050405020304" pitchFamily="18" charset="0"/>
                <a:cs typeface="Times New Roman" panose="02020603050405020304" pitchFamily="18" charset="0"/>
              </a:rPr>
              <a:t>x</a:t>
            </a:r>
            <a:r>
              <a:rPr lang="en-AU" altLang="en-US" sz="2400" baseline="-25000" dirty="0">
                <a:latin typeface="Courier New" pitchFamily="49" charset="0"/>
              </a:rPr>
              <a:t>3</a:t>
            </a:r>
            <a:r>
              <a:rPr lang="en-AU" altLang="en-US" sz="2400" baseline="30000" dirty="0">
                <a:latin typeface="Times New Roman" pitchFamily="18" charset="0"/>
              </a:rPr>
              <a:t>2</a:t>
            </a:r>
            <a:r>
              <a:rPr lang="en-AU" altLang="en-US" sz="2400" dirty="0">
                <a:latin typeface="Courier New" pitchFamily="49" charset="0"/>
                <a:sym typeface="Symbol" pitchFamily="18" charset="2"/>
              </a:rPr>
              <a:t> </a:t>
            </a:r>
            <a:endParaRPr lang="en-AU" altLang="en-US" sz="2400" dirty="0">
              <a:latin typeface="Courier New" pitchFamily="49" charset="0"/>
            </a:endParaRPr>
          </a:p>
        </p:txBody>
      </p:sp>
    </p:spTree>
    <p:extLst>
      <p:ext uri="{BB962C8B-B14F-4D97-AF65-F5344CB8AC3E}">
        <p14:creationId xmlns:p14="http://schemas.microsoft.com/office/powerpoint/2010/main" val="2244754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en-US"/>
              <a:t>More on Function Optimization</a:t>
            </a:r>
            <a:endParaRPr lang="tr-TR" altLang="en-US"/>
          </a:p>
        </p:txBody>
      </p:sp>
      <p:sp>
        <p:nvSpPr>
          <p:cNvPr id="78851" name="Rectangle 3"/>
          <p:cNvSpPr>
            <a:spLocks noGrp="1" noChangeArrowheads="1"/>
          </p:cNvSpPr>
          <p:nvPr>
            <p:ph idx="1"/>
          </p:nvPr>
        </p:nvSpPr>
        <p:spPr/>
        <p:txBody>
          <a:bodyPr/>
          <a:lstStyle/>
          <a:p>
            <a:pPr>
              <a:lnSpc>
                <a:spcPct val="90000"/>
              </a:lnSpc>
            </a:pPr>
            <a:r>
              <a:rPr lang="en-AU" altLang="en-US" sz="2800" dirty="0">
                <a:latin typeface="+mj-lt"/>
              </a:rPr>
              <a:t>What if </a:t>
            </a:r>
            <a:r>
              <a:rPr lang="en-AU" altLang="en-US" sz="2800" b="1" i="1" dirty="0">
                <a:latin typeface="+mj-lt"/>
                <a:cs typeface="Times New Roman" panose="02020603050405020304" pitchFamily="18" charset="0"/>
              </a:rPr>
              <a:t>x</a:t>
            </a:r>
            <a:r>
              <a:rPr lang="en-AU" altLang="en-US" sz="2800" b="1" i="1" baseline="-25000" dirty="0">
                <a:latin typeface="+mj-lt"/>
                <a:cs typeface="Times New Roman" panose="02020603050405020304" pitchFamily="18" charset="0"/>
              </a:rPr>
              <a:t>i</a:t>
            </a:r>
            <a:r>
              <a:rPr lang="en-AU" altLang="en-US" sz="2800" dirty="0">
                <a:latin typeface="+mj-lt"/>
              </a:rPr>
              <a:t> were real numbers in the interval </a:t>
            </a:r>
          </a:p>
          <a:p>
            <a:pPr>
              <a:lnSpc>
                <a:spcPct val="90000"/>
              </a:lnSpc>
              <a:spcBef>
                <a:spcPct val="0"/>
              </a:spcBef>
              <a:buClrTx/>
              <a:buNone/>
            </a:pPr>
            <a:r>
              <a:rPr lang="en-AU" altLang="en-US" sz="2800" dirty="0">
                <a:latin typeface="Times New Roman" pitchFamily="18" charset="0"/>
              </a:rPr>
              <a:t>    </a:t>
            </a:r>
            <a:r>
              <a:rPr lang="en-AU" altLang="en-US" sz="2800" b="1" dirty="0">
                <a:latin typeface="Courier New" pitchFamily="49" charset="0"/>
              </a:rPr>
              <a:t>-5.12 </a:t>
            </a:r>
            <a:r>
              <a:rPr lang="en-AU" altLang="en-US" sz="2800" b="1" dirty="0">
                <a:latin typeface="Courier New" pitchFamily="49" charset="0"/>
                <a:sym typeface="Symbol" pitchFamily="18" charset="2"/>
              </a:rPr>
              <a:t>&lt;</a:t>
            </a:r>
            <a:r>
              <a:rPr lang="en-AU" altLang="en-US" sz="2800" b="1" dirty="0">
                <a:latin typeface="Courier New" pitchFamily="49" charset="0"/>
              </a:rPr>
              <a:t> </a:t>
            </a:r>
            <a:r>
              <a:rPr lang="en-AU" altLang="en-US" sz="2800" b="1" i="1" dirty="0">
                <a:latin typeface="Times New Roman" panose="02020603050405020304" pitchFamily="18" charset="0"/>
                <a:cs typeface="Times New Roman" panose="02020603050405020304" pitchFamily="18" charset="0"/>
              </a:rPr>
              <a:t>x</a:t>
            </a:r>
            <a:r>
              <a:rPr lang="en-AU" altLang="en-US" sz="2800" b="1" i="1" baseline="-25000" dirty="0">
                <a:latin typeface="Times New Roman" panose="02020603050405020304" pitchFamily="18" charset="0"/>
                <a:cs typeface="Times New Roman" panose="02020603050405020304" pitchFamily="18" charset="0"/>
              </a:rPr>
              <a:t>i</a:t>
            </a:r>
            <a:r>
              <a:rPr lang="en-AU" altLang="en-US" sz="2800" b="1" dirty="0">
                <a:latin typeface="Courier New" pitchFamily="49" charset="0"/>
                <a:sym typeface="Symbol" pitchFamily="18" charset="2"/>
              </a:rPr>
              <a:t> ≤ 5.12</a:t>
            </a:r>
          </a:p>
          <a:p>
            <a:pPr>
              <a:lnSpc>
                <a:spcPct val="90000"/>
              </a:lnSpc>
            </a:pPr>
            <a:r>
              <a:rPr lang="en-AU" altLang="en-US" sz="2800" dirty="0">
                <a:latin typeface="+mj-lt"/>
              </a:rPr>
              <a:t>Solution: </a:t>
            </a:r>
          </a:p>
          <a:p>
            <a:pPr lvl="1">
              <a:lnSpc>
                <a:spcPct val="90000"/>
              </a:lnSpc>
            </a:pPr>
            <a:r>
              <a:rPr lang="en-AU" altLang="en-US" sz="2400" dirty="0">
                <a:latin typeface="+mj-lt"/>
              </a:rPr>
              <a:t>Use binary representation </a:t>
            </a:r>
          </a:p>
          <a:p>
            <a:pPr lvl="2">
              <a:lnSpc>
                <a:spcPct val="90000"/>
              </a:lnSpc>
            </a:pPr>
            <a:r>
              <a:rPr lang="en-AU" altLang="en-US" sz="2400" dirty="0">
                <a:latin typeface="+mj-lt"/>
              </a:rPr>
              <a:t> with precision of 2 digits after decimal point</a:t>
            </a:r>
          </a:p>
          <a:p>
            <a:pPr lvl="2">
              <a:lnSpc>
                <a:spcPct val="90000"/>
              </a:lnSpc>
            </a:pPr>
            <a:r>
              <a:rPr lang="en-AU" altLang="en-US" sz="2400" dirty="0">
                <a:latin typeface="+mj-lt"/>
              </a:rPr>
              <a:t> use 1024 different numbers</a:t>
            </a:r>
          </a:p>
          <a:p>
            <a:pPr lvl="2">
              <a:lnSpc>
                <a:spcPct val="90000"/>
              </a:lnSpc>
            </a:pPr>
            <a:r>
              <a:rPr lang="en-AU" altLang="en-US" sz="2400" dirty="0">
                <a:latin typeface="+mj-lt"/>
              </a:rPr>
              <a:t> divide number by 100</a:t>
            </a:r>
          </a:p>
          <a:p>
            <a:pPr lvl="1">
              <a:lnSpc>
                <a:spcPct val="90000"/>
              </a:lnSpc>
            </a:pPr>
            <a:r>
              <a:rPr lang="en-AU" altLang="en-US" sz="2400" dirty="0">
                <a:latin typeface="+mj-lt"/>
              </a:rPr>
              <a:t>Use other representation (e.g. real)</a:t>
            </a:r>
          </a:p>
          <a:p>
            <a:pPr>
              <a:lnSpc>
                <a:spcPct val="90000"/>
              </a:lnSpc>
            </a:pPr>
            <a:r>
              <a:rPr lang="en-AU" altLang="en-US" sz="2800" dirty="0">
                <a:latin typeface="+mj-lt"/>
              </a:rPr>
              <a:t>What if the representation has redundancy?</a:t>
            </a:r>
          </a:p>
          <a:p>
            <a:pPr>
              <a:lnSpc>
                <a:spcPct val="90000"/>
              </a:lnSpc>
              <a:buNone/>
            </a:pPr>
            <a:r>
              <a:rPr lang="en-AU" altLang="en-US" sz="2800" dirty="0"/>
              <a:t>           e.g. </a:t>
            </a:r>
            <a:r>
              <a:rPr lang="en-AU" altLang="en-US" sz="2800" b="1" dirty="0">
                <a:latin typeface="Courier New" pitchFamily="49" charset="0"/>
              </a:rPr>
              <a:t>-5.40 </a:t>
            </a:r>
            <a:r>
              <a:rPr lang="en-AU" altLang="en-US" sz="2800" b="1" dirty="0">
                <a:latin typeface="Courier New" pitchFamily="49" charset="0"/>
                <a:sym typeface="Symbol" pitchFamily="18" charset="2"/>
              </a:rPr>
              <a:t>&lt;</a:t>
            </a:r>
            <a:r>
              <a:rPr lang="en-AU" altLang="en-US" sz="2800" b="1" dirty="0">
                <a:latin typeface="Courier New" pitchFamily="49" charset="0"/>
              </a:rPr>
              <a:t> </a:t>
            </a:r>
            <a:r>
              <a:rPr lang="en-AU" altLang="en-US" sz="2800" b="1" i="1" dirty="0">
                <a:latin typeface="Times New Roman" panose="02020603050405020304" pitchFamily="18" charset="0"/>
                <a:cs typeface="Times New Roman" panose="02020603050405020304" pitchFamily="18" charset="0"/>
              </a:rPr>
              <a:t>x</a:t>
            </a:r>
            <a:r>
              <a:rPr lang="en-AU" altLang="en-US" sz="2800" b="1" i="1" baseline="-25000" dirty="0">
                <a:latin typeface="Times New Roman" panose="02020603050405020304" pitchFamily="18" charset="0"/>
                <a:cs typeface="Times New Roman" panose="02020603050405020304" pitchFamily="18" charset="0"/>
              </a:rPr>
              <a:t>i</a:t>
            </a:r>
            <a:r>
              <a:rPr lang="en-AU" altLang="en-US" sz="2800" b="1" dirty="0">
                <a:latin typeface="Courier New" pitchFamily="49" charset="0"/>
                <a:sym typeface="Symbol" pitchFamily="18" charset="2"/>
              </a:rPr>
              <a:t> ≤ 5.40</a:t>
            </a:r>
            <a:endParaRPr lang="tr-TR" altLang="en-US" sz="2800" b="1" dirty="0">
              <a:latin typeface="Courier New" pitchFamily="49" charset="0"/>
              <a:sym typeface="Symbol" pitchFamily="18" charset="2"/>
            </a:endParaRPr>
          </a:p>
        </p:txBody>
      </p:sp>
      <p:sp>
        <p:nvSpPr>
          <p:cNvPr id="5" name="Slide Number Placeholder 5"/>
          <p:cNvSpPr>
            <a:spLocks noGrp="1"/>
          </p:cNvSpPr>
          <p:nvPr>
            <p:ph type="sldNum" sz="quarter" idx="12"/>
          </p:nvPr>
        </p:nvSpPr>
        <p:spPr/>
        <p:txBody>
          <a:bodyPr/>
          <a:lstStyle/>
          <a:p>
            <a:fld id="{980CC0F7-B677-4837-BF44-F27A4B5BB87C}" type="slidenum">
              <a:rPr lang="tr-TR" altLang="en-US"/>
              <a:pPr/>
              <a:t>17</a:t>
            </a:fld>
            <a:endParaRPr lang="tr-TR" altLang="en-US"/>
          </a:p>
        </p:txBody>
      </p:sp>
    </p:spTree>
    <p:custDataLst>
      <p:tags r:id="rId1"/>
    </p:custDataLst>
    <p:extLst>
      <p:ext uri="{BB962C8B-B14F-4D97-AF65-F5344CB8AC3E}">
        <p14:creationId xmlns:p14="http://schemas.microsoft.com/office/powerpoint/2010/main" val="1481059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851">
                                            <p:txEl>
                                              <p:pRg st="3" end="3"/>
                                            </p:txEl>
                                          </p:spTgt>
                                        </p:tgtEl>
                                        <p:attrNameLst>
                                          <p:attrName>style.visibility</p:attrName>
                                        </p:attrNameLst>
                                      </p:cBhvr>
                                      <p:to>
                                        <p:strVal val="visible"/>
                                      </p:to>
                                    </p:set>
                                    <p:animEffect transition="in" filter="fade">
                                      <p:cBhvr>
                                        <p:cTn id="7" dur="500"/>
                                        <p:tgtEl>
                                          <p:spTgt spid="78851">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8851">
                                            <p:txEl>
                                              <p:pRg st="4" end="4"/>
                                            </p:txEl>
                                          </p:spTgt>
                                        </p:tgtEl>
                                        <p:attrNameLst>
                                          <p:attrName>style.visibility</p:attrName>
                                        </p:attrNameLst>
                                      </p:cBhvr>
                                      <p:to>
                                        <p:strVal val="visible"/>
                                      </p:to>
                                    </p:set>
                                    <p:animEffect transition="in" filter="fade">
                                      <p:cBhvr>
                                        <p:cTn id="10" dur="500"/>
                                        <p:tgtEl>
                                          <p:spTgt spid="78851">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8851">
                                            <p:txEl>
                                              <p:pRg st="5" end="5"/>
                                            </p:txEl>
                                          </p:spTgt>
                                        </p:tgtEl>
                                        <p:attrNameLst>
                                          <p:attrName>style.visibility</p:attrName>
                                        </p:attrNameLst>
                                      </p:cBhvr>
                                      <p:to>
                                        <p:strVal val="visible"/>
                                      </p:to>
                                    </p:set>
                                    <p:animEffect transition="in" filter="fade">
                                      <p:cBhvr>
                                        <p:cTn id="13" dur="500"/>
                                        <p:tgtEl>
                                          <p:spTgt spid="78851">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8851">
                                            <p:txEl>
                                              <p:pRg st="6" end="6"/>
                                            </p:txEl>
                                          </p:spTgt>
                                        </p:tgtEl>
                                        <p:attrNameLst>
                                          <p:attrName>style.visibility</p:attrName>
                                        </p:attrNameLst>
                                      </p:cBhvr>
                                      <p:to>
                                        <p:strVal val="visible"/>
                                      </p:to>
                                    </p:set>
                                    <p:animEffect transition="in" filter="fade">
                                      <p:cBhvr>
                                        <p:cTn id="16" dur="500"/>
                                        <p:tgtEl>
                                          <p:spTgt spid="78851">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8851">
                                            <p:txEl>
                                              <p:pRg st="7" end="7"/>
                                            </p:txEl>
                                          </p:spTgt>
                                        </p:tgtEl>
                                        <p:attrNameLst>
                                          <p:attrName>style.visibility</p:attrName>
                                        </p:attrNameLst>
                                      </p:cBhvr>
                                      <p:to>
                                        <p:strVal val="visible"/>
                                      </p:to>
                                    </p:set>
                                    <p:animEffect transition="in" filter="fade">
                                      <p:cBhvr>
                                        <p:cTn id="21" dur="500"/>
                                        <p:tgtEl>
                                          <p:spTgt spid="78851">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8851">
                                            <p:txEl>
                                              <p:pRg st="8" end="8"/>
                                            </p:txEl>
                                          </p:spTgt>
                                        </p:tgtEl>
                                        <p:attrNameLst>
                                          <p:attrName>style.visibility</p:attrName>
                                        </p:attrNameLst>
                                      </p:cBhvr>
                                      <p:to>
                                        <p:strVal val="visible"/>
                                      </p:to>
                                    </p:set>
                                    <p:animEffect transition="in" filter="fade">
                                      <p:cBhvr>
                                        <p:cTn id="26" dur="500"/>
                                        <p:tgtEl>
                                          <p:spTgt spid="78851">
                                            <p:txEl>
                                              <p:pRg st="8" end="8"/>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78851">
                                            <p:txEl>
                                              <p:pRg st="9" end="9"/>
                                            </p:txEl>
                                          </p:spTgt>
                                        </p:tgtEl>
                                        <p:attrNameLst>
                                          <p:attrName>style.visibility</p:attrName>
                                        </p:attrNameLst>
                                      </p:cBhvr>
                                      <p:to>
                                        <p:strVal val="visible"/>
                                      </p:to>
                                    </p:set>
                                    <p:animEffect transition="in" filter="fade">
                                      <p:cBhvr>
                                        <p:cTn id="29" dur="500"/>
                                        <p:tgtEl>
                                          <p:spTgt spid="7885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D17A8-F596-123A-0CB1-DD8EAD73AC0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2C3B3F3-7235-A8C9-A4A3-7C875FC2954D}"/>
              </a:ext>
            </a:extLst>
          </p:cNvPr>
          <p:cNvSpPr>
            <a:spLocks noGrp="1"/>
          </p:cNvSpPr>
          <p:nvPr>
            <p:ph type="ctrTitle"/>
          </p:nvPr>
        </p:nvSpPr>
        <p:spPr>
          <a:xfrm>
            <a:off x="427089" y="2013677"/>
            <a:ext cx="10466198" cy="874948"/>
          </a:xfrm>
        </p:spPr>
        <p:txBody>
          <a:bodyPr>
            <a:normAutofit fontScale="90000"/>
          </a:bodyPr>
          <a:lstStyle/>
          <a:p>
            <a:r>
              <a:rPr lang="en-US" altLang="en-US" dirty="0"/>
              <a:t>Case Studies</a:t>
            </a:r>
            <a:endParaRPr lang="en-GB" noProof="0" dirty="0"/>
          </a:p>
        </p:txBody>
      </p:sp>
      <p:sp>
        <p:nvSpPr>
          <p:cNvPr id="13" name="Subtitle 12">
            <a:extLst>
              <a:ext uri="{FF2B5EF4-FFF2-40B4-BE49-F238E27FC236}">
                <a16:creationId xmlns:a16="http://schemas.microsoft.com/office/drawing/2014/main" id="{55D70E35-C923-980B-0D0C-66361080D927}"/>
              </a:ext>
            </a:extLst>
          </p:cNvPr>
          <p:cNvSpPr>
            <a:spLocks noGrp="1"/>
          </p:cNvSpPr>
          <p:nvPr>
            <p:ph type="subTitle" idx="1"/>
          </p:nvPr>
        </p:nvSpPr>
        <p:spPr>
          <a:xfrm>
            <a:off x="427089" y="3714750"/>
            <a:ext cx="9269952" cy="2174250"/>
          </a:xfrm>
        </p:spPr>
        <p:txBody>
          <a:bodyPr>
            <a:noAutofit/>
          </a:bodyPr>
          <a:lstStyle/>
          <a:p>
            <a:r>
              <a:rPr lang="en-GB" sz="2800" b="1" dirty="0"/>
              <a:t>Benchmark Function Optimisation</a:t>
            </a:r>
          </a:p>
          <a:p>
            <a:endParaRPr lang="en-GB" sz="2800" dirty="0"/>
          </a:p>
          <a:p>
            <a:endParaRPr lang="en-GB" sz="2800" dirty="0"/>
          </a:p>
          <a:p>
            <a:r>
              <a:rPr lang="en-GB" sz="1800" dirty="0"/>
              <a:t>Ender </a:t>
            </a:r>
            <a:r>
              <a:rPr lang="en-GB" sz="1800" dirty="0" err="1"/>
              <a:t>Özcan</a:t>
            </a:r>
            <a:r>
              <a:rPr lang="en-GB" sz="1800" dirty="0"/>
              <a:t>, Burak </a:t>
            </a:r>
            <a:r>
              <a:rPr lang="en-GB" sz="1800" dirty="0" err="1"/>
              <a:t>Bilgin</a:t>
            </a:r>
            <a:r>
              <a:rPr lang="en-GB" sz="1800" dirty="0"/>
              <a:t>, Emin Erkan Korkmaz, A Comprehensive Analysis of Hyper-heuristics, Intelligent Data Analysis, 12:1, pp. 3-23, 2008. [</a:t>
            </a:r>
            <a:r>
              <a:rPr lang="en-GB" sz="1800" u="sng" dirty="0">
                <a:hlinkClick r:id="rId3"/>
              </a:rPr>
              <a:t>PDF</a:t>
            </a:r>
            <a:r>
              <a:rPr lang="en-GB" sz="1800" dirty="0"/>
              <a:t>]</a:t>
            </a:r>
          </a:p>
          <a:p>
            <a:endParaRPr lang="en-GB" sz="2800" dirty="0"/>
          </a:p>
        </p:txBody>
      </p:sp>
    </p:spTree>
    <p:extLst>
      <p:ext uri="{BB962C8B-B14F-4D97-AF65-F5344CB8AC3E}">
        <p14:creationId xmlns:p14="http://schemas.microsoft.com/office/powerpoint/2010/main" val="4208352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372364" y="91288"/>
            <a:ext cx="1295637" cy="15097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010" name="Rectangle 2"/>
          <p:cNvSpPr>
            <a:spLocks noGrp="1" noChangeArrowheads="1"/>
          </p:cNvSpPr>
          <p:nvPr>
            <p:ph type="title"/>
          </p:nvPr>
        </p:nvSpPr>
        <p:spPr>
          <a:xfrm>
            <a:off x="1134406" y="-97587"/>
            <a:ext cx="10243127" cy="1143000"/>
          </a:xfrm>
        </p:spPr>
        <p:txBody>
          <a:bodyPr>
            <a:normAutofit/>
          </a:bodyPr>
          <a:lstStyle/>
          <a:p>
            <a:r>
              <a:rPr lang="en-US" altLang="en-US" dirty="0"/>
              <a:t>Benchmark Function </a:t>
            </a:r>
            <a:r>
              <a:rPr lang="en-US" altLang="en-US" dirty="0" err="1"/>
              <a:t>Optimisation</a:t>
            </a:r>
            <a:endParaRPr lang="en-US" altLang="en-US" dirty="0"/>
          </a:p>
        </p:txBody>
      </p:sp>
      <p:sp>
        <p:nvSpPr>
          <p:cNvPr id="2" name="Slide Number Placeholder 1"/>
          <p:cNvSpPr>
            <a:spLocks noGrp="1"/>
          </p:cNvSpPr>
          <p:nvPr>
            <p:ph type="sldNum" sz="quarter" idx="12"/>
          </p:nvPr>
        </p:nvSpPr>
        <p:spPr/>
        <p:txBody>
          <a:bodyPr/>
          <a:lstStyle/>
          <a:p>
            <a:fld id="{F9FBA879-C18A-4CA7-90D1-24E8AA1C9A68}" type="slidenum">
              <a:rPr lang="tr-TR" altLang="en-US" smtClean="0"/>
              <a:pPr/>
              <a:t>19</a:t>
            </a:fld>
            <a:endParaRPr lang="tr-TR" altLang="en-US"/>
          </a:p>
        </p:txBody>
      </p:sp>
      <p:pic>
        <p:nvPicPr>
          <p:cNvPr id="7" name="Picture 6"/>
          <p:cNvPicPr>
            <a:picLocks noChangeAspect="1"/>
          </p:cNvPicPr>
          <p:nvPr/>
        </p:nvPicPr>
        <p:blipFill>
          <a:blip r:embed="rId3"/>
          <a:stretch>
            <a:fillRect/>
          </a:stretch>
        </p:blipFill>
        <p:spPr>
          <a:xfrm>
            <a:off x="2018409" y="1600988"/>
            <a:ext cx="6359996" cy="4722854"/>
          </a:xfrm>
          <a:prstGeom prst="rect">
            <a:avLst/>
          </a:prstGeom>
        </p:spPr>
      </p:pic>
      <p:sp>
        <p:nvSpPr>
          <p:cNvPr id="17" name="Rectangle 16"/>
          <p:cNvSpPr/>
          <p:nvPr/>
        </p:nvSpPr>
        <p:spPr bwMode="auto">
          <a:xfrm>
            <a:off x="1919537" y="1383772"/>
            <a:ext cx="6457899" cy="35517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a:ln>
                <a:noFill/>
              </a:ln>
              <a:solidFill>
                <a:schemeClr val="tx1"/>
              </a:solidFill>
              <a:effectLst/>
              <a:latin typeface="Arial" charset="0"/>
            </a:endParaRPr>
          </a:p>
        </p:txBody>
      </p:sp>
      <p:sp>
        <p:nvSpPr>
          <p:cNvPr id="18" name="Rectangle 17"/>
          <p:cNvSpPr/>
          <p:nvPr/>
        </p:nvSpPr>
        <p:spPr>
          <a:xfrm>
            <a:off x="3161928" y="6300028"/>
            <a:ext cx="6822504" cy="338554"/>
          </a:xfrm>
          <a:prstGeom prst="rect">
            <a:avLst/>
          </a:prstGeom>
        </p:spPr>
        <p:txBody>
          <a:bodyPr wrap="square">
            <a:spAutoFit/>
          </a:bodyPr>
          <a:lstStyle/>
          <a:p>
            <a:r>
              <a:rPr lang="en-GB" sz="1600" dirty="0">
                <a:hlinkClick r:id="rId4"/>
              </a:rPr>
              <a:t>http://www.cs.nott.ac.uk/~pszeo/docs/publications/IDA08.pdf</a:t>
            </a:r>
            <a:r>
              <a:rPr lang="en-GB" sz="1600" dirty="0"/>
              <a:t> </a:t>
            </a:r>
          </a:p>
        </p:txBody>
      </p:sp>
      <p:pic>
        <p:nvPicPr>
          <p:cNvPr id="3" name="Picture 2"/>
          <p:cNvPicPr>
            <a:picLocks noChangeAspect="1"/>
          </p:cNvPicPr>
          <p:nvPr/>
        </p:nvPicPr>
        <p:blipFill>
          <a:blip r:embed="rId5"/>
          <a:stretch>
            <a:fillRect/>
          </a:stretch>
        </p:blipFill>
        <p:spPr>
          <a:xfrm>
            <a:off x="8376441" y="565206"/>
            <a:ext cx="1831168" cy="5643528"/>
          </a:xfrm>
          <a:prstGeom prst="rect">
            <a:avLst/>
          </a:prstGeom>
        </p:spPr>
      </p:pic>
      <p:sp>
        <p:nvSpPr>
          <p:cNvPr id="11" name="Rectangle 10"/>
          <p:cNvSpPr/>
          <p:nvPr/>
        </p:nvSpPr>
        <p:spPr>
          <a:xfrm>
            <a:off x="1984746" y="6156011"/>
            <a:ext cx="8615979"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p:nvSpPr>
        <p:spPr>
          <a:xfrm>
            <a:off x="1985418" y="2026185"/>
            <a:ext cx="8615979"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p:cNvCxnSpPr/>
          <p:nvPr/>
        </p:nvCxnSpPr>
        <p:spPr>
          <a:xfrm>
            <a:off x="1847529" y="2098193"/>
            <a:ext cx="8647087" cy="0"/>
          </a:xfrm>
          <a:prstGeom prst="line">
            <a:avLst/>
          </a:prstGeom>
          <a:ln w="190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847529" y="6156011"/>
            <a:ext cx="8647087" cy="0"/>
          </a:xfrm>
          <a:prstGeom prst="line">
            <a:avLst/>
          </a:prstGeom>
          <a:ln w="190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8645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53" presetClass="entr" presetSubtype="16"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p:cTn id="10" dur="500" fill="hold"/>
                                        <p:tgtEl>
                                          <p:spTgt spid="3"/>
                                        </p:tgtEl>
                                        <p:attrNameLst>
                                          <p:attrName>ppt_w</p:attrName>
                                        </p:attrNameLst>
                                      </p:cBhvr>
                                      <p:tavLst>
                                        <p:tav tm="0">
                                          <p:val>
                                            <p:fltVal val="0"/>
                                          </p:val>
                                        </p:tav>
                                        <p:tav tm="100000">
                                          <p:val>
                                            <p:strVal val="#ppt_w"/>
                                          </p:val>
                                        </p:tav>
                                      </p:tavLst>
                                    </p:anim>
                                    <p:anim calcmode="lin" valueType="num">
                                      <p:cBhvr>
                                        <p:cTn id="11" dur="500" fill="hold"/>
                                        <p:tgtEl>
                                          <p:spTgt spid="3"/>
                                        </p:tgtEl>
                                        <p:attrNameLst>
                                          <p:attrName>ppt_h</p:attrName>
                                        </p:attrNameLst>
                                      </p:cBhvr>
                                      <p:tavLst>
                                        <p:tav tm="0">
                                          <p:val>
                                            <p:fltVal val="0"/>
                                          </p:val>
                                        </p:tav>
                                        <p:tav tm="100000">
                                          <p:val>
                                            <p:strVal val="#ppt_h"/>
                                          </p:val>
                                        </p:tav>
                                      </p:tavLst>
                                    </p:anim>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a:srcRect r="12301"/>
          <a:stretch/>
        </p:blipFill>
        <p:spPr>
          <a:xfrm>
            <a:off x="2030493" y="1600987"/>
            <a:ext cx="5577673" cy="4722854"/>
          </a:xfrm>
          <a:prstGeom prst="rect">
            <a:avLst/>
          </a:prstGeom>
        </p:spPr>
      </p:pic>
      <p:sp>
        <p:nvSpPr>
          <p:cNvPr id="43010" name="Rectangle 2"/>
          <p:cNvSpPr>
            <a:spLocks noGrp="1" noChangeArrowheads="1"/>
          </p:cNvSpPr>
          <p:nvPr>
            <p:ph type="title"/>
          </p:nvPr>
        </p:nvSpPr>
        <p:spPr>
          <a:xfrm>
            <a:off x="909638" y="17672"/>
            <a:ext cx="10972800" cy="1143000"/>
          </a:xfrm>
        </p:spPr>
        <p:txBody>
          <a:bodyPr>
            <a:normAutofit/>
          </a:bodyPr>
          <a:lstStyle/>
          <a:p>
            <a:r>
              <a:rPr lang="en-US" altLang="en-US" dirty="0"/>
              <a:t>Benchmark Function </a:t>
            </a:r>
            <a:r>
              <a:rPr lang="en-US" altLang="en-US" dirty="0" err="1"/>
              <a:t>Optimisation</a:t>
            </a:r>
            <a:endParaRPr lang="en-US" altLang="en-US" dirty="0"/>
          </a:p>
        </p:txBody>
      </p:sp>
      <p:sp>
        <p:nvSpPr>
          <p:cNvPr id="2" name="Slide Number Placeholder 1"/>
          <p:cNvSpPr>
            <a:spLocks noGrp="1"/>
          </p:cNvSpPr>
          <p:nvPr>
            <p:ph type="sldNum" sz="quarter" idx="12"/>
          </p:nvPr>
        </p:nvSpPr>
        <p:spPr/>
        <p:txBody>
          <a:bodyPr/>
          <a:lstStyle/>
          <a:p>
            <a:fld id="{F9FBA879-C18A-4CA7-90D1-24E8AA1C9A68}" type="slidenum">
              <a:rPr lang="tr-TR" altLang="en-US" smtClean="0"/>
              <a:pPr/>
              <a:t>20</a:t>
            </a:fld>
            <a:endParaRPr lang="tr-TR" altLang="en-US"/>
          </a:p>
        </p:txBody>
      </p:sp>
      <p:sp>
        <p:nvSpPr>
          <p:cNvPr id="17" name="Rectangle 16"/>
          <p:cNvSpPr/>
          <p:nvPr/>
        </p:nvSpPr>
        <p:spPr bwMode="auto">
          <a:xfrm>
            <a:off x="1981200" y="1383772"/>
            <a:ext cx="6391476" cy="35517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a:ln>
                <a:noFill/>
              </a:ln>
              <a:solidFill>
                <a:schemeClr val="tx1"/>
              </a:solidFill>
              <a:effectLst/>
              <a:latin typeface="Arial" charset="0"/>
            </a:endParaRPr>
          </a:p>
        </p:txBody>
      </p:sp>
      <p:pic>
        <p:nvPicPr>
          <p:cNvPr id="4" name="Picture 3"/>
          <p:cNvPicPr>
            <a:picLocks noChangeAspect="1"/>
          </p:cNvPicPr>
          <p:nvPr/>
        </p:nvPicPr>
        <p:blipFill>
          <a:blip r:embed="rId4"/>
          <a:stretch>
            <a:fillRect/>
          </a:stretch>
        </p:blipFill>
        <p:spPr>
          <a:xfrm>
            <a:off x="7979056" y="828194"/>
            <a:ext cx="2915816" cy="2843479"/>
          </a:xfrm>
          <a:prstGeom prst="rect">
            <a:avLst/>
          </a:prstGeom>
        </p:spPr>
      </p:pic>
      <p:pic>
        <p:nvPicPr>
          <p:cNvPr id="5" name="Picture 4"/>
          <p:cNvPicPr>
            <a:picLocks noChangeAspect="1"/>
          </p:cNvPicPr>
          <p:nvPr/>
        </p:nvPicPr>
        <p:blipFill>
          <a:blip r:embed="rId5"/>
          <a:stretch>
            <a:fillRect/>
          </a:stretch>
        </p:blipFill>
        <p:spPr>
          <a:xfrm>
            <a:off x="7674996" y="3212460"/>
            <a:ext cx="3358224" cy="1944560"/>
          </a:xfrm>
          <a:prstGeom prst="rect">
            <a:avLst/>
          </a:prstGeom>
        </p:spPr>
      </p:pic>
      <p:cxnSp>
        <p:nvCxnSpPr>
          <p:cNvPr id="8" name="Straight Arrow Connector 7"/>
          <p:cNvCxnSpPr/>
          <p:nvPr/>
        </p:nvCxnSpPr>
        <p:spPr bwMode="auto">
          <a:xfrm flipV="1">
            <a:off x="7608168" y="2276872"/>
            <a:ext cx="278524" cy="36004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Arrow Connector 13"/>
          <p:cNvCxnSpPr/>
          <p:nvPr/>
        </p:nvCxnSpPr>
        <p:spPr bwMode="auto">
          <a:xfrm>
            <a:off x="7582506" y="3463516"/>
            <a:ext cx="910101" cy="32764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 name="Picture 9"/>
          <p:cNvPicPr>
            <a:picLocks noChangeAspect="1"/>
          </p:cNvPicPr>
          <p:nvPr/>
        </p:nvPicPr>
        <p:blipFill>
          <a:blip r:embed="rId6"/>
          <a:stretch>
            <a:fillRect/>
          </a:stretch>
        </p:blipFill>
        <p:spPr>
          <a:xfrm>
            <a:off x="8372674" y="5132847"/>
            <a:ext cx="2150803" cy="1613102"/>
          </a:xfrm>
          <a:prstGeom prst="rect">
            <a:avLst/>
          </a:prstGeom>
        </p:spPr>
      </p:pic>
      <p:cxnSp>
        <p:nvCxnSpPr>
          <p:cNvPr id="15" name="Straight Connector 14"/>
          <p:cNvCxnSpPr/>
          <p:nvPr/>
        </p:nvCxnSpPr>
        <p:spPr bwMode="auto">
          <a:xfrm>
            <a:off x="2927648" y="5579714"/>
            <a:ext cx="1296144"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p:nvPr/>
        </p:nvCxnSpPr>
        <p:spPr bwMode="auto">
          <a:xfrm>
            <a:off x="2999656" y="2708920"/>
            <a:ext cx="1296144"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p:nvPr/>
        </p:nvCxnSpPr>
        <p:spPr bwMode="auto">
          <a:xfrm>
            <a:off x="2999656" y="3556083"/>
            <a:ext cx="1296144"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Rectangle 24"/>
          <p:cNvSpPr/>
          <p:nvPr/>
        </p:nvSpPr>
        <p:spPr bwMode="auto">
          <a:xfrm>
            <a:off x="7848246" y="4938027"/>
            <a:ext cx="365866" cy="115526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a:ln>
                <a:noFill/>
              </a:ln>
              <a:solidFill>
                <a:schemeClr val="tx1"/>
              </a:solidFill>
              <a:effectLst/>
              <a:latin typeface="Arial" charset="0"/>
            </a:endParaRPr>
          </a:p>
        </p:txBody>
      </p:sp>
      <p:cxnSp>
        <p:nvCxnSpPr>
          <p:cNvPr id="20" name="Straight Arrow Connector 19"/>
          <p:cNvCxnSpPr/>
          <p:nvPr/>
        </p:nvCxnSpPr>
        <p:spPr bwMode="auto">
          <a:xfrm>
            <a:off x="7553587" y="4853881"/>
            <a:ext cx="1453832" cy="47083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p:nvPr/>
        </p:nvCxnSpPr>
        <p:spPr bwMode="auto">
          <a:xfrm>
            <a:off x="3009182" y="4994124"/>
            <a:ext cx="1296144"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Rectangle 20"/>
          <p:cNvSpPr/>
          <p:nvPr/>
        </p:nvSpPr>
        <p:spPr bwMode="auto">
          <a:xfrm>
            <a:off x="1822635" y="2108044"/>
            <a:ext cx="5921028" cy="79086"/>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a:ln>
                <a:noFill/>
              </a:ln>
              <a:solidFill>
                <a:schemeClr val="tx1"/>
              </a:solidFill>
              <a:effectLst/>
              <a:latin typeface="Arial" charset="0"/>
            </a:endParaRPr>
          </a:p>
        </p:txBody>
      </p:sp>
      <p:sp>
        <p:nvSpPr>
          <p:cNvPr id="27" name="Rectangle 26"/>
          <p:cNvSpPr/>
          <p:nvPr/>
        </p:nvSpPr>
        <p:spPr bwMode="auto">
          <a:xfrm>
            <a:off x="1991543" y="6165305"/>
            <a:ext cx="6381132" cy="158537"/>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a:ln>
                <a:noFill/>
              </a:ln>
              <a:solidFill>
                <a:schemeClr val="tx1"/>
              </a:solidFill>
              <a:effectLst/>
              <a:latin typeface="Arial" charset="0"/>
            </a:endParaRPr>
          </a:p>
        </p:txBody>
      </p:sp>
      <p:cxnSp>
        <p:nvCxnSpPr>
          <p:cNvPr id="28" name="Straight Connector 27"/>
          <p:cNvCxnSpPr/>
          <p:nvPr/>
        </p:nvCxnSpPr>
        <p:spPr>
          <a:xfrm>
            <a:off x="1985417" y="2098194"/>
            <a:ext cx="5758246" cy="9851"/>
          </a:xfrm>
          <a:prstGeom prst="line">
            <a:avLst/>
          </a:prstGeom>
          <a:ln w="190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969190" y="6156012"/>
            <a:ext cx="5927010" cy="9293"/>
          </a:xfrm>
          <a:prstGeom prst="line">
            <a:avLst/>
          </a:prstGeom>
          <a:ln w="1905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30" name="Picture 29"/>
          <p:cNvPicPr>
            <a:picLocks noChangeAspect="1"/>
          </p:cNvPicPr>
          <p:nvPr/>
        </p:nvPicPr>
        <p:blipFill>
          <a:blip r:embed="rId7"/>
          <a:stretch>
            <a:fillRect/>
          </a:stretch>
        </p:blipFill>
        <p:spPr>
          <a:xfrm>
            <a:off x="4431650" y="5300597"/>
            <a:ext cx="2875175" cy="814469"/>
          </a:xfrm>
          <a:prstGeom prst="rect">
            <a:avLst/>
          </a:prstGeom>
        </p:spPr>
      </p:pic>
    </p:spTree>
    <p:extLst>
      <p:ext uri="{BB962C8B-B14F-4D97-AF65-F5344CB8AC3E}">
        <p14:creationId xmlns:p14="http://schemas.microsoft.com/office/powerpoint/2010/main" val="284300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ltLang="en-US" dirty="0"/>
              <a:t>Binary vs Gray Encoding</a:t>
            </a:r>
          </a:p>
        </p:txBody>
      </p:sp>
      <p:sp>
        <p:nvSpPr>
          <p:cNvPr id="5" name="Content Placeholder 4"/>
          <p:cNvSpPr>
            <a:spLocks noGrp="1"/>
          </p:cNvSpPr>
          <p:nvPr>
            <p:ph sz="half" idx="1"/>
          </p:nvPr>
        </p:nvSpPr>
        <p:spPr/>
        <p:txBody>
          <a:bodyPr/>
          <a:lstStyle/>
          <a:p>
            <a:r>
              <a:rPr lang="en-GB" sz="3200" dirty="0" err="1"/>
              <a:t>Gray</a:t>
            </a:r>
            <a:r>
              <a:rPr lang="en-GB" sz="3200" dirty="0"/>
              <a:t> encoding ensures a Hamming distance of 1 for the adjacent numbers</a:t>
            </a:r>
          </a:p>
          <a:p>
            <a:r>
              <a:rPr lang="en-GB" sz="3200" dirty="0"/>
              <a:t>Shown to be useful in GAs empowering the algorithm to mutate a solution in the right direction</a:t>
            </a:r>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21</a:t>
            </a:fld>
            <a:endParaRPr lang="tr-TR" altLang="en-US"/>
          </a:p>
        </p:txBody>
      </p:sp>
      <p:grpSp>
        <p:nvGrpSpPr>
          <p:cNvPr id="4" name="Group 3"/>
          <p:cNvGrpSpPr/>
          <p:nvPr/>
        </p:nvGrpSpPr>
        <p:grpSpPr>
          <a:xfrm>
            <a:off x="4270976" y="2012178"/>
            <a:ext cx="7631360" cy="4081118"/>
            <a:chOff x="-468560" y="2012178"/>
            <a:chExt cx="7631360" cy="4081118"/>
          </a:xfrm>
        </p:grpSpPr>
        <p:sp>
          <p:nvSpPr>
            <p:cNvPr id="3" name="Rectangle 2"/>
            <p:cNvSpPr/>
            <p:nvPr/>
          </p:nvSpPr>
          <p:spPr>
            <a:xfrm>
              <a:off x="-468560" y="2012178"/>
              <a:ext cx="5399112" cy="4081117"/>
            </a:xfrm>
            <a:prstGeom prst="rect">
              <a:avLst/>
            </a:prstGeom>
          </p:spPr>
          <p:txBody>
            <a:bodyPr wrap="square">
              <a:spAutoFit/>
            </a:bodyPr>
            <a:lstStyle/>
            <a:p>
              <a:pPr algn="ctr">
                <a:lnSpc>
                  <a:spcPct val="90000"/>
                </a:lnSpc>
              </a:pPr>
              <a:r>
                <a:rPr lang="en-US" altLang="en-US" sz="3200" dirty="0">
                  <a:latin typeface="Courier New" pitchFamily="49" charset="0"/>
                </a:rPr>
                <a:t>      Dec Binary</a:t>
              </a:r>
            </a:p>
            <a:p>
              <a:pPr algn="ctr">
                <a:lnSpc>
                  <a:spcPct val="90000"/>
                </a:lnSpc>
              </a:pPr>
              <a:r>
                <a:rPr lang="en-US" altLang="en-US" sz="3200" dirty="0">
                  <a:latin typeface="Courier New" pitchFamily="49" charset="0"/>
                </a:rPr>
                <a:t>	 0  000</a:t>
              </a:r>
            </a:p>
            <a:p>
              <a:pPr algn="ctr">
                <a:lnSpc>
                  <a:spcPct val="90000"/>
                </a:lnSpc>
              </a:pPr>
              <a:r>
                <a:rPr lang="en-US" altLang="en-US" sz="3200" dirty="0">
                  <a:latin typeface="Courier New" pitchFamily="49" charset="0"/>
                </a:rPr>
                <a:t>	 1  001</a:t>
              </a:r>
            </a:p>
            <a:p>
              <a:pPr algn="ctr">
                <a:lnSpc>
                  <a:spcPct val="90000"/>
                </a:lnSpc>
              </a:pPr>
              <a:r>
                <a:rPr lang="en-US" altLang="en-US" sz="3200" dirty="0">
                  <a:latin typeface="Courier New" pitchFamily="49" charset="0"/>
                </a:rPr>
                <a:t>	 2  010</a:t>
              </a:r>
            </a:p>
            <a:p>
              <a:pPr algn="ctr">
                <a:lnSpc>
                  <a:spcPct val="90000"/>
                </a:lnSpc>
              </a:pPr>
              <a:r>
                <a:rPr lang="en-US" altLang="en-US" sz="3200" dirty="0">
                  <a:latin typeface="Courier New" pitchFamily="49" charset="0"/>
                </a:rPr>
                <a:t>	 3  011</a:t>
              </a:r>
            </a:p>
            <a:p>
              <a:pPr algn="ctr">
                <a:lnSpc>
                  <a:spcPct val="90000"/>
                </a:lnSpc>
              </a:pPr>
              <a:r>
                <a:rPr lang="en-US" altLang="en-US" sz="3200" dirty="0">
                  <a:latin typeface="Courier New" pitchFamily="49" charset="0"/>
                </a:rPr>
                <a:t>	 4  100</a:t>
              </a:r>
            </a:p>
            <a:p>
              <a:pPr algn="ctr">
                <a:lnSpc>
                  <a:spcPct val="90000"/>
                </a:lnSpc>
              </a:pPr>
              <a:r>
                <a:rPr lang="en-US" altLang="en-US" sz="3200" dirty="0">
                  <a:latin typeface="Courier New" pitchFamily="49" charset="0"/>
                </a:rPr>
                <a:t>	 5  101</a:t>
              </a:r>
            </a:p>
            <a:p>
              <a:pPr algn="ctr">
                <a:lnSpc>
                  <a:spcPct val="90000"/>
                </a:lnSpc>
              </a:pPr>
              <a:r>
                <a:rPr lang="en-US" altLang="en-US" sz="3200" dirty="0">
                  <a:latin typeface="Courier New" pitchFamily="49" charset="0"/>
                </a:rPr>
                <a:t>	 6  110</a:t>
              </a:r>
            </a:p>
            <a:p>
              <a:pPr algn="ctr">
                <a:lnSpc>
                  <a:spcPct val="90000"/>
                </a:lnSpc>
              </a:pPr>
              <a:r>
                <a:rPr lang="en-US" altLang="en-US" sz="3200" dirty="0">
                  <a:latin typeface="Courier New" pitchFamily="49" charset="0"/>
                </a:rPr>
                <a:t>	 7  111</a:t>
              </a:r>
            </a:p>
          </p:txBody>
        </p:sp>
        <p:sp>
          <p:nvSpPr>
            <p:cNvPr id="6" name="Rectangle 5"/>
            <p:cNvSpPr/>
            <p:nvPr/>
          </p:nvSpPr>
          <p:spPr>
            <a:xfrm>
              <a:off x="1763688" y="2012179"/>
              <a:ext cx="5399112" cy="4081117"/>
            </a:xfrm>
            <a:prstGeom prst="rect">
              <a:avLst/>
            </a:prstGeom>
          </p:spPr>
          <p:txBody>
            <a:bodyPr wrap="square">
              <a:spAutoFit/>
            </a:bodyPr>
            <a:lstStyle/>
            <a:p>
              <a:pPr algn="ctr">
                <a:lnSpc>
                  <a:spcPct val="90000"/>
                </a:lnSpc>
              </a:pPr>
              <a:r>
                <a:rPr lang="en-US" altLang="en-US" sz="3200" dirty="0">
                  <a:latin typeface="Courier New" pitchFamily="49" charset="0"/>
                </a:rPr>
                <a:t>    Gray</a:t>
              </a:r>
            </a:p>
            <a:p>
              <a:pPr algn="ctr">
                <a:lnSpc>
                  <a:spcPct val="90000"/>
                </a:lnSpc>
              </a:pPr>
              <a:r>
                <a:rPr lang="en-US" altLang="en-US" sz="3200" dirty="0">
                  <a:latin typeface="Courier New" pitchFamily="49" charset="0"/>
                </a:rPr>
                <a:t>	 000</a:t>
              </a:r>
            </a:p>
            <a:p>
              <a:pPr algn="ctr">
                <a:lnSpc>
                  <a:spcPct val="90000"/>
                </a:lnSpc>
              </a:pPr>
              <a:r>
                <a:rPr lang="en-US" altLang="en-US" sz="3200" dirty="0">
                  <a:latin typeface="Courier New" pitchFamily="49" charset="0"/>
                </a:rPr>
                <a:t>     001</a:t>
              </a:r>
            </a:p>
            <a:p>
              <a:pPr algn="ctr">
                <a:lnSpc>
                  <a:spcPct val="90000"/>
                </a:lnSpc>
              </a:pPr>
              <a:r>
                <a:rPr lang="en-US" altLang="en-US" sz="3200" dirty="0">
                  <a:latin typeface="Courier New" pitchFamily="49" charset="0"/>
                </a:rPr>
                <a:t>	 011</a:t>
              </a:r>
            </a:p>
            <a:p>
              <a:pPr algn="ctr">
                <a:lnSpc>
                  <a:spcPct val="90000"/>
                </a:lnSpc>
              </a:pPr>
              <a:r>
                <a:rPr lang="en-US" altLang="en-US" sz="3200" dirty="0">
                  <a:latin typeface="Courier New" pitchFamily="49" charset="0"/>
                </a:rPr>
                <a:t>	 010</a:t>
              </a:r>
            </a:p>
            <a:p>
              <a:pPr algn="ctr">
                <a:lnSpc>
                  <a:spcPct val="90000"/>
                </a:lnSpc>
              </a:pPr>
              <a:r>
                <a:rPr lang="en-US" altLang="en-US" sz="3200" dirty="0">
                  <a:latin typeface="Courier New" pitchFamily="49" charset="0"/>
                </a:rPr>
                <a:t>	 110</a:t>
              </a:r>
            </a:p>
            <a:p>
              <a:pPr algn="ctr">
                <a:lnSpc>
                  <a:spcPct val="90000"/>
                </a:lnSpc>
              </a:pPr>
              <a:r>
                <a:rPr lang="en-US" altLang="en-US" sz="3200" dirty="0">
                  <a:latin typeface="Courier New" pitchFamily="49" charset="0"/>
                </a:rPr>
                <a:t>	 111</a:t>
              </a:r>
            </a:p>
            <a:p>
              <a:pPr algn="ctr">
                <a:lnSpc>
                  <a:spcPct val="90000"/>
                </a:lnSpc>
              </a:pPr>
              <a:r>
                <a:rPr lang="en-US" altLang="en-US" sz="3200" dirty="0">
                  <a:latin typeface="Courier New" pitchFamily="49" charset="0"/>
                </a:rPr>
                <a:t>	 101   </a:t>
              </a:r>
            </a:p>
            <a:p>
              <a:pPr algn="ctr">
                <a:lnSpc>
                  <a:spcPct val="90000"/>
                </a:lnSpc>
              </a:pPr>
              <a:r>
                <a:rPr lang="en-US" altLang="en-US" sz="3200" dirty="0">
                  <a:latin typeface="Courier New" pitchFamily="49" charset="0"/>
                </a:rPr>
                <a:t>	 100</a:t>
              </a:r>
            </a:p>
          </p:txBody>
        </p:sp>
      </p:grpSp>
      <p:grpSp>
        <p:nvGrpSpPr>
          <p:cNvPr id="13" name="Group 12"/>
          <p:cNvGrpSpPr/>
          <p:nvPr/>
        </p:nvGrpSpPr>
        <p:grpSpPr>
          <a:xfrm>
            <a:off x="6744072" y="3356992"/>
            <a:ext cx="3466728" cy="1296144"/>
            <a:chOff x="5220072" y="3356992"/>
            <a:chExt cx="3466728" cy="1296144"/>
          </a:xfrm>
        </p:grpSpPr>
        <p:sp>
          <p:nvSpPr>
            <p:cNvPr id="10" name="Rectangle 9"/>
            <p:cNvSpPr/>
            <p:nvPr/>
          </p:nvSpPr>
          <p:spPr>
            <a:xfrm>
              <a:off x="5220072" y="3356992"/>
              <a:ext cx="3466728" cy="12961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Straight Connector 11"/>
            <p:cNvCxnSpPr/>
            <p:nvPr/>
          </p:nvCxnSpPr>
          <p:spPr>
            <a:xfrm>
              <a:off x="5334592" y="4178576"/>
              <a:ext cx="3265424"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930170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2" presetClass="entr" presetSubtype="4" fill="hold" nodeType="with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 calcmode="lin" valueType="num">
                                      <p:cBhvr additive="base">
                                        <p:cTn id="15"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 calcmode="lin" valueType="num">
                                      <p:cBhvr additive="base">
                                        <p:cTn id="2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Components of Evolutionary Algorithms and Settings</a:t>
            </a:r>
          </a:p>
        </p:txBody>
      </p:sp>
      <p:sp>
        <p:nvSpPr>
          <p:cNvPr id="3" name="Content Placeholder 2"/>
          <p:cNvSpPr>
            <a:spLocks noGrp="1"/>
          </p:cNvSpPr>
          <p:nvPr>
            <p:ph idx="1"/>
          </p:nvPr>
        </p:nvSpPr>
        <p:spPr>
          <a:xfrm>
            <a:off x="6301680" y="1706588"/>
            <a:ext cx="4258816" cy="4530725"/>
          </a:xfrm>
        </p:spPr>
        <p:txBody>
          <a:bodyPr>
            <a:normAutofit lnSpcReduction="10000"/>
          </a:bodyPr>
          <a:lstStyle/>
          <a:p>
            <a:pPr>
              <a:lnSpc>
                <a:spcPct val="80000"/>
              </a:lnSpc>
            </a:pPr>
            <a:r>
              <a:rPr lang="en-US" altLang="en-US" sz="2400" dirty="0"/>
              <a:t>Representation: Gray encoding</a:t>
            </a:r>
          </a:p>
          <a:p>
            <a:pPr>
              <a:lnSpc>
                <a:spcPct val="80000"/>
              </a:lnSpc>
            </a:pPr>
            <a:r>
              <a:rPr lang="en-US" altLang="en-US" sz="2400" dirty="0" err="1"/>
              <a:t>Initialisation</a:t>
            </a:r>
            <a:r>
              <a:rPr lang="en-US" altLang="en-US" sz="2400" dirty="0"/>
              <a:t>: random</a:t>
            </a:r>
          </a:p>
          <a:p>
            <a:pPr>
              <a:lnSpc>
                <a:spcPct val="80000"/>
              </a:lnSpc>
            </a:pPr>
            <a:r>
              <a:rPr lang="en-US" altLang="en-US" sz="2400" dirty="0"/>
              <a:t>Mate selection: Tournament with tour size of 2 </a:t>
            </a:r>
          </a:p>
          <a:p>
            <a:pPr>
              <a:lnSpc>
                <a:spcPct val="80000"/>
              </a:lnSpc>
            </a:pPr>
            <a:r>
              <a:rPr lang="en-US" altLang="en-US" sz="2400" dirty="0"/>
              <a:t>Crossover: 1PTX (</a:t>
            </a:r>
            <a:r>
              <a:rPr lang="en-US" altLang="en-US" sz="2400" i="1" dirty="0"/>
              <a:t>p</a:t>
            </a:r>
            <a:r>
              <a:rPr lang="en-US" altLang="en-US" sz="2400" i="1" baseline="-25000" dirty="0"/>
              <a:t>c</a:t>
            </a:r>
            <a:r>
              <a:rPr lang="en-US" altLang="en-US" sz="2400" dirty="0"/>
              <a:t>=1.0)</a:t>
            </a:r>
          </a:p>
          <a:p>
            <a:pPr>
              <a:lnSpc>
                <a:spcPct val="80000"/>
              </a:lnSpc>
            </a:pPr>
            <a:r>
              <a:rPr lang="en-US" altLang="en-US" sz="2400" dirty="0"/>
              <a:t>Traditional mutation based on bit-flip with mutation rate 1/(2 x </a:t>
            </a:r>
            <a:r>
              <a:rPr lang="en-US" altLang="en-US" sz="2400" dirty="0" err="1"/>
              <a:t>chromosome_length</a:t>
            </a:r>
            <a:r>
              <a:rPr lang="en-US" altLang="en-US" sz="2400" dirty="0"/>
              <a:t>)</a:t>
            </a:r>
          </a:p>
          <a:p>
            <a:pPr>
              <a:lnSpc>
                <a:spcPct val="80000"/>
              </a:lnSpc>
            </a:pPr>
            <a:r>
              <a:rPr lang="en-US" altLang="en-US" sz="2400" dirty="0"/>
              <a:t>A trans-generational EA with a replacement method which keeps only two best individuals from the previous generation.</a:t>
            </a:r>
            <a:r>
              <a:rPr lang="tr-TR" altLang="en-US" sz="2400" dirty="0"/>
              <a:t> </a:t>
            </a:r>
            <a:endParaRPr lang="en-GB" altLang="en-US" sz="2400" dirty="0"/>
          </a:p>
          <a:p>
            <a:pPr marL="0" indent="0">
              <a:lnSpc>
                <a:spcPct val="80000"/>
              </a:lnSpc>
              <a:buNone/>
            </a:pPr>
            <a:endParaRPr lang="en-GB" altLang="en-US" sz="2400" dirty="0"/>
          </a:p>
          <a:p>
            <a:pPr>
              <a:lnSpc>
                <a:spcPct val="80000"/>
              </a:lnSpc>
            </a:pPr>
            <a:endParaRPr lang="en-US" altLang="en-US" sz="2400" dirty="0"/>
          </a:p>
          <a:p>
            <a:endParaRPr lang="en-GB" sz="2800" dirty="0"/>
          </a:p>
        </p:txBody>
      </p:sp>
      <p:sp>
        <p:nvSpPr>
          <p:cNvPr id="4" name="Slide Number Placeholder 3"/>
          <p:cNvSpPr>
            <a:spLocks noGrp="1"/>
          </p:cNvSpPr>
          <p:nvPr>
            <p:ph type="sldNum" sz="quarter" idx="12"/>
          </p:nvPr>
        </p:nvSpPr>
        <p:spPr/>
        <p:txBody>
          <a:bodyPr/>
          <a:lstStyle/>
          <a:p>
            <a:fld id="{BB72550B-508B-4D61-A817-90B00A29C4EF}" type="slidenum">
              <a:rPr lang="tr-TR" altLang="en-US" smtClean="0"/>
              <a:pPr/>
              <a:t>22</a:t>
            </a:fld>
            <a:endParaRPr lang="tr-TR" altLang="en-US" dirty="0"/>
          </a:p>
        </p:txBody>
      </p:sp>
      <p:pic>
        <p:nvPicPr>
          <p:cNvPr id="6" name="Picture 5">
            <a:extLst>
              <a:ext uri="{FF2B5EF4-FFF2-40B4-BE49-F238E27FC236}">
                <a16:creationId xmlns:a16="http://schemas.microsoft.com/office/drawing/2014/main" id="{2E2FA0FF-E2AA-D5BE-EE03-098B22E3CB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96905" y="1490662"/>
            <a:ext cx="8532813" cy="524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321606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Components of Evolutionary Algorithms and Settings II </a:t>
            </a:r>
          </a:p>
        </p:txBody>
      </p:sp>
      <p:sp>
        <p:nvSpPr>
          <p:cNvPr id="3" name="Content Placeholder 2"/>
          <p:cNvSpPr>
            <a:spLocks noGrp="1"/>
          </p:cNvSpPr>
          <p:nvPr>
            <p:ph idx="1"/>
          </p:nvPr>
        </p:nvSpPr>
        <p:spPr>
          <a:xfrm>
            <a:off x="5455920" y="1946275"/>
            <a:ext cx="6459649" cy="4530725"/>
          </a:xfrm>
        </p:spPr>
        <p:txBody>
          <a:bodyPr/>
          <a:lstStyle/>
          <a:p>
            <a:pPr>
              <a:lnSpc>
                <a:spcPct val="80000"/>
              </a:lnSpc>
            </a:pPr>
            <a:r>
              <a:rPr lang="en-GB" altLang="en-US" sz="2000" dirty="0"/>
              <a:t>Memes (using bit-flip):</a:t>
            </a:r>
          </a:p>
          <a:p>
            <a:pPr lvl="1">
              <a:lnSpc>
                <a:spcPct val="80000"/>
              </a:lnSpc>
            </a:pPr>
            <a:r>
              <a:rPr lang="pl-PL" altLang="en-US" sz="2000" dirty="0"/>
              <a:t>GA: G</a:t>
            </a:r>
            <a:r>
              <a:rPr lang="en-GB" altLang="en-US" sz="2000" dirty="0" err="1"/>
              <a:t>enetic</a:t>
            </a:r>
            <a:r>
              <a:rPr lang="en-GB" altLang="en-US" sz="2000" dirty="0"/>
              <a:t> Algorithm (none)</a:t>
            </a:r>
            <a:endParaRPr lang="pl-PL" altLang="en-US" sz="2000" dirty="0"/>
          </a:p>
          <a:p>
            <a:pPr lvl="1">
              <a:lnSpc>
                <a:spcPct val="80000"/>
              </a:lnSpc>
            </a:pPr>
            <a:r>
              <a:rPr lang="pl-PL" altLang="en-US" sz="2000" dirty="0"/>
              <a:t>MA0: MA with SDHC</a:t>
            </a:r>
            <a:r>
              <a:rPr lang="en-GB" altLang="en-US" sz="2000" dirty="0"/>
              <a:t> (best imp.)</a:t>
            </a:r>
            <a:endParaRPr lang="pl-PL" altLang="en-US" sz="2000" dirty="0"/>
          </a:p>
          <a:p>
            <a:pPr lvl="1">
              <a:lnSpc>
                <a:spcPct val="80000"/>
              </a:lnSpc>
            </a:pPr>
            <a:r>
              <a:rPr lang="pl-PL" altLang="en-US" sz="2000" dirty="0"/>
              <a:t>MA1: MA with NDHC</a:t>
            </a:r>
            <a:r>
              <a:rPr lang="en-GB" altLang="en-US" sz="2000" dirty="0"/>
              <a:t> (first imp.)</a:t>
            </a:r>
            <a:endParaRPr lang="pl-PL" altLang="en-US" sz="2000" dirty="0"/>
          </a:p>
          <a:p>
            <a:pPr lvl="1">
              <a:lnSpc>
                <a:spcPct val="80000"/>
              </a:lnSpc>
            </a:pPr>
            <a:r>
              <a:rPr lang="pl-PL" altLang="en-US" sz="2000" dirty="0"/>
              <a:t>MA2: MA with R</a:t>
            </a:r>
            <a:r>
              <a:rPr lang="en-GB" altLang="en-US" sz="2000" dirty="0"/>
              <a:t>M</a:t>
            </a:r>
            <a:r>
              <a:rPr lang="pl-PL" altLang="en-US" sz="2000" dirty="0"/>
              <a:t>HC</a:t>
            </a:r>
          </a:p>
          <a:p>
            <a:pPr lvl="1">
              <a:lnSpc>
                <a:spcPct val="80000"/>
              </a:lnSpc>
            </a:pPr>
            <a:r>
              <a:rPr lang="pl-PL" altLang="en-US" sz="2000" dirty="0"/>
              <a:t>MA3: MA with DBHC</a:t>
            </a:r>
            <a:endParaRPr lang="en-GB" altLang="en-US" sz="2000" dirty="0"/>
          </a:p>
          <a:p>
            <a:pPr>
              <a:lnSpc>
                <a:spcPct val="80000"/>
              </a:lnSpc>
            </a:pPr>
            <a:r>
              <a:rPr lang="en-US" altLang="en-US" sz="2000" dirty="0"/>
              <a:t>Expectedly, poor performing memes (using biased moves) are designed:</a:t>
            </a:r>
          </a:p>
          <a:p>
            <a:pPr lvl="1">
              <a:lnSpc>
                <a:spcPct val="80000"/>
              </a:lnSpc>
            </a:pPr>
            <a:r>
              <a:rPr lang="en-US" altLang="en-US" sz="2000" dirty="0"/>
              <a:t>MA4: SDHC </a:t>
            </a:r>
            <a:r>
              <a:rPr lang="en-US" altLang="en-US" sz="2000" dirty="0">
                <a:sym typeface="Symbol" panose="05050102010706020507" pitchFamily="18" charset="2"/>
              </a:rPr>
              <a:t> neighborhood move: </a:t>
            </a:r>
            <a:r>
              <a:rPr lang="en-US" altLang="en-US" sz="2000" dirty="0"/>
              <a:t>AND with 0</a:t>
            </a:r>
          </a:p>
          <a:p>
            <a:pPr lvl="1">
              <a:lnSpc>
                <a:spcPct val="80000"/>
              </a:lnSpc>
            </a:pPr>
            <a:r>
              <a:rPr lang="en-US" altLang="en-US" sz="2000" dirty="0"/>
              <a:t>MA5: SDHC </a:t>
            </a:r>
            <a:r>
              <a:rPr lang="en-US" altLang="en-US" sz="2000" dirty="0">
                <a:sym typeface="Symbol" panose="05050102010706020507" pitchFamily="18" charset="2"/>
              </a:rPr>
              <a:t> neighborhood move: OR with 1</a:t>
            </a:r>
          </a:p>
          <a:p>
            <a:pPr lvl="1">
              <a:lnSpc>
                <a:spcPct val="80000"/>
              </a:lnSpc>
            </a:pPr>
            <a:r>
              <a:rPr lang="en-US" altLang="en-US" sz="2000" dirty="0"/>
              <a:t>MA6: NDHC </a:t>
            </a:r>
            <a:r>
              <a:rPr lang="en-US" altLang="en-US" sz="2000" dirty="0">
                <a:sym typeface="Symbol" panose="05050102010706020507" pitchFamily="18" charset="2"/>
              </a:rPr>
              <a:t> neighborhood move: AND with 0</a:t>
            </a:r>
            <a:endParaRPr lang="en-US" altLang="en-US" sz="2000" dirty="0"/>
          </a:p>
          <a:p>
            <a:pPr lvl="1">
              <a:lnSpc>
                <a:spcPct val="80000"/>
              </a:lnSpc>
            </a:pPr>
            <a:r>
              <a:rPr lang="en-US" altLang="en-US" sz="2000" dirty="0">
                <a:sym typeface="Symbol" panose="05050102010706020507" pitchFamily="18" charset="2"/>
              </a:rPr>
              <a:t>MA7: </a:t>
            </a:r>
            <a:r>
              <a:rPr lang="en-US" altLang="en-US" sz="2000" dirty="0"/>
              <a:t>NDHC </a:t>
            </a:r>
            <a:r>
              <a:rPr lang="en-US" altLang="en-US" sz="2000" dirty="0">
                <a:sym typeface="Symbol" panose="05050102010706020507" pitchFamily="18" charset="2"/>
              </a:rPr>
              <a:t> neighborhood move: OR with 1</a:t>
            </a:r>
            <a:r>
              <a:rPr lang="tr-TR" altLang="en-US" sz="2000" dirty="0"/>
              <a:t> </a:t>
            </a:r>
            <a:endParaRPr lang="en-US" altLang="en-US" sz="2000" dirty="0"/>
          </a:p>
          <a:p>
            <a:pPr lvl="1">
              <a:lnSpc>
                <a:spcPct val="80000"/>
              </a:lnSpc>
            </a:pPr>
            <a:endParaRPr lang="en-GB" altLang="en-US" sz="2000" dirty="0"/>
          </a:p>
          <a:p>
            <a:pPr marL="457200" lvl="1" indent="0">
              <a:lnSpc>
                <a:spcPct val="80000"/>
              </a:lnSpc>
              <a:buNone/>
            </a:pPr>
            <a:endParaRPr lang="pl-PL" altLang="en-US" sz="2000" dirty="0"/>
          </a:p>
          <a:p>
            <a:pPr>
              <a:lnSpc>
                <a:spcPct val="80000"/>
              </a:lnSpc>
            </a:pPr>
            <a:endParaRPr lang="en-GB" altLang="en-US" sz="2000" dirty="0"/>
          </a:p>
          <a:p>
            <a:pPr>
              <a:lnSpc>
                <a:spcPct val="80000"/>
              </a:lnSpc>
            </a:pPr>
            <a:endParaRPr lang="en-US" altLang="en-US" sz="2000" dirty="0"/>
          </a:p>
          <a:p>
            <a:endParaRPr lang="en-GB" sz="2400" dirty="0"/>
          </a:p>
        </p:txBody>
      </p:sp>
      <p:sp>
        <p:nvSpPr>
          <p:cNvPr id="4" name="Slide Number Placeholder 3"/>
          <p:cNvSpPr>
            <a:spLocks noGrp="1"/>
          </p:cNvSpPr>
          <p:nvPr>
            <p:ph type="sldNum" sz="quarter" idx="12"/>
          </p:nvPr>
        </p:nvSpPr>
        <p:spPr/>
        <p:txBody>
          <a:bodyPr/>
          <a:lstStyle/>
          <a:p>
            <a:fld id="{BB72550B-508B-4D61-A817-90B00A29C4EF}" type="slidenum">
              <a:rPr lang="tr-TR" altLang="en-US" smtClean="0"/>
              <a:pPr/>
              <a:t>23</a:t>
            </a:fld>
            <a:endParaRPr lang="tr-TR" altLang="en-US"/>
          </a:p>
        </p:txBody>
      </p:sp>
      <p:pic>
        <p:nvPicPr>
          <p:cNvPr id="6"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6905" y="1490662"/>
            <a:ext cx="8532813" cy="524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514348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fade">
                                      <p:cBhvr>
                                        <p:cTn id="3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normAutofit fontScale="90000"/>
          </a:bodyPr>
          <a:lstStyle/>
          <a:p>
            <a:r>
              <a:rPr lang="en-US" altLang="en-US" dirty="0"/>
              <a:t>Termination and Performance Comparison Criteria</a:t>
            </a:r>
          </a:p>
        </p:txBody>
      </p:sp>
      <p:sp>
        <p:nvSpPr>
          <p:cNvPr id="52227" name="Rectangle 3"/>
          <p:cNvSpPr>
            <a:spLocks noGrp="1" noChangeArrowheads="1"/>
          </p:cNvSpPr>
          <p:nvPr>
            <p:ph idx="1"/>
          </p:nvPr>
        </p:nvSpPr>
        <p:spPr/>
        <p:txBody>
          <a:bodyPr/>
          <a:lstStyle/>
          <a:p>
            <a:pPr>
              <a:lnSpc>
                <a:spcPct val="80000"/>
              </a:lnSpc>
            </a:pPr>
            <a:r>
              <a:rPr lang="en-US" altLang="en-US" sz="2800" dirty="0"/>
              <a:t>Termination: Runs are terminated whenever the overall CPU time exceeds 600 sec., or an expected fitness (optimum) is achieved. </a:t>
            </a:r>
          </a:p>
          <a:p>
            <a:pPr lvl="1">
              <a:lnSpc>
                <a:spcPct val="80000"/>
              </a:lnSpc>
            </a:pPr>
            <a:r>
              <a:rPr lang="en-US" altLang="en-US" sz="2400" dirty="0"/>
              <a:t>Pentium IV 2 GHz. machines with 256 MB RAM are used </a:t>
            </a:r>
          </a:p>
          <a:p>
            <a:pPr>
              <a:lnSpc>
                <a:spcPct val="80000"/>
              </a:lnSpc>
            </a:pPr>
            <a:r>
              <a:rPr lang="en-US" altLang="en-US" sz="2800" dirty="0"/>
              <a:t>All runs are repeated 50 times.</a:t>
            </a:r>
          </a:p>
          <a:p>
            <a:pPr>
              <a:lnSpc>
                <a:spcPct val="80000"/>
              </a:lnSpc>
            </a:pPr>
            <a:r>
              <a:rPr lang="en-US" altLang="en-US" sz="2800" dirty="0"/>
              <a:t>Performance indicators:</a:t>
            </a:r>
          </a:p>
          <a:p>
            <a:pPr lvl="1">
              <a:lnSpc>
                <a:spcPct val="80000"/>
              </a:lnSpc>
            </a:pPr>
            <a:r>
              <a:rPr lang="en-US" altLang="en-US" sz="2400" dirty="0"/>
              <a:t>Success rate (effectiveness): The ratio of the number of runs returning the expected optimal solution to the total number of runs (50)</a:t>
            </a:r>
          </a:p>
          <a:p>
            <a:pPr lvl="1">
              <a:lnSpc>
                <a:spcPct val="80000"/>
              </a:lnSpc>
            </a:pPr>
            <a:r>
              <a:rPr lang="en-US" altLang="en-US" sz="2400" dirty="0"/>
              <a:t>Average number of evaluations/configurations (efficiency)</a:t>
            </a:r>
          </a:p>
          <a:p>
            <a:pPr lvl="1">
              <a:lnSpc>
                <a:spcPct val="80000"/>
              </a:lnSpc>
            </a:pPr>
            <a:r>
              <a:rPr lang="en-US" altLang="en-US" sz="2400" dirty="0"/>
              <a:t>Bar chart plots showing the average no. of evaluations in log scale for each algorithm, if the success rate is 100% (all 50 runs yield expected optimum), otherwise no bar is drawn.</a:t>
            </a:r>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24</a:t>
            </a:fld>
            <a:endParaRPr lang="tr-TR" altLang="en-US"/>
          </a:p>
        </p:txBody>
      </p:sp>
    </p:spTree>
    <p:custDataLst>
      <p:tags r:id="rId1"/>
    </p:custDataLst>
    <p:extLst>
      <p:ext uri="{BB962C8B-B14F-4D97-AF65-F5344CB8AC3E}">
        <p14:creationId xmlns:p14="http://schemas.microsoft.com/office/powerpoint/2010/main" val="252320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Effect transition="in" filter="fade">
                                      <p:cBhvr>
                                        <p:cTn id="7" dur="500"/>
                                        <p:tgtEl>
                                          <p:spTgt spid="5222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2227">
                                            <p:txEl>
                                              <p:pRg st="1" end="1"/>
                                            </p:txEl>
                                          </p:spTgt>
                                        </p:tgtEl>
                                        <p:attrNameLst>
                                          <p:attrName>style.visibility</p:attrName>
                                        </p:attrNameLst>
                                      </p:cBhvr>
                                      <p:to>
                                        <p:strVal val="visible"/>
                                      </p:to>
                                    </p:set>
                                    <p:animEffect transition="in" filter="fade">
                                      <p:cBhvr>
                                        <p:cTn id="10" dur="500"/>
                                        <p:tgtEl>
                                          <p:spTgt spid="5222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2227">
                                            <p:txEl>
                                              <p:pRg st="2" end="2"/>
                                            </p:txEl>
                                          </p:spTgt>
                                        </p:tgtEl>
                                        <p:attrNameLst>
                                          <p:attrName>style.visibility</p:attrName>
                                        </p:attrNameLst>
                                      </p:cBhvr>
                                      <p:to>
                                        <p:strVal val="visible"/>
                                      </p:to>
                                    </p:set>
                                    <p:animEffect transition="in" filter="fade">
                                      <p:cBhvr>
                                        <p:cTn id="15" dur="500"/>
                                        <p:tgtEl>
                                          <p:spTgt spid="5222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2227">
                                            <p:txEl>
                                              <p:pRg st="3" end="3"/>
                                            </p:txEl>
                                          </p:spTgt>
                                        </p:tgtEl>
                                        <p:attrNameLst>
                                          <p:attrName>style.visibility</p:attrName>
                                        </p:attrNameLst>
                                      </p:cBhvr>
                                      <p:to>
                                        <p:strVal val="visible"/>
                                      </p:to>
                                    </p:set>
                                    <p:animEffect transition="in" filter="fade">
                                      <p:cBhvr>
                                        <p:cTn id="20" dur="500"/>
                                        <p:tgtEl>
                                          <p:spTgt spid="52227">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2227">
                                            <p:txEl>
                                              <p:pRg st="4" end="4"/>
                                            </p:txEl>
                                          </p:spTgt>
                                        </p:tgtEl>
                                        <p:attrNameLst>
                                          <p:attrName>style.visibility</p:attrName>
                                        </p:attrNameLst>
                                      </p:cBhvr>
                                      <p:to>
                                        <p:strVal val="visible"/>
                                      </p:to>
                                    </p:set>
                                    <p:animEffect transition="in" filter="fade">
                                      <p:cBhvr>
                                        <p:cTn id="23" dur="500"/>
                                        <p:tgtEl>
                                          <p:spTgt spid="52227">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2227">
                                            <p:txEl>
                                              <p:pRg st="5" end="5"/>
                                            </p:txEl>
                                          </p:spTgt>
                                        </p:tgtEl>
                                        <p:attrNameLst>
                                          <p:attrName>style.visibility</p:attrName>
                                        </p:attrNameLst>
                                      </p:cBhvr>
                                      <p:to>
                                        <p:strVal val="visible"/>
                                      </p:to>
                                    </p:set>
                                    <p:animEffect transition="in" filter="fade">
                                      <p:cBhvr>
                                        <p:cTn id="26" dur="500"/>
                                        <p:tgtEl>
                                          <p:spTgt spid="52227">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2227">
                                            <p:txEl>
                                              <p:pRg st="6" end="6"/>
                                            </p:txEl>
                                          </p:spTgt>
                                        </p:tgtEl>
                                        <p:attrNameLst>
                                          <p:attrName>style.visibility</p:attrName>
                                        </p:attrNameLst>
                                      </p:cBhvr>
                                      <p:to>
                                        <p:strVal val="visible"/>
                                      </p:to>
                                    </p:set>
                                    <p:animEffect transition="in" filter="fade">
                                      <p:cBhvr>
                                        <p:cTn id="29" dur="500"/>
                                        <p:tgtEl>
                                          <p:spTgt spid="522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3F214214-2441-6580-E08C-91233A584D55}"/>
              </a:ext>
            </a:extLst>
          </p:cNvPr>
          <p:cNvPicPr>
            <a:picLocks noChangeAspect="1"/>
          </p:cNvPicPr>
          <p:nvPr/>
        </p:nvPicPr>
        <p:blipFill>
          <a:blip r:embed="rId3"/>
          <a:stretch>
            <a:fillRect/>
          </a:stretch>
        </p:blipFill>
        <p:spPr>
          <a:xfrm>
            <a:off x="8666035" y="219619"/>
            <a:ext cx="1033411" cy="1007774"/>
          </a:xfrm>
          <a:prstGeom prst="rect">
            <a:avLst/>
          </a:prstGeom>
        </p:spPr>
      </p:pic>
      <p:sp>
        <p:nvSpPr>
          <p:cNvPr id="48130" name="Rectangle 2"/>
          <p:cNvSpPr>
            <a:spLocks noGrp="1" noChangeArrowheads="1"/>
          </p:cNvSpPr>
          <p:nvPr>
            <p:ph type="title"/>
          </p:nvPr>
        </p:nvSpPr>
        <p:spPr/>
        <p:txBody>
          <a:bodyPr/>
          <a:lstStyle/>
          <a:p>
            <a:r>
              <a:rPr lang="en-US" altLang="en-US" dirty="0"/>
              <a:t>Results</a:t>
            </a:r>
          </a:p>
        </p:txBody>
      </p:sp>
      <p:pic>
        <p:nvPicPr>
          <p:cNvPr id="48133"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29631" y="1456004"/>
            <a:ext cx="8424862" cy="4938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a:xfrm>
            <a:off x="9537239" y="6117772"/>
            <a:ext cx="2133600" cy="457200"/>
          </a:xfrm>
        </p:spPr>
        <p:txBody>
          <a:bodyPr/>
          <a:lstStyle/>
          <a:p>
            <a:fld id="{BB72550B-508B-4D61-A817-90B00A29C4EF}" type="slidenum">
              <a:rPr lang="tr-TR" altLang="en-US" smtClean="0"/>
              <a:pPr/>
              <a:t>25</a:t>
            </a:fld>
            <a:endParaRPr lang="tr-TR" altLang="en-US" dirty="0"/>
          </a:p>
        </p:txBody>
      </p:sp>
      <p:sp>
        <p:nvSpPr>
          <p:cNvPr id="3" name="Rectangle 2"/>
          <p:cNvSpPr/>
          <p:nvPr/>
        </p:nvSpPr>
        <p:spPr>
          <a:xfrm>
            <a:off x="4686064" y="1662735"/>
            <a:ext cx="928459" cy="369332"/>
          </a:xfrm>
          <a:prstGeom prst="rect">
            <a:avLst/>
          </a:prstGeom>
        </p:spPr>
        <p:txBody>
          <a:bodyPr wrap="square">
            <a:spAutoFit/>
          </a:bodyPr>
          <a:lstStyle/>
          <a:p>
            <a:r>
              <a:rPr lang="en-GB" b="0" dirty="0">
                <a:latin typeface="CMR9"/>
              </a:rPr>
              <a:t>Sphere</a:t>
            </a:r>
            <a:endParaRPr lang="en-GB" dirty="0"/>
          </a:p>
        </p:txBody>
      </p:sp>
      <p:sp>
        <p:nvSpPr>
          <p:cNvPr id="4" name="Rectangle 3"/>
          <p:cNvSpPr/>
          <p:nvPr/>
        </p:nvSpPr>
        <p:spPr>
          <a:xfrm>
            <a:off x="8646503" y="1662735"/>
            <a:ext cx="1415772" cy="369332"/>
          </a:xfrm>
          <a:prstGeom prst="rect">
            <a:avLst/>
          </a:prstGeom>
        </p:spPr>
        <p:txBody>
          <a:bodyPr wrap="square">
            <a:spAutoFit/>
          </a:bodyPr>
          <a:lstStyle/>
          <a:p>
            <a:r>
              <a:rPr lang="en-GB" b="0" dirty="0" err="1">
                <a:latin typeface="CMR9"/>
              </a:rPr>
              <a:t>Rosenbrock</a:t>
            </a:r>
            <a:endParaRPr lang="en-GB" dirty="0"/>
          </a:p>
        </p:txBody>
      </p:sp>
      <p:sp>
        <p:nvSpPr>
          <p:cNvPr id="5" name="Rectangle 4"/>
          <p:cNvSpPr/>
          <p:nvPr/>
        </p:nvSpPr>
        <p:spPr>
          <a:xfrm>
            <a:off x="4818997" y="4120299"/>
            <a:ext cx="659155" cy="369332"/>
          </a:xfrm>
          <a:prstGeom prst="rect">
            <a:avLst/>
          </a:prstGeom>
        </p:spPr>
        <p:txBody>
          <a:bodyPr wrap="square">
            <a:spAutoFit/>
          </a:bodyPr>
          <a:lstStyle/>
          <a:p>
            <a:r>
              <a:rPr lang="en-GB" b="0" dirty="0">
                <a:latin typeface="CMR9"/>
              </a:rPr>
              <a:t>Step</a:t>
            </a:r>
            <a:endParaRPr lang="en-GB" dirty="0"/>
          </a:p>
        </p:txBody>
      </p:sp>
      <p:sp>
        <p:nvSpPr>
          <p:cNvPr id="6" name="Rectangle 5"/>
          <p:cNvSpPr/>
          <p:nvPr/>
        </p:nvSpPr>
        <p:spPr>
          <a:xfrm>
            <a:off x="8428203" y="4120299"/>
            <a:ext cx="2018501" cy="369332"/>
          </a:xfrm>
          <a:prstGeom prst="rect">
            <a:avLst/>
          </a:prstGeom>
        </p:spPr>
        <p:txBody>
          <a:bodyPr wrap="square">
            <a:spAutoFit/>
          </a:bodyPr>
          <a:lstStyle/>
          <a:p>
            <a:r>
              <a:rPr lang="en-GB" b="0" dirty="0">
                <a:latin typeface="CMR9"/>
              </a:rPr>
              <a:t>Quartic </a:t>
            </a:r>
            <a:r>
              <a:rPr lang="en-GB" b="0" i="1" dirty="0">
                <a:latin typeface="CMTI9"/>
              </a:rPr>
              <a:t>with noise</a:t>
            </a:r>
            <a:endParaRPr lang="en-GB" dirty="0"/>
          </a:p>
        </p:txBody>
      </p:sp>
      <p:sp>
        <p:nvSpPr>
          <p:cNvPr id="11" name="Rectangle 10">
            <a:extLst>
              <a:ext uri="{FF2B5EF4-FFF2-40B4-BE49-F238E27FC236}">
                <a16:creationId xmlns:a16="http://schemas.microsoft.com/office/drawing/2014/main" id="{D967337B-D633-AB16-32B0-965D9F4AF1CE}"/>
              </a:ext>
            </a:extLst>
          </p:cNvPr>
          <p:cNvSpPr/>
          <p:nvPr/>
        </p:nvSpPr>
        <p:spPr>
          <a:xfrm>
            <a:off x="4526403" y="2215757"/>
            <a:ext cx="2536166" cy="143198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FFDE30CD-C28C-D258-7E43-951C97527E09}"/>
              </a:ext>
            </a:extLst>
          </p:cNvPr>
          <p:cNvSpPr/>
          <p:nvPr/>
        </p:nvSpPr>
        <p:spPr>
          <a:xfrm>
            <a:off x="2958193" y="3925360"/>
            <a:ext cx="8496300" cy="246935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FA5CC3D0-A3CA-BCE2-9414-EA678E903F21}"/>
              </a:ext>
            </a:extLst>
          </p:cNvPr>
          <p:cNvSpPr/>
          <p:nvPr/>
        </p:nvSpPr>
        <p:spPr>
          <a:xfrm>
            <a:off x="7242062" y="219620"/>
            <a:ext cx="4183230" cy="372042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5" name="Group 14">
            <a:extLst>
              <a:ext uri="{FF2B5EF4-FFF2-40B4-BE49-F238E27FC236}">
                <a16:creationId xmlns:a16="http://schemas.microsoft.com/office/drawing/2014/main" id="{63EA8DEF-BD06-F557-135E-469AC3E1D677}"/>
              </a:ext>
            </a:extLst>
          </p:cNvPr>
          <p:cNvGrpSpPr/>
          <p:nvPr/>
        </p:nvGrpSpPr>
        <p:grpSpPr>
          <a:xfrm>
            <a:off x="4464369" y="445033"/>
            <a:ext cx="1295075" cy="1016057"/>
            <a:chOff x="1835696" y="2204864"/>
            <a:chExt cx="5039269" cy="4021807"/>
          </a:xfrm>
        </p:grpSpPr>
        <p:pic>
          <p:nvPicPr>
            <p:cNvPr id="18" name="Picture 2">
              <a:extLst>
                <a:ext uri="{FF2B5EF4-FFF2-40B4-BE49-F238E27FC236}">
                  <a16:creationId xmlns:a16="http://schemas.microsoft.com/office/drawing/2014/main" id="{95934427-2E12-5205-4660-476E58747AA9}"/>
                </a:ext>
              </a:extLst>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1979712" y="2420888"/>
              <a:ext cx="4895253" cy="38057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Rectangle 18">
              <a:extLst>
                <a:ext uri="{FF2B5EF4-FFF2-40B4-BE49-F238E27FC236}">
                  <a16:creationId xmlns:a16="http://schemas.microsoft.com/office/drawing/2014/main" id="{D4FB208A-271F-EBB8-AFD4-8E25B7B45D79}"/>
                </a:ext>
              </a:extLst>
            </p:cNvPr>
            <p:cNvSpPr/>
            <p:nvPr/>
          </p:nvSpPr>
          <p:spPr>
            <a:xfrm>
              <a:off x="5143872" y="2204864"/>
              <a:ext cx="1368152"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ECF918A0-B04B-9C17-E86E-DAE4A8316874}"/>
                </a:ext>
              </a:extLst>
            </p:cNvPr>
            <p:cNvSpPr/>
            <p:nvPr/>
          </p:nvSpPr>
          <p:spPr>
            <a:xfrm>
              <a:off x="1835696" y="2276872"/>
              <a:ext cx="1368152"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2" name="TextBox 21">
            <a:extLst>
              <a:ext uri="{FF2B5EF4-FFF2-40B4-BE49-F238E27FC236}">
                <a16:creationId xmlns:a16="http://schemas.microsoft.com/office/drawing/2014/main" id="{B664B840-DC9F-85A9-DB1E-93A6E65ADA12}"/>
              </a:ext>
            </a:extLst>
          </p:cNvPr>
          <p:cNvSpPr txBox="1"/>
          <p:nvPr/>
        </p:nvSpPr>
        <p:spPr>
          <a:xfrm>
            <a:off x="-380857" y="2635401"/>
            <a:ext cx="3122703" cy="2062103"/>
          </a:xfrm>
          <a:prstGeom prst="rect">
            <a:avLst/>
          </a:prstGeom>
          <a:noFill/>
        </p:spPr>
        <p:txBody>
          <a:bodyPr wrap="square">
            <a:spAutoFit/>
          </a:bodyPr>
          <a:lstStyle/>
          <a:p>
            <a:pPr lvl="1">
              <a:lnSpc>
                <a:spcPct val="80000"/>
              </a:lnSpc>
            </a:pPr>
            <a:r>
              <a:rPr lang="pl-PL" altLang="en-US" sz="1600" dirty="0"/>
              <a:t>GA: G</a:t>
            </a:r>
            <a:r>
              <a:rPr lang="en-GB" altLang="en-US" sz="1600" dirty="0" err="1"/>
              <a:t>enetic</a:t>
            </a:r>
            <a:r>
              <a:rPr lang="en-GB" altLang="en-US" sz="1600" dirty="0"/>
              <a:t> Algorithm </a:t>
            </a:r>
          </a:p>
          <a:p>
            <a:pPr lvl="1">
              <a:lnSpc>
                <a:spcPct val="80000"/>
              </a:lnSpc>
            </a:pPr>
            <a:r>
              <a:rPr lang="pl-PL" altLang="en-US" sz="1600" dirty="0"/>
              <a:t>MA0: MA with SDHC</a:t>
            </a:r>
          </a:p>
          <a:p>
            <a:pPr lvl="1">
              <a:lnSpc>
                <a:spcPct val="80000"/>
              </a:lnSpc>
            </a:pPr>
            <a:r>
              <a:rPr lang="pl-PL" altLang="en-US" sz="1600" dirty="0"/>
              <a:t>MA1: MA with NDHC</a:t>
            </a:r>
          </a:p>
          <a:p>
            <a:pPr lvl="1">
              <a:lnSpc>
                <a:spcPct val="80000"/>
              </a:lnSpc>
            </a:pPr>
            <a:r>
              <a:rPr lang="pl-PL" altLang="en-US" sz="1600" dirty="0"/>
              <a:t>MA2: MA with R</a:t>
            </a:r>
            <a:r>
              <a:rPr lang="en-GB" altLang="en-US" sz="1600" dirty="0"/>
              <a:t>M</a:t>
            </a:r>
            <a:r>
              <a:rPr lang="pl-PL" altLang="en-US" sz="1600" dirty="0"/>
              <a:t>HC</a:t>
            </a:r>
          </a:p>
          <a:p>
            <a:pPr lvl="1">
              <a:lnSpc>
                <a:spcPct val="80000"/>
              </a:lnSpc>
            </a:pPr>
            <a:r>
              <a:rPr lang="pl-PL" altLang="en-US" sz="1600" dirty="0"/>
              <a:t>MA3: MA with DBHC</a:t>
            </a:r>
            <a:endParaRPr lang="en-GB" altLang="en-US" sz="1600" dirty="0"/>
          </a:p>
          <a:p>
            <a:pPr lvl="1">
              <a:lnSpc>
                <a:spcPct val="80000"/>
              </a:lnSpc>
            </a:pPr>
            <a:r>
              <a:rPr lang="en-US" altLang="en-US" sz="1600" dirty="0"/>
              <a:t>Biased ones:</a:t>
            </a:r>
          </a:p>
          <a:p>
            <a:pPr lvl="1">
              <a:lnSpc>
                <a:spcPct val="80000"/>
              </a:lnSpc>
            </a:pPr>
            <a:r>
              <a:rPr lang="en-US" altLang="en-US" sz="1600" dirty="0"/>
              <a:t>MA4: SDHC - AND with 0</a:t>
            </a:r>
          </a:p>
          <a:p>
            <a:pPr lvl="1">
              <a:lnSpc>
                <a:spcPct val="80000"/>
              </a:lnSpc>
            </a:pPr>
            <a:r>
              <a:rPr lang="en-US" altLang="en-US" sz="1600" dirty="0"/>
              <a:t>MA5: SDHC - </a:t>
            </a:r>
            <a:r>
              <a:rPr lang="en-US" altLang="en-US" sz="1600" dirty="0">
                <a:sym typeface="Symbol" panose="05050102010706020507" pitchFamily="18" charset="2"/>
              </a:rPr>
              <a:t>OR with 1</a:t>
            </a:r>
          </a:p>
          <a:p>
            <a:pPr lvl="1">
              <a:lnSpc>
                <a:spcPct val="80000"/>
              </a:lnSpc>
            </a:pPr>
            <a:r>
              <a:rPr lang="en-US" altLang="en-US" sz="1600" dirty="0"/>
              <a:t>MA6: NDHC -</a:t>
            </a:r>
            <a:r>
              <a:rPr lang="en-US" altLang="en-US" sz="1600" dirty="0">
                <a:sym typeface="Symbol" panose="05050102010706020507" pitchFamily="18" charset="2"/>
              </a:rPr>
              <a:t>AND with 0</a:t>
            </a:r>
            <a:endParaRPr lang="en-US" altLang="en-US" sz="1600" dirty="0"/>
          </a:p>
          <a:p>
            <a:pPr lvl="1">
              <a:lnSpc>
                <a:spcPct val="80000"/>
              </a:lnSpc>
            </a:pPr>
            <a:r>
              <a:rPr lang="en-US" altLang="en-US" sz="1600" dirty="0">
                <a:sym typeface="Symbol" panose="05050102010706020507" pitchFamily="18" charset="2"/>
              </a:rPr>
              <a:t>MA7: </a:t>
            </a:r>
            <a:r>
              <a:rPr lang="en-US" altLang="en-US" sz="1600" dirty="0"/>
              <a:t>NDHC - </a:t>
            </a:r>
            <a:r>
              <a:rPr lang="en-US" altLang="en-US" sz="1600" dirty="0">
                <a:sym typeface="Symbol" panose="05050102010706020507" pitchFamily="18" charset="2"/>
              </a:rPr>
              <a:t>OR with 1</a:t>
            </a:r>
            <a:r>
              <a:rPr lang="tr-TR" altLang="en-US" sz="1600" dirty="0"/>
              <a:t> </a:t>
            </a:r>
            <a:endParaRPr lang="en-US" altLang="en-US" sz="1600" dirty="0"/>
          </a:p>
        </p:txBody>
      </p:sp>
    </p:spTree>
    <p:extLst>
      <p:ext uri="{BB962C8B-B14F-4D97-AF65-F5344CB8AC3E}">
        <p14:creationId xmlns:p14="http://schemas.microsoft.com/office/powerpoint/2010/main" val="1245334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en-US"/>
              <a:t>Results II</a:t>
            </a:r>
          </a:p>
        </p:txBody>
      </p:sp>
      <p:pic>
        <p:nvPicPr>
          <p:cNvPr id="49157"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41846" y="1276248"/>
            <a:ext cx="8353425" cy="511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a:xfrm>
            <a:off x="9531530" y="6157811"/>
            <a:ext cx="2133600" cy="457200"/>
          </a:xfrm>
        </p:spPr>
        <p:txBody>
          <a:bodyPr/>
          <a:lstStyle/>
          <a:p>
            <a:fld id="{BB72550B-508B-4D61-A817-90B00A29C4EF}" type="slidenum">
              <a:rPr lang="tr-TR" altLang="en-US" smtClean="0"/>
              <a:pPr/>
              <a:t>26</a:t>
            </a:fld>
            <a:endParaRPr lang="tr-TR" altLang="en-US"/>
          </a:p>
        </p:txBody>
      </p:sp>
      <p:sp>
        <p:nvSpPr>
          <p:cNvPr id="3" name="Rectangle 2"/>
          <p:cNvSpPr/>
          <p:nvPr/>
        </p:nvSpPr>
        <p:spPr>
          <a:xfrm>
            <a:off x="4130730" y="1461713"/>
            <a:ext cx="1005403" cy="369332"/>
          </a:xfrm>
          <a:prstGeom prst="rect">
            <a:avLst/>
          </a:prstGeom>
        </p:spPr>
        <p:txBody>
          <a:bodyPr wrap="square">
            <a:spAutoFit/>
          </a:bodyPr>
          <a:lstStyle/>
          <a:p>
            <a:r>
              <a:rPr lang="en-GB" b="0" dirty="0">
                <a:latin typeface="CMR9"/>
              </a:rPr>
              <a:t>Foxhole</a:t>
            </a:r>
            <a:endParaRPr lang="en-GB" dirty="0"/>
          </a:p>
        </p:txBody>
      </p:sp>
      <p:sp>
        <p:nvSpPr>
          <p:cNvPr id="4" name="Rectangle 3"/>
          <p:cNvSpPr/>
          <p:nvPr/>
        </p:nvSpPr>
        <p:spPr>
          <a:xfrm>
            <a:off x="8379201" y="1461713"/>
            <a:ext cx="1095172" cy="369332"/>
          </a:xfrm>
          <a:prstGeom prst="rect">
            <a:avLst/>
          </a:prstGeom>
        </p:spPr>
        <p:txBody>
          <a:bodyPr wrap="square">
            <a:spAutoFit/>
          </a:bodyPr>
          <a:lstStyle/>
          <a:p>
            <a:r>
              <a:rPr lang="en-GB" b="0" dirty="0" err="1">
                <a:latin typeface="CMR9"/>
              </a:rPr>
              <a:t>Rastrigin</a:t>
            </a:r>
            <a:endParaRPr lang="en-GB" dirty="0"/>
          </a:p>
        </p:txBody>
      </p:sp>
      <p:sp>
        <p:nvSpPr>
          <p:cNvPr id="5" name="Rectangle 4"/>
          <p:cNvSpPr/>
          <p:nvPr/>
        </p:nvSpPr>
        <p:spPr>
          <a:xfrm>
            <a:off x="4042608" y="4089421"/>
            <a:ext cx="1120820" cy="369332"/>
          </a:xfrm>
          <a:prstGeom prst="rect">
            <a:avLst/>
          </a:prstGeom>
        </p:spPr>
        <p:txBody>
          <a:bodyPr wrap="square">
            <a:spAutoFit/>
          </a:bodyPr>
          <a:lstStyle/>
          <a:p>
            <a:r>
              <a:rPr lang="en-GB" b="0" dirty="0" err="1">
                <a:latin typeface="CMR9"/>
              </a:rPr>
              <a:t>Schwefel</a:t>
            </a:r>
            <a:endParaRPr lang="en-GB" dirty="0"/>
          </a:p>
        </p:txBody>
      </p:sp>
      <p:sp>
        <p:nvSpPr>
          <p:cNvPr id="6" name="Rectangle 5"/>
          <p:cNvSpPr/>
          <p:nvPr/>
        </p:nvSpPr>
        <p:spPr>
          <a:xfrm>
            <a:off x="8283021" y="4112590"/>
            <a:ext cx="1287532" cy="369332"/>
          </a:xfrm>
          <a:prstGeom prst="rect">
            <a:avLst/>
          </a:prstGeom>
        </p:spPr>
        <p:txBody>
          <a:bodyPr wrap="square">
            <a:spAutoFit/>
          </a:bodyPr>
          <a:lstStyle/>
          <a:p>
            <a:r>
              <a:rPr lang="en-GB" b="0" dirty="0" err="1">
                <a:latin typeface="CMR9"/>
              </a:rPr>
              <a:t>Griewangk</a:t>
            </a:r>
            <a:endParaRPr lang="en-GB" dirty="0"/>
          </a:p>
        </p:txBody>
      </p:sp>
      <p:sp>
        <p:nvSpPr>
          <p:cNvPr id="7" name="TextBox 6">
            <a:extLst>
              <a:ext uri="{FF2B5EF4-FFF2-40B4-BE49-F238E27FC236}">
                <a16:creationId xmlns:a16="http://schemas.microsoft.com/office/drawing/2014/main" id="{ABBDAB3C-34BC-BE77-6A25-4BA5E1CA10FE}"/>
              </a:ext>
            </a:extLst>
          </p:cNvPr>
          <p:cNvSpPr txBox="1"/>
          <p:nvPr/>
        </p:nvSpPr>
        <p:spPr>
          <a:xfrm>
            <a:off x="-380857" y="2635401"/>
            <a:ext cx="3122703" cy="2062103"/>
          </a:xfrm>
          <a:prstGeom prst="rect">
            <a:avLst/>
          </a:prstGeom>
          <a:noFill/>
        </p:spPr>
        <p:txBody>
          <a:bodyPr wrap="square">
            <a:spAutoFit/>
          </a:bodyPr>
          <a:lstStyle/>
          <a:p>
            <a:pPr lvl="1">
              <a:lnSpc>
                <a:spcPct val="80000"/>
              </a:lnSpc>
            </a:pPr>
            <a:r>
              <a:rPr lang="pl-PL" altLang="en-US" sz="1600" dirty="0"/>
              <a:t>GA: G</a:t>
            </a:r>
            <a:r>
              <a:rPr lang="en-GB" altLang="en-US" sz="1600" dirty="0" err="1"/>
              <a:t>enetic</a:t>
            </a:r>
            <a:r>
              <a:rPr lang="en-GB" altLang="en-US" sz="1600" dirty="0"/>
              <a:t> Algorithm </a:t>
            </a:r>
          </a:p>
          <a:p>
            <a:pPr lvl="1">
              <a:lnSpc>
                <a:spcPct val="80000"/>
              </a:lnSpc>
            </a:pPr>
            <a:r>
              <a:rPr lang="pl-PL" altLang="en-US" sz="1600" dirty="0"/>
              <a:t>MA0: MA with SDHC</a:t>
            </a:r>
          </a:p>
          <a:p>
            <a:pPr lvl="1">
              <a:lnSpc>
                <a:spcPct val="80000"/>
              </a:lnSpc>
            </a:pPr>
            <a:r>
              <a:rPr lang="pl-PL" altLang="en-US" sz="1600" dirty="0"/>
              <a:t>MA1: MA with NDHC</a:t>
            </a:r>
          </a:p>
          <a:p>
            <a:pPr lvl="1">
              <a:lnSpc>
                <a:spcPct val="80000"/>
              </a:lnSpc>
            </a:pPr>
            <a:r>
              <a:rPr lang="pl-PL" altLang="en-US" sz="1600" dirty="0"/>
              <a:t>MA2: MA with R</a:t>
            </a:r>
            <a:r>
              <a:rPr lang="en-GB" altLang="en-US" sz="1600" dirty="0"/>
              <a:t>M</a:t>
            </a:r>
            <a:r>
              <a:rPr lang="pl-PL" altLang="en-US" sz="1600" dirty="0"/>
              <a:t>HC</a:t>
            </a:r>
          </a:p>
          <a:p>
            <a:pPr lvl="1">
              <a:lnSpc>
                <a:spcPct val="80000"/>
              </a:lnSpc>
            </a:pPr>
            <a:r>
              <a:rPr lang="pl-PL" altLang="en-US" sz="1600" dirty="0"/>
              <a:t>MA3: MA with DBHC</a:t>
            </a:r>
            <a:endParaRPr lang="en-GB" altLang="en-US" sz="1600" dirty="0"/>
          </a:p>
          <a:p>
            <a:pPr lvl="1">
              <a:lnSpc>
                <a:spcPct val="80000"/>
              </a:lnSpc>
            </a:pPr>
            <a:r>
              <a:rPr lang="en-US" altLang="en-US" sz="1600" dirty="0"/>
              <a:t>Biased ones:</a:t>
            </a:r>
          </a:p>
          <a:p>
            <a:pPr lvl="1">
              <a:lnSpc>
                <a:spcPct val="80000"/>
              </a:lnSpc>
            </a:pPr>
            <a:r>
              <a:rPr lang="en-US" altLang="en-US" sz="1600" dirty="0"/>
              <a:t>MA4: SDHC - AND with 0</a:t>
            </a:r>
          </a:p>
          <a:p>
            <a:pPr lvl="1">
              <a:lnSpc>
                <a:spcPct val="80000"/>
              </a:lnSpc>
            </a:pPr>
            <a:r>
              <a:rPr lang="en-US" altLang="en-US" sz="1600" dirty="0"/>
              <a:t>MA5: SDHC - </a:t>
            </a:r>
            <a:r>
              <a:rPr lang="en-US" altLang="en-US" sz="1600" dirty="0">
                <a:sym typeface="Symbol" panose="05050102010706020507" pitchFamily="18" charset="2"/>
              </a:rPr>
              <a:t>OR with 1</a:t>
            </a:r>
          </a:p>
          <a:p>
            <a:pPr lvl="1">
              <a:lnSpc>
                <a:spcPct val="80000"/>
              </a:lnSpc>
            </a:pPr>
            <a:r>
              <a:rPr lang="en-US" altLang="en-US" sz="1600" dirty="0"/>
              <a:t>MA6: NDHC -</a:t>
            </a:r>
            <a:r>
              <a:rPr lang="en-US" altLang="en-US" sz="1600" dirty="0">
                <a:sym typeface="Symbol" panose="05050102010706020507" pitchFamily="18" charset="2"/>
              </a:rPr>
              <a:t>AND with 0</a:t>
            </a:r>
            <a:endParaRPr lang="en-US" altLang="en-US" sz="1600" dirty="0"/>
          </a:p>
          <a:p>
            <a:pPr lvl="1">
              <a:lnSpc>
                <a:spcPct val="80000"/>
              </a:lnSpc>
            </a:pPr>
            <a:r>
              <a:rPr lang="en-US" altLang="en-US" sz="1600" dirty="0">
                <a:sym typeface="Symbol" panose="05050102010706020507" pitchFamily="18" charset="2"/>
              </a:rPr>
              <a:t>MA7: </a:t>
            </a:r>
            <a:r>
              <a:rPr lang="en-US" altLang="en-US" sz="1600" dirty="0"/>
              <a:t>NDHC - </a:t>
            </a:r>
            <a:r>
              <a:rPr lang="en-US" altLang="en-US" sz="1600" dirty="0">
                <a:sym typeface="Symbol" panose="05050102010706020507" pitchFamily="18" charset="2"/>
              </a:rPr>
              <a:t>OR with 1</a:t>
            </a:r>
            <a:r>
              <a:rPr lang="tr-TR" altLang="en-US" sz="1600" dirty="0"/>
              <a:t> </a:t>
            </a:r>
            <a:endParaRPr lang="en-US" altLang="en-US" sz="1600" dirty="0"/>
          </a:p>
        </p:txBody>
      </p:sp>
      <p:sp>
        <p:nvSpPr>
          <p:cNvPr id="8" name="TextBox 7">
            <a:extLst>
              <a:ext uri="{FF2B5EF4-FFF2-40B4-BE49-F238E27FC236}">
                <a16:creationId xmlns:a16="http://schemas.microsoft.com/office/drawing/2014/main" id="{0486AA77-F587-3E1B-B88D-6AD019048D5C}"/>
              </a:ext>
            </a:extLst>
          </p:cNvPr>
          <p:cNvSpPr txBox="1"/>
          <p:nvPr/>
        </p:nvSpPr>
        <p:spPr>
          <a:xfrm>
            <a:off x="11861074" y="5277394"/>
            <a:ext cx="184731" cy="369332"/>
          </a:xfrm>
          <a:prstGeom prst="rect">
            <a:avLst/>
          </a:prstGeom>
          <a:noFill/>
        </p:spPr>
        <p:txBody>
          <a:bodyPr wrap="none" rtlCol="0">
            <a:spAutoFit/>
          </a:bodyPr>
          <a:lstStyle/>
          <a:p>
            <a:endParaRPr lang="en-GB" dirty="0"/>
          </a:p>
        </p:txBody>
      </p:sp>
      <p:pic>
        <p:nvPicPr>
          <p:cNvPr id="9" name="Picture 8">
            <a:extLst>
              <a:ext uri="{FF2B5EF4-FFF2-40B4-BE49-F238E27FC236}">
                <a16:creationId xmlns:a16="http://schemas.microsoft.com/office/drawing/2014/main" id="{4380EE8C-3738-3907-C6D8-B1369F68B260}"/>
              </a:ext>
            </a:extLst>
          </p:cNvPr>
          <p:cNvPicPr>
            <a:picLocks noChangeAspect="1"/>
          </p:cNvPicPr>
          <p:nvPr/>
        </p:nvPicPr>
        <p:blipFill>
          <a:blip r:embed="rId4"/>
          <a:stretch>
            <a:fillRect/>
          </a:stretch>
        </p:blipFill>
        <p:spPr>
          <a:xfrm>
            <a:off x="4603018" y="643049"/>
            <a:ext cx="1093525" cy="633199"/>
          </a:xfrm>
          <a:prstGeom prst="rect">
            <a:avLst/>
          </a:prstGeom>
        </p:spPr>
      </p:pic>
    </p:spTree>
    <p:extLst>
      <p:ext uri="{BB962C8B-B14F-4D97-AF65-F5344CB8AC3E}">
        <p14:creationId xmlns:p14="http://schemas.microsoft.com/office/powerpoint/2010/main" val="3945036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a:t>Results III</a:t>
            </a:r>
          </a:p>
        </p:txBody>
      </p:sp>
      <p:pic>
        <p:nvPicPr>
          <p:cNvPr id="5018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72878" y="1468168"/>
            <a:ext cx="8351837" cy="244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81"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72877" y="3916092"/>
            <a:ext cx="8280400" cy="2427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a:xfrm>
            <a:off x="9308477" y="6066436"/>
            <a:ext cx="2133600" cy="457200"/>
          </a:xfrm>
        </p:spPr>
        <p:txBody>
          <a:bodyPr/>
          <a:lstStyle/>
          <a:p>
            <a:fld id="{BB72550B-508B-4D61-A817-90B00A29C4EF}" type="slidenum">
              <a:rPr lang="tr-TR" altLang="en-US" smtClean="0"/>
              <a:pPr/>
              <a:t>27</a:t>
            </a:fld>
            <a:endParaRPr lang="tr-TR" altLang="en-US" dirty="0"/>
          </a:p>
        </p:txBody>
      </p:sp>
      <p:sp>
        <p:nvSpPr>
          <p:cNvPr id="3" name="Rectangle 2"/>
          <p:cNvSpPr/>
          <p:nvPr/>
        </p:nvSpPr>
        <p:spPr>
          <a:xfrm>
            <a:off x="4529310" y="1684092"/>
            <a:ext cx="864339" cy="369332"/>
          </a:xfrm>
          <a:prstGeom prst="rect">
            <a:avLst/>
          </a:prstGeom>
        </p:spPr>
        <p:txBody>
          <a:bodyPr wrap="square">
            <a:spAutoFit/>
          </a:bodyPr>
          <a:lstStyle/>
          <a:p>
            <a:r>
              <a:rPr lang="en-GB" b="0" dirty="0">
                <a:latin typeface="CMR9"/>
              </a:rPr>
              <a:t>Ackley</a:t>
            </a:r>
            <a:endParaRPr lang="en-GB" dirty="0"/>
          </a:p>
        </p:txBody>
      </p:sp>
      <p:sp>
        <p:nvSpPr>
          <p:cNvPr id="4" name="Rectangle 3"/>
          <p:cNvSpPr/>
          <p:nvPr/>
        </p:nvSpPr>
        <p:spPr>
          <a:xfrm>
            <a:off x="8705774" y="1684092"/>
            <a:ext cx="902811" cy="369332"/>
          </a:xfrm>
          <a:prstGeom prst="rect">
            <a:avLst/>
          </a:prstGeom>
        </p:spPr>
        <p:txBody>
          <a:bodyPr wrap="square">
            <a:spAutoFit/>
          </a:bodyPr>
          <a:lstStyle/>
          <a:p>
            <a:r>
              <a:rPr lang="en-GB" b="0" dirty="0" err="1">
                <a:latin typeface="CMR9"/>
              </a:rPr>
              <a:t>Easom</a:t>
            </a:r>
            <a:endParaRPr lang="en-GB" dirty="0"/>
          </a:p>
        </p:txBody>
      </p:sp>
      <p:sp>
        <p:nvSpPr>
          <p:cNvPr id="5" name="Rectangle 4"/>
          <p:cNvSpPr/>
          <p:nvPr/>
        </p:nvSpPr>
        <p:spPr>
          <a:xfrm>
            <a:off x="3809230" y="4099958"/>
            <a:ext cx="2617063" cy="369332"/>
          </a:xfrm>
          <a:prstGeom prst="rect">
            <a:avLst/>
          </a:prstGeom>
        </p:spPr>
        <p:txBody>
          <a:bodyPr wrap="square">
            <a:spAutoFit/>
          </a:bodyPr>
          <a:lstStyle/>
          <a:p>
            <a:r>
              <a:rPr lang="en-GB" b="0" dirty="0" err="1">
                <a:latin typeface="CMR9"/>
              </a:rPr>
              <a:t>Schwefel’s</a:t>
            </a:r>
            <a:r>
              <a:rPr lang="en-GB" b="0" dirty="0">
                <a:latin typeface="CMR9"/>
              </a:rPr>
              <a:t> Double Sum</a:t>
            </a:r>
            <a:endParaRPr lang="en-GB" dirty="0"/>
          </a:p>
        </p:txBody>
      </p:sp>
      <p:sp>
        <p:nvSpPr>
          <p:cNvPr id="6" name="Rectangle 5"/>
          <p:cNvSpPr/>
          <p:nvPr/>
        </p:nvSpPr>
        <p:spPr>
          <a:xfrm>
            <a:off x="8467777" y="4123072"/>
            <a:ext cx="1390124" cy="369332"/>
          </a:xfrm>
          <a:prstGeom prst="rect">
            <a:avLst/>
          </a:prstGeom>
        </p:spPr>
        <p:txBody>
          <a:bodyPr wrap="square">
            <a:spAutoFit/>
          </a:bodyPr>
          <a:lstStyle/>
          <a:p>
            <a:r>
              <a:rPr lang="en-GB" b="0" dirty="0">
                <a:latin typeface="CMR9"/>
              </a:rPr>
              <a:t>Royal Road</a:t>
            </a:r>
            <a:endParaRPr lang="en-GB" dirty="0"/>
          </a:p>
        </p:txBody>
      </p:sp>
      <p:pic>
        <p:nvPicPr>
          <p:cNvPr id="7" name="Picture 6">
            <a:extLst>
              <a:ext uri="{FF2B5EF4-FFF2-40B4-BE49-F238E27FC236}">
                <a16:creationId xmlns:a16="http://schemas.microsoft.com/office/drawing/2014/main" id="{D8EFFFC8-3AF8-ED69-BDF1-4C3311B1D0E2}"/>
              </a:ext>
            </a:extLst>
          </p:cNvPr>
          <p:cNvPicPr>
            <a:picLocks noChangeAspect="1"/>
          </p:cNvPicPr>
          <p:nvPr/>
        </p:nvPicPr>
        <p:blipFill>
          <a:blip r:embed="rId4"/>
          <a:stretch>
            <a:fillRect/>
          </a:stretch>
        </p:blipFill>
        <p:spPr>
          <a:xfrm>
            <a:off x="9608585" y="450000"/>
            <a:ext cx="1406736" cy="1055052"/>
          </a:xfrm>
          <a:prstGeom prst="rect">
            <a:avLst/>
          </a:prstGeom>
        </p:spPr>
      </p:pic>
      <p:sp>
        <p:nvSpPr>
          <p:cNvPr id="8" name="TextBox 7">
            <a:extLst>
              <a:ext uri="{FF2B5EF4-FFF2-40B4-BE49-F238E27FC236}">
                <a16:creationId xmlns:a16="http://schemas.microsoft.com/office/drawing/2014/main" id="{A83A17C3-9926-AF4A-8452-DD8547C3F92F}"/>
              </a:ext>
            </a:extLst>
          </p:cNvPr>
          <p:cNvSpPr txBox="1"/>
          <p:nvPr/>
        </p:nvSpPr>
        <p:spPr>
          <a:xfrm>
            <a:off x="-380857" y="2635401"/>
            <a:ext cx="3122703" cy="2062103"/>
          </a:xfrm>
          <a:prstGeom prst="rect">
            <a:avLst/>
          </a:prstGeom>
          <a:noFill/>
        </p:spPr>
        <p:txBody>
          <a:bodyPr wrap="square">
            <a:spAutoFit/>
          </a:bodyPr>
          <a:lstStyle/>
          <a:p>
            <a:pPr lvl="1">
              <a:lnSpc>
                <a:spcPct val="80000"/>
              </a:lnSpc>
            </a:pPr>
            <a:r>
              <a:rPr lang="pl-PL" altLang="en-US" sz="1600" dirty="0"/>
              <a:t>GA: G</a:t>
            </a:r>
            <a:r>
              <a:rPr lang="en-GB" altLang="en-US" sz="1600" dirty="0" err="1"/>
              <a:t>enetic</a:t>
            </a:r>
            <a:r>
              <a:rPr lang="en-GB" altLang="en-US" sz="1600" dirty="0"/>
              <a:t> Algorithm </a:t>
            </a:r>
          </a:p>
          <a:p>
            <a:pPr lvl="1">
              <a:lnSpc>
                <a:spcPct val="80000"/>
              </a:lnSpc>
            </a:pPr>
            <a:r>
              <a:rPr lang="pl-PL" altLang="en-US" sz="1600" dirty="0"/>
              <a:t>MA0: MA with SDHC</a:t>
            </a:r>
          </a:p>
          <a:p>
            <a:pPr lvl="1">
              <a:lnSpc>
                <a:spcPct val="80000"/>
              </a:lnSpc>
            </a:pPr>
            <a:r>
              <a:rPr lang="pl-PL" altLang="en-US" sz="1600" dirty="0"/>
              <a:t>MA1: MA with NDHC</a:t>
            </a:r>
          </a:p>
          <a:p>
            <a:pPr lvl="1">
              <a:lnSpc>
                <a:spcPct val="80000"/>
              </a:lnSpc>
            </a:pPr>
            <a:r>
              <a:rPr lang="pl-PL" altLang="en-US" sz="1600" dirty="0"/>
              <a:t>MA2: MA with R</a:t>
            </a:r>
            <a:r>
              <a:rPr lang="en-GB" altLang="en-US" sz="1600" dirty="0"/>
              <a:t>M</a:t>
            </a:r>
            <a:r>
              <a:rPr lang="pl-PL" altLang="en-US" sz="1600" dirty="0"/>
              <a:t>HC</a:t>
            </a:r>
          </a:p>
          <a:p>
            <a:pPr lvl="1">
              <a:lnSpc>
                <a:spcPct val="80000"/>
              </a:lnSpc>
            </a:pPr>
            <a:r>
              <a:rPr lang="pl-PL" altLang="en-US" sz="1600" dirty="0"/>
              <a:t>MA3: MA with DBHC</a:t>
            </a:r>
            <a:endParaRPr lang="en-GB" altLang="en-US" sz="1600" dirty="0"/>
          </a:p>
          <a:p>
            <a:pPr lvl="1">
              <a:lnSpc>
                <a:spcPct val="80000"/>
              </a:lnSpc>
            </a:pPr>
            <a:r>
              <a:rPr lang="en-US" altLang="en-US" sz="1600" dirty="0"/>
              <a:t>Biased ones:</a:t>
            </a:r>
          </a:p>
          <a:p>
            <a:pPr lvl="1">
              <a:lnSpc>
                <a:spcPct val="80000"/>
              </a:lnSpc>
            </a:pPr>
            <a:r>
              <a:rPr lang="en-US" altLang="en-US" sz="1600" dirty="0"/>
              <a:t>MA4: SDHC - AND with 0</a:t>
            </a:r>
          </a:p>
          <a:p>
            <a:pPr lvl="1">
              <a:lnSpc>
                <a:spcPct val="80000"/>
              </a:lnSpc>
            </a:pPr>
            <a:r>
              <a:rPr lang="en-US" altLang="en-US" sz="1600" dirty="0"/>
              <a:t>MA5: SDHC - </a:t>
            </a:r>
            <a:r>
              <a:rPr lang="en-US" altLang="en-US" sz="1600" dirty="0">
                <a:sym typeface="Symbol" panose="05050102010706020507" pitchFamily="18" charset="2"/>
              </a:rPr>
              <a:t>OR with 1</a:t>
            </a:r>
          </a:p>
          <a:p>
            <a:pPr lvl="1">
              <a:lnSpc>
                <a:spcPct val="80000"/>
              </a:lnSpc>
            </a:pPr>
            <a:r>
              <a:rPr lang="en-US" altLang="en-US" sz="1600" dirty="0"/>
              <a:t>MA6: NDHC -</a:t>
            </a:r>
            <a:r>
              <a:rPr lang="en-US" altLang="en-US" sz="1600" dirty="0">
                <a:sym typeface="Symbol" panose="05050102010706020507" pitchFamily="18" charset="2"/>
              </a:rPr>
              <a:t>AND with 0</a:t>
            </a:r>
            <a:endParaRPr lang="en-US" altLang="en-US" sz="1600" dirty="0"/>
          </a:p>
          <a:p>
            <a:pPr lvl="1">
              <a:lnSpc>
                <a:spcPct val="80000"/>
              </a:lnSpc>
            </a:pPr>
            <a:r>
              <a:rPr lang="en-US" altLang="en-US" sz="1600" dirty="0">
                <a:sym typeface="Symbol" panose="05050102010706020507" pitchFamily="18" charset="2"/>
              </a:rPr>
              <a:t>MA7: </a:t>
            </a:r>
            <a:r>
              <a:rPr lang="en-US" altLang="en-US" sz="1600" dirty="0"/>
              <a:t>NDHC - </a:t>
            </a:r>
            <a:r>
              <a:rPr lang="en-US" altLang="en-US" sz="1600" dirty="0">
                <a:sym typeface="Symbol" panose="05050102010706020507" pitchFamily="18" charset="2"/>
              </a:rPr>
              <a:t>OR with 1</a:t>
            </a:r>
            <a:r>
              <a:rPr lang="tr-TR" altLang="en-US" sz="1600" dirty="0"/>
              <a:t> </a:t>
            </a:r>
            <a:endParaRPr lang="en-US" altLang="en-US" sz="1600" dirty="0"/>
          </a:p>
        </p:txBody>
      </p:sp>
    </p:spTree>
    <p:extLst>
      <p:ext uri="{BB962C8B-B14F-4D97-AF65-F5344CB8AC3E}">
        <p14:creationId xmlns:p14="http://schemas.microsoft.com/office/powerpoint/2010/main" val="2095146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a:t>Results IV</a:t>
            </a:r>
          </a:p>
        </p:txBody>
      </p:sp>
      <p:pic>
        <p:nvPicPr>
          <p:cNvPr id="51206"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15719" y="2216943"/>
            <a:ext cx="8280400" cy="2424113"/>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BB72550B-508B-4D61-A817-90B00A29C4EF}" type="slidenum">
              <a:rPr lang="tr-TR" altLang="en-US" smtClean="0"/>
              <a:pPr/>
              <a:t>28</a:t>
            </a:fld>
            <a:endParaRPr lang="tr-TR" altLang="en-US"/>
          </a:p>
        </p:txBody>
      </p:sp>
      <p:sp>
        <p:nvSpPr>
          <p:cNvPr id="3" name="Rectangle 2"/>
          <p:cNvSpPr/>
          <p:nvPr/>
        </p:nvSpPr>
        <p:spPr>
          <a:xfrm>
            <a:off x="4482154" y="2433363"/>
            <a:ext cx="1133644" cy="369332"/>
          </a:xfrm>
          <a:prstGeom prst="rect">
            <a:avLst/>
          </a:prstGeom>
        </p:spPr>
        <p:txBody>
          <a:bodyPr wrap="square">
            <a:spAutoFit/>
          </a:bodyPr>
          <a:lstStyle/>
          <a:p>
            <a:r>
              <a:rPr lang="en-GB" b="0" dirty="0">
                <a:latin typeface="CMR9"/>
              </a:rPr>
              <a:t>Goldberg</a:t>
            </a:r>
            <a:endParaRPr lang="en-GB" dirty="0"/>
          </a:p>
        </p:txBody>
      </p:sp>
      <p:sp>
        <p:nvSpPr>
          <p:cNvPr id="4" name="Rectangle 3"/>
          <p:cNvSpPr/>
          <p:nvPr/>
        </p:nvSpPr>
        <p:spPr>
          <a:xfrm>
            <a:off x="8784151" y="2433363"/>
            <a:ext cx="941283" cy="369332"/>
          </a:xfrm>
          <a:prstGeom prst="rect">
            <a:avLst/>
          </a:prstGeom>
        </p:spPr>
        <p:txBody>
          <a:bodyPr wrap="square">
            <a:spAutoFit/>
          </a:bodyPr>
          <a:lstStyle/>
          <a:p>
            <a:r>
              <a:rPr lang="en-GB" b="0" dirty="0">
                <a:latin typeface="CMR9"/>
              </a:rPr>
              <a:t>Whitley</a:t>
            </a:r>
            <a:endParaRPr lang="en-GB" dirty="0"/>
          </a:p>
        </p:txBody>
      </p:sp>
      <p:sp>
        <p:nvSpPr>
          <p:cNvPr id="5" name="TextBox 4">
            <a:extLst>
              <a:ext uri="{FF2B5EF4-FFF2-40B4-BE49-F238E27FC236}">
                <a16:creationId xmlns:a16="http://schemas.microsoft.com/office/drawing/2014/main" id="{048E994E-7A27-6C4B-5FB2-B311838CE672}"/>
              </a:ext>
            </a:extLst>
          </p:cNvPr>
          <p:cNvSpPr txBox="1"/>
          <p:nvPr/>
        </p:nvSpPr>
        <p:spPr>
          <a:xfrm>
            <a:off x="-380857" y="2635401"/>
            <a:ext cx="3122703" cy="2062103"/>
          </a:xfrm>
          <a:prstGeom prst="rect">
            <a:avLst/>
          </a:prstGeom>
          <a:noFill/>
        </p:spPr>
        <p:txBody>
          <a:bodyPr wrap="square">
            <a:spAutoFit/>
          </a:bodyPr>
          <a:lstStyle/>
          <a:p>
            <a:pPr lvl="1">
              <a:lnSpc>
                <a:spcPct val="80000"/>
              </a:lnSpc>
            </a:pPr>
            <a:r>
              <a:rPr lang="pl-PL" altLang="en-US" sz="1600" dirty="0"/>
              <a:t>GA: G</a:t>
            </a:r>
            <a:r>
              <a:rPr lang="en-GB" altLang="en-US" sz="1600" dirty="0" err="1"/>
              <a:t>enetic</a:t>
            </a:r>
            <a:r>
              <a:rPr lang="en-GB" altLang="en-US" sz="1600" dirty="0"/>
              <a:t> Algorithm </a:t>
            </a:r>
          </a:p>
          <a:p>
            <a:pPr lvl="1">
              <a:lnSpc>
                <a:spcPct val="80000"/>
              </a:lnSpc>
            </a:pPr>
            <a:r>
              <a:rPr lang="pl-PL" altLang="en-US" sz="1600" dirty="0"/>
              <a:t>MA0: MA with SDHC</a:t>
            </a:r>
          </a:p>
          <a:p>
            <a:pPr lvl="1">
              <a:lnSpc>
                <a:spcPct val="80000"/>
              </a:lnSpc>
            </a:pPr>
            <a:r>
              <a:rPr lang="pl-PL" altLang="en-US" sz="1600" dirty="0"/>
              <a:t>MA1: MA with NDHC</a:t>
            </a:r>
          </a:p>
          <a:p>
            <a:pPr lvl="1">
              <a:lnSpc>
                <a:spcPct val="80000"/>
              </a:lnSpc>
            </a:pPr>
            <a:r>
              <a:rPr lang="pl-PL" altLang="en-US" sz="1600" dirty="0"/>
              <a:t>MA2: MA with R</a:t>
            </a:r>
            <a:r>
              <a:rPr lang="en-GB" altLang="en-US" sz="1600" dirty="0"/>
              <a:t>M</a:t>
            </a:r>
            <a:r>
              <a:rPr lang="pl-PL" altLang="en-US" sz="1600" dirty="0"/>
              <a:t>HC</a:t>
            </a:r>
          </a:p>
          <a:p>
            <a:pPr lvl="1">
              <a:lnSpc>
                <a:spcPct val="80000"/>
              </a:lnSpc>
            </a:pPr>
            <a:r>
              <a:rPr lang="pl-PL" altLang="en-US" sz="1600" dirty="0"/>
              <a:t>MA3: MA with DBHC</a:t>
            </a:r>
            <a:endParaRPr lang="en-GB" altLang="en-US" sz="1600" dirty="0"/>
          </a:p>
          <a:p>
            <a:pPr lvl="1">
              <a:lnSpc>
                <a:spcPct val="80000"/>
              </a:lnSpc>
            </a:pPr>
            <a:r>
              <a:rPr lang="en-US" altLang="en-US" sz="1600" dirty="0"/>
              <a:t>Biased ones:</a:t>
            </a:r>
          </a:p>
          <a:p>
            <a:pPr lvl="1">
              <a:lnSpc>
                <a:spcPct val="80000"/>
              </a:lnSpc>
            </a:pPr>
            <a:r>
              <a:rPr lang="en-US" altLang="en-US" sz="1600" dirty="0"/>
              <a:t>MA4: SDHC - AND with 0</a:t>
            </a:r>
          </a:p>
          <a:p>
            <a:pPr lvl="1">
              <a:lnSpc>
                <a:spcPct val="80000"/>
              </a:lnSpc>
            </a:pPr>
            <a:r>
              <a:rPr lang="en-US" altLang="en-US" sz="1600" dirty="0"/>
              <a:t>MA5: SDHC - </a:t>
            </a:r>
            <a:r>
              <a:rPr lang="en-US" altLang="en-US" sz="1600" dirty="0">
                <a:sym typeface="Symbol" panose="05050102010706020507" pitchFamily="18" charset="2"/>
              </a:rPr>
              <a:t>OR with 1</a:t>
            </a:r>
          </a:p>
          <a:p>
            <a:pPr lvl="1">
              <a:lnSpc>
                <a:spcPct val="80000"/>
              </a:lnSpc>
            </a:pPr>
            <a:r>
              <a:rPr lang="en-US" altLang="en-US" sz="1600" dirty="0"/>
              <a:t>MA6: NDHC -</a:t>
            </a:r>
            <a:r>
              <a:rPr lang="en-US" altLang="en-US" sz="1600" dirty="0">
                <a:sym typeface="Symbol" panose="05050102010706020507" pitchFamily="18" charset="2"/>
              </a:rPr>
              <a:t>AND with 0</a:t>
            </a:r>
            <a:endParaRPr lang="en-US" altLang="en-US" sz="1600" dirty="0"/>
          </a:p>
          <a:p>
            <a:pPr lvl="1">
              <a:lnSpc>
                <a:spcPct val="80000"/>
              </a:lnSpc>
            </a:pPr>
            <a:r>
              <a:rPr lang="en-US" altLang="en-US" sz="1600" dirty="0">
                <a:sym typeface="Symbol" panose="05050102010706020507" pitchFamily="18" charset="2"/>
              </a:rPr>
              <a:t>MA7: </a:t>
            </a:r>
            <a:r>
              <a:rPr lang="en-US" altLang="en-US" sz="1600" dirty="0"/>
              <a:t>NDHC - </a:t>
            </a:r>
            <a:r>
              <a:rPr lang="en-US" altLang="en-US" sz="1600" dirty="0">
                <a:sym typeface="Symbol" panose="05050102010706020507" pitchFamily="18" charset="2"/>
              </a:rPr>
              <a:t>OR with 1</a:t>
            </a:r>
            <a:r>
              <a:rPr lang="tr-TR" altLang="en-US" sz="1600" dirty="0"/>
              <a:t> </a:t>
            </a:r>
            <a:endParaRPr lang="en-US" altLang="en-US" sz="1600" dirty="0"/>
          </a:p>
        </p:txBody>
      </p:sp>
    </p:spTree>
    <p:extLst>
      <p:ext uri="{BB962C8B-B14F-4D97-AF65-F5344CB8AC3E}">
        <p14:creationId xmlns:p14="http://schemas.microsoft.com/office/powerpoint/2010/main" val="5800514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en-US" dirty="0"/>
              <a:t>Summary</a:t>
            </a:r>
          </a:p>
        </p:txBody>
      </p:sp>
      <p:sp>
        <p:nvSpPr>
          <p:cNvPr id="54275" name="Rectangle 3"/>
          <p:cNvSpPr>
            <a:spLocks noGrp="1" noChangeArrowheads="1"/>
          </p:cNvSpPr>
          <p:nvPr>
            <p:ph idx="1"/>
          </p:nvPr>
        </p:nvSpPr>
        <p:spPr/>
        <p:txBody>
          <a:bodyPr/>
          <a:lstStyle/>
          <a:p>
            <a:pPr>
              <a:lnSpc>
                <a:spcPct val="80000"/>
              </a:lnSpc>
            </a:pPr>
            <a:r>
              <a:rPr lang="en-US" altLang="en-US" sz="2400" dirty="0"/>
              <a:t>MA0 (SDHC) is the best meme choice for F4, F13 and F14. (noisy + deceptive)</a:t>
            </a:r>
          </a:p>
          <a:p>
            <a:pPr>
              <a:lnSpc>
                <a:spcPct val="80000"/>
              </a:lnSpc>
            </a:pPr>
            <a:r>
              <a:rPr lang="en-US" altLang="en-US" sz="2400" dirty="0"/>
              <a:t>MA1 (NDHC) is the best meme choice for F6-F8. (multimodal)</a:t>
            </a:r>
          </a:p>
          <a:p>
            <a:pPr>
              <a:lnSpc>
                <a:spcPct val="80000"/>
              </a:lnSpc>
            </a:pPr>
            <a:r>
              <a:rPr lang="en-US" altLang="en-US" sz="2400" dirty="0"/>
              <a:t>MA3 is (DBHC) the best meme choice for F2, F3, F5, F10, F12. (functions with plateaus)</a:t>
            </a:r>
          </a:p>
          <a:p>
            <a:pPr>
              <a:lnSpc>
                <a:spcPct val="80000"/>
              </a:lnSpc>
            </a:pPr>
            <a:r>
              <a:rPr lang="en-US" altLang="en-US" sz="2400" dirty="0"/>
              <a:t>For functions F1, F11 (unimodal) and F9, GA performs slightly better than the memetic algorithm with the meme MA1 (NDHC). The performance difference is insignificant.</a:t>
            </a:r>
          </a:p>
          <a:p>
            <a:pPr>
              <a:lnSpc>
                <a:spcPct val="80000"/>
              </a:lnSpc>
            </a:pPr>
            <a:r>
              <a:rPr lang="en-US" altLang="en-US" sz="2400" dirty="0"/>
              <a:t>In the overall, MA2 (RMHC) and MA3 (DBHC) turn out to be the worst and the best meme, respectively, among MA0-MA3, considering the success rates and average number of evaluations.</a:t>
            </a:r>
          </a:p>
          <a:p>
            <a:pPr>
              <a:lnSpc>
                <a:spcPct val="80000"/>
              </a:lnSpc>
            </a:pPr>
            <a:r>
              <a:rPr lang="en-US" altLang="en-US" sz="2400" dirty="0"/>
              <a:t>Different memes yield different performances, designing the right meme for the problem in hand is important.</a:t>
            </a:r>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29</a:t>
            </a:fld>
            <a:endParaRPr lang="tr-TR" altLang="en-US"/>
          </a:p>
        </p:txBody>
      </p:sp>
    </p:spTree>
    <p:custDataLst>
      <p:tags r:id="rId1"/>
    </p:custDataLst>
    <p:extLst>
      <p:ext uri="{BB962C8B-B14F-4D97-AF65-F5344CB8AC3E}">
        <p14:creationId xmlns:p14="http://schemas.microsoft.com/office/powerpoint/2010/main" val="313291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 calcmode="lin" valueType="num">
                                      <p:cBhvr additive="base">
                                        <p:cTn id="7" dur="500" fill="hold"/>
                                        <p:tgtEl>
                                          <p:spTgt spid="542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4275">
                                            <p:txEl>
                                              <p:pRg st="1" end="1"/>
                                            </p:txEl>
                                          </p:spTgt>
                                        </p:tgtEl>
                                        <p:attrNameLst>
                                          <p:attrName>style.visibility</p:attrName>
                                        </p:attrNameLst>
                                      </p:cBhvr>
                                      <p:to>
                                        <p:strVal val="visible"/>
                                      </p:to>
                                    </p:set>
                                    <p:anim calcmode="lin" valueType="num">
                                      <p:cBhvr additive="base">
                                        <p:cTn id="13" dur="500" fill="hold"/>
                                        <p:tgtEl>
                                          <p:spTgt spid="542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2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4275">
                                            <p:txEl>
                                              <p:pRg st="2" end="2"/>
                                            </p:txEl>
                                          </p:spTgt>
                                        </p:tgtEl>
                                        <p:attrNameLst>
                                          <p:attrName>style.visibility</p:attrName>
                                        </p:attrNameLst>
                                      </p:cBhvr>
                                      <p:to>
                                        <p:strVal val="visible"/>
                                      </p:to>
                                    </p:set>
                                    <p:anim calcmode="lin" valueType="num">
                                      <p:cBhvr additive="base">
                                        <p:cTn id="19" dur="500" fill="hold"/>
                                        <p:tgtEl>
                                          <p:spTgt spid="542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42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4275">
                                            <p:txEl>
                                              <p:pRg st="3" end="3"/>
                                            </p:txEl>
                                          </p:spTgt>
                                        </p:tgtEl>
                                        <p:attrNameLst>
                                          <p:attrName>style.visibility</p:attrName>
                                        </p:attrNameLst>
                                      </p:cBhvr>
                                      <p:to>
                                        <p:strVal val="visible"/>
                                      </p:to>
                                    </p:set>
                                    <p:anim calcmode="lin" valueType="num">
                                      <p:cBhvr additive="base">
                                        <p:cTn id="25" dur="500" fill="hold"/>
                                        <p:tgtEl>
                                          <p:spTgt spid="542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42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4275">
                                            <p:txEl>
                                              <p:pRg st="4" end="4"/>
                                            </p:txEl>
                                          </p:spTgt>
                                        </p:tgtEl>
                                        <p:attrNameLst>
                                          <p:attrName>style.visibility</p:attrName>
                                        </p:attrNameLst>
                                      </p:cBhvr>
                                      <p:to>
                                        <p:strVal val="visible"/>
                                      </p:to>
                                    </p:set>
                                    <p:anim calcmode="lin" valueType="num">
                                      <p:cBhvr additive="base">
                                        <p:cTn id="31" dur="500" fill="hold"/>
                                        <p:tgtEl>
                                          <p:spTgt spid="5427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42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4275">
                                            <p:txEl>
                                              <p:pRg st="5" end="5"/>
                                            </p:txEl>
                                          </p:spTgt>
                                        </p:tgtEl>
                                        <p:attrNameLst>
                                          <p:attrName>style.visibility</p:attrName>
                                        </p:attrNameLst>
                                      </p:cBhvr>
                                      <p:to>
                                        <p:strVal val="visible"/>
                                      </p:to>
                                    </p:set>
                                    <p:anim calcmode="lin" valueType="num">
                                      <p:cBhvr additive="base">
                                        <p:cTn id="37" dur="500" fill="hold"/>
                                        <p:tgtEl>
                                          <p:spTgt spid="5427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427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E31A8-D163-693D-07F7-734CB111234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02995F1-42D4-5AD9-37B5-08291AB9C10C}"/>
              </a:ext>
            </a:extLst>
          </p:cNvPr>
          <p:cNvSpPr>
            <a:spLocks noGrp="1"/>
          </p:cNvSpPr>
          <p:nvPr>
            <p:ph type="ctrTitle"/>
          </p:nvPr>
        </p:nvSpPr>
        <p:spPr>
          <a:xfrm>
            <a:off x="427089" y="2013677"/>
            <a:ext cx="10466198" cy="874948"/>
          </a:xfrm>
        </p:spPr>
        <p:txBody>
          <a:bodyPr>
            <a:normAutofit fontScale="90000"/>
          </a:bodyPr>
          <a:lstStyle/>
          <a:p>
            <a:r>
              <a:rPr lang="en-US" altLang="en-US" dirty="0"/>
              <a:t>Travelling Salesman Problem</a:t>
            </a:r>
            <a:endParaRPr lang="en-GB" noProof="0" dirty="0"/>
          </a:p>
        </p:txBody>
      </p:sp>
      <p:sp>
        <p:nvSpPr>
          <p:cNvPr id="13" name="Subtitle 12">
            <a:extLst>
              <a:ext uri="{FF2B5EF4-FFF2-40B4-BE49-F238E27FC236}">
                <a16:creationId xmlns:a16="http://schemas.microsoft.com/office/drawing/2014/main" id="{94B341EC-2E2D-331F-4317-146D423D1BAE}"/>
              </a:ext>
            </a:extLst>
          </p:cNvPr>
          <p:cNvSpPr>
            <a:spLocks noGrp="1"/>
          </p:cNvSpPr>
          <p:nvPr>
            <p:ph type="subTitle" idx="1"/>
          </p:nvPr>
        </p:nvSpPr>
        <p:spPr/>
        <p:txBody>
          <a:bodyPr>
            <a:normAutofit fontScale="62500" lnSpcReduction="20000"/>
          </a:bodyPr>
          <a:lstStyle/>
          <a:p>
            <a:r>
              <a:rPr lang="en-GB" dirty="0"/>
              <a:t>E. </a:t>
            </a:r>
            <a:r>
              <a:rPr lang="en-GB" dirty="0" err="1"/>
              <a:t>Özcan</a:t>
            </a:r>
            <a:r>
              <a:rPr lang="en-GB" dirty="0"/>
              <a:t>, and M. </a:t>
            </a:r>
            <a:r>
              <a:rPr lang="en-GB" dirty="0" err="1"/>
              <a:t>Erenturk</a:t>
            </a:r>
            <a:r>
              <a:rPr lang="en-GB" dirty="0"/>
              <a:t>, A Brief Review of Memetic Algorithms for Solving Euclidean 2D Traveling </a:t>
            </a:r>
            <a:r>
              <a:rPr lang="en-GB" dirty="0" err="1"/>
              <a:t>Salesrep</a:t>
            </a:r>
            <a:r>
              <a:rPr lang="en-GB" dirty="0"/>
              <a:t> Problem, Proc. of the 13th Turkish Symposium on Artificial Intelligence and Neural Networks, pp. 99-108, June 2004. [</a:t>
            </a:r>
            <a:r>
              <a:rPr lang="en-GB" dirty="0">
                <a:hlinkClick r:id="rId3"/>
              </a:rPr>
              <a:t>PDF</a:t>
            </a:r>
            <a:r>
              <a:rPr lang="en-GB" dirty="0"/>
              <a:t>]</a:t>
            </a:r>
          </a:p>
          <a:p>
            <a:endParaRPr lang="en-GB" dirty="0"/>
          </a:p>
        </p:txBody>
      </p:sp>
    </p:spTree>
    <p:extLst>
      <p:ext uri="{BB962C8B-B14F-4D97-AF65-F5344CB8AC3E}">
        <p14:creationId xmlns:p14="http://schemas.microsoft.com/office/powerpoint/2010/main" val="3597745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965619" y="17253"/>
            <a:ext cx="10421250" cy="900000"/>
          </a:xfrm>
        </p:spPr>
        <p:txBody>
          <a:bodyPr>
            <a:normAutofit fontScale="90000"/>
          </a:bodyPr>
          <a:lstStyle/>
          <a:p>
            <a:r>
              <a:rPr lang="en-GB" altLang="en-US" sz="4000" dirty="0"/>
              <a:t>Binary Representation for Encoding Permutation</a:t>
            </a:r>
            <a:endParaRPr lang="tr-TR" altLang="en-US" sz="4000" dirty="0"/>
          </a:p>
        </p:txBody>
      </p:sp>
      <p:sp>
        <p:nvSpPr>
          <p:cNvPr id="137219" name="Rectangle 3"/>
          <p:cNvSpPr>
            <a:spLocks noGrp="1" noChangeArrowheads="1"/>
          </p:cNvSpPr>
          <p:nvPr>
            <p:ph idx="1"/>
          </p:nvPr>
        </p:nvSpPr>
        <p:spPr/>
        <p:txBody>
          <a:bodyPr/>
          <a:lstStyle/>
          <a:p>
            <a:r>
              <a:rPr lang="tr-TR" altLang="en-US" dirty="0"/>
              <a:t>Binary representation</a:t>
            </a:r>
            <a:r>
              <a:rPr lang="en-GB" altLang="en-US" dirty="0"/>
              <a:t> </a:t>
            </a:r>
            <a:r>
              <a:rPr lang="tr-TR" altLang="en-US" dirty="0"/>
              <a:t>and classical </a:t>
            </a:r>
            <a:r>
              <a:rPr lang="en-GB" altLang="en-US" dirty="0"/>
              <a:t>random initialisation, </a:t>
            </a:r>
            <a:r>
              <a:rPr lang="tr-TR" altLang="en-US" dirty="0"/>
              <a:t>cross-over and mutation operators </a:t>
            </a:r>
            <a:r>
              <a:rPr lang="en-GB" altLang="en-US" dirty="0"/>
              <a:t>are </a:t>
            </a:r>
            <a:r>
              <a:rPr lang="tr-TR" altLang="en-US" dirty="0"/>
              <a:t>not suitable</a:t>
            </a:r>
            <a:r>
              <a:rPr lang="en-GB" altLang="en-US" dirty="0"/>
              <a:t> for encoding permutation</a:t>
            </a:r>
            <a:endParaRPr lang="tr-TR" altLang="en-US" dirty="0"/>
          </a:p>
          <a:p>
            <a:pPr lvl="1"/>
            <a:r>
              <a:rPr lang="en-GB" altLang="en-US" sz="2800" dirty="0"/>
              <a:t>E.g., for TSP, could </a:t>
            </a:r>
            <a:r>
              <a:rPr lang="tr-TR" altLang="en-US" sz="2800" dirty="0"/>
              <a:t>cause illegal tours to form</a:t>
            </a:r>
          </a:p>
          <a:p>
            <a:pPr lvl="2"/>
            <a:r>
              <a:rPr lang="tr-TR" altLang="en-US" sz="2400" dirty="0"/>
              <a:t>not all cities visited</a:t>
            </a:r>
          </a:p>
          <a:p>
            <a:pPr lvl="2"/>
            <a:r>
              <a:rPr lang="tr-TR" altLang="en-US" sz="2400" dirty="0"/>
              <a:t>undefined city codes</a:t>
            </a:r>
          </a:p>
          <a:p>
            <a:pPr lvl="2"/>
            <a:r>
              <a:rPr lang="tr-TR" altLang="en-US" sz="2400" dirty="0"/>
              <a:t>cities visited more than once</a:t>
            </a:r>
          </a:p>
          <a:p>
            <a:pPr lvl="2"/>
            <a:r>
              <a:rPr lang="tr-TR" altLang="en-US" sz="2400" dirty="0"/>
              <a:t>loops formed within the tour</a:t>
            </a:r>
          </a:p>
          <a:p>
            <a:pPr lvl="1"/>
            <a:r>
              <a:rPr lang="tr-TR" altLang="en-US" sz="2800" dirty="0"/>
              <a:t>needs repair algorithms</a:t>
            </a:r>
          </a:p>
        </p:txBody>
      </p:sp>
      <p:sp>
        <p:nvSpPr>
          <p:cNvPr id="6" name="Slide Number Placeholder 5"/>
          <p:cNvSpPr>
            <a:spLocks noGrp="1"/>
          </p:cNvSpPr>
          <p:nvPr>
            <p:ph type="sldNum" sz="quarter" idx="12"/>
          </p:nvPr>
        </p:nvSpPr>
        <p:spPr/>
        <p:txBody>
          <a:bodyPr/>
          <a:lstStyle/>
          <a:p>
            <a:fld id="{4CF254B7-4DC9-4006-AAD9-17A1FB414067}" type="slidenum">
              <a:rPr lang="en-US" altLang="en-US"/>
              <a:pPr/>
              <a:t>31</a:t>
            </a:fld>
            <a:endParaRPr lang="en-US" altLang="en-US"/>
          </a:p>
        </p:txBody>
      </p:sp>
    </p:spTree>
    <p:custDataLst>
      <p:tags r:id="rId1"/>
    </p:custDataLst>
    <p:extLst>
      <p:ext uri="{BB962C8B-B14F-4D97-AF65-F5344CB8AC3E}">
        <p14:creationId xmlns:p14="http://schemas.microsoft.com/office/powerpoint/2010/main" val="387543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7219">
                                            <p:txEl>
                                              <p:pRg st="1" end="1"/>
                                            </p:txEl>
                                          </p:spTgt>
                                        </p:tgtEl>
                                        <p:attrNameLst>
                                          <p:attrName>style.visibility</p:attrName>
                                        </p:attrNameLst>
                                      </p:cBhvr>
                                      <p:to>
                                        <p:strVal val="visible"/>
                                      </p:to>
                                    </p:set>
                                    <p:animEffect transition="in" filter="fade">
                                      <p:cBhvr>
                                        <p:cTn id="7" dur="500"/>
                                        <p:tgtEl>
                                          <p:spTgt spid="13721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7219">
                                            <p:txEl>
                                              <p:pRg st="2" end="2"/>
                                            </p:txEl>
                                          </p:spTgt>
                                        </p:tgtEl>
                                        <p:attrNameLst>
                                          <p:attrName>style.visibility</p:attrName>
                                        </p:attrNameLst>
                                      </p:cBhvr>
                                      <p:to>
                                        <p:strVal val="visible"/>
                                      </p:to>
                                    </p:set>
                                    <p:animEffect transition="in" filter="fade">
                                      <p:cBhvr>
                                        <p:cTn id="10" dur="500"/>
                                        <p:tgtEl>
                                          <p:spTgt spid="13721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7219">
                                            <p:txEl>
                                              <p:pRg st="3" end="3"/>
                                            </p:txEl>
                                          </p:spTgt>
                                        </p:tgtEl>
                                        <p:attrNameLst>
                                          <p:attrName>style.visibility</p:attrName>
                                        </p:attrNameLst>
                                      </p:cBhvr>
                                      <p:to>
                                        <p:strVal val="visible"/>
                                      </p:to>
                                    </p:set>
                                    <p:animEffect transition="in" filter="fade">
                                      <p:cBhvr>
                                        <p:cTn id="13" dur="500"/>
                                        <p:tgtEl>
                                          <p:spTgt spid="137219">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37219">
                                            <p:txEl>
                                              <p:pRg st="4" end="4"/>
                                            </p:txEl>
                                          </p:spTgt>
                                        </p:tgtEl>
                                        <p:attrNameLst>
                                          <p:attrName>style.visibility</p:attrName>
                                        </p:attrNameLst>
                                      </p:cBhvr>
                                      <p:to>
                                        <p:strVal val="visible"/>
                                      </p:to>
                                    </p:set>
                                    <p:animEffect transition="in" filter="fade">
                                      <p:cBhvr>
                                        <p:cTn id="16" dur="500"/>
                                        <p:tgtEl>
                                          <p:spTgt spid="137219">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37219">
                                            <p:txEl>
                                              <p:pRg st="5" end="5"/>
                                            </p:txEl>
                                          </p:spTgt>
                                        </p:tgtEl>
                                        <p:attrNameLst>
                                          <p:attrName>style.visibility</p:attrName>
                                        </p:attrNameLst>
                                      </p:cBhvr>
                                      <p:to>
                                        <p:strVal val="visible"/>
                                      </p:to>
                                    </p:set>
                                    <p:animEffect transition="in" filter="fade">
                                      <p:cBhvr>
                                        <p:cTn id="19" dur="500"/>
                                        <p:tgtEl>
                                          <p:spTgt spid="137219">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37219">
                                            <p:txEl>
                                              <p:pRg st="6" end="6"/>
                                            </p:txEl>
                                          </p:spTgt>
                                        </p:tgtEl>
                                        <p:attrNameLst>
                                          <p:attrName>style.visibility</p:attrName>
                                        </p:attrNameLst>
                                      </p:cBhvr>
                                      <p:to>
                                        <p:strVal val="visible"/>
                                      </p:to>
                                    </p:set>
                                    <p:animEffect transition="in" filter="fade">
                                      <p:cBhvr>
                                        <p:cTn id="22" dur="500"/>
                                        <p:tgtEl>
                                          <p:spTgt spid="1372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en-GB" altLang="en-US" dirty="0"/>
              <a:t>Example</a:t>
            </a:r>
            <a:endParaRPr lang="tr-TR" altLang="en-US" dirty="0"/>
          </a:p>
        </p:txBody>
      </p:sp>
      <p:sp>
        <p:nvSpPr>
          <p:cNvPr id="138243" name="Rectangle 3"/>
          <p:cNvSpPr>
            <a:spLocks noGrp="1" noChangeArrowheads="1"/>
          </p:cNvSpPr>
          <p:nvPr>
            <p:ph idx="1"/>
          </p:nvPr>
        </p:nvSpPr>
        <p:spPr/>
        <p:txBody>
          <a:bodyPr/>
          <a:lstStyle/>
          <a:p>
            <a:pPr>
              <a:buFontTx/>
              <a:buNone/>
            </a:pPr>
            <a:r>
              <a:rPr lang="en-GB" altLang="en-US" dirty="0"/>
              <a:t>Given </a:t>
            </a:r>
            <a:r>
              <a:rPr lang="en-GB" altLang="en-US" i="1" dirty="0"/>
              <a:t>N</a:t>
            </a:r>
            <a:r>
              <a:rPr lang="en-GB" altLang="en-US" dirty="0"/>
              <a:t>=</a:t>
            </a:r>
            <a:r>
              <a:rPr lang="tr-TR" altLang="en-US" dirty="0"/>
              <a:t>5 </a:t>
            </a:r>
            <a:r>
              <a:rPr lang="en-GB" altLang="en-US" dirty="0"/>
              <a:t>cities </a:t>
            </a:r>
            <a:r>
              <a:rPr lang="tr-TR" altLang="en-US" dirty="0">
                <a:sym typeface="Symbol" pitchFamily="18" charset="2"/>
              </a:rPr>
              <a:t> 3 bits per </a:t>
            </a:r>
            <a:r>
              <a:rPr lang="en-GB" altLang="en-US" dirty="0">
                <a:sym typeface="Symbol" pitchFamily="18" charset="2"/>
              </a:rPr>
              <a:t>city, </a:t>
            </a:r>
          </a:p>
          <a:p>
            <a:pPr>
              <a:buFontTx/>
              <a:buNone/>
            </a:pPr>
            <a:r>
              <a:rPr lang="en-GB" altLang="en-US" dirty="0">
                <a:sym typeface="Symbol" pitchFamily="18" charset="2"/>
              </a:rPr>
              <a:t>                                 </a:t>
            </a:r>
            <a:r>
              <a:rPr lang="en-GB" altLang="en-US" sz="2000" dirty="0">
                <a:sym typeface="Symbol" pitchFamily="18" charset="2"/>
              </a:rPr>
              <a:t>2       5         3       1        4</a:t>
            </a:r>
            <a:endParaRPr lang="tr-TR" altLang="en-US" sz="2000" dirty="0"/>
          </a:p>
          <a:p>
            <a:pPr lvl="2">
              <a:buFontTx/>
              <a:buNone/>
            </a:pPr>
            <a:r>
              <a:rPr lang="tr-TR" altLang="en-US" dirty="0"/>
              <a:t>individual 1: 0</a:t>
            </a:r>
            <a:r>
              <a:rPr lang="tr-TR" altLang="en-US" dirty="0">
                <a:solidFill>
                  <a:srgbClr val="FF66CC"/>
                </a:solidFill>
              </a:rPr>
              <a:t>|</a:t>
            </a:r>
            <a:r>
              <a:rPr lang="tr-TR" altLang="en-US" dirty="0"/>
              <a:t>10 101 011 001 100</a:t>
            </a:r>
            <a:endParaRPr lang="en-GB" altLang="en-US" dirty="0"/>
          </a:p>
          <a:p>
            <a:pPr lvl="2">
              <a:buFontTx/>
              <a:buNone/>
            </a:pPr>
            <a:r>
              <a:rPr lang="en-GB" altLang="en-US" dirty="0"/>
              <a:t>                       </a:t>
            </a:r>
            <a:r>
              <a:rPr lang="en-GB" altLang="en-US" sz="2000" dirty="0"/>
              <a:t>5         2      1          4       3</a:t>
            </a:r>
            <a:r>
              <a:rPr lang="en-GB" altLang="en-US" dirty="0"/>
              <a:t> </a:t>
            </a:r>
            <a:endParaRPr lang="tr-TR" altLang="en-US" dirty="0"/>
          </a:p>
          <a:p>
            <a:pPr lvl="2">
              <a:buFontTx/>
              <a:buNone/>
            </a:pPr>
            <a:r>
              <a:rPr lang="tr-TR" altLang="en-US" dirty="0"/>
              <a:t>individual 2: 1</a:t>
            </a:r>
            <a:r>
              <a:rPr lang="tr-TR" altLang="en-US" dirty="0">
                <a:solidFill>
                  <a:srgbClr val="FF66CC"/>
                </a:solidFill>
              </a:rPr>
              <a:t>|</a:t>
            </a:r>
            <a:r>
              <a:rPr lang="tr-TR" altLang="en-US" dirty="0"/>
              <a:t>01 010 001 100 011</a:t>
            </a:r>
          </a:p>
          <a:p>
            <a:pPr lvl="1">
              <a:buFontTx/>
              <a:buNone/>
            </a:pPr>
            <a:r>
              <a:rPr lang="tr-TR" altLang="en-US" dirty="0"/>
              <a:t>After </a:t>
            </a:r>
            <a:r>
              <a:rPr lang="en-GB" altLang="en-US" dirty="0"/>
              <a:t>applying 1-point </a:t>
            </a:r>
            <a:r>
              <a:rPr lang="tr-TR" altLang="en-US" dirty="0"/>
              <a:t>crossover:</a:t>
            </a:r>
          </a:p>
          <a:p>
            <a:pPr lvl="2">
              <a:buFontTx/>
              <a:buNone/>
            </a:pPr>
            <a:r>
              <a:rPr lang="en-GB" altLang="en-US" dirty="0"/>
              <a:t>                      </a:t>
            </a:r>
            <a:r>
              <a:rPr lang="en-GB" altLang="en-US" sz="2000" dirty="0"/>
              <a:t>1         2       1         4      3</a:t>
            </a:r>
          </a:p>
          <a:p>
            <a:pPr lvl="2">
              <a:buFontTx/>
              <a:buNone/>
            </a:pPr>
            <a:r>
              <a:rPr lang="tr-TR" altLang="en-US" dirty="0"/>
              <a:t>individual 1: </a:t>
            </a:r>
            <a:r>
              <a:rPr lang="tr-TR" altLang="en-US" dirty="0">
                <a:solidFill>
                  <a:srgbClr val="FF66CC"/>
                </a:solidFill>
              </a:rPr>
              <a:t>001 </a:t>
            </a:r>
            <a:r>
              <a:rPr lang="tr-TR" altLang="en-US" dirty="0"/>
              <a:t>010 </a:t>
            </a:r>
            <a:r>
              <a:rPr lang="tr-TR" altLang="en-US" dirty="0">
                <a:solidFill>
                  <a:srgbClr val="FF66CC"/>
                </a:solidFill>
              </a:rPr>
              <a:t>001 </a:t>
            </a:r>
            <a:r>
              <a:rPr lang="tr-TR" altLang="en-US" dirty="0"/>
              <a:t>100 011</a:t>
            </a:r>
            <a:r>
              <a:rPr lang="tr-TR" altLang="en-US" dirty="0">
                <a:solidFill>
                  <a:srgbClr val="FF66CC"/>
                </a:solidFill>
              </a:rPr>
              <a:t> </a:t>
            </a:r>
            <a:endParaRPr lang="en-GB" altLang="en-US" dirty="0">
              <a:solidFill>
                <a:srgbClr val="FF66CC"/>
              </a:solidFill>
            </a:endParaRPr>
          </a:p>
          <a:p>
            <a:pPr lvl="2">
              <a:buNone/>
            </a:pPr>
            <a:r>
              <a:rPr lang="en-GB" altLang="en-US" sz="2000" dirty="0"/>
              <a:t>                               6         5        3       1      2</a:t>
            </a:r>
            <a:endParaRPr lang="tr-TR" altLang="en-US" sz="2000" dirty="0"/>
          </a:p>
          <a:p>
            <a:pPr lvl="2">
              <a:buFontTx/>
              <a:buNone/>
            </a:pPr>
            <a:r>
              <a:rPr lang="tr-TR" altLang="en-US" dirty="0"/>
              <a:t>individual 2: </a:t>
            </a:r>
            <a:r>
              <a:rPr lang="tr-TR" altLang="en-US" dirty="0">
                <a:solidFill>
                  <a:srgbClr val="66FF33"/>
                </a:solidFill>
              </a:rPr>
              <a:t>110 </a:t>
            </a:r>
            <a:r>
              <a:rPr lang="tr-TR" altLang="en-US" dirty="0"/>
              <a:t>101 011 001100</a:t>
            </a:r>
            <a:endParaRPr lang="en-GB" altLang="en-US" dirty="0">
              <a:solidFill>
                <a:srgbClr val="FF66CC"/>
              </a:solidFill>
            </a:endParaRPr>
          </a:p>
          <a:p>
            <a:pPr lvl="2">
              <a:buFontTx/>
              <a:buNone/>
            </a:pPr>
            <a:r>
              <a:rPr lang="en-GB" altLang="en-US" dirty="0"/>
              <a:t>                      </a:t>
            </a:r>
            <a:endParaRPr lang="tr-TR" altLang="en-US" dirty="0"/>
          </a:p>
          <a:p>
            <a:pPr lvl="1">
              <a:buFontTx/>
              <a:buNone/>
            </a:pPr>
            <a:endParaRPr lang="tr-TR" altLang="en-US" sz="2000" dirty="0"/>
          </a:p>
        </p:txBody>
      </p:sp>
      <p:sp>
        <p:nvSpPr>
          <p:cNvPr id="6" name="Slide Number Placeholder 5"/>
          <p:cNvSpPr>
            <a:spLocks noGrp="1"/>
          </p:cNvSpPr>
          <p:nvPr>
            <p:ph type="sldNum" sz="quarter" idx="12"/>
          </p:nvPr>
        </p:nvSpPr>
        <p:spPr/>
        <p:txBody>
          <a:bodyPr/>
          <a:lstStyle/>
          <a:p>
            <a:fld id="{8CE6F8E5-A2B5-4E0D-A220-8EA06686CC8D}" type="slidenum">
              <a:rPr lang="en-US" altLang="en-US"/>
              <a:pPr/>
              <a:t>32</a:t>
            </a:fld>
            <a:endParaRPr lang="en-US" altLang="en-US"/>
          </a:p>
        </p:txBody>
      </p:sp>
      <p:sp>
        <p:nvSpPr>
          <p:cNvPr id="2" name="Rectangle 1"/>
          <p:cNvSpPr/>
          <p:nvPr/>
        </p:nvSpPr>
        <p:spPr>
          <a:xfrm>
            <a:off x="8105716" y="1942702"/>
            <a:ext cx="2172390" cy="3693319"/>
          </a:xfrm>
          <a:prstGeom prst="rect">
            <a:avLst/>
          </a:prstGeom>
        </p:spPr>
        <p:txBody>
          <a:bodyPr wrap="square">
            <a:spAutoFit/>
          </a:bodyPr>
          <a:lstStyle/>
          <a:p>
            <a:pPr>
              <a:buFontTx/>
              <a:buNone/>
            </a:pPr>
            <a:r>
              <a:rPr lang="en-GB" altLang="en-US" dirty="0">
                <a:sym typeface="Symbol" pitchFamily="18" charset="2"/>
              </a:rPr>
              <a:t>2   |  5     3     1     4</a:t>
            </a:r>
          </a:p>
          <a:p>
            <a:pPr>
              <a:buFontTx/>
              <a:buNone/>
            </a:pPr>
            <a:endParaRPr lang="en-GB" altLang="en-US" dirty="0"/>
          </a:p>
          <a:p>
            <a:pPr>
              <a:buFontTx/>
              <a:buNone/>
            </a:pPr>
            <a:endParaRPr lang="en-GB" altLang="en-US" dirty="0"/>
          </a:p>
          <a:p>
            <a:pPr>
              <a:buFontTx/>
              <a:buNone/>
            </a:pPr>
            <a:r>
              <a:rPr lang="en-GB" altLang="en-US" dirty="0"/>
              <a:t>5   |  2     1     4     3</a:t>
            </a:r>
          </a:p>
          <a:p>
            <a:pPr>
              <a:buFontTx/>
              <a:buNone/>
            </a:pPr>
            <a:endParaRPr lang="en-GB" altLang="en-US" dirty="0"/>
          </a:p>
          <a:p>
            <a:pPr>
              <a:buFontTx/>
              <a:buNone/>
            </a:pPr>
            <a:endParaRPr lang="en-GB" altLang="en-US" dirty="0"/>
          </a:p>
          <a:p>
            <a:pPr>
              <a:buFontTx/>
              <a:buNone/>
            </a:pPr>
            <a:endParaRPr lang="en-GB" altLang="en-US" dirty="0"/>
          </a:p>
          <a:p>
            <a:pPr>
              <a:buFontTx/>
              <a:buNone/>
            </a:pPr>
            <a:endParaRPr lang="en-GB" altLang="en-US" dirty="0"/>
          </a:p>
          <a:p>
            <a:r>
              <a:rPr lang="en-GB" altLang="en-US" dirty="0">
                <a:solidFill>
                  <a:schemeClr val="tx2">
                    <a:lumMod val="60000"/>
                    <a:lumOff val="40000"/>
                  </a:schemeClr>
                </a:solidFill>
              </a:rPr>
              <a:t>2      2     </a:t>
            </a:r>
            <a:r>
              <a:rPr lang="en-GB" altLang="en-US" dirty="0"/>
              <a:t>1     4     3</a:t>
            </a:r>
          </a:p>
          <a:p>
            <a:endParaRPr lang="en-GB" altLang="en-US" dirty="0"/>
          </a:p>
          <a:p>
            <a:endParaRPr lang="en-GB" altLang="en-US" dirty="0"/>
          </a:p>
          <a:p>
            <a:r>
              <a:rPr lang="en-GB" altLang="en-US" dirty="0">
                <a:solidFill>
                  <a:schemeClr val="accent1">
                    <a:lumMod val="75000"/>
                  </a:schemeClr>
                </a:solidFill>
              </a:rPr>
              <a:t>5      </a:t>
            </a:r>
            <a:r>
              <a:rPr lang="en-GB" altLang="en-US" dirty="0">
                <a:solidFill>
                  <a:schemeClr val="accent1">
                    <a:lumMod val="75000"/>
                  </a:schemeClr>
                </a:solidFill>
                <a:sym typeface="Symbol" pitchFamily="18" charset="2"/>
              </a:rPr>
              <a:t>5     </a:t>
            </a:r>
            <a:r>
              <a:rPr lang="en-GB" altLang="en-US" dirty="0">
                <a:sym typeface="Symbol" pitchFamily="18" charset="2"/>
              </a:rPr>
              <a:t>3     1     4</a:t>
            </a:r>
            <a:endParaRPr lang="en-GB" altLang="en-US" dirty="0"/>
          </a:p>
          <a:p>
            <a:pPr>
              <a:buFontTx/>
              <a:buNone/>
            </a:pPr>
            <a:endParaRPr lang="tr-TR" altLang="en-US" dirty="0"/>
          </a:p>
        </p:txBody>
      </p:sp>
    </p:spTree>
    <p:custDataLst>
      <p:tags r:id="rId1"/>
    </p:custDataLst>
    <p:extLst>
      <p:ext uri="{BB962C8B-B14F-4D97-AF65-F5344CB8AC3E}">
        <p14:creationId xmlns:p14="http://schemas.microsoft.com/office/powerpoint/2010/main" val="100167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243">
                                            <p:txEl>
                                              <p:pRg st="5" end="5"/>
                                            </p:txEl>
                                          </p:spTgt>
                                        </p:tgtEl>
                                        <p:attrNameLst>
                                          <p:attrName>style.visibility</p:attrName>
                                        </p:attrNameLst>
                                      </p:cBhvr>
                                      <p:to>
                                        <p:strVal val="visible"/>
                                      </p:to>
                                    </p:set>
                                    <p:animEffect transition="in" filter="fade">
                                      <p:cBhvr>
                                        <p:cTn id="7" dur="500"/>
                                        <p:tgtEl>
                                          <p:spTgt spid="13824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8243">
                                            <p:txEl>
                                              <p:pRg st="6" end="6"/>
                                            </p:txEl>
                                          </p:spTgt>
                                        </p:tgtEl>
                                        <p:attrNameLst>
                                          <p:attrName>style.visibility</p:attrName>
                                        </p:attrNameLst>
                                      </p:cBhvr>
                                      <p:to>
                                        <p:strVal val="visible"/>
                                      </p:to>
                                    </p:set>
                                    <p:animEffect transition="in" filter="fade">
                                      <p:cBhvr>
                                        <p:cTn id="10" dur="500"/>
                                        <p:tgtEl>
                                          <p:spTgt spid="13824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8243">
                                            <p:txEl>
                                              <p:pRg st="7" end="7"/>
                                            </p:txEl>
                                          </p:spTgt>
                                        </p:tgtEl>
                                        <p:attrNameLst>
                                          <p:attrName>style.visibility</p:attrName>
                                        </p:attrNameLst>
                                      </p:cBhvr>
                                      <p:to>
                                        <p:strVal val="visible"/>
                                      </p:to>
                                    </p:set>
                                    <p:animEffect transition="in" filter="fade">
                                      <p:cBhvr>
                                        <p:cTn id="13" dur="500"/>
                                        <p:tgtEl>
                                          <p:spTgt spid="138243">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38243">
                                            <p:txEl>
                                              <p:pRg st="9" end="9"/>
                                            </p:txEl>
                                          </p:spTgt>
                                        </p:tgtEl>
                                        <p:attrNameLst>
                                          <p:attrName>style.visibility</p:attrName>
                                        </p:attrNameLst>
                                      </p:cBhvr>
                                      <p:to>
                                        <p:strVal val="visible"/>
                                      </p:to>
                                    </p:set>
                                    <p:animEffect transition="in" filter="fade">
                                      <p:cBhvr>
                                        <p:cTn id="16" dur="500"/>
                                        <p:tgtEl>
                                          <p:spTgt spid="138243">
                                            <p:txEl>
                                              <p:pRg st="9" end="9"/>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38243">
                                            <p:txEl>
                                              <p:pRg st="8" end="8"/>
                                            </p:txEl>
                                          </p:spTgt>
                                        </p:tgtEl>
                                        <p:attrNameLst>
                                          <p:attrName>style.visibility</p:attrName>
                                        </p:attrNameLst>
                                      </p:cBhvr>
                                      <p:to>
                                        <p:strVal val="visible"/>
                                      </p:to>
                                    </p:set>
                                    <p:animEffect transition="in" filter="fade">
                                      <p:cBhvr>
                                        <p:cTn id="19" dur="500"/>
                                        <p:tgtEl>
                                          <p:spTgt spid="138243">
                                            <p:txEl>
                                              <p:pRg st="8" end="8"/>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38243">
                                            <p:txEl>
                                              <p:pRg st="10" end="10"/>
                                            </p:txEl>
                                          </p:spTgt>
                                        </p:tgtEl>
                                        <p:attrNameLst>
                                          <p:attrName>style.visibility</p:attrName>
                                        </p:attrNameLst>
                                      </p:cBhvr>
                                      <p:to>
                                        <p:strVal val="visible"/>
                                      </p:to>
                                    </p:set>
                                    <p:animEffect transition="in" filter="fade">
                                      <p:cBhvr>
                                        <p:cTn id="22" dur="500"/>
                                        <p:tgtEl>
                                          <p:spTgt spid="138243">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animEffect transition="in" filter="fade">
                                      <p:cBhvr>
                                        <p:cTn id="27" dur="500"/>
                                        <p:tgtEl>
                                          <p:spTgt spid="2">
                                            <p:txEl>
                                              <p:pRg st="0" end="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
                                            <p:txEl>
                                              <p:pRg st="3" end="3"/>
                                            </p:txEl>
                                          </p:spTgt>
                                        </p:tgtEl>
                                        <p:attrNameLst>
                                          <p:attrName>style.visibility</p:attrName>
                                        </p:attrNameLst>
                                      </p:cBhvr>
                                      <p:to>
                                        <p:strVal val="visible"/>
                                      </p:to>
                                    </p:set>
                                    <p:animEffect transition="in" filter="fade">
                                      <p:cBhvr>
                                        <p:cTn id="30" dur="500"/>
                                        <p:tgtEl>
                                          <p:spTgt spid="2">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500"/>
                                        <p:tgtEl>
                                          <p:spTgt spid="2">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2">
                                            <p:txEl>
                                              <p:pRg st="11" end="11"/>
                                            </p:txEl>
                                          </p:spTgt>
                                        </p:tgtEl>
                                        <p:attrNameLst>
                                          <p:attrName>style.visibility</p:attrName>
                                        </p:attrNameLst>
                                      </p:cBhvr>
                                      <p:to>
                                        <p:strVal val="visible"/>
                                      </p:to>
                                    </p:set>
                                    <p:animEffect transition="in" filter="fade">
                                      <p:cBhvr>
                                        <p:cTn id="38"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19903-560E-A453-2469-8280B3B717A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CD12244-F9B6-02B9-6786-E10AF0D293BF}"/>
              </a:ext>
            </a:extLst>
          </p:cNvPr>
          <p:cNvSpPr>
            <a:spLocks noGrp="1"/>
          </p:cNvSpPr>
          <p:nvPr>
            <p:ph type="ctrTitle"/>
          </p:nvPr>
        </p:nvSpPr>
        <p:spPr>
          <a:xfrm>
            <a:off x="427089" y="2013677"/>
            <a:ext cx="10466198" cy="874948"/>
          </a:xfrm>
        </p:spPr>
        <p:txBody>
          <a:bodyPr>
            <a:normAutofit fontScale="90000"/>
          </a:bodyPr>
          <a:lstStyle/>
          <a:p>
            <a:r>
              <a:rPr lang="en-GB" dirty="0"/>
              <a:t>Generic Permutation based Genetic Operators</a:t>
            </a:r>
            <a:endParaRPr lang="en-GB" noProof="0" dirty="0"/>
          </a:p>
        </p:txBody>
      </p:sp>
      <p:sp>
        <p:nvSpPr>
          <p:cNvPr id="3" name="Subtitle 2">
            <a:extLst>
              <a:ext uri="{FF2B5EF4-FFF2-40B4-BE49-F238E27FC236}">
                <a16:creationId xmlns:a16="http://schemas.microsoft.com/office/drawing/2014/main" id="{F0A2A253-2531-0D9D-D90D-853B1AE5D8E9}"/>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9023663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r>
              <a:rPr lang="en-AU" altLang="en-US" dirty="0"/>
              <a:t>Partially Mapped Crossover (PMX)</a:t>
            </a:r>
          </a:p>
        </p:txBody>
      </p:sp>
      <p:sp>
        <p:nvSpPr>
          <p:cNvPr id="158723" name="Rectangle 3"/>
          <p:cNvSpPr>
            <a:spLocks noGrp="1" noChangeArrowheads="1"/>
          </p:cNvSpPr>
          <p:nvPr>
            <p:ph idx="1"/>
          </p:nvPr>
        </p:nvSpPr>
        <p:spPr/>
        <p:txBody>
          <a:bodyPr/>
          <a:lstStyle/>
          <a:p>
            <a:r>
              <a:rPr lang="en-AU" altLang="en-US" dirty="0"/>
              <a:t>Builds offspring by</a:t>
            </a:r>
          </a:p>
          <a:p>
            <a:pPr lvl="1"/>
            <a:r>
              <a:rPr lang="en-AU" altLang="en-US" sz="2800" dirty="0"/>
              <a:t>choosing a subsequence of a tour from one parent</a:t>
            </a:r>
          </a:p>
          <a:p>
            <a:pPr lvl="2"/>
            <a:r>
              <a:rPr lang="en-AU" altLang="en-US" sz="2400" dirty="0"/>
              <a:t>choose </a:t>
            </a:r>
            <a:r>
              <a:rPr lang="en-AU" altLang="en-US" sz="2400" dirty="0" err="1"/>
              <a:t>tw</a:t>
            </a:r>
            <a:r>
              <a:rPr lang="tr-TR" altLang="en-US" sz="2400" dirty="0"/>
              <a:t>o</a:t>
            </a:r>
            <a:r>
              <a:rPr lang="en-AU" altLang="en-US" sz="2400" dirty="0"/>
              <a:t> random cut points to serve as swapping boundaries</a:t>
            </a:r>
          </a:p>
          <a:p>
            <a:pPr lvl="2"/>
            <a:r>
              <a:rPr lang="en-AU" altLang="en-US" sz="2400" dirty="0"/>
              <a:t>swap segments between cut points</a:t>
            </a:r>
          </a:p>
          <a:p>
            <a:pPr lvl="1"/>
            <a:r>
              <a:rPr lang="en-AU" altLang="en-US" sz="2800" dirty="0"/>
              <a:t>preserving the order and position of as many cities as possible from other parent</a:t>
            </a:r>
          </a:p>
          <a:p>
            <a:r>
              <a:rPr lang="en-AU" altLang="en-US" dirty="0"/>
              <a:t>Exploits important similarities in the value and ordering simultaneously</a:t>
            </a:r>
          </a:p>
          <a:p>
            <a:pPr lvl="1"/>
            <a:endParaRPr lang="en-AU" altLang="en-US" sz="2400" dirty="0"/>
          </a:p>
          <a:p>
            <a:pPr marL="457200" lvl="1" indent="0">
              <a:buNone/>
            </a:pPr>
            <a:endParaRPr lang="en-AU" altLang="en-US" sz="2400" dirty="0"/>
          </a:p>
        </p:txBody>
      </p:sp>
      <p:sp>
        <p:nvSpPr>
          <p:cNvPr id="6" name="Slide Number Placeholder 5"/>
          <p:cNvSpPr>
            <a:spLocks noGrp="1"/>
          </p:cNvSpPr>
          <p:nvPr>
            <p:ph type="sldNum" sz="quarter" idx="12"/>
          </p:nvPr>
        </p:nvSpPr>
        <p:spPr/>
        <p:txBody>
          <a:bodyPr/>
          <a:lstStyle/>
          <a:p>
            <a:fld id="{DD6B34F2-F4FF-4C4F-BEB9-026101B40BEC}" type="slidenum">
              <a:rPr lang="en-US" altLang="en-US"/>
              <a:pPr/>
              <a:t>34</a:t>
            </a:fld>
            <a:endParaRPr lang="en-US" altLang="en-US"/>
          </a:p>
        </p:txBody>
      </p:sp>
    </p:spTree>
    <p:extLst>
      <p:ext uri="{BB962C8B-B14F-4D97-AF65-F5344CB8AC3E}">
        <p14:creationId xmlns:p14="http://schemas.microsoft.com/office/powerpoint/2010/main" val="13871174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r>
              <a:rPr lang="en-AU" altLang="en-US"/>
              <a:t>PMX</a:t>
            </a:r>
          </a:p>
        </p:txBody>
      </p:sp>
      <p:sp>
        <p:nvSpPr>
          <p:cNvPr id="159747" name="Rectangle 3"/>
          <p:cNvSpPr>
            <a:spLocks noGrp="1" noChangeArrowheads="1"/>
          </p:cNvSpPr>
          <p:nvPr>
            <p:ph idx="1"/>
          </p:nvPr>
        </p:nvSpPr>
        <p:spPr>
          <a:xfrm>
            <a:off x="3050976" y="1196753"/>
            <a:ext cx="8229600" cy="4530725"/>
          </a:xfrm>
        </p:spPr>
        <p:txBody>
          <a:bodyPr>
            <a:normAutofit fontScale="92500" lnSpcReduction="10000"/>
          </a:bodyPr>
          <a:lstStyle/>
          <a:p>
            <a:pPr>
              <a:buFontTx/>
              <a:buNone/>
            </a:pPr>
            <a:r>
              <a:rPr lang="en-AU" altLang="en-US" b="1" u="sng" dirty="0"/>
              <a:t>Example:</a:t>
            </a:r>
            <a:endParaRPr lang="en-AU" altLang="en-US" dirty="0"/>
          </a:p>
          <a:p>
            <a:pPr lvl="1">
              <a:buFontTx/>
              <a:buNone/>
            </a:pPr>
            <a:r>
              <a:rPr lang="en-AU" altLang="en-US" sz="2000" dirty="0"/>
              <a:t>p1: (1 2 3 </a:t>
            </a:r>
            <a:r>
              <a:rPr lang="en-AU" altLang="en-US" sz="2000" dirty="0">
                <a:solidFill>
                  <a:srgbClr val="FF66CC"/>
                </a:solidFill>
              </a:rPr>
              <a:t>|</a:t>
            </a:r>
            <a:r>
              <a:rPr lang="en-AU" altLang="en-US" sz="2000" dirty="0"/>
              <a:t> 4 5 6 7 </a:t>
            </a:r>
            <a:r>
              <a:rPr lang="en-AU" altLang="en-US" sz="2000" dirty="0">
                <a:solidFill>
                  <a:srgbClr val="FF66CC"/>
                </a:solidFill>
              </a:rPr>
              <a:t>|</a:t>
            </a:r>
            <a:r>
              <a:rPr lang="en-AU" altLang="en-US" sz="2000" dirty="0"/>
              <a:t> 8 9)</a:t>
            </a:r>
          </a:p>
          <a:p>
            <a:pPr lvl="1">
              <a:buFontTx/>
              <a:buNone/>
            </a:pPr>
            <a:r>
              <a:rPr lang="en-AU" altLang="en-US" sz="2000" dirty="0"/>
              <a:t>p2: (4 5 2 </a:t>
            </a:r>
            <a:r>
              <a:rPr lang="en-AU" altLang="en-US" sz="2000" dirty="0">
                <a:solidFill>
                  <a:srgbClr val="FF66CC"/>
                </a:solidFill>
              </a:rPr>
              <a:t>|</a:t>
            </a:r>
            <a:r>
              <a:rPr lang="en-AU" altLang="en-US" sz="2000" dirty="0"/>
              <a:t> 1 8 7 6 </a:t>
            </a:r>
            <a:r>
              <a:rPr lang="en-AU" altLang="en-US" sz="2000" dirty="0">
                <a:solidFill>
                  <a:srgbClr val="FF66CC"/>
                </a:solidFill>
              </a:rPr>
              <a:t>|</a:t>
            </a:r>
            <a:r>
              <a:rPr lang="en-AU" altLang="en-US" sz="2000" dirty="0"/>
              <a:t> 9 3)</a:t>
            </a:r>
          </a:p>
          <a:p>
            <a:pPr>
              <a:buFontTx/>
              <a:buNone/>
            </a:pPr>
            <a:r>
              <a:rPr lang="en-AU" altLang="en-US" sz="2000" dirty="0">
                <a:sym typeface="Symbol" pitchFamily="18" charset="2"/>
              </a:rPr>
              <a:t>step 1: swap segments </a:t>
            </a:r>
          </a:p>
          <a:p>
            <a:pPr lvl="1">
              <a:buFontTx/>
              <a:buNone/>
            </a:pPr>
            <a:r>
              <a:rPr lang="en-AU" altLang="en-US" sz="2000" dirty="0">
                <a:sym typeface="Symbol" pitchFamily="18" charset="2"/>
              </a:rPr>
              <a:t>o1: (x </a:t>
            </a:r>
            <a:r>
              <a:rPr lang="en-AU" altLang="en-US" sz="2000" dirty="0" err="1">
                <a:sym typeface="Symbol" pitchFamily="18" charset="2"/>
              </a:rPr>
              <a:t>x</a:t>
            </a:r>
            <a:r>
              <a:rPr lang="en-AU" altLang="en-US" sz="2000" dirty="0">
                <a:sym typeface="Symbol" pitchFamily="18" charset="2"/>
              </a:rPr>
              <a:t> </a:t>
            </a:r>
            <a:r>
              <a:rPr lang="en-AU" altLang="en-US" sz="2000" dirty="0" err="1">
                <a:sym typeface="Symbol" pitchFamily="18" charset="2"/>
              </a:rPr>
              <a:t>x</a:t>
            </a:r>
            <a:r>
              <a:rPr lang="en-AU" altLang="en-US" sz="2000" dirty="0">
                <a:sym typeface="Symbol" pitchFamily="18" charset="2"/>
              </a:rPr>
              <a:t> </a:t>
            </a:r>
            <a:r>
              <a:rPr lang="en-AU" altLang="en-US" sz="2000" dirty="0">
                <a:solidFill>
                  <a:srgbClr val="FF66CC"/>
                </a:solidFill>
                <a:sym typeface="Symbol" pitchFamily="18" charset="2"/>
              </a:rPr>
              <a:t>|</a:t>
            </a:r>
            <a:r>
              <a:rPr lang="en-AU" altLang="en-US" sz="2000" dirty="0">
                <a:sym typeface="Symbol" pitchFamily="18" charset="2"/>
              </a:rPr>
              <a:t> 1 8 7 6 </a:t>
            </a:r>
            <a:r>
              <a:rPr lang="en-AU" altLang="en-US" sz="2000" dirty="0">
                <a:solidFill>
                  <a:srgbClr val="FF66CC"/>
                </a:solidFill>
                <a:sym typeface="Symbol" pitchFamily="18" charset="2"/>
              </a:rPr>
              <a:t>|</a:t>
            </a:r>
            <a:r>
              <a:rPr lang="en-AU" altLang="en-US" sz="2000" dirty="0">
                <a:sym typeface="Symbol" pitchFamily="18" charset="2"/>
              </a:rPr>
              <a:t> x x)</a:t>
            </a:r>
          </a:p>
          <a:p>
            <a:pPr lvl="1">
              <a:buFontTx/>
              <a:buNone/>
            </a:pPr>
            <a:r>
              <a:rPr lang="en-AU" altLang="en-US" sz="2000" dirty="0">
                <a:sym typeface="Symbol" pitchFamily="18" charset="2"/>
              </a:rPr>
              <a:t>o2: (x </a:t>
            </a:r>
            <a:r>
              <a:rPr lang="en-AU" altLang="en-US" sz="2000" dirty="0" err="1">
                <a:sym typeface="Symbol" pitchFamily="18" charset="2"/>
              </a:rPr>
              <a:t>x</a:t>
            </a:r>
            <a:r>
              <a:rPr lang="en-AU" altLang="en-US" sz="2000" dirty="0">
                <a:sym typeface="Symbol" pitchFamily="18" charset="2"/>
              </a:rPr>
              <a:t> </a:t>
            </a:r>
            <a:r>
              <a:rPr lang="en-AU" altLang="en-US" sz="2000" dirty="0" err="1">
                <a:sym typeface="Symbol" pitchFamily="18" charset="2"/>
              </a:rPr>
              <a:t>x</a:t>
            </a:r>
            <a:r>
              <a:rPr lang="en-AU" altLang="en-US" sz="2000" dirty="0">
                <a:sym typeface="Symbol" pitchFamily="18" charset="2"/>
              </a:rPr>
              <a:t> </a:t>
            </a:r>
            <a:r>
              <a:rPr lang="en-AU" altLang="en-US" sz="2000" dirty="0">
                <a:solidFill>
                  <a:srgbClr val="FF66CC"/>
                </a:solidFill>
                <a:sym typeface="Symbol" pitchFamily="18" charset="2"/>
              </a:rPr>
              <a:t>|</a:t>
            </a:r>
            <a:r>
              <a:rPr lang="en-AU" altLang="en-US" sz="2000" dirty="0">
                <a:sym typeface="Symbol" pitchFamily="18" charset="2"/>
              </a:rPr>
              <a:t> 4 5 6 7 </a:t>
            </a:r>
            <a:r>
              <a:rPr lang="en-AU" altLang="en-US" sz="2000" dirty="0">
                <a:solidFill>
                  <a:srgbClr val="FF66CC"/>
                </a:solidFill>
                <a:sym typeface="Symbol" pitchFamily="18" charset="2"/>
              </a:rPr>
              <a:t>|</a:t>
            </a:r>
            <a:r>
              <a:rPr lang="en-AU" altLang="en-US" sz="2000" dirty="0">
                <a:sym typeface="Symbol" pitchFamily="18" charset="2"/>
              </a:rPr>
              <a:t> x x)</a:t>
            </a:r>
          </a:p>
          <a:p>
            <a:pPr lvl="2">
              <a:buFontTx/>
              <a:buNone/>
            </a:pPr>
            <a:r>
              <a:rPr lang="en-AU" altLang="en-US" sz="2000" dirty="0"/>
              <a:t>this also defines mappings:</a:t>
            </a:r>
          </a:p>
          <a:p>
            <a:pPr lvl="3">
              <a:buFontTx/>
              <a:buNone/>
            </a:pPr>
            <a:r>
              <a:rPr lang="en-AU" altLang="en-US" b="1" dirty="0"/>
              <a:t>1</a:t>
            </a:r>
            <a:r>
              <a:rPr lang="en-AU" altLang="en-US" b="1" dirty="0">
                <a:sym typeface="Symbol" pitchFamily="18" charset="2"/>
              </a:rPr>
              <a:t></a:t>
            </a:r>
            <a:r>
              <a:rPr lang="en-AU" altLang="en-US" b="1" dirty="0"/>
              <a:t>4, 8</a:t>
            </a:r>
            <a:r>
              <a:rPr lang="en-AU" altLang="en-US" b="1" dirty="0">
                <a:sym typeface="Symbol" pitchFamily="18" charset="2"/>
              </a:rPr>
              <a:t></a:t>
            </a:r>
            <a:r>
              <a:rPr lang="en-AU" altLang="en-US" b="1" dirty="0"/>
              <a:t>5, 7</a:t>
            </a:r>
            <a:r>
              <a:rPr lang="en-AU" altLang="en-US" b="1" dirty="0">
                <a:sym typeface="Symbol" pitchFamily="18" charset="2"/>
              </a:rPr>
              <a:t></a:t>
            </a:r>
            <a:r>
              <a:rPr lang="en-AU" altLang="en-US" b="1" dirty="0"/>
              <a:t>6, 6</a:t>
            </a:r>
            <a:r>
              <a:rPr lang="en-AU" altLang="en-US" b="1" dirty="0">
                <a:sym typeface="Symbol" pitchFamily="18" charset="2"/>
              </a:rPr>
              <a:t></a:t>
            </a:r>
            <a:r>
              <a:rPr lang="en-AU" altLang="en-US" b="1" dirty="0"/>
              <a:t>7</a:t>
            </a:r>
          </a:p>
          <a:p>
            <a:pPr>
              <a:buFontTx/>
              <a:buNone/>
            </a:pPr>
            <a:r>
              <a:rPr lang="en-AU" altLang="en-US" sz="2000" dirty="0"/>
              <a:t>step 2: fill in cities from other parents if no conflict</a:t>
            </a:r>
          </a:p>
          <a:p>
            <a:pPr lvl="1">
              <a:buFontTx/>
              <a:buNone/>
            </a:pPr>
            <a:r>
              <a:rPr lang="en-AU" altLang="en-US" sz="2000" dirty="0"/>
              <a:t>o1: (x 2 3 </a:t>
            </a:r>
            <a:r>
              <a:rPr lang="en-AU" altLang="en-US" sz="2000" dirty="0">
                <a:solidFill>
                  <a:srgbClr val="FF66CC"/>
                </a:solidFill>
                <a:sym typeface="Symbol" pitchFamily="18" charset="2"/>
              </a:rPr>
              <a:t>|</a:t>
            </a:r>
            <a:r>
              <a:rPr lang="en-AU" altLang="en-US" sz="2000" dirty="0"/>
              <a:t> 1 8 7 6 </a:t>
            </a:r>
            <a:r>
              <a:rPr lang="en-AU" altLang="en-US" sz="2000" dirty="0">
                <a:solidFill>
                  <a:srgbClr val="FF66CC"/>
                </a:solidFill>
                <a:sym typeface="Symbol" pitchFamily="18" charset="2"/>
              </a:rPr>
              <a:t>|</a:t>
            </a:r>
            <a:r>
              <a:rPr lang="en-AU" altLang="en-US" sz="2000" dirty="0"/>
              <a:t> x 9)</a:t>
            </a:r>
          </a:p>
          <a:p>
            <a:pPr lvl="1">
              <a:buFontTx/>
              <a:buNone/>
            </a:pPr>
            <a:r>
              <a:rPr lang="en-AU" altLang="en-US" sz="2000" dirty="0"/>
              <a:t>o2: (x </a:t>
            </a:r>
            <a:r>
              <a:rPr lang="en-AU" altLang="en-US" sz="2000" dirty="0" err="1"/>
              <a:t>x</a:t>
            </a:r>
            <a:r>
              <a:rPr lang="en-AU" altLang="en-US" sz="2000" dirty="0"/>
              <a:t> 2 </a:t>
            </a:r>
            <a:r>
              <a:rPr lang="en-AU" altLang="en-US" sz="2000" dirty="0">
                <a:solidFill>
                  <a:srgbClr val="FF66CC"/>
                </a:solidFill>
                <a:sym typeface="Symbol" pitchFamily="18" charset="2"/>
              </a:rPr>
              <a:t>|</a:t>
            </a:r>
            <a:r>
              <a:rPr lang="en-AU" altLang="en-US" sz="2000" dirty="0"/>
              <a:t> 4 5 6 7 </a:t>
            </a:r>
            <a:r>
              <a:rPr lang="en-AU" altLang="en-US" sz="2000" dirty="0">
                <a:solidFill>
                  <a:srgbClr val="FF66CC"/>
                </a:solidFill>
                <a:sym typeface="Symbol" pitchFamily="18" charset="2"/>
              </a:rPr>
              <a:t>|</a:t>
            </a:r>
            <a:r>
              <a:rPr lang="en-AU" altLang="en-US" sz="2000" dirty="0"/>
              <a:t> 9 3)</a:t>
            </a:r>
          </a:p>
          <a:p>
            <a:pPr>
              <a:buFontTx/>
              <a:buNone/>
            </a:pPr>
            <a:r>
              <a:rPr lang="en-AU" altLang="en-US" sz="2000" dirty="0"/>
              <a:t>step 3: use mappings for conflicted positions</a:t>
            </a:r>
          </a:p>
          <a:p>
            <a:pPr lvl="1">
              <a:buFontTx/>
              <a:buNone/>
            </a:pPr>
            <a:r>
              <a:rPr lang="en-AU" altLang="en-US" sz="2000" dirty="0"/>
              <a:t>o1: (</a:t>
            </a:r>
            <a:r>
              <a:rPr lang="en-AU" altLang="en-US" sz="2000" b="1" dirty="0"/>
              <a:t>4</a:t>
            </a:r>
            <a:r>
              <a:rPr lang="en-AU" altLang="en-US" sz="2000" dirty="0"/>
              <a:t> 2 3 </a:t>
            </a:r>
            <a:r>
              <a:rPr lang="en-AU" altLang="en-US" sz="2000" dirty="0">
                <a:solidFill>
                  <a:srgbClr val="FF66CC"/>
                </a:solidFill>
                <a:sym typeface="Symbol" pitchFamily="18" charset="2"/>
              </a:rPr>
              <a:t>|</a:t>
            </a:r>
            <a:r>
              <a:rPr lang="en-AU" altLang="en-US" sz="2000" dirty="0"/>
              <a:t> 1 8 7 6 </a:t>
            </a:r>
            <a:r>
              <a:rPr lang="en-AU" altLang="en-US" sz="2000" dirty="0">
                <a:solidFill>
                  <a:srgbClr val="FF66CC"/>
                </a:solidFill>
                <a:sym typeface="Symbol" pitchFamily="18" charset="2"/>
              </a:rPr>
              <a:t>|</a:t>
            </a:r>
            <a:r>
              <a:rPr lang="en-AU" altLang="en-US" sz="2000" dirty="0"/>
              <a:t> </a:t>
            </a:r>
            <a:r>
              <a:rPr lang="en-AU" altLang="en-US" sz="2000" b="1" dirty="0"/>
              <a:t>5</a:t>
            </a:r>
            <a:r>
              <a:rPr lang="en-AU" altLang="en-US" sz="2000" dirty="0"/>
              <a:t> 9)</a:t>
            </a:r>
          </a:p>
          <a:p>
            <a:pPr lvl="1">
              <a:buFontTx/>
              <a:buNone/>
            </a:pPr>
            <a:r>
              <a:rPr lang="en-AU" altLang="en-US" sz="2000" dirty="0"/>
              <a:t>o2: (</a:t>
            </a:r>
            <a:r>
              <a:rPr lang="en-AU" altLang="en-US" sz="2000" b="1" dirty="0"/>
              <a:t>1 8 </a:t>
            </a:r>
            <a:r>
              <a:rPr lang="en-AU" altLang="en-US" sz="2000" dirty="0"/>
              <a:t>2 </a:t>
            </a:r>
            <a:r>
              <a:rPr lang="en-AU" altLang="en-US" sz="2000" dirty="0">
                <a:solidFill>
                  <a:srgbClr val="FF66CC"/>
                </a:solidFill>
                <a:sym typeface="Symbol" pitchFamily="18" charset="2"/>
              </a:rPr>
              <a:t>|</a:t>
            </a:r>
            <a:r>
              <a:rPr lang="en-AU" altLang="en-US" sz="2000" dirty="0"/>
              <a:t> 4 5 6 7 </a:t>
            </a:r>
            <a:r>
              <a:rPr lang="en-AU" altLang="en-US" sz="2000" dirty="0">
                <a:solidFill>
                  <a:srgbClr val="FF66CC"/>
                </a:solidFill>
                <a:sym typeface="Symbol" pitchFamily="18" charset="2"/>
              </a:rPr>
              <a:t>|</a:t>
            </a:r>
            <a:r>
              <a:rPr lang="en-AU" altLang="en-US" sz="2000" dirty="0"/>
              <a:t> 9 3)</a:t>
            </a:r>
          </a:p>
        </p:txBody>
      </p:sp>
      <p:sp>
        <p:nvSpPr>
          <p:cNvPr id="6" name="Slide Number Placeholder 5"/>
          <p:cNvSpPr>
            <a:spLocks noGrp="1"/>
          </p:cNvSpPr>
          <p:nvPr>
            <p:ph type="sldNum" sz="quarter" idx="12"/>
          </p:nvPr>
        </p:nvSpPr>
        <p:spPr/>
        <p:txBody>
          <a:bodyPr/>
          <a:lstStyle/>
          <a:p>
            <a:fld id="{3ACE8577-4DFF-496F-850E-5BE1E93DECA2}" type="slidenum">
              <a:rPr lang="en-US" altLang="en-US"/>
              <a:pPr/>
              <a:t>35</a:t>
            </a:fld>
            <a:endParaRPr lang="en-US" altLang="en-US"/>
          </a:p>
        </p:txBody>
      </p:sp>
    </p:spTree>
    <p:custDataLst>
      <p:tags r:id="rId1"/>
    </p:custDataLst>
    <p:extLst>
      <p:ext uri="{BB962C8B-B14F-4D97-AF65-F5344CB8AC3E}">
        <p14:creationId xmlns:p14="http://schemas.microsoft.com/office/powerpoint/2010/main" val="35321288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97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5974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5974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974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5974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5974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5974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59747">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59747">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159747">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159747">
                                            <p:txEl>
                                              <p:pRg st="10" end="1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59747">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499"/>
                                          </p:stCondLst>
                                        </p:cTn>
                                        <p:tgtEl>
                                          <p:spTgt spid="159747">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499"/>
                                          </p:stCondLst>
                                        </p:cTn>
                                        <p:tgtEl>
                                          <p:spTgt spid="15974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B9CC9FB-1F1A-4FEC-80DF-C5EBE0D0FFF0}" type="slidenum">
              <a:rPr lang="en-US" altLang="en-US"/>
              <a:pPr/>
              <a:t>36</a:t>
            </a:fld>
            <a:endParaRPr lang="en-US" altLang="en-US"/>
          </a:p>
        </p:txBody>
      </p:sp>
      <p:sp>
        <p:nvSpPr>
          <p:cNvPr id="160770" name="Rectangle 2"/>
          <p:cNvSpPr>
            <a:spLocks noGrp="1" noChangeArrowheads="1"/>
          </p:cNvSpPr>
          <p:nvPr>
            <p:ph type="title"/>
          </p:nvPr>
        </p:nvSpPr>
        <p:spPr/>
        <p:txBody>
          <a:bodyPr/>
          <a:lstStyle/>
          <a:p>
            <a:r>
              <a:rPr lang="en-AU" altLang="en-US" dirty="0"/>
              <a:t>Order Crossover (OX)</a:t>
            </a:r>
          </a:p>
        </p:txBody>
      </p:sp>
      <p:sp>
        <p:nvSpPr>
          <p:cNvPr id="160771" name="Rectangle 3"/>
          <p:cNvSpPr>
            <a:spLocks noGrp="1" noChangeArrowheads="1"/>
          </p:cNvSpPr>
          <p:nvPr>
            <p:ph type="body" idx="1"/>
          </p:nvPr>
        </p:nvSpPr>
        <p:spPr/>
        <p:txBody>
          <a:bodyPr/>
          <a:lstStyle/>
          <a:p>
            <a:r>
              <a:rPr lang="en-AU" altLang="en-US" dirty="0"/>
              <a:t>Builds offspring by</a:t>
            </a:r>
          </a:p>
          <a:p>
            <a:pPr lvl="1"/>
            <a:r>
              <a:rPr lang="en-AU" altLang="en-US" dirty="0"/>
              <a:t>choosing a subsequence of a tour from one parent</a:t>
            </a:r>
          </a:p>
          <a:p>
            <a:pPr lvl="1"/>
            <a:r>
              <a:rPr lang="en-AU" altLang="en-US" dirty="0"/>
              <a:t>preserving relative order of cities from other parent</a:t>
            </a:r>
          </a:p>
          <a:p>
            <a:r>
              <a:rPr lang="en-AU" altLang="en-US" dirty="0"/>
              <a:t>Exploits the property that ordering of cities important, not positions</a:t>
            </a:r>
          </a:p>
          <a:p>
            <a:pPr lvl="2">
              <a:buFontTx/>
              <a:buNone/>
            </a:pPr>
            <a:r>
              <a:rPr lang="en-AU" altLang="en-US" dirty="0"/>
              <a:t>9-3-4-5-2-1-8-7-6 and</a:t>
            </a:r>
          </a:p>
          <a:p>
            <a:pPr lvl="2">
              <a:buFontTx/>
              <a:buNone/>
            </a:pPr>
            <a:r>
              <a:rPr lang="en-AU" altLang="en-US" dirty="0"/>
              <a:t>4-5-2-1-8-7-6-9-3 are identical</a:t>
            </a:r>
          </a:p>
          <a:p>
            <a:pPr lvl="1"/>
            <a:endParaRPr lang="en-AU" altLang="en-US" dirty="0"/>
          </a:p>
        </p:txBody>
      </p:sp>
    </p:spTree>
    <p:extLst>
      <p:ext uri="{BB962C8B-B14F-4D97-AF65-F5344CB8AC3E}">
        <p14:creationId xmlns:p14="http://schemas.microsoft.com/office/powerpoint/2010/main" val="15666424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r>
              <a:rPr lang="en-AU" altLang="en-US"/>
              <a:t>OX</a:t>
            </a:r>
          </a:p>
        </p:txBody>
      </p:sp>
      <p:sp>
        <p:nvSpPr>
          <p:cNvPr id="161795" name="Rectangle 3"/>
          <p:cNvSpPr>
            <a:spLocks noGrp="1" noChangeArrowheads="1"/>
          </p:cNvSpPr>
          <p:nvPr>
            <p:ph idx="1"/>
          </p:nvPr>
        </p:nvSpPr>
        <p:spPr>
          <a:xfrm>
            <a:off x="1981200" y="1412777"/>
            <a:ext cx="8229600" cy="4530725"/>
          </a:xfrm>
        </p:spPr>
        <p:txBody>
          <a:bodyPr>
            <a:normAutofit lnSpcReduction="10000"/>
          </a:bodyPr>
          <a:lstStyle/>
          <a:p>
            <a:pPr>
              <a:buFontTx/>
              <a:buNone/>
            </a:pPr>
            <a:r>
              <a:rPr lang="en-AU" altLang="en-US" b="1" u="sng" dirty="0"/>
              <a:t>Example:</a:t>
            </a:r>
            <a:endParaRPr lang="en-AU" altLang="en-US" dirty="0"/>
          </a:p>
          <a:p>
            <a:pPr lvl="1">
              <a:buFontTx/>
              <a:buNone/>
            </a:pPr>
            <a:r>
              <a:rPr lang="en-AU" altLang="en-US" sz="2000" dirty="0"/>
              <a:t>p1: (1 2 3 </a:t>
            </a:r>
            <a:r>
              <a:rPr lang="en-AU" altLang="en-US" sz="2000" dirty="0">
                <a:solidFill>
                  <a:srgbClr val="FF66CC"/>
                </a:solidFill>
              </a:rPr>
              <a:t>|</a:t>
            </a:r>
            <a:r>
              <a:rPr lang="en-AU" altLang="en-US" sz="2000" dirty="0"/>
              <a:t> 4 5 6 7 </a:t>
            </a:r>
            <a:r>
              <a:rPr lang="en-AU" altLang="en-US" sz="2000" dirty="0">
                <a:solidFill>
                  <a:srgbClr val="FF66CC"/>
                </a:solidFill>
              </a:rPr>
              <a:t>|</a:t>
            </a:r>
            <a:r>
              <a:rPr lang="en-AU" altLang="en-US" sz="2000" dirty="0"/>
              <a:t> 8 9)</a:t>
            </a:r>
          </a:p>
          <a:p>
            <a:pPr lvl="1">
              <a:buFontTx/>
              <a:buNone/>
            </a:pPr>
            <a:r>
              <a:rPr lang="en-AU" altLang="en-US" sz="2000" dirty="0"/>
              <a:t>p2: (4 5 2 </a:t>
            </a:r>
            <a:r>
              <a:rPr lang="en-AU" altLang="en-US" sz="2000" dirty="0">
                <a:solidFill>
                  <a:srgbClr val="FF66CC"/>
                </a:solidFill>
              </a:rPr>
              <a:t>|</a:t>
            </a:r>
            <a:r>
              <a:rPr lang="en-AU" altLang="en-US" sz="2000" dirty="0"/>
              <a:t> 1 8 7 6 </a:t>
            </a:r>
            <a:r>
              <a:rPr lang="en-AU" altLang="en-US" sz="2000" dirty="0">
                <a:solidFill>
                  <a:srgbClr val="FF66CC"/>
                </a:solidFill>
              </a:rPr>
              <a:t>|</a:t>
            </a:r>
            <a:r>
              <a:rPr lang="en-AU" altLang="en-US" sz="2000" dirty="0"/>
              <a:t> 9 3)</a:t>
            </a:r>
          </a:p>
          <a:p>
            <a:pPr>
              <a:buFontTx/>
              <a:buNone/>
            </a:pPr>
            <a:r>
              <a:rPr lang="en-AU" altLang="en-US" sz="2000" dirty="0">
                <a:sym typeface="Symbol" pitchFamily="18" charset="2"/>
              </a:rPr>
              <a:t>step 1: copy segments into offspring</a:t>
            </a:r>
          </a:p>
          <a:p>
            <a:pPr lvl="1">
              <a:buFontTx/>
              <a:buNone/>
            </a:pPr>
            <a:r>
              <a:rPr lang="en-AU" altLang="en-US" sz="2000" dirty="0">
                <a:sym typeface="Symbol" pitchFamily="18" charset="2"/>
              </a:rPr>
              <a:t>o1: (x </a:t>
            </a:r>
            <a:r>
              <a:rPr lang="en-AU" altLang="en-US" sz="2000" dirty="0" err="1">
                <a:sym typeface="Symbol" pitchFamily="18" charset="2"/>
              </a:rPr>
              <a:t>x</a:t>
            </a:r>
            <a:r>
              <a:rPr lang="en-AU" altLang="en-US" sz="2000" dirty="0">
                <a:sym typeface="Symbol" pitchFamily="18" charset="2"/>
              </a:rPr>
              <a:t> </a:t>
            </a:r>
            <a:r>
              <a:rPr lang="en-AU" altLang="en-US" sz="2000" dirty="0" err="1">
                <a:sym typeface="Symbol" pitchFamily="18" charset="2"/>
              </a:rPr>
              <a:t>x</a:t>
            </a:r>
            <a:r>
              <a:rPr lang="en-AU" altLang="en-US" sz="2000" dirty="0">
                <a:sym typeface="Symbol" pitchFamily="18" charset="2"/>
              </a:rPr>
              <a:t> </a:t>
            </a:r>
            <a:r>
              <a:rPr lang="en-AU" altLang="en-US" sz="2000" dirty="0">
                <a:solidFill>
                  <a:srgbClr val="FF66CC"/>
                </a:solidFill>
                <a:sym typeface="Symbol" pitchFamily="18" charset="2"/>
              </a:rPr>
              <a:t>| </a:t>
            </a:r>
            <a:r>
              <a:rPr lang="en-AU" altLang="en-US" sz="2000" dirty="0">
                <a:sym typeface="Symbol" pitchFamily="18" charset="2"/>
              </a:rPr>
              <a:t>4 5 6 7 </a:t>
            </a:r>
            <a:r>
              <a:rPr lang="en-AU" altLang="en-US" sz="2000" dirty="0">
                <a:solidFill>
                  <a:srgbClr val="FF66CC"/>
                </a:solidFill>
                <a:sym typeface="Symbol" pitchFamily="18" charset="2"/>
              </a:rPr>
              <a:t>|</a:t>
            </a:r>
            <a:r>
              <a:rPr lang="en-AU" altLang="en-US" sz="2000" dirty="0">
                <a:sym typeface="Symbol" pitchFamily="18" charset="2"/>
              </a:rPr>
              <a:t> x x)</a:t>
            </a:r>
          </a:p>
          <a:p>
            <a:pPr lvl="1">
              <a:buFontTx/>
              <a:buNone/>
            </a:pPr>
            <a:r>
              <a:rPr lang="en-AU" altLang="en-US" sz="2000" dirty="0">
                <a:sym typeface="Symbol" pitchFamily="18" charset="2"/>
              </a:rPr>
              <a:t>o2: (x </a:t>
            </a:r>
            <a:r>
              <a:rPr lang="en-AU" altLang="en-US" sz="2000" dirty="0" err="1">
                <a:sym typeface="Symbol" pitchFamily="18" charset="2"/>
              </a:rPr>
              <a:t>x</a:t>
            </a:r>
            <a:r>
              <a:rPr lang="en-AU" altLang="en-US" sz="2000" dirty="0">
                <a:sym typeface="Symbol" pitchFamily="18" charset="2"/>
              </a:rPr>
              <a:t> </a:t>
            </a:r>
            <a:r>
              <a:rPr lang="en-AU" altLang="en-US" sz="2000" dirty="0" err="1">
                <a:sym typeface="Symbol" pitchFamily="18" charset="2"/>
              </a:rPr>
              <a:t>x</a:t>
            </a:r>
            <a:r>
              <a:rPr lang="en-AU" altLang="en-US" sz="2000" dirty="0">
                <a:sym typeface="Symbol" pitchFamily="18" charset="2"/>
              </a:rPr>
              <a:t> </a:t>
            </a:r>
            <a:r>
              <a:rPr lang="en-AU" altLang="en-US" sz="2000" dirty="0">
                <a:solidFill>
                  <a:srgbClr val="FF66CC"/>
                </a:solidFill>
                <a:sym typeface="Symbol" pitchFamily="18" charset="2"/>
              </a:rPr>
              <a:t>|</a:t>
            </a:r>
            <a:r>
              <a:rPr lang="en-AU" altLang="en-US" sz="2000" dirty="0">
                <a:sym typeface="Symbol" pitchFamily="18" charset="2"/>
              </a:rPr>
              <a:t> 1 8 7 6 </a:t>
            </a:r>
            <a:r>
              <a:rPr lang="en-AU" altLang="en-US" sz="2000" dirty="0">
                <a:solidFill>
                  <a:srgbClr val="FF66CC"/>
                </a:solidFill>
                <a:sym typeface="Symbol" pitchFamily="18" charset="2"/>
              </a:rPr>
              <a:t>|</a:t>
            </a:r>
            <a:r>
              <a:rPr lang="en-AU" altLang="en-US" sz="2000" dirty="0">
                <a:sym typeface="Symbol" pitchFamily="18" charset="2"/>
              </a:rPr>
              <a:t> x x)</a:t>
            </a:r>
          </a:p>
          <a:p>
            <a:pPr>
              <a:buFontTx/>
              <a:buNone/>
            </a:pPr>
            <a:r>
              <a:rPr lang="en-AU" altLang="en-US" sz="2000" dirty="0">
                <a:sym typeface="Symbol" pitchFamily="18" charset="2"/>
              </a:rPr>
              <a:t>step 2: starting from 2nd cut point of one parent, cities from other parent copied in same order, omitting symbols already present; if end of string reached, continue from beginning of string</a:t>
            </a:r>
          </a:p>
          <a:p>
            <a:pPr lvl="1">
              <a:buFontTx/>
              <a:buNone/>
            </a:pPr>
            <a:r>
              <a:rPr lang="en-AU" altLang="en-US" sz="2000" dirty="0">
                <a:sym typeface="Symbol" pitchFamily="18" charset="2"/>
              </a:rPr>
              <a:t>sequence of cities in 2nd parent (from 2nd cut point) is</a:t>
            </a:r>
          </a:p>
          <a:p>
            <a:pPr lvl="2">
              <a:buFontTx/>
              <a:buNone/>
            </a:pPr>
            <a:r>
              <a:rPr lang="en-AU" altLang="en-US" sz="1800" dirty="0">
                <a:sym typeface="Symbol" pitchFamily="18" charset="2"/>
              </a:rPr>
              <a:t>9-3-4-5-2-1-8-7-6 (remove 4,5,6,7 which are in 1st offspring)</a:t>
            </a:r>
          </a:p>
          <a:p>
            <a:pPr lvl="2">
              <a:buFontTx/>
              <a:buNone/>
            </a:pPr>
            <a:r>
              <a:rPr lang="en-AU" altLang="en-US" sz="1800" dirty="0">
                <a:sym typeface="Symbol" pitchFamily="18" charset="2"/>
              </a:rPr>
              <a:t>9-3-2-1-8</a:t>
            </a:r>
          </a:p>
          <a:p>
            <a:pPr lvl="1">
              <a:buFontTx/>
              <a:buNone/>
            </a:pPr>
            <a:r>
              <a:rPr lang="en-AU" altLang="en-US" sz="2000" dirty="0">
                <a:sym typeface="Symbol" pitchFamily="18" charset="2"/>
              </a:rPr>
              <a:t>place into first offspring    o1: (2 1 8 </a:t>
            </a:r>
            <a:r>
              <a:rPr lang="en-AU" altLang="en-US" sz="2000" dirty="0">
                <a:solidFill>
                  <a:srgbClr val="FF66CC"/>
                </a:solidFill>
                <a:sym typeface="Symbol" pitchFamily="18" charset="2"/>
              </a:rPr>
              <a:t>|</a:t>
            </a:r>
            <a:r>
              <a:rPr lang="en-AU" altLang="en-US" sz="2000" dirty="0">
                <a:sym typeface="Symbol" pitchFamily="18" charset="2"/>
              </a:rPr>
              <a:t> 4 5 6 7 </a:t>
            </a:r>
            <a:r>
              <a:rPr lang="en-AU" altLang="en-US" sz="2000" dirty="0">
                <a:solidFill>
                  <a:srgbClr val="FF66CC"/>
                </a:solidFill>
                <a:sym typeface="Symbol" pitchFamily="18" charset="2"/>
              </a:rPr>
              <a:t>|</a:t>
            </a:r>
            <a:r>
              <a:rPr lang="en-AU" altLang="en-US" sz="2000" dirty="0">
                <a:sym typeface="Symbol" pitchFamily="18" charset="2"/>
              </a:rPr>
              <a:t> 9 3)</a:t>
            </a:r>
          </a:p>
          <a:p>
            <a:pPr lvl="1">
              <a:buFontTx/>
              <a:buNone/>
            </a:pPr>
            <a:r>
              <a:rPr lang="en-AU" altLang="en-US" sz="2000" dirty="0">
                <a:sym typeface="Symbol" pitchFamily="18" charset="2"/>
              </a:rPr>
              <a:t>similarly the 2nd offspring o2: (3 4 5 </a:t>
            </a:r>
            <a:r>
              <a:rPr lang="en-AU" altLang="en-US" sz="2000" dirty="0">
                <a:solidFill>
                  <a:srgbClr val="FF66CC"/>
                </a:solidFill>
                <a:sym typeface="Symbol" pitchFamily="18" charset="2"/>
              </a:rPr>
              <a:t>|</a:t>
            </a:r>
            <a:r>
              <a:rPr lang="en-AU" altLang="en-US" sz="2000" dirty="0">
                <a:sym typeface="Symbol" pitchFamily="18" charset="2"/>
              </a:rPr>
              <a:t> 1 8 7 6 </a:t>
            </a:r>
            <a:r>
              <a:rPr lang="en-AU" altLang="en-US" sz="2000" dirty="0">
                <a:solidFill>
                  <a:srgbClr val="FF66CC"/>
                </a:solidFill>
                <a:sym typeface="Symbol" pitchFamily="18" charset="2"/>
              </a:rPr>
              <a:t>|</a:t>
            </a:r>
            <a:r>
              <a:rPr lang="en-AU" altLang="en-US" sz="2000" dirty="0">
                <a:sym typeface="Symbol" pitchFamily="18" charset="2"/>
              </a:rPr>
              <a:t> 9 2)</a:t>
            </a:r>
          </a:p>
        </p:txBody>
      </p:sp>
      <p:sp>
        <p:nvSpPr>
          <p:cNvPr id="6" name="Slide Number Placeholder 5"/>
          <p:cNvSpPr>
            <a:spLocks noGrp="1"/>
          </p:cNvSpPr>
          <p:nvPr>
            <p:ph type="sldNum" sz="quarter" idx="12"/>
          </p:nvPr>
        </p:nvSpPr>
        <p:spPr/>
        <p:txBody>
          <a:bodyPr/>
          <a:lstStyle/>
          <a:p>
            <a:fld id="{5BB5FBDB-42B6-4191-B95D-90C79D9E4C9A}" type="slidenum">
              <a:rPr lang="en-US" altLang="en-US"/>
              <a:pPr/>
              <a:t>37</a:t>
            </a:fld>
            <a:endParaRPr lang="en-US" altLang="en-US"/>
          </a:p>
        </p:txBody>
      </p:sp>
    </p:spTree>
    <p:custDataLst>
      <p:tags r:id="rId1"/>
    </p:custDataLst>
    <p:extLst>
      <p:ext uri="{BB962C8B-B14F-4D97-AF65-F5344CB8AC3E}">
        <p14:creationId xmlns:p14="http://schemas.microsoft.com/office/powerpoint/2010/main" val="15471142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17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6179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6179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179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6179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61795">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6179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16179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16179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16179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161795">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16179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3C8F78C-AA84-4D84-8794-66AAC7F13856}" type="slidenum">
              <a:rPr lang="en-US" altLang="en-US"/>
              <a:pPr/>
              <a:t>38</a:t>
            </a:fld>
            <a:endParaRPr lang="en-US" altLang="en-US"/>
          </a:p>
        </p:txBody>
      </p:sp>
      <p:sp>
        <p:nvSpPr>
          <p:cNvPr id="163842" name="Rectangle 2"/>
          <p:cNvSpPr>
            <a:spLocks noGrp="1" noChangeArrowheads="1"/>
          </p:cNvSpPr>
          <p:nvPr>
            <p:ph type="title"/>
          </p:nvPr>
        </p:nvSpPr>
        <p:spPr/>
        <p:txBody>
          <a:bodyPr/>
          <a:lstStyle/>
          <a:p>
            <a:r>
              <a:rPr lang="en-AU" altLang="en-US" dirty="0"/>
              <a:t>Cycle Crossover (CX)</a:t>
            </a:r>
          </a:p>
        </p:txBody>
      </p:sp>
      <p:sp>
        <p:nvSpPr>
          <p:cNvPr id="163843" name="Rectangle 3"/>
          <p:cNvSpPr>
            <a:spLocks noGrp="1" noChangeArrowheads="1"/>
          </p:cNvSpPr>
          <p:nvPr>
            <p:ph type="body" idx="1"/>
          </p:nvPr>
        </p:nvSpPr>
        <p:spPr/>
        <p:txBody>
          <a:bodyPr/>
          <a:lstStyle/>
          <a:p>
            <a:r>
              <a:rPr lang="en-AU" altLang="en-US" dirty="0"/>
              <a:t>Builds offspring by</a:t>
            </a:r>
          </a:p>
          <a:p>
            <a:pPr lvl="1"/>
            <a:r>
              <a:rPr lang="en-AU" altLang="en-US" dirty="0"/>
              <a:t>choosing each city and its position from one of the parents</a:t>
            </a:r>
          </a:p>
          <a:p>
            <a:pPr lvl="1"/>
            <a:r>
              <a:rPr lang="en-AU" altLang="en-US" dirty="0"/>
              <a:t>and when a cycle is completed, the remaining cities filled in from the other parent</a:t>
            </a:r>
          </a:p>
          <a:p>
            <a:r>
              <a:rPr lang="en-AU" altLang="en-US" dirty="0"/>
              <a:t>Preserves absolute positions of the elements in the parent sequence</a:t>
            </a:r>
          </a:p>
        </p:txBody>
      </p:sp>
    </p:spTree>
    <p:extLst>
      <p:ext uri="{BB962C8B-B14F-4D97-AF65-F5344CB8AC3E}">
        <p14:creationId xmlns:p14="http://schemas.microsoft.com/office/powerpoint/2010/main" val="21449785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p:txBody>
          <a:bodyPr/>
          <a:lstStyle/>
          <a:p>
            <a:r>
              <a:rPr lang="en-AU" altLang="en-US" dirty="0"/>
              <a:t>Cycle Crossover (CX)</a:t>
            </a:r>
          </a:p>
        </p:txBody>
      </p:sp>
      <p:sp>
        <p:nvSpPr>
          <p:cNvPr id="164867" name="Rectangle 3"/>
          <p:cNvSpPr>
            <a:spLocks noGrp="1" noChangeArrowheads="1"/>
          </p:cNvSpPr>
          <p:nvPr>
            <p:ph idx="1"/>
          </p:nvPr>
        </p:nvSpPr>
        <p:spPr/>
        <p:txBody>
          <a:bodyPr/>
          <a:lstStyle/>
          <a:p>
            <a:pPr>
              <a:buFontTx/>
              <a:buNone/>
            </a:pPr>
            <a:r>
              <a:rPr lang="tr-TR" altLang="en-US" sz="2000" dirty="0"/>
              <a:t>     </a:t>
            </a:r>
            <a:r>
              <a:rPr lang="en-AU" altLang="en-US" sz="2000" dirty="0"/>
              <a:t>p1: (1 2 3 4 5 6 7 8 9)</a:t>
            </a:r>
          </a:p>
          <a:p>
            <a:pPr>
              <a:buFontTx/>
              <a:buNone/>
            </a:pPr>
            <a:r>
              <a:rPr lang="tr-TR" altLang="en-US" sz="2000" dirty="0"/>
              <a:t>    </a:t>
            </a:r>
          </a:p>
          <a:p>
            <a:pPr>
              <a:buFontTx/>
              <a:buNone/>
            </a:pPr>
            <a:r>
              <a:rPr lang="tr-TR" altLang="en-US" sz="2000" dirty="0"/>
              <a:t>     </a:t>
            </a:r>
            <a:r>
              <a:rPr lang="en-AU" altLang="en-US" sz="2000" dirty="0"/>
              <a:t>p2: (</a:t>
            </a:r>
            <a:r>
              <a:rPr lang="en-AU" altLang="en-US" sz="2000" b="1" dirty="0"/>
              <a:t>4 1 2 8 7 6 9 3 5</a:t>
            </a:r>
            <a:r>
              <a:rPr lang="en-AU" altLang="en-US" sz="2000" dirty="0"/>
              <a:t>)</a:t>
            </a:r>
          </a:p>
          <a:p>
            <a:pPr>
              <a:buFontTx/>
              <a:buNone/>
            </a:pPr>
            <a:r>
              <a:rPr lang="en-AU" altLang="en-US" sz="2000" dirty="0"/>
              <a:t>	</a:t>
            </a:r>
          </a:p>
          <a:p>
            <a:pPr>
              <a:buFontTx/>
              <a:buNone/>
            </a:pPr>
            <a:endParaRPr lang="en-AU" altLang="en-US" sz="2000" dirty="0"/>
          </a:p>
          <a:p>
            <a:pPr>
              <a:buFontTx/>
              <a:buNone/>
            </a:pPr>
            <a:endParaRPr lang="en-AU" altLang="en-US" sz="2000" dirty="0"/>
          </a:p>
          <a:p>
            <a:pPr>
              <a:buFontTx/>
              <a:buNone/>
            </a:pPr>
            <a:endParaRPr lang="en-AU" altLang="en-US" sz="2000" dirty="0"/>
          </a:p>
          <a:p>
            <a:pPr>
              <a:buFontTx/>
              <a:buNone/>
            </a:pPr>
            <a:endParaRPr lang="en-AU" altLang="en-US" sz="2000" dirty="0"/>
          </a:p>
          <a:p>
            <a:pPr>
              <a:buFontTx/>
              <a:buNone/>
            </a:pPr>
            <a:endParaRPr lang="en-AU" altLang="en-US" sz="1800" dirty="0"/>
          </a:p>
        </p:txBody>
      </p:sp>
      <p:sp>
        <p:nvSpPr>
          <p:cNvPr id="6" name="Slide Number Placeholder 5"/>
          <p:cNvSpPr>
            <a:spLocks noGrp="1"/>
          </p:cNvSpPr>
          <p:nvPr>
            <p:ph type="sldNum" sz="quarter" idx="12"/>
          </p:nvPr>
        </p:nvSpPr>
        <p:spPr/>
        <p:txBody>
          <a:bodyPr/>
          <a:lstStyle/>
          <a:p>
            <a:fld id="{C6842403-8B1B-4B29-9010-FC3A71F8FD8C}" type="slidenum">
              <a:rPr lang="en-US" altLang="en-US"/>
              <a:pPr/>
              <a:t>39</a:t>
            </a:fld>
            <a:endParaRPr lang="en-US" altLang="en-US"/>
          </a:p>
        </p:txBody>
      </p:sp>
      <p:cxnSp>
        <p:nvCxnSpPr>
          <p:cNvPr id="3" name="Straight Arrow Connector 2"/>
          <p:cNvCxnSpPr>
            <a:cxnSpLocks/>
          </p:cNvCxnSpPr>
          <p:nvPr/>
        </p:nvCxnSpPr>
        <p:spPr>
          <a:xfrm>
            <a:off x="1363235" y="1616756"/>
            <a:ext cx="0" cy="520269"/>
          </a:xfrm>
          <a:prstGeom prst="straightConnector1">
            <a:avLst/>
          </a:prstGeom>
          <a:ln>
            <a:solidFill>
              <a:schemeClr val="tx1"/>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1568200" y="1719264"/>
            <a:ext cx="0" cy="36004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2819244" y="1692114"/>
            <a:ext cx="0" cy="36004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955846" y="1719264"/>
            <a:ext cx="0" cy="36004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1787534" y="1719264"/>
            <a:ext cx="0" cy="36004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flipV="1">
            <a:off x="1427494" y="1616756"/>
            <a:ext cx="523768" cy="513154"/>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cxnSpLocks/>
          </p:cNvCxnSpPr>
          <p:nvPr/>
        </p:nvCxnSpPr>
        <p:spPr>
          <a:xfrm flipV="1">
            <a:off x="2025513" y="1616756"/>
            <a:ext cx="785298" cy="52026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1778921" y="1616756"/>
            <a:ext cx="917599" cy="490786"/>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flipV="1">
            <a:off x="1400716" y="1696870"/>
            <a:ext cx="104591" cy="36004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cxnSpLocks/>
          </p:cNvCxnSpPr>
          <p:nvPr/>
        </p:nvCxnSpPr>
        <p:spPr>
          <a:xfrm flipH="1" flipV="1">
            <a:off x="1583120" y="1616756"/>
            <a:ext cx="115250" cy="41877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5116738" y="1719264"/>
            <a:ext cx="5929916" cy="1200329"/>
          </a:xfrm>
          <a:prstGeom prst="rect">
            <a:avLst/>
          </a:prstGeom>
          <a:noFill/>
        </p:spPr>
        <p:txBody>
          <a:bodyPr wrap="square" rtlCol="0">
            <a:spAutoFit/>
          </a:bodyPr>
          <a:lstStyle/>
          <a:p>
            <a:r>
              <a:rPr lang="en-GB" dirty="0"/>
              <a:t>Randomly select a starting point(city) in p1: 1</a:t>
            </a:r>
          </a:p>
          <a:p>
            <a:endParaRPr lang="en-GB" dirty="0"/>
          </a:p>
          <a:p>
            <a:r>
              <a:rPr lang="en-GB" dirty="0"/>
              <a:t>Copy cities from p1 until a cycle is obtained while mapping from p1 to each corresponding city in p2</a:t>
            </a:r>
          </a:p>
        </p:txBody>
      </p:sp>
      <p:sp>
        <p:nvSpPr>
          <p:cNvPr id="23" name="TextBox 22">
            <a:extLst>
              <a:ext uri="{FF2B5EF4-FFF2-40B4-BE49-F238E27FC236}">
                <a16:creationId xmlns:a16="http://schemas.microsoft.com/office/drawing/2014/main" id="{3849233A-9EC4-7521-0676-C0FBAB27A0EF}"/>
              </a:ext>
            </a:extLst>
          </p:cNvPr>
          <p:cNvSpPr txBox="1"/>
          <p:nvPr/>
        </p:nvSpPr>
        <p:spPr>
          <a:xfrm>
            <a:off x="727364" y="2595925"/>
            <a:ext cx="6096000" cy="369332"/>
          </a:xfrm>
          <a:prstGeom prst="rect">
            <a:avLst/>
          </a:prstGeom>
          <a:noFill/>
        </p:spPr>
        <p:txBody>
          <a:bodyPr wrap="square">
            <a:spAutoFit/>
          </a:bodyPr>
          <a:lstStyle/>
          <a:p>
            <a:pPr>
              <a:buFontTx/>
              <a:buNone/>
            </a:pPr>
            <a:r>
              <a:rPr lang="en-AU" altLang="en-US" sz="1800" dirty="0"/>
              <a:t>o1: (1 x x x x x x x x)</a:t>
            </a:r>
          </a:p>
        </p:txBody>
      </p:sp>
      <p:sp>
        <p:nvSpPr>
          <p:cNvPr id="25" name="TextBox 24">
            <a:extLst>
              <a:ext uri="{FF2B5EF4-FFF2-40B4-BE49-F238E27FC236}">
                <a16:creationId xmlns:a16="http://schemas.microsoft.com/office/drawing/2014/main" id="{3E9189C5-EC96-C0A6-025A-E65467DCE9F5}"/>
              </a:ext>
            </a:extLst>
          </p:cNvPr>
          <p:cNvSpPr txBox="1"/>
          <p:nvPr/>
        </p:nvSpPr>
        <p:spPr>
          <a:xfrm>
            <a:off x="727364" y="2900791"/>
            <a:ext cx="6096000" cy="369332"/>
          </a:xfrm>
          <a:prstGeom prst="rect">
            <a:avLst/>
          </a:prstGeom>
          <a:noFill/>
        </p:spPr>
        <p:txBody>
          <a:bodyPr wrap="square">
            <a:spAutoFit/>
          </a:bodyPr>
          <a:lstStyle/>
          <a:p>
            <a:pPr>
              <a:buFontTx/>
              <a:buNone/>
            </a:pPr>
            <a:r>
              <a:rPr lang="en-AU" altLang="en-US" sz="1800" dirty="0"/>
              <a:t>o1: (1 x x 4 x x x x x)</a:t>
            </a:r>
          </a:p>
        </p:txBody>
      </p:sp>
      <p:sp>
        <p:nvSpPr>
          <p:cNvPr id="27" name="TextBox 26">
            <a:extLst>
              <a:ext uri="{FF2B5EF4-FFF2-40B4-BE49-F238E27FC236}">
                <a16:creationId xmlns:a16="http://schemas.microsoft.com/office/drawing/2014/main" id="{F93748BF-5FE1-EF5A-EA36-954F72CBBCE9}"/>
              </a:ext>
            </a:extLst>
          </p:cNvPr>
          <p:cNvSpPr txBox="1"/>
          <p:nvPr/>
        </p:nvSpPr>
        <p:spPr>
          <a:xfrm>
            <a:off x="727364" y="3217821"/>
            <a:ext cx="6096000" cy="369332"/>
          </a:xfrm>
          <a:prstGeom prst="rect">
            <a:avLst/>
          </a:prstGeom>
          <a:noFill/>
        </p:spPr>
        <p:txBody>
          <a:bodyPr wrap="square">
            <a:spAutoFit/>
          </a:bodyPr>
          <a:lstStyle/>
          <a:p>
            <a:pPr>
              <a:buFontTx/>
              <a:buNone/>
            </a:pPr>
            <a:r>
              <a:rPr lang="en-AU" altLang="en-US" sz="1800" dirty="0"/>
              <a:t>o1: (1 x x 4 x x x 8 x)</a:t>
            </a:r>
          </a:p>
        </p:txBody>
      </p:sp>
      <p:sp>
        <p:nvSpPr>
          <p:cNvPr id="29" name="TextBox 28">
            <a:extLst>
              <a:ext uri="{FF2B5EF4-FFF2-40B4-BE49-F238E27FC236}">
                <a16:creationId xmlns:a16="http://schemas.microsoft.com/office/drawing/2014/main" id="{DC82E86D-B894-EBCD-E0DD-625CA408CD7C}"/>
              </a:ext>
            </a:extLst>
          </p:cNvPr>
          <p:cNvSpPr txBox="1"/>
          <p:nvPr/>
        </p:nvSpPr>
        <p:spPr>
          <a:xfrm>
            <a:off x="727364" y="3573840"/>
            <a:ext cx="6096000" cy="369332"/>
          </a:xfrm>
          <a:prstGeom prst="rect">
            <a:avLst/>
          </a:prstGeom>
          <a:noFill/>
        </p:spPr>
        <p:txBody>
          <a:bodyPr wrap="square">
            <a:spAutoFit/>
          </a:bodyPr>
          <a:lstStyle/>
          <a:p>
            <a:pPr>
              <a:buFontTx/>
              <a:buNone/>
            </a:pPr>
            <a:r>
              <a:rPr lang="en-AU" altLang="en-US" sz="1800" dirty="0"/>
              <a:t>o1: (1 x 3 4 x x x 8 x)</a:t>
            </a:r>
          </a:p>
        </p:txBody>
      </p:sp>
      <p:sp>
        <p:nvSpPr>
          <p:cNvPr id="31" name="TextBox 30">
            <a:extLst>
              <a:ext uri="{FF2B5EF4-FFF2-40B4-BE49-F238E27FC236}">
                <a16:creationId xmlns:a16="http://schemas.microsoft.com/office/drawing/2014/main" id="{A9914D1A-9249-E3C9-219F-CC77677D534C}"/>
              </a:ext>
            </a:extLst>
          </p:cNvPr>
          <p:cNvSpPr txBox="1"/>
          <p:nvPr/>
        </p:nvSpPr>
        <p:spPr>
          <a:xfrm>
            <a:off x="727364" y="3943973"/>
            <a:ext cx="6096000" cy="369332"/>
          </a:xfrm>
          <a:prstGeom prst="rect">
            <a:avLst/>
          </a:prstGeom>
          <a:noFill/>
        </p:spPr>
        <p:txBody>
          <a:bodyPr wrap="square">
            <a:spAutoFit/>
          </a:bodyPr>
          <a:lstStyle/>
          <a:p>
            <a:r>
              <a:rPr lang="en-AU" altLang="en-US" sz="1800" dirty="0"/>
              <a:t>o1: (1 2 3 4 x x x 8 x) </a:t>
            </a:r>
            <a:endParaRPr lang="en-GB" dirty="0"/>
          </a:p>
        </p:txBody>
      </p:sp>
      <p:sp>
        <p:nvSpPr>
          <p:cNvPr id="33" name="TextBox 32">
            <a:extLst>
              <a:ext uri="{FF2B5EF4-FFF2-40B4-BE49-F238E27FC236}">
                <a16:creationId xmlns:a16="http://schemas.microsoft.com/office/drawing/2014/main" id="{BC13E741-D92D-7FC3-7D3E-8F8E086D55CB}"/>
              </a:ext>
            </a:extLst>
          </p:cNvPr>
          <p:cNvSpPr txBox="1"/>
          <p:nvPr/>
        </p:nvSpPr>
        <p:spPr>
          <a:xfrm>
            <a:off x="256521" y="4433617"/>
            <a:ext cx="6097162" cy="677108"/>
          </a:xfrm>
          <a:prstGeom prst="rect">
            <a:avLst/>
          </a:prstGeom>
          <a:noFill/>
        </p:spPr>
        <p:txBody>
          <a:bodyPr wrap="square">
            <a:spAutoFit/>
          </a:bodyPr>
          <a:lstStyle/>
          <a:p>
            <a:pPr>
              <a:buFontTx/>
              <a:buNone/>
            </a:pPr>
            <a:r>
              <a:rPr lang="en-AU" altLang="en-US" sz="2000" dirty="0"/>
              <a:t>      so rest filled from other parent: </a:t>
            </a:r>
          </a:p>
          <a:p>
            <a:pPr lvl="1">
              <a:buFontTx/>
              <a:buNone/>
            </a:pPr>
            <a:r>
              <a:rPr lang="en-AU" altLang="en-US" sz="1800" dirty="0"/>
              <a:t>o1: (1 2 3 4 </a:t>
            </a:r>
            <a:r>
              <a:rPr lang="en-AU" altLang="en-US" sz="1800" b="1" dirty="0"/>
              <a:t>7 6 9 </a:t>
            </a:r>
            <a:r>
              <a:rPr lang="en-AU" altLang="en-US" sz="1800" dirty="0"/>
              <a:t>8 </a:t>
            </a:r>
            <a:r>
              <a:rPr lang="en-AU" altLang="en-US" sz="1800" b="1" dirty="0"/>
              <a:t>5</a:t>
            </a:r>
            <a:r>
              <a:rPr lang="en-AU" altLang="en-US" sz="1800" dirty="0"/>
              <a:t>)</a:t>
            </a:r>
          </a:p>
        </p:txBody>
      </p:sp>
      <p:sp>
        <p:nvSpPr>
          <p:cNvPr id="35" name="TextBox 34">
            <a:extLst>
              <a:ext uri="{FF2B5EF4-FFF2-40B4-BE49-F238E27FC236}">
                <a16:creationId xmlns:a16="http://schemas.microsoft.com/office/drawing/2014/main" id="{D10D7871-1F34-B59B-F535-8A040C5C2D96}"/>
              </a:ext>
            </a:extLst>
          </p:cNvPr>
          <p:cNvSpPr txBox="1"/>
          <p:nvPr/>
        </p:nvSpPr>
        <p:spPr>
          <a:xfrm>
            <a:off x="727364" y="5293857"/>
            <a:ext cx="6097162" cy="677108"/>
          </a:xfrm>
          <a:prstGeom prst="rect">
            <a:avLst/>
          </a:prstGeom>
          <a:noFill/>
        </p:spPr>
        <p:txBody>
          <a:bodyPr wrap="square">
            <a:spAutoFit/>
          </a:bodyPr>
          <a:lstStyle/>
          <a:p>
            <a:pPr>
              <a:buFontTx/>
              <a:buNone/>
            </a:pPr>
            <a:r>
              <a:rPr lang="en-AU" altLang="en-US" sz="2000" dirty="0"/>
              <a:t>similarly</a:t>
            </a:r>
          </a:p>
          <a:p>
            <a:pPr lvl="1">
              <a:buFontTx/>
              <a:buNone/>
            </a:pPr>
            <a:r>
              <a:rPr lang="en-AU" altLang="en-US" sz="1800" dirty="0"/>
              <a:t>o2: (</a:t>
            </a:r>
            <a:r>
              <a:rPr lang="en-AU" altLang="en-US" sz="1800" b="1" dirty="0"/>
              <a:t>4 1 2 8 </a:t>
            </a:r>
            <a:r>
              <a:rPr lang="en-AU" altLang="en-US" sz="1800" dirty="0"/>
              <a:t>5 6 7 </a:t>
            </a:r>
            <a:r>
              <a:rPr lang="en-AU" altLang="en-US" sz="1800" b="1" dirty="0"/>
              <a:t>3</a:t>
            </a:r>
            <a:r>
              <a:rPr lang="en-AU" altLang="en-US" sz="1800" dirty="0"/>
              <a:t> 9)</a:t>
            </a:r>
            <a:endParaRPr lang="en-GB" dirty="0"/>
          </a:p>
        </p:txBody>
      </p:sp>
    </p:spTree>
    <p:custDataLst>
      <p:tags r:id="rId1"/>
    </p:custDataLst>
    <p:extLst>
      <p:ext uri="{BB962C8B-B14F-4D97-AF65-F5344CB8AC3E}">
        <p14:creationId xmlns:p14="http://schemas.microsoft.com/office/powerpoint/2010/main" val="111825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par>
                                <p:cTn id="13" presetID="9"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dissolv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dissolve">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9"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dissolv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dissolve">
                                      <p:cBhvr>
                                        <p:cTn id="33" dur="5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dissolve">
                                      <p:cBhvr>
                                        <p:cTn id="38" dur="500"/>
                                        <p:tgtEl>
                                          <p:spTgt spid="8"/>
                                        </p:tgtEl>
                                      </p:cBhvr>
                                    </p:animEffect>
                                  </p:childTnLst>
                                </p:cTn>
                              </p:par>
                              <p:par>
                                <p:cTn id="39" presetID="9"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dissolve">
                                      <p:cBhvr>
                                        <p:cTn id="41" dur="5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dissolve">
                                      <p:cBhvr>
                                        <p:cTn id="46" dur="500"/>
                                        <p:tgtEl>
                                          <p:spTgt spid="29"/>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dissolve">
                                      <p:cBhvr>
                                        <p:cTn id="51" dur="500"/>
                                        <p:tgtEl>
                                          <p:spTgt spid="11"/>
                                        </p:tgtEl>
                                      </p:cBhvr>
                                    </p:animEffect>
                                  </p:childTnLst>
                                </p:cTn>
                              </p:par>
                              <p:par>
                                <p:cTn id="52" presetID="9" presetClass="entr" presetSubtype="0"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dissolve">
                                      <p:cBhvr>
                                        <p:cTn id="54" dur="500"/>
                                        <p:tgtEl>
                                          <p:spTgt spid="20"/>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dissolve">
                                      <p:cBhvr>
                                        <p:cTn id="59" dur="500"/>
                                        <p:tgtEl>
                                          <p:spTgt spid="31"/>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dissolve">
                                      <p:cBhvr>
                                        <p:cTn id="64" dur="500"/>
                                        <p:tgtEl>
                                          <p:spTgt spid="7"/>
                                        </p:tgtEl>
                                      </p:cBhvr>
                                    </p:animEffect>
                                  </p:childTnLst>
                                </p:cTn>
                              </p:par>
                              <p:par>
                                <p:cTn id="65" presetID="9" presetClass="entr" presetSubtype="0"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dissolve">
                                      <p:cBhvr>
                                        <p:cTn id="67"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dissolve">
                                      <p:cBhvr>
                                        <p:cTn id="72" dur="500"/>
                                        <p:tgtEl>
                                          <p:spTgt spid="33"/>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dissolve">
                                      <p:cBhvr>
                                        <p:cTn id="7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7" grpId="0"/>
      <p:bldP spid="29" grpId="0"/>
      <p:bldP spid="31" grpId="0"/>
      <p:bldP spid="33" grpId="0"/>
      <p:bldP spid="3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01DB192-34A6-4E7D-A0F6-553CA1920738}" type="slidenum">
              <a:rPr lang="en-US" altLang="en-US"/>
              <a:pPr/>
              <a:t>40</a:t>
            </a:fld>
            <a:endParaRPr lang="en-US" altLang="en-US"/>
          </a:p>
        </p:txBody>
      </p:sp>
      <p:sp>
        <p:nvSpPr>
          <p:cNvPr id="189442" name="Rectangle 2"/>
          <p:cNvSpPr>
            <a:spLocks noGrp="1" noChangeArrowheads="1"/>
          </p:cNvSpPr>
          <p:nvPr>
            <p:ph type="title"/>
          </p:nvPr>
        </p:nvSpPr>
        <p:spPr>
          <a:xfrm>
            <a:off x="1041400" y="0"/>
            <a:ext cx="10604500" cy="1143000"/>
          </a:xfrm>
          <a:noFill/>
          <a:ln/>
        </p:spPr>
        <p:txBody>
          <a:bodyPr>
            <a:normAutofit fontScale="90000"/>
          </a:bodyPr>
          <a:lstStyle/>
          <a:p>
            <a:r>
              <a:rPr lang="en-US" altLang="en-US" sz="4000" dirty="0"/>
              <a:t>More Genetic Operators – </a:t>
            </a:r>
            <a:br>
              <a:rPr lang="en-US" altLang="en-US" sz="4000" dirty="0"/>
            </a:br>
            <a:r>
              <a:rPr lang="en-US" altLang="en-US" sz="4000" dirty="0"/>
              <a:t>Crossover for TSP </a:t>
            </a:r>
          </a:p>
        </p:txBody>
      </p:sp>
      <p:sp>
        <p:nvSpPr>
          <p:cNvPr id="189443" name="Rectangle 3"/>
          <p:cNvSpPr>
            <a:spLocks noGrp="1" noChangeArrowheads="1"/>
          </p:cNvSpPr>
          <p:nvPr>
            <p:ph type="body" idx="1"/>
          </p:nvPr>
        </p:nvSpPr>
        <p:spPr>
          <a:xfrm>
            <a:off x="2000944" y="1600200"/>
            <a:ext cx="8559552" cy="4419600"/>
          </a:xfrm>
          <a:noFill/>
          <a:ln/>
        </p:spPr>
        <p:txBody>
          <a:bodyPr>
            <a:normAutofit fontScale="92500" lnSpcReduction="20000"/>
          </a:bodyPr>
          <a:lstStyle/>
          <a:p>
            <a:pPr>
              <a:lnSpc>
                <a:spcPct val="80000"/>
              </a:lnSpc>
              <a:buFontTx/>
              <a:buNone/>
            </a:pPr>
            <a:r>
              <a:rPr lang="en-US" altLang="ko-KR" sz="1800" b="1" u="sng" dirty="0">
                <a:latin typeface="Calibri" panose="020F0502020204030204" pitchFamily="34" charset="0"/>
                <a:ea typeface="굴림" charset="-127"/>
              </a:rPr>
              <a:t>Operator Name			     Date		Authors                                </a:t>
            </a:r>
            <a:r>
              <a:rPr lang="en-US" altLang="ko-KR" sz="100" b="1" u="sng" dirty="0">
                <a:latin typeface="Calibri" panose="020F0502020204030204" pitchFamily="34" charset="0"/>
                <a:ea typeface="굴림" charset="-127"/>
              </a:rPr>
              <a:t>.</a:t>
            </a:r>
            <a:r>
              <a:rPr lang="en-US" altLang="ko-KR" sz="1800" b="1" u="sng" dirty="0">
                <a:latin typeface="Calibri" panose="020F0502020204030204" pitchFamily="34" charset="0"/>
                <a:ea typeface="굴림" charset="-127"/>
              </a:rPr>
              <a:t>   </a:t>
            </a:r>
          </a:p>
          <a:p>
            <a:pPr>
              <a:lnSpc>
                <a:spcPct val="80000"/>
              </a:lnSpc>
              <a:buFontTx/>
              <a:buNone/>
            </a:pPr>
            <a:r>
              <a:rPr lang="en-US" altLang="ko-KR" sz="1800" dirty="0">
                <a:latin typeface="Calibri" panose="020F0502020204030204" pitchFamily="34" charset="0"/>
                <a:ea typeface="굴림" charset="-127"/>
              </a:rPr>
              <a:t>Alternating Position Crossover (AP)     	    (1999)  </a:t>
            </a:r>
            <a:r>
              <a:rPr lang="en-US" altLang="ko-KR" sz="1800" dirty="0" err="1">
                <a:latin typeface="Calibri" panose="020F0502020204030204" pitchFamily="34" charset="0"/>
                <a:ea typeface="굴림" charset="-127"/>
              </a:rPr>
              <a:t>Larranaga</a:t>
            </a:r>
            <a:r>
              <a:rPr lang="en-US" altLang="ko-KR" sz="1800" dirty="0">
                <a:latin typeface="Calibri" panose="020F0502020204030204" pitchFamily="34" charset="0"/>
                <a:ea typeface="굴림" charset="-127"/>
              </a:rPr>
              <a:t>, </a:t>
            </a:r>
            <a:r>
              <a:rPr lang="en-US" altLang="ko-KR" sz="1800" dirty="0" err="1">
                <a:latin typeface="Calibri" panose="020F0502020204030204" pitchFamily="34" charset="0"/>
                <a:ea typeface="굴림" charset="-127"/>
              </a:rPr>
              <a:t>Kuijpers</a:t>
            </a:r>
            <a:r>
              <a:rPr lang="en-US" altLang="ko-KR" sz="1800" dirty="0">
                <a:latin typeface="Calibri" panose="020F0502020204030204" pitchFamily="34" charset="0"/>
                <a:ea typeface="굴림" charset="-127"/>
              </a:rPr>
              <a:t>, Poza, </a:t>
            </a:r>
            <a:r>
              <a:rPr lang="en-US" altLang="ko-KR" sz="1800" dirty="0" err="1">
                <a:latin typeface="Calibri" panose="020F0502020204030204" pitchFamily="34" charset="0"/>
                <a:ea typeface="굴림" charset="-127"/>
              </a:rPr>
              <a:t>Murga</a:t>
            </a:r>
            <a:endParaRPr lang="en-US" altLang="ko-KR" sz="1800" dirty="0">
              <a:latin typeface="Calibri" panose="020F0502020204030204" pitchFamily="34" charset="0"/>
              <a:ea typeface="굴림" charset="-127"/>
            </a:endParaRPr>
          </a:p>
          <a:p>
            <a:pPr>
              <a:lnSpc>
                <a:spcPct val="80000"/>
              </a:lnSpc>
              <a:buFontTx/>
              <a:buNone/>
            </a:pPr>
            <a:r>
              <a:rPr lang="en-US" altLang="ko-KR" sz="1800" dirty="0">
                <a:latin typeface="Calibri" panose="020F0502020204030204" pitchFamily="34" charset="0"/>
                <a:ea typeface="굴림" charset="-127"/>
              </a:rPr>
              <a:t>Cycle Crossover (CX) 		    (1987)	Oliver, Smith and Holland </a:t>
            </a:r>
          </a:p>
          <a:p>
            <a:pPr>
              <a:lnSpc>
                <a:spcPct val="80000"/>
              </a:lnSpc>
              <a:buFontTx/>
              <a:buNone/>
            </a:pPr>
            <a:r>
              <a:rPr lang="en-US" altLang="ko-KR" sz="1800" dirty="0">
                <a:latin typeface="Calibri" panose="020F0502020204030204" pitchFamily="34" charset="0"/>
                <a:ea typeface="굴림" charset="-127"/>
              </a:rPr>
              <a:t>Distance Preserving Crossover (DPX)  	    (1996)	</a:t>
            </a:r>
            <a:r>
              <a:rPr lang="en-US" altLang="ko-KR" sz="1800" dirty="0" err="1">
                <a:latin typeface="Calibri" panose="020F0502020204030204" pitchFamily="34" charset="0"/>
                <a:ea typeface="굴림" charset="-127"/>
              </a:rPr>
              <a:t>Freisbein</a:t>
            </a:r>
            <a:r>
              <a:rPr lang="en-US" altLang="ko-KR" sz="1800" dirty="0">
                <a:latin typeface="Calibri" panose="020F0502020204030204" pitchFamily="34" charset="0"/>
                <a:ea typeface="굴림" charset="-127"/>
              </a:rPr>
              <a:t> and </a:t>
            </a:r>
            <a:r>
              <a:rPr lang="en-US" altLang="ko-KR" sz="1800" dirty="0" err="1">
                <a:latin typeface="Calibri" panose="020F0502020204030204" pitchFamily="34" charset="0"/>
                <a:ea typeface="굴림" charset="-127"/>
              </a:rPr>
              <a:t>Merz</a:t>
            </a:r>
            <a:r>
              <a:rPr lang="en-US" altLang="ko-KR" sz="1800" dirty="0">
                <a:latin typeface="Calibri" panose="020F0502020204030204" pitchFamily="34" charset="0"/>
                <a:ea typeface="굴림" charset="-127"/>
              </a:rPr>
              <a:t> </a:t>
            </a:r>
          </a:p>
          <a:p>
            <a:pPr>
              <a:lnSpc>
                <a:spcPct val="80000"/>
              </a:lnSpc>
              <a:buFontTx/>
              <a:buNone/>
            </a:pPr>
            <a:r>
              <a:rPr lang="en-US" altLang="ko-KR" sz="1800" dirty="0">
                <a:latin typeface="Calibri" panose="020F0502020204030204" pitchFamily="34" charset="0"/>
                <a:ea typeface="굴림" charset="-127"/>
              </a:rPr>
              <a:t>Edge Assembly Crossover	 (EAX)	    (1997)	Nagata and Kobayashi </a:t>
            </a:r>
          </a:p>
          <a:p>
            <a:pPr>
              <a:lnSpc>
                <a:spcPct val="80000"/>
              </a:lnSpc>
              <a:buFontTx/>
              <a:buNone/>
            </a:pPr>
            <a:r>
              <a:rPr lang="en-US" altLang="ko-KR" sz="1800" dirty="0">
                <a:latin typeface="Calibri" panose="020F0502020204030204" pitchFamily="34" charset="0"/>
                <a:ea typeface="굴림" charset="-127"/>
              </a:rPr>
              <a:t>Edge Recombination Crossover (ER)    	    (1989)	Whitley, Timothy, Fuquay</a:t>
            </a:r>
          </a:p>
          <a:p>
            <a:pPr>
              <a:lnSpc>
                <a:spcPct val="80000"/>
              </a:lnSpc>
              <a:buFontTx/>
              <a:buNone/>
            </a:pPr>
            <a:r>
              <a:rPr lang="en-US" altLang="ko-KR" sz="1800" dirty="0">
                <a:latin typeface="Calibri" panose="020F0502020204030204" pitchFamily="34" charset="0"/>
                <a:ea typeface="굴림" charset="-127"/>
              </a:rPr>
              <a:t>Heuristic Crossover (HEU) 	    	    (1987)	</a:t>
            </a:r>
            <a:r>
              <a:rPr lang="en-US" altLang="ko-KR" sz="1800" dirty="0" err="1">
                <a:latin typeface="Calibri" panose="020F0502020204030204" pitchFamily="34" charset="0"/>
                <a:ea typeface="굴림" charset="-127"/>
              </a:rPr>
              <a:t>Grefenstette</a:t>
            </a:r>
            <a:r>
              <a:rPr lang="en-US" altLang="ko-KR" sz="1800" dirty="0">
                <a:latin typeface="Calibri" panose="020F0502020204030204" pitchFamily="34" charset="0"/>
                <a:ea typeface="굴림" charset="-127"/>
              </a:rPr>
              <a:t> </a:t>
            </a:r>
          </a:p>
          <a:p>
            <a:pPr>
              <a:lnSpc>
                <a:spcPct val="80000"/>
              </a:lnSpc>
              <a:buFontTx/>
              <a:buNone/>
            </a:pPr>
            <a:r>
              <a:rPr lang="en-US" altLang="ko-KR" sz="1800" dirty="0">
                <a:latin typeface="Calibri" panose="020F0502020204030204" pitchFamily="34" charset="0"/>
                <a:ea typeface="굴림" charset="-127"/>
              </a:rPr>
              <a:t>Inver-over Operator (IOO)		    (1998)	Tao and </a:t>
            </a:r>
            <a:r>
              <a:rPr lang="en-US" altLang="ko-KR" sz="1800" dirty="0" err="1">
                <a:latin typeface="Calibri" panose="020F0502020204030204" pitchFamily="34" charset="0"/>
                <a:ea typeface="굴림" charset="-127"/>
              </a:rPr>
              <a:t>Michalewicz</a:t>
            </a:r>
            <a:r>
              <a:rPr lang="en-US" altLang="ko-KR" sz="1800" dirty="0">
                <a:latin typeface="Calibri" panose="020F0502020204030204" pitchFamily="34" charset="0"/>
                <a:ea typeface="굴림" charset="-127"/>
              </a:rPr>
              <a:t> </a:t>
            </a:r>
            <a:endParaRPr lang="de-DE" altLang="ko-KR" sz="1800" dirty="0">
              <a:latin typeface="Calibri" panose="020F0502020204030204" pitchFamily="34" charset="0"/>
              <a:ea typeface="굴림" charset="-127"/>
            </a:endParaRPr>
          </a:p>
          <a:p>
            <a:pPr>
              <a:lnSpc>
                <a:spcPct val="80000"/>
              </a:lnSpc>
              <a:buFontTx/>
              <a:buNone/>
            </a:pPr>
            <a:r>
              <a:rPr lang="de-DE" altLang="ko-KR" sz="1800" dirty="0">
                <a:latin typeface="Calibri" panose="020F0502020204030204" pitchFamily="34" charset="0"/>
                <a:ea typeface="굴림" charset="-127"/>
              </a:rPr>
              <a:t>Maximal Preservative Crossover (MPX)	    (1988)  Mühlenbein, Schleuter and Krämer</a:t>
            </a:r>
            <a:endParaRPr lang="en-US" altLang="ko-KR" sz="1800" dirty="0">
              <a:latin typeface="Calibri" panose="020F0502020204030204" pitchFamily="34" charset="0"/>
              <a:ea typeface="굴림" charset="-127"/>
            </a:endParaRPr>
          </a:p>
          <a:p>
            <a:pPr>
              <a:lnSpc>
                <a:spcPct val="80000"/>
              </a:lnSpc>
              <a:buFontTx/>
              <a:buNone/>
            </a:pPr>
            <a:r>
              <a:rPr lang="en-US" altLang="ko-KR" sz="1800" dirty="0">
                <a:latin typeface="Calibri" panose="020F0502020204030204" pitchFamily="34" charset="0"/>
                <a:ea typeface="굴림" charset="-127"/>
              </a:rPr>
              <a:t>Position Based Crossover (POS) 	    (1991)	</a:t>
            </a:r>
            <a:r>
              <a:rPr lang="en-US" altLang="ko-KR" sz="1800" dirty="0" err="1">
                <a:latin typeface="Calibri" panose="020F0502020204030204" pitchFamily="34" charset="0"/>
                <a:ea typeface="굴림" charset="-127"/>
              </a:rPr>
              <a:t>Syswerda</a:t>
            </a:r>
            <a:r>
              <a:rPr lang="en-US" altLang="ko-KR" sz="1800" dirty="0">
                <a:latin typeface="Calibri" panose="020F0502020204030204" pitchFamily="34" charset="0"/>
                <a:ea typeface="굴림" charset="-127"/>
              </a:rPr>
              <a:t> </a:t>
            </a:r>
          </a:p>
          <a:p>
            <a:pPr>
              <a:lnSpc>
                <a:spcPct val="80000"/>
              </a:lnSpc>
              <a:buFontTx/>
              <a:buNone/>
            </a:pPr>
            <a:r>
              <a:rPr lang="en-US" altLang="ko-KR" sz="1800" b="1" dirty="0">
                <a:latin typeface="Calibri" panose="020F0502020204030204" pitchFamily="34" charset="0"/>
                <a:ea typeface="굴림" charset="-127"/>
              </a:rPr>
              <a:t>Order Crossover (OX1) 		    (1985)	Davis </a:t>
            </a:r>
          </a:p>
          <a:p>
            <a:pPr>
              <a:lnSpc>
                <a:spcPct val="80000"/>
              </a:lnSpc>
              <a:buFontTx/>
              <a:buNone/>
            </a:pPr>
            <a:r>
              <a:rPr lang="en-US" altLang="ko-KR" sz="1800" dirty="0">
                <a:latin typeface="Calibri" panose="020F0502020204030204" pitchFamily="34" charset="0"/>
                <a:ea typeface="굴림" charset="-127"/>
              </a:rPr>
              <a:t>Order Based Crossover (OX2) 	    (1991)	</a:t>
            </a:r>
            <a:r>
              <a:rPr lang="en-US" altLang="ko-KR" sz="1800" dirty="0" err="1">
                <a:latin typeface="Calibri" panose="020F0502020204030204" pitchFamily="34" charset="0"/>
                <a:ea typeface="굴림" charset="-127"/>
              </a:rPr>
              <a:t>Syswerda</a:t>
            </a:r>
            <a:r>
              <a:rPr lang="en-US" altLang="ko-KR" sz="1800" dirty="0">
                <a:latin typeface="Calibri" panose="020F0502020204030204" pitchFamily="34" charset="0"/>
                <a:ea typeface="굴림" charset="-127"/>
              </a:rPr>
              <a:t> </a:t>
            </a:r>
          </a:p>
          <a:p>
            <a:pPr>
              <a:lnSpc>
                <a:spcPct val="80000"/>
              </a:lnSpc>
              <a:buFontTx/>
              <a:buNone/>
            </a:pPr>
            <a:r>
              <a:rPr lang="en-US" altLang="ko-KR" sz="1800" b="1" dirty="0">
                <a:latin typeface="Calibri" panose="020F0502020204030204" pitchFamily="34" charset="0"/>
                <a:ea typeface="굴림" charset="-127"/>
              </a:rPr>
              <a:t>Partially mapped Crossover (PMX)    	    (1985)	Goldberg and </a:t>
            </a:r>
            <a:r>
              <a:rPr lang="en-US" altLang="ko-KR" sz="1800" b="1" dirty="0" err="1">
                <a:latin typeface="Calibri" panose="020F0502020204030204" pitchFamily="34" charset="0"/>
                <a:ea typeface="굴림" charset="-127"/>
              </a:rPr>
              <a:t>Lingle</a:t>
            </a:r>
            <a:r>
              <a:rPr lang="en-US" altLang="ko-KR" sz="1800" dirty="0">
                <a:latin typeface="Calibri" panose="020F0502020204030204" pitchFamily="34" charset="0"/>
                <a:ea typeface="굴림" charset="-127"/>
              </a:rPr>
              <a:t> </a:t>
            </a:r>
          </a:p>
          <a:p>
            <a:pPr>
              <a:lnSpc>
                <a:spcPct val="80000"/>
              </a:lnSpc>
              <a:buFontTx/>
              <a:buNone/>
            </a:pPr>
            <a:r>
              <a:rPr lang="en-US" altLang="ko-KR" sz="1800" dirty="0">
                <a:latin typeface="Calibri" panose="020F0502020204030204" pitchFamily="34" charset="0"/>
                <a:ea typeface="굴림" charset="-127"/>
              </a:rPr>
              <a:t>Voting Recombination Crossover (VR)  	    (1989)	</a:t>
            </a:r>
            <a:r>
              <a:rPr lang="en-US" altLang="ko-KR" sz="1800" dirty="0" err="1">
                <a:latin typeface="Calibri" panose="020F0502020204030204" pitchFamily="34" charset="0"/>
                <a:ea typeface="굴림" charset="-127"/>
              </a:rPr>
              <a:t>Mühlenbein</a:t>
            </a:r>
            <a:r>
              <a:rPr lang="en-US" altLang="ko-KR" sz="1800" dirty="0">
                <a:latin typeface="Calibri" panose="020F0502020204030204" pitchFamily="34" charset="0"/>
                <a:ea typeface="굴림" charset="-127"/>
              </a:rPr>
              <a:t> </a:t>
            </a:r>
          </a:p>
          <a:p>
            <a:pPr>
              <a:lnSpc>
                <a:spcPct val="80000"/>
              </a:lnSpc>
              <a:buFontTx/>
              <a:buNone/>
            </a:pPr>
            <a:r>
              <a:rPr lang="en-US" altLang="ko-KR" sz="1800" dirty="0">
                <a:latin typeface="Calibri" panose="020F0502020204030204" pitchFamily="34" charset="0"/>
                <a:ea typeface="굴림" charset="-127"/>
              </a:rPr>
              <a:t>Natural Crossover (NX) 		    (2000) 	Jung and Moon </a:t>
            </a:r>
          </a:p>
          <a:p>
            <a:pPr>
              <a:lnSpc>
                <a:spcPct val="80000"/>
              </a:lnSpc>
              <a:buFontTx/>
              <a:buNone/>
            </a:pPr>
            <a:r>
              <a:rPr lang="en-US" altLang="en-US" sz="1800" dirty="0" err="1">
                <a:latin typeface="Calibri" panose="020F0502020204030204" pitchFamily="34" charset="0"/>
              </a:rPr>
              <a:t>Voronoi</a:t>
            </a:r>
            <a:r>
              <a:rPr lang="en-US" altLang="en-US" sz="1800" dirty="0">
                <a:latin typeface="Calibri" panose="020F0502020204030204" pitchFamily="34" charset="0"/>
              </a:rPr>
              <a:t> Quantized Crossover (VQX)     	    (2002)	</a:t>
            </a:r>
            <a:r>
              <a:rPr lang="en-US" altLang="en-US" sz="1800" dirty="0" err="1">
                <a:latin typeface="Calibri" panose="020F0502020204030204" pitchFamily="34" charset="0"/>
              </a:rPr>
              <a:t>Seo</a:t>
            </a:r>
            <a:r>
              <a:rPr lang="en-US" altLang="en-US" sz="1800" dirty="0">
                <a:latin typeface="Calibri" panose="020F0502020204030204" pitchFamily="34" charset="0"/>
              </a:rPr>
              <a:t> and Moon</a:t>
            </a:r>
            <a:endParaRPr lang="en-US" altLang="ko-KR" sz="1800" dirty="0">
              <a:latin typeface="Calibri" panose="020F0502020204030204" pitchFamily="34" charset="0"/>
              <a:ea typeface="굴림" charset="-127"/>
            </a:endParaRPr>
          </a:p>
          <a:p>
            <a:pPr>
              <a:lnSpc>
                <a:spcPct val="80000"/>
              </a:lnSpc>
              <a:buFontTx/>
              <a:buNone/>
            </a:pPr>
            <a:endParaRPr lang="en-US" altLang="en-US" sz="1800" dirty="0">
              <a:latin typeface="Calibri" panose="020F0502020204030204" pitchFamily="34" charset="0"/>
            </a:endParaRPr>
          </a:p>
        </p:txBody>
      </p:sp>
      <p:cxnSp>
        <p:nvCxnSpPr>
          <p:cNvPr id="3" name="Straight Connector 2"/>
          <p:cNvCxnSpPr/>
          <p:nvPr/>
        </p:nvCxnSpPr>
        <p:spPr>
          <a:xfrm>
            <a:off x="5735960" y="6019800"/>
            <a:ext cx="0" cy="361528"/>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49972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89443">
                                            <p:txEl>
                                              <p:pRg st="0" end="0"/>
                                            </p:txEl>
                                          </p:spTgt>
                                        </p:tgtEl>
                                        <p:attrNameLst>
                                          <p:attrName>style.visibility</p:attrName>
                                        </p:attrNameLst>
                                      </p:cBhvr>
                                      <p:to>
                                        <p:strVal val="visible"/>
                                      </p:to>
                                    </p:set>
                                    <p:anim calcmode="lin" valueType="num">
                                      <p:cBhvr>
                                        <p:cTn id="7" dur="500" fill="hold"/>
                                        <p:tgtEl>
                                          <p:spTgt spid="189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8944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89443">
                                            <p:txEl>
                                              <p:pRg st="0" end="0"/>
                                            </p:txEl>
                                          </p:spTgt>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189443">
                                            <p:txEl>
                                              <p:pRg st="1" end="1"/>
                                            </p:txEl>
                                          </p:spTgt>
                                        </p:tgtEl>
                                        <p:attrNameLst>
                                          <p:attrName>style.visibility</p:attrName>
                                        </p:attrNameLst>
                                      </p:cBhvr>
                                      <p:to>
                                        <p:strVal val="visible"/>
                                      </p:to>
                                    </p:set>
                                    <p:anim calcmode="lin" valueType="num">
                                      <p:cBhvr>
                                        <p:cTn id="12" dur="500" fill="hold"/>
                                        <p:tgtEl>
                                          <p:spTgt spid="18944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18944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189443">
                                            <p:txEl>
                                              <p:pRg st="1" end="1"/>
                                            </p:txEl>
                                          </p:spTgt>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89443">
                                            <p:txEl>
                                              <p:pRg st="2" end="2"/>
                                            </p:txEl>
                                          </p:spTgt>
                                        </p:tgtEl>
                                        <p:attrNameLst>
                                          <p:attrName>style.visibility</p:attrName>
                                        </p:attrNameLst>
                                      </p:cBhvr>
                                      <p:to>
                                        <p:strVal val="visible"/>
                                      </p:to>
                                    </p:set>
                                    <p:anim calcmode="lin" valueType="num">
                                      <p:cBhvr>
                                        <p:cTn id="17" dur="500" fill="hold"/>
                                        <p:tgtEl>
                                          <p:spTgt spid="18944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189443">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189443">
                                            <p:txEl>
                                              <p:pRg st="2" end="2"/>
                                            </p:txEl>
                                          </p:spTgt>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189443">
                                            <p:txEl>
                                              <p:pRg st="3" end="3"/>
                                            </p:txEl>
                                          </p:spTgt>
                                        </p:tgtEl>
                                        <p:attrNameLst>
                                          <p:attrName>style.visibility</p:attrName>
                                        </p:attrNameLst>
                                      </p:cBhvr>
                                      <p:to>
                                        <p:strVal val="visible"/>
                                      </p:to>
                                    </p:set>
                                    <p:anim calcmode="lin" valueType="num">
                                      <p:cBhvr>
                                        <p:cTn id="22" dur="500" fill="hold"/>
                                        <p:tgtEl>
                                          <p:spTgt spid="189443">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189443">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189443">
                                            <p:txEl>
                                              <p:pRg st="3" end="3"/>
                                            </p:txEl>
                                          </p:spTgt>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189443">
                                            <p:txEl>
                                              <p:pRg st="4" end="4"/>
                                            </p:txEl>
                                          </p:spTgt>
                                        </p:tgtEl>
                                        <p:attrNameLst>
                                          <p:attrName>style.visibility</p:attrName>
                                        </p:attrNameLst>
                                      </p:cBhvr>
                                      <p:to>
                                        <p:strVal val="visible"/>
                                      </p:to>
                                    </p:set>
                                    <p:anim calcmode="lin" valueType="num">
                                      <p:cBhvr>
                                        <p:cTn id="27" dur="500" fill="hold"/>
                                        <p:tgtEl>
                                          <p:spTgt spid="189443">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189443">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189443">
                                            <p:txEl>
                                              <p:pRg st="4" end="4"/>
                                            </p:txEl>
                                          </p:spTgt>
                                        </p:tgtEl>
                                      </p:cBhvr>
                                    </p:animEffect>
                                  </p:childTnLst>
                                </p:cTn>
                              </p:par>
                              <p:par>
                                <p:cTn id="30" presetID="53" presetClass="entr" presetSubtype="0" fill="hold" grpId="0" nodeType="withEffect">
                                  <p:stCondLst>
                                    <p:cond delay="0"/>
                                  </p:stCondLst>
                                  <p:childTnLst>
                                    <p:set>
                                      <p:cBhvr>
                                        <p:cTn id="31" dur="1" fill="hold">
                                          <p:stCondLst>
                                            <p:cond delay="0"/>
                                          </p:stCondLst>
                                        </p:cTn>
                                        <p:tgtEl>
                                          <p:spTgt spid="189443">
                                            <p:txEl>
                                              <p:pRg st="5" end="5"/>
                                            </p:txEl>
                                          </p:spTgt>
                                        </p:tgtEl>
                                        <p:attrNameLst>
                                          <p:attrName>style.visibility</p:attrName>
                                        </p:attrNameLst>
                                      </p:cBhvr>
                                      <p:to>
                                        <p:strVal val="visible"/>
                                      </p:to>
                                    </p:set>
                                    <p:anim calcmode="lin" valueType="num">
                                      <p:cBhvr>
                                        <p:cTn id="32" dur="500" fill="hold"/>
                                        <p:tgtEl>
                                          <p:spTgt spid="189443">
                                            <p:txEl>
                                              <p:pRg st="5" end="5"/>
                                            </p:txEl>
                                          </p:spTgt>
                                        </p:tgtEl>
                                        <p:attrNameLst>
                                          <p:attrName>ppt_w</p:attrName>
                                        </p:attrNameLst>
                                      </p:cBhvr>
                                      <p:tavLst>
                                        <p:tav tm="0">
                                          <p:val>
                                            <p:fltVal val="0"/>
                                          </p:val>
                                        </p:tav>
                                        <p:tav tm="100000">
                                          <p:val>
                                            <p:strVal val="#ppt_w"/>
                                          </p:val>
                                        </p:tav>
                                      </p:tavLst>
                                    </p:anim>
                                    <p:anim calcmode="lin" valueType="num">
                                      <p:cBhvr>
                                        <p:cTn id="33" dur="500" fill="hold"/>
                                        <p:tgtEl>
                                          <p:spTgt spid="189443">
                                            <p:txEl>
                                              <p:pRg st="5" end="5"/>
                                            </p:txEl>
                                          </p:spTgt>
                                        </p:tgtEl>
                                        <p:attrNameLst>
                                          <p:attrName>ppt_h</p:attrName>
                                        </p:attrNameLst>
                                      </p:cBhvr>
                                      <p:tavLst>
                                        <p:tav tm="0">
                                          <p:val>
                                            <p:fltVal val="0"/>
                                          </p:val>
                                        </p:tav>
                                        <p:tav tm="100000">
                                          <p:val>
                                            <p:strVal val="#ppt_h"/>
                                          </p:val>
                                        </p:tav>
                                      </p:tavLst>
                                    </p:anim>
                                    <p:animEffect transition="in" filter="fade">
                                      <p:cBhvr>
                                        <p:cTn id="34" dur="500"/>
                                        <p:tgtEl>
                                          <p:spTgt spid="189443">
                                            <p:txEl>
                                              <p:pRg st="5" end="5"/>
                                            </p:txEl>
                                          </p:spTgt>
                                        </p:tgtEl>
                                      </p:cBhvr>
                                    </p:animEffect>
                                  </p:childTnLst>
                                </p:cTn>
                              </p:par>
                              <p:par>
                                <p:cTn id="35" presetID="53" presetClass="entr" presetSubtype="0" fill="hold" grpId="0" nodeType="withEffect">
                                  <p:stCondLst>
                                    <p:cond delay="0"/>
                                  </p:stCondLst>
                                  <p:childTnLst>
                                    <p:set>
                                      <p:cBhvr>
                                        <p:cTn id="36" dur="1" fill="hold">
                                          <p:stCondLst>
                                            <p:cond delay="0"/>
                                          </p:stCondLst>
                                        </p:cTn>
                                        <p:tgtEl>
                                          <p:spTgt spid="189443">
                                            <p:txEl>
                                              <p:pRg st="6" end="6"/>
                                            </p:txEl>
                                          </p:spTgt>
                                        </p:tgtEl>
                                        <p:attrNameLst>
                                          <p:attrName>style.visibility</p:attrName>
                                        </p:attrNameLst>
                                      </p:cBhvr>
                                      <p:to>
                                        <p:strVal val="visible"/>
                                      </p:to>
                                    </p:set>
                                    <p:anim calcmode="lin" valueType="num">
                                      <p:cBhvr>
                                        <p:cTn id="37" dur="500" fill="hold"/>
                                        <p:tgtEl>
                                          <p:spTgt spid="189443">
                                            <p:txEl>
                                              <p:pRg st="6" end="6"/>
                                            </p:txEl>
                                          </p:spTgt>
                                        </p:tgtEl>
                                        <p:attrNameLst>
                                          <p:attrName>ppt_w</p:attrName>
                                        </p:attrNameLst>
                                      </p:cBhvr>
                                      <p:tavLst>
                                        <p:tav tm="0">
                                          <p:val>
                                            <p:fltVal val="0"/>
                                          </p:val>
                                        </p:tav>
                                        <p:tav tm="100000">
                                          <p:val>
                                            <p:strVal val="#ppt_w"/>
                                          </p:val>
                                        </p:tav>
                                      </p:tavLst>
                                    </p:anim>
                                    <p:anim calcmode="lin" valueType="num">
                                      <p:cBhvr>
                                        <p:cTn id="38" dur="500" fill="hold"/>
                                        <p:tgtEl>
                                          <p:spTgt spid="189443">
                                            <p:txEl>
                                              <p:pRg st="6" end="6"/>
                                            </p:txEl>
                                          </p:spTgt>
                                        </p:tgtEl>
                                        <p:attrNameLst>
                                          <p:attrName>ppt_h</p:attrName>
                                        </p:attrNameLst>
                                      </p:cBhvr>
                                      <p:tavLst>
                                        <p:tav tm="0">
                                          <p:val>
                                            <p:fltVal val="0"/>
                                          </p:val>
                                        </p:tav>
                                        <p:tav tm="100000">
                                          <p:val>
                                            <p:strVal val="#ppt_h"/>
                                          </p:val>
                                        </p:tav>
                                      </p:tavLst>
                                    </p:anim>
                                    <p:animEffect transition="in" filter="fade">
                                      <p:cBhvr>
                                        <p:cTn id="39" dur="500"/>
                                        <p:tgtEl>
                                          <p:spTgt spid="189443">
                                            <p:txEl>
                                              <p:pRg st="6" end="6"/>
                                            </p:txEl>
                                          </p:spTgt>
                                        </p:tgtEl>
                                      </p:cBhvr>
                                    </p:animEffect>
                                  </p:childTnLst>
                                </p:cTn>
                              </p:par>
                              <p:par>
                                <p:cTn id="40" presetID="53" presetClass="entr" presetSubtype="0" fill="hold" grpId="0" nodeType="withEffect">
                                  <p:stCondLst>
                                    <p:cond delay="0"/>
                                  </p:stCondLst>
                                  <p:childTnLst>
                                    <p:set>
                                      <p:cBhvr>
                                        <p:cTn id="41" dur="1" fill="hold">
                                          <p:stCondLst>
                                            <p:cond delay="0"/>
                                          </p:stCondLst>
                                        </p:cTn>
                                        <p:tgtEl>
                                          <p:spTgt spid="189443">
                                            <p:txEl>
                                              <p:pRg st="7" end="7"/>
                                            </p:txEl>
                                          </p:spTgt>
                                        </p:tgtEl>
                                        <p:attrNameLst>
                                          <p:attrName>style.visibility</p:attrName>
                                        </p:attrNameLst>
                                      </p:cBhvr>
                                      <p:to>
                                        <p:strVal val="visible"/>
                                      </p:to>
                                    </p:set>
                                    <p:anim calcmode="lin" valueType="num">
                                      <p:cBhvr>
                                        <p:cTn id="42" dur="500" fill="hold"/>
                                        <p:tgtEl>
                                          <p:spTgt spid="189443">
                                            <p:txEl>
                                              <p:pRg st="7" end="7"/>
                                            </p:txEl>
                                          </p:spTgt>
                                        </p:tgtEl>
                                        <p:attrNameLst>
                                          <p:attrName>ppt_w</p:attrName>
                                        </p:attrNameLst>
                                      </p:cBhvr>
                                      <p:tavLst>
                                        <p:tav tm="0">
                                          <p:val>
                                            <p:fltVal val="0"/>
                                          </p:val>
                                        </p:tav>
                                        <p:tav tm="100000">
                                          <p:val>
                                            <p:strVal val="#ppt_w"/>
                                          </p:val>
                                        </p:tav>
                                      </p:tavLst>
                                    </p:anim>
                                    <p:anim calcmode="lin" valueType="num">
                                      <p:cBhvr>
                                        <p:cTn id="43" dur="500" fill="hold"/>
                                        <p:tgtEl>
                                          <p:spTgt spid="189443">
                                            <p:txEl>
                                              <p:pRg st="7" end="7"/>
                                            </p:txEl>
                                          </p:spTgt>
                                        </p:tgtEl>
                                        <p:attrNameLst>
                                          <p:attrName>ppt_h</p:attrName>
                                        </p:attrNameLst>
                                      </p:cBhvr>
                                      <p:tavLst>
                                        <p:tav tm="0">
                                          <p:val>
                                            <p:fltVal val="0"/>
                                          </p:val>
                                        </p:tav>
                                        <p:tav tm="100000">
                                          <p:val>
                                            <p:strVal val="#ppt_h"/>
                                          </p:val>
                                        </p:tav>
                                      </p:tavLst>
                                    </p:anim>
                                    <p:animEffect transition="in" filter="fade">
                                      <p:cBhvr>
                                        <p:cTn id="44" dur="500"/>
                                        <p:tgtEl>
                                          <p:spTgt spid="189443">
                                            <p:txEl>
                                              <p:pRg st="7" end="7"/>
                                            </p:txEl>
                                          </p:spTgt>
                                        </p:tgtEl>
                                      </p:cBhvr>
                                    </p:animEffect>
                                  </p:childTnLst>
                                </p:cTn>
                              </p:par>
                              <p:par>
                                <p:cTn id="45" presetID="53" presetClass="entr" presetSubtype="0" fill="hold" grpId="0" nodeType="withEffect">
                                  <p:stCondLst>
                                    <p:cond delay="0"/>
                                  </p:stCondLst>
                                  <p:childTnLst>
                                    <p:set>
                                      <p:cBhvr>
                                        <p:cTn id="46" dur="1" fill="hold">
                                          <p:stCondLst>
                                            <p:cond delay="0"/>
                                          </p:stCondLst>
                                        </p:cTn>
                                        <p:tgtEl>
                                          <p:spTgt spid="189443">
                                            <p:txEl>
                                              <p:pRg st="8" end="8"/>
                                            </p:txEl>
                                          </p:spTgt>
                                        </p:tgtEl>
                                        <p:attrNameLst>
                                          <p:attrName>style.visibility</p:attrName>
                                        </p:attrNameLst>
                                      </p:cBhvr>
                                      <p:to>
                                        <p:strVal val="visible"/>
                                      </p:to>
                                    </p:set>
                                    <p:anim calcmode="lin" valueType="num">
                                      <p:cBhvr>
                                        <p:cTn id="47" dur="500" fill="hold"/>
                                        <p:tgtEl>
                                          <p:spTgt spid="189443">
                                            <p:txEl>
                                              <p:pRg st="8" end="8"/>
                                            </p:txEl>
                                          </p:spTgt>
                                        </p:tgtEl>
                                        <p:attrNameLst>
                                          <p:attrName>ppt_w</p:attrName>
                                        </p:attrNameLst>
                                      </p:cBhvr>
                                      <p:tavLst>
                                        <p:tav tm="0">
                                          <p:val>
                                            <p:fltVal val="0"/>
                                          </p:val>
                                        </p:tav>
                                        <p:tav tm="100000">
                                          <p:val>
                                            <p:strVal val="#ppt_w"/>
                                          </p:val>
                                        </p:tav>
                                      </p:tavLst>
                                    </p:anim>
                                    <p:anim calcmode="lin" valueType="num">
                                      <p:cBhvr>
                                        <p:cTn id="48" dur="500" fill="hold"/>
                                        <p:tgtEl>
                                          <p:spTgt spid="189443">
                                            <p:txEl>
                                              <p:pRg st="8" end="8"/>
                                            </p:txEl>
                                          </p:spTgt>
                                        </p:tgtEl>
                                        <p:attrNameLst>
                                          <p:attrName>ppt_h</p:attrName>
                                        </p:attrNameLst>
                                      </p:cBhvr>
                                      <p:tavLst>
                                        <p:tav tm="0">
                                          <p:val>
                                            <p:fltVal val="0"/>
                                          </p:val>
                                        </p:tav>
                                        <p:tav tm="100000">
                                          <p:val>
                                            <p:strVal val="#ppt_h"/>
                                          </p:val>
                                        </p:tav>
                                      </p:tavLst>
                                    </p:anim>
                                    <p:animEffect transition="in" filter="fade">
                                      <p:cBhvr>
                                        <p:cTn id="49" dur="500"/>
                                        <p:tgtEl>
                                          <p:spTgt spid="189443">
                                            <p:txEl>
                                              <p:pRg st="8" end="8"/>
                                            </p:txEl>
                                          </p:spTgt>
                                        </p:tgtEl>
                                      </p:cBhvr>
                                    </p:animEffect>
                                  </p:childTnLst>
                                </p:cTn>
                              </p:par>
                              <p:par>
                                <p:cTn id="50" presetID="53" presetClass="entr" presetSubtype="0" fill="hold" grpId="0" nodeType="withEffect">
                                  <p:stCondLst>
                                    <p:cond delay="0"/>
                                  </p:stCondLst>
                                  <p:childTnLst>
                                    <p:set>
                                      <p:cBhvr>
                                        <p:cTn id="51" dur="1" fill="hold">
                                          <p:stCondLst>
                                            <p:cond delay="0"/>
                                          </p:stCondLst>
                                        </p:cTn>
                                        <p:tgtEl>
                                          <p:spTgt spid="189443">
                                            <p:txEl>
                                              <p:pRg st="9" end="9"/>
                                            </p:txEl>
                                          </p:spTgt>
                                        </p:tgtEl>
                                        <p:attrNameLst>
                                          <p:attrName>style.visibility</p:attrName>
                                        </p:attrNameLst>
                                      </p:cBhvr>
                                      <p:to>
                                        <p:strVal val="visible"/>
                                      </p:to>
                                    </p:set>
                                    <p:anim calcmode="lin" valueType="num">
                                      <p:cBhvr>
                                        <p:cTn id="52" dur="500" fill="hold"/>
                                        <p:tgtEl>
                                          <p:spTgt spid="189443">
                                            <p:txEl>
                                              <p:pRg st="9" end="9"/>
                                            </p:txEl>
                                          </p:spTgt>
                                        </p:tgtEl>
                                        <p:attrNameLst>
                                          <p:attrName>ppt_w</p:attrName>
                                        </p:attrNameLst>
                                      </p:cBhvr>
                                      <p:tavLst>
                                        <p:tav tm="0">
                                          <p:val>
                                            <p:fltVal val="0"/>
                                          </p:val>
                                        </p:tav>
                                        <p:tav tm="100000">
                                          <p:val>
                                            <p:strVal val="#ppt_w"/>
                                          </p:val>
                                        </p:tav>
                                      </p:tavLst>
                                    </p:anim>
                                    <p:anim calcmode="lin" valueType="num">
                                      <p:cBhvr>
                                        <p:cTn id="53" dur="500" fill="hold"/>
                                        <p:tgtEl>
                                          <p:spTgt spid="189443">
                                            <p:txEl>
                                              <p:pRg st="9" end="9"/>
                                            </p:txEl>
                                          </p:spTgt>
                                        </p:tgtEl>
                                        <p:attrNameLst>
                                          <p:attrName>ppt_h</p:attrName>
                                        </p:attrNameLst>
                                      </p:cBhvr>
                                      <p:tavLst>
                                        <p:tav tm="0">
                                          <p:val>
                                            <p:fltVal val="0"/>
                                          </p:val>
                                        </p:tav>
                                        <p:tav tm="100000">
                                          <p:val>
                                            <p:strVal val="#ppt_h"/>
                                          </p:val>
                                        </p:tav>
                                      </p:tavLst>
                                    </p:anim>
                                    <p:animEffect transition="in" filter="fade">
                                      <p:cBhvr>
                                        <p:cTn id="54" dur="500"/>
                                        <p:tgtEl>
                                          <p:spTgt spid="189443">
                                            <p:txEl>
                                              <p:pRg st="9" end="9"/>
                                            </p:txEl>
                                          </p:spTgt>
                                        </p:tgtEl>
                                      </p:cBhvr>
                                    </p:animEffect>
                                  </p:childTnLst>
                                </p:cTn>
                              </p:par>
                              <p:par>
                                <p:cTn id="55" presetID="53" presetClass="entr" presetSubtype="0" fill="hold" grpId="0" nodeType="withEffect">
                                  <p:stCondLst>
                                    <p:cond delay="0"/>
                                  </p:stCondLst>
                                  <p:childTnLst>
                                    <p:set>
                                      <p:cBhvr>
                                        <p:cTn id="56" dur="1" fill="hold">
                                          <p:stCondLst>
                                            <p:cond delay="0"/>
                                          </p:stCondLst>
                                        </p:cTn>
                                        <p:tgtEl>
                                          <p:spTgt spid="189443">
                                            <p:txEl>
                                              <p:pRg st="10" end="10"/>
                                            </p:txEl>
                                          </p:spTgt>
                                        </p:tgtEl>
                                        <p:attrNameLst>
                                          <p:attrName>style.visibility</p:attrName>
                                        </p:attrNameLst>
                                      </p:cBhvr>
                                      <p:to>
                                        <p:strVal val="visible"/>
                                      </p:to>
                                    </p:set>
                                    <p:anim calcmode="lin" valueType="num">
                                      <p:cBhvr>
                                        <p:cTn id="57" dur="500" fill="hold"/>
                                        <p:tgtEl>
                                          <p:spTgt spid="189443">
                                            <p:txEl>
                                              <p:pRg st="10" end="10"/>
                                            </p:txEl>
                                          </p:spTgt>
                                        </p:tgtEl>
                                        <p:attrNameLst>
                                          <p:attrName>ppt_w</p:attrName>
                                        </p:attrNameLst>
                                      </p:cBhvr>
                                      <p:tavLst>
                                        <p:tav tm="0">
                                          <p:val>
                                            <p:fltVal val="0"/>
                                          </p:val>
                                        </p:tav>
                                        <p:tav tm="100000">
                                          <p:val>
                                            <p:strVal val="#ppt_w"/>
                                          </p:val>
                                        </p:tav>
                                      </p:tavLst>
                                    </p:anim>
                                    <p:anim calcmode="lin" valueType="num">
                                      <p:cBhvr>
                                        <p:cTn id="58" dur="500" fill="hold"/>
                                        <p:tgtEl>
                                          <p:spTgt spid="189443">
                                            <p:txEl>
                                              <p:pRg st="10" end="10"/>
                                            </p:txEl>
                                          </p:spTgt>
                                        </p:tgtEl>
                                        <p:attrNameLst>
                                          <p:attrName>ppt_h</p:attrName>
                                        </p:attrNameLst>
                                      </p:cBhvr>
                                      <p:tavLst>
                                        <p:tav tm="0">
                                          <p:val>
                                            <p:fltVal val="0"/>
                                          </p:val>
                                        </p:tav>
                                        <p:tav tm="100000">
                                          <p:val>
                                            <p:strVal val="#ppt_h"/>
                                          </p:val>
                                        </p:tav>
                                      </p:tavLst>
                                    </p:anim>
                                    <p:animEffect transition="in" filter="fade">
                                      <p:cBhvr>
                                        <p:cTn id="59" dur="500"/>
                                        <p:tgtEl>
                                          <p:spTgt spid="189443">
                                            <p:txEl>
                                              <p:pRg st="10" end="10"/>
                                            </p:txEl>
                                          </p:spTgt>
                                        </p:tgtEl>
                                      </p:cBhvr>
                                    </p:animEffect>
                                  </p:childTnLst>
                                </p:cTn>
                              </p:par>
                              <p:par>
                                <p:cTn id="60" presetID="53" presetClass="entr" presetSubtype="0" fill="hold" grpId="0" nodeType="withEffect">
                                  <p:stCondLst>
                                    <p:cond delay="0"/>
                                  </p:stCondLst>
                                  <p:childTnLst>
                                    <p:set>
                                      <p:cBhvr>
                                        <p:cTn id="61" dur="1" fill="hold">
                                          <p:stCondLst>
                                            <p:cond delay="0"/>
                                          </p:stCondLst>
                                        </p:cTn>
                                        <p:tgtEl>
                                          <p:spTgt spid="189443">
                                            <p:txEl>
                                              <p:pRg st="11" end="11"/>
                                            </p:txEl>
                                          </p:spTgt>
                                        </p:tgtEl>
                                        <p:attrNameLst>
                                          <p:attrName>style.visibility</p:attrName>
                                        </p:attrNameLst>
                                      </p:cBhvr>
                                      <p:to>
                                        <p:strVal val="visible"/>
                                      </p:to>
                                    </p:set>
                                    <p:anim calcmode="lin" valueType="num">
                                      <p:cBhvr>
                                        <p:cTn id="62" dur="500" fill="hold"/>
                                        <p:tgtEl>
                                          <p:spTgt spid="189443">
                                            <p:txEl>
                                              <p:pRg st="11" end="11"/>
                                            </p:txEl>
                                          </p:spTgt>
                                        </p:tgtEl>
                                        <p:attrNameLst>
                                          <p:attrName>ppt_w</p:attrName>
                                        </p:attrNameLst>
                                      </p:cBhvr>
                                      <p:tavLst>
                                        <p:tav tm="0">
                                          <p:val>
                                            <p:fltVal val="0"/>
                                          </p:val>
                                        </p:tav>
                                        <p:tav tm="100000">
                                          <p:val>
                                            <p:strVal val="#ppt_w"/>
                                          </p:val>
                                        </p:tav>
                                      </p:tavLst>
                                    </p:anim>
                                    <p:anim calcmode="lin" valueType="num">
                                      <p:cBhvr>
                                        <p:cTn id="63" dur="500" fill="hold"/>
                                        <p:tgtEl>
                                          <p:spTgt spid="189443">
                                            <p:txEl>
                                              <p:pRg st="11" end="11"/>
                                            </p:txEl>
                                          </p:spTgt>
                                        </p:tgtEl>
                                        <p:attrNameLst>
                                          <p:attrName>ppt_h</p:attrName>
                                        </p:attrNameLst>
                                      </p:cBhvr>
                                      <p:tavLst>
                                        <p:tav tm="0">
                                          <p:val>
                                            <p:fltVal val="0"/>
                                          </p:val>
                                        </p:tav>
                                        <p:tav tm="100000">
                                          <p:val>
                                            <p:strVal val="#ppt_h"/>
                                          </p:val>
                                        </p:tav>
                                      </p:tavLst>
                                    </p:anim>
                                    <p:animEffect transition="in" filter="fade">
                                      <p:cBhvr>
                                        <p:cTn id="64" dur="500"/>
                                        <p:tgtEl>
                                          <p:spTgt spid="189443">
                                            <p:txEl>
                                              <p:pRg st="11" end="11"/>
                                            </p:txEl>
                                          </p:spTgt>
                                        </p:tgtEl>
                                      </p:cBhvr>
                                    </p:animEffect>
                                  </p:childTnLst>
                                </p:cTn>
                              </p:par>
                              <p:par>
                                <p:cTn id="65" presetID="53" presetClass="entr" presetSubtype="0" fill="hold" grpId="0" nodeType="withEffect">
                                  <p:stCondLst>
                                    <p:cond delay="0"/>
                                  </p:stCondLst>
                                  <p:childTnLst>
                                    <p:set>
                                      <p:cBhvr>
                                        <p:cTn id="66" dur="1" fill="hold">
                                          <p:stCondLst>
                                            <p:cond delay="0"/>
                                          </p:stCondLst>
                                        </p:cTn>
                                        <p:tgtEl>
                                          <p:spTgt spid="189443">
                                            <p:txEl>
                                              <p:pRg st="12" end="12"/>
                                            </p:txEl>
                                          </p:spTgt>
                                        </p:tgtEl>
                                        <p:attrNameLst>
                                          <p:attrName>style.visibility</p:attrName>
                                        </p:attrNameLst>
                                      </p:cBhvr>
                                      <p:to>
                                        <p:strVal val="visible"/>
                                      </p:to>
                                    </p:set>
                                    <p:anim calcmode="lin" valueType="num">
                                      <p:cBhvr>
                                        <p:cTn id="67" dur="500" fill="hold"/>
                                        <p:tgtEl>
                                          <p:spTgt spid="189443">
                                            <p:txEl>
                                              <p:pRg st="12" end="12"/>
                                            </p:txEl>
                                          </p:spTgt>
                                        </p:tgtEl>
                                        <p:attrNameLst>
                                          <p:attrName>ppt_w</p:attrName>
                                        </p:attrNameLst>
                                      </p:cBhvr>
                                      <p:tavLst>
                                        <p:tav tm="0">
                                          <p:val>
                                            <p:fltVal val="0"/>
                                          </p:val>
                                        </p:tav>
                                        <p:tav tm="100000">
                                          <p:val>
                                            <p:strVal val="#ppt_w"/>
                                          </p:val>
                                        </p:tav>
                                      </p:tavLst>
                                    </p:anim>
                                    <p:anim calcmode="lin" valueType="num">
                                      <p:cBhvr>
                                        <p:cTn id="68" dur="500" fill="hold"/>
                                        <p:tgtEl>
                                          <p:spTgt spid="189443">
                                            <p:txEl>
                                              <p:pRg st="12" end="12"/>
                                            </p:txEl>
                                          </p:spTgt>
                                        </p:tgtEl>
                                        <p:attrNameLst>
                                          <p:attrName>ppt_h</p:attrName>
                                        </p:attrNameLst>
                                      </p:cBhvr>
                                      <p:tavLst>
                                        <p:tav tm="0">
                                          <p:val>
                                            <p:fltVal val="0"/>
                                          </p:val>
                                        </p:tav>
                                        <p:tav tm="100000">
                                          <p:val>
                                            <p:strVal val="#ppt_h"/>
                                          </p:val>
                                        </p:tav>
                                      </p:tavLst>
                                    </p:anim>
                                    <p:animEffect transition="in" filter="fade">
                                      <p:cBhvr>
                                        <p:cTn id="69" dur="500"/>
                                        <p:tgtEl>
                                          <p:spTgt spid="189443">
                                            <p:txEl>
                                              <p:pRg st="12" end="12"/>
                                            </p:txEl>
                                          </p:spTgt>
                                        </p:tgtEl>
                                      </p:cBhvr>
                                    </p:animEffect>
                                  </p:childTnLst>
                                </p:cTn>
                              </p:par>
                              <p:par>
                                <p:cTn id="70" presetID="53" presetClass="entr" presetSubtype="0" fill="hold" grpId="0" nodeType="withEffect">
                                  <p:stCondLst>
                                    <p:cond delay="0"/>
                                  </p:stCondLst>
                                  <p:childTnLst>
                                    <p:set>
                                      <p:cBhvr>
                                        <p:cTn id="71" dur="1" fill="hold">
                                          <p:stCondLst>
                                            <p:cond delay="0"/>
                                          </p:stCondLst>
                                        </p:cTn>
                                        <p:tgtEl>
                                          <p:spTgt spid="189443">
                                            <p:txEl>
                                              <p:pRg st="13" end="13"/>
                                            </p:txEl>
                                          </p:spTgt>
                                        </p:tgtEl>
                                        <p:attrNameLst>
                                          <p:attrName>style.visibility</p:attrName>
                                        </p:attrNameLst>
                                      </p:cBhvr>
                                      <p:to>
                                        <p:strVal val="visible"/>
                                      </p:to>
                                    </p:set>
                                    <p:anim calcmode="lin" valueType="num">
                                      <p:cBhvr>
                                        <p:cTn id="72" dur="500" fill="hold"/>
                                        <p:tgtEl>
                                          <p:spTgt spid="189443">
                                            <p:txEl>
                                              <p:pRg st="13" end="13"/>
                                            </p:txEl>
                                          </p:spTgt>
                                        </p:tgtEl>
                                        <p:attrNameLst>
                                          <p:attrName>ppt_w</p:attrName>
                                        </p:attrNameLst>
                                      </p:cBhvr>
                                      <p:tavLst>
                                        <p:tav tm="0">
                                          <p:val>
                                            <p:fltVal val="0"/>
                                          </p:val>
                                        </p:tav>
                                        <p:tav tm="100000">
                                          <p:val>
                                            <p:strVal val="#ppt_w"/>
                                          </p:val>
                                        </p:tav>
                                      </p:tavLst>
                                    </p:anim>
                                    <p:anim calcmode="lin" valueType="num">
                                      <p:cBhvr>
                                        <p:cTn id="73" dur="500" fill="hold"/>
                                        <p:tgtEl>
                                          <p:spTgt spid="189443">
                                            <p:txEl>
                                              <p:pRg st="13" end="13"/>
                                            </p:txEl>
                                          </p:spTgt>
                                        </p:tgtEl>
                                        <p:attrNameLst>
                                          <p:attrName>ppt_h</p:attrName>
                                        </p:attrNameLst>
                                      </p:cBhvr>
                                      <p:tavLst>
                                        <p:tav tm="0">
                                          <p:val>
                                            <p:fltVal val="0"/>
                                          </p:val>
                                        </p:tav>
                                        <p:tav tm="100000">
                                          <p:val>
                                            <p:strVal val="#ppt_h"/>
                                          </p:val>
                                        </p:tav>
                                      </p:tavLst>
                                    </p:anim>
                                    <p:animEffect transition="in" filter="fade">
                                      <p:cBhvr>
                                        <p:cTn id="74" dur="500"/>
                                        <p:tgtEl>
                                          <p:spTgt spid="189443">
                                            <p:txEl>
                                              <p:pRg st="13" end="13"/>
                                            </p:txEl>
                                          </p:spTgt>
                                        </p:tgtEl>
                                      </p:cBhvr>
                                    </p:animEffect>
                                  </p:childTnLst>
                                </p:cTn>
                              </p:par>
                              <p:par>
                                <p:cTn id="75" presetID="53" presetClass="entr" presetSubtype="0" fill="hold" grpId="0" nodeType="withEffect">
                                  <p:stCondLst>
                                    <p:cond delay="0"/>
                                  </p:stCondLst>
                                  <p:childTnLst>
                                    <p:set>
                                      <p:cBhvr>
                                        <p:cTn id="76" dur="1" fill="hold">
                                          <p:stCondLst>
                                            <p:cond delay="0"/>
                                          </p:stCondLst>
                                        </p:cTn>
                                        <p:tgtEl>
                                          <p:spTgt spid="189443">
                                            <p:txEl>
                                              <p:pRg st="14" end="14"/>
                                            </p:txEl>
                                          </p:spTgt>
                                        </p:tgtEl>
                                        <p:attrNameLst>
                                          <p:attrName>style.visibility</p:attrName>
                                        </p:attrNameLst>
                                      </p:cBhvr>
                                      <p:to>
                                        <p:strVal val="visible"/>
                                      </p:to>
                                    </p:set>
                                    <p:anim calcmode="lin" valueType="num">
                                      <p:cBhvr>
                                        <p:cTn id="77" dur="500" fill="hold"/>
                                        <p:tgtEl>
                                          <p:spTgt spid="189443">
                                            <p:txEl>
                                              <p:pRg st="14" end="14"/>
                                            </p:txEl>
                                          </p:spTgt>
                                        </p:tgtEl>
                                        <p:attrNameLst>
                                          <p:attrName>ppt_w</p:attrName>
                                        </p:attrNameLst>
                                      </p:cBhvr>
                                      <p:tavLst>
                                        <p:tav tm="0">
                                          <p:val>
                                            <p:fltVal val="0"/>
                                          </p:val>
                                        </p:tav>
                                        <p:tav tm="100000">
                                          <p:val>
                                            <p:strVal val="#ppt_w"/>
                                          </p:val>
                                        </p:tav>
                                      </p:tavLst>
                                    </p:anim>
                                    <p:anim calcmode="lin" valueType="num">
                                      <p:cBhvr>
                                        <p:cTn id="78" dur="500" fill="hold"/>
                                        <p:tgtEl>
                                          <p:spTgt spid="189443">
                                            <p:txEl>
                                              <p:pRg st="14" end="14"/>
                                            </p:txEl>
                                          </p:spTgt>
                                        </p:tgtEl>
                                        <p:attrNameLst>
                                          <p:attrName>ppt_h</p:attrName>
                                        </p:attrNameLst>
                                      </p:cBhvr>
                                      <p:tavLst>
                                        <p:tav tm="0">
                                          <p:val>
                                            <p:fltVal val="0"/>
                                          </p:val>
                                        </p:tav>
                                        <p:tav tm="100000">
                                          <p:val>
                                            <p:strVal val="#ppt_h"/>
                                          </p:val>
                                        </p:tav>
                                      </p:tavLst>
                                    </p:anim>
                                    <p:animEffect transition="in" filter="fade">
                                      <p:cBhvr>
                                        <p:cTn id="79" dur="500"/>
                                        <p:tgtEl>
                                          <p:spTgt spid="189443">
                                            <p:txEl>
                                              <p:pRg st="14" end="14"/>
                                            </p:txEl>
                                          </p:spTgt>
                                        </p:tgtEl>
                                      </p:cBhvr>
                                    </p:animEffect>
                                  </p:childTnLst>
                                </p:cTn>
                              </p:par>
                              <p:par>
                                <p:cTn id="80" presetID="53" presetClass="entr" presetSubtype="0" fill="hold" grpId="0" nodeType="withEffect">
                                  <p:stCondLst>
                                    <p:cond delay="0"/>
                                  </p:stCondLst>
                                  <p:childTnLst>
                                    <p:set>
                                      <p:cBhvr>
                                        <p:cTn id="81" dur="1" fill="hold">
                                          <p:stCondLst>
                                            <p:cond delay="0"/>
                                          </p:stCondLst>
                                        </p:cTn>
                                        <p:tgtEl>
                                          <p:spTgt spid="189443">
                                            <p:txEl>
                                              <p:pRg st="15" end="15"/>
                                            </p:txEl>
                                          </p:spTgt>
                                        </p:tgtEl>
                                        <p:attrNameLst>
                                          <p:attrName>style.visibility</p:attrName>
                                        </p:attrNameLst>
                                      </p:cBhvr>
                                      <p:to>
                                        <p:strVal val="visible"/>
                                      </p:to>
                                    </p:set>
                                    <p:anim calcmode="lin" valueType="num">
                                      <p:cBhvr>
                                        <p:cTn id="82" dur="500" fill="hold"/>
                                        <p:tgtEl>
                                          <p:spTgt spid="189443">
                                            <p:txEl>
                                              <p:pRg st="15" end="15"/>
                                            </p:txEl>
                                          </p:spTgt>
                                        </p:tgtEl>
                                        <p:attrNameLst>
                                          <p:attrName>ppt_w</p:attrName>
                                        </p:attrNameLst>
                                      </p:cBhvr>
                                      <p:tavLst>
                                        <p:tav tm="0">
                                          <p:val>
                                            <p:fltVal val="0"/>
                                          </p:val>
                                        </p:tav>
                                        <p:tav tm="100000">
                                          <p:val>
                                            <p:strVal val="#ppt_w"/>
                                          </p:val>
                                        </p:tav>
                                      </p:tavLst>
                                    </p:anim>
                                    <p:anim calcmode="lin" valueType="num">
                                      <p:cBhvr>
                                        <p:cTn id="83" dur="500" fill="hold"/>
                                        <p:tgtEl>
                                          <p:spTgt spid="189443">
                                            <p:txEl>
                                              <p:pRg st="15" end="15"/>
                                            </p:txEl>
                                          </p:spTgt>
                                        </p:tgtEl>
                                        <p:attrNameLst>
                                          <p:attrName>ppt_h</p:attrName>
                                        </p:attrNameLst>
                                      </p:cBhvr>
                                      <p:tavLst>
                                        <p:tav tm="0">
                                          <p:val>
                                            <p:fltVal val="0"/>
                                          </p:val>
                                        </p:tav>
                                        <p:tav tm="100000">
                                          <p:val>
                                            <p:strVal val="#ppt_h"/>
                                          </p:val>
                                        </p:tav>
                                      </p:tavLst>
                                    </p:anim>
                                    <p:animEffect transition="in" filter="fade">
                                      <p:cBhvr>
                                        <p:cTn id="84" dur="500"/>
                                        <p:tgtEl>
                                          <p:spTgt spid="18944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4C22C8C-33F7-4F28-874B-2DC0935C9ED3}" type="slidenum">
              <a:rPr lang="en-US" altLang="en-US"/>
              <a:pPr/>
              <a:t>41</a:t>
            </a:fld>
            <a:endParaRPr lang="en-US" altLang="en-US"/>
          </a:p>
        </p:txBody>
      </p:sp>
      <p:sp>
        <p:nvSpPr>
          <p:cNvPr id="190466" name="Rectangle 2"/>
          <p:cNvSpPr>
            <a:spLocks noGrp="1" noChangeArrowheads="1"/>
          </p:cNvSpPr>
          <p:nvPr>
            <p:ph type="title"/>
          </p:nvPr>
        </p:nvSpPr>
        <p:spPr>
          <a:xfrm>
            <a:off x="1168400" y="0"/>
            <a:ext cx="8363272" cy="1143000"/>
          </a:xfrm>
          <a:noFill/>
          <a:ln/>
        </p:spPr>
        <p:txBody>
          <a:bodyPr>
            <a:normAutofit fontScale="90000"/>
          </a:bodyPr>
          <a:lstStyle/>
          <a:p>
            <a:r>
              <a:rPr lang="en-US" altLang="en-US" dirty="0"/>
              <a:t>More Genetic Operators – </a:t>
            </a:r>
            <a:br>
              <a:rPr lang="en-US" altLang="en-US" dirty="0"/>
            </a:br>
            <a:r>
              <a:rPr lang="en-US" altLang="en-US" dirty="0"/>
              <a:t>Mutation for TSP</a:t>
            </a:r>
          </a:p>
        </p:txBody>
      </p:sp>
      <p:sp>
        <p:nvSpPr>
          <p:cNvPr id="190467" name="Rectangle 3"/>
          <p:cNvSpPr>
            <a:spLocks noGrp="1" noChangeArrowheads="1"/>
          </p:cNvSpPr>
          <p:nvPr>
            <p:ph type="body" idx="1"/>
          </p:nvPr>
        </p:nvSpPr>
        <p:spPr>
          <a:xfrm>
            <a:off x="1981200" y="1600200"/>
            <a:ext cx="8229600" cy="4724400"/>
          </a:xfrm>
          <a:noFill/>
          <a:ln/>
        </p:spPr>
        <p:txBody>
          <a:bodyPr/>
          <a:lstStyle/>
          <a:p>
            <a:pPr>
              <a:lnSpc>
                <a:spcPct val="90000"/>
              </a:lnSpc>
              <a:buFontTx/>
              <a:buNone/>
            </a:pPr>
            <a:r>
              <a:rPr lang="en-US" altLang="ko-KR" sz="2400" b="1" u="sng">
                <a:latin typeface="Arial" charset="0"/>
                <a:ea typeface="굴림" charset="-127"/>
              </a:rPr>
              <a:t>Operator Name		     	 Date	 Authors</a:t>
            </a:r>
          </a:p>
          <a:p>
            <a:pPr>
              <a:lnSpc>
                <a:spcPct val="90000"/>
              </a:lnSpc>
              <a:buFontTx/>
              <a:buNone/>
            </a:pPr>
            <a:r>
              <a:rPr lang="en-US" altLang="ko-KR" sz="2400">
                <a:latin typeface="Arial" charset="0"/>
                <a:ea typeface="굴림" charset="-127"/>
              </a:rPr>
              <a:t>Displacement Mutation (DM) 	(1992)	Michalewicz</a:t>
            </a:r>
            <a:endParaRPr lang="tr-TR" altLang="ko-KR" sz="2400">
              <a:latin typeface="Arial" charset="0"/>
            </a:endParaRPr>
          </a:p>
          <a:p>
            <a:pPr>
              <a:lnSpc>
                <a:spcPct val="90000"/>
              </a:lnSpc>
              <a:buFontTx/>
              <a:buNone/>
            </a:pPr>
            <a:r>
              <a:rPr lang="en-US" altLang="ko-KR" sz="2400" b="1">
                <a:latin typeface="Arial" charset="0"/>
                <a:ea typeface="굴림" charset="-127"/>
              </a:rPr>
              <a:t>Exchange Mutation (EM)</a:t>
            </a:r>
            <a:r>
              <a:rPr lang="en-US" altLang="ko-KR" sz="2400">
                <a:latin typeface="Arial" charset="0"/>
                <a:ea typeface="굴림" charset="-127"/>
              </a:rPr>
              <a:t> 		(1990)	Banzhaf</a:t>
            </a:r>
          </a:p>
          <a:p>
            <a:pPr>
              <a:lnSpc>
                <a:spcPct val="90000"/>
              </a:lnSpc>
              <a:buFontTx/>
              <a:buNone/>
            </a:pPr>
            <a:r>
              <a:rPr lang="en-US" altLang="ko-KR" sz="2400" b="1">
                <a:latin typeface="Arial" charset="0"/>
                <a:ea typeface="굴림" charset="-127"/>
              </a:rPr>
              <a:t>Insertion Mutation (ISM)</a:t>
            </a:r>
            <a:r>
              <a:rPr lang="en-US" altLang="ko-KR" sz="2400">
                <a:latin typeface="Arial" charset="0"/>
                <a:ea typeface="굴림" charset="-127"/>
              </a:rPr>
              <a:t> 		(1988)	Fogel </a:t>
            </a:r>
          </a:p>
          <a:p>
            <a:pPr>
              <a:lnSpc>
                <a:spcPct val="90000"/>
              </a:lnSpc>
              <a:buFontTx/>
              <a:buNone/>
            </a:pPr>
            <a:r>
              <a:rPr lang="en-US" altLang="ko-KR" sz="2400">
                <a:latin typeface="Arial" charset="0"/>
                <a:ea typeface="굴림" charset="-127"/>
              </a:rPr>
              <a:t>Inversion Mutation (IVM) 		(1990)	Fogel </a:t>
            </a:r>
          </a:p>
          <a:p>
            <a:pPr>
              <a:lnSpc>
                <a:spcPct val="90000"/>
              </a:lnSpc>
              <a:buFontTx/>
              <a:buNone/>
            </a:pPr>
            <a:r>
              <a:rPr lang="en-US" altLang="ko-KR" sz="2400">
                <a:latin typeface="Arial" charset="0"/>
                <a:ea typeface="굴림" charset="-127"/>
              </a:rPr>
              <a:t>Scramble Mutation (SM) 		(1991)	Syswerda </a:t>
            </a:r>
          </a:p>
          <a:p>
            <a:pPr>
              <a:lnSpc>
                <a:spcPct val="90000"/>
              </a:lnSpc>
              <a:buFontTx/>
              <a:buNone/>
            </a:pPr>
            <a:r>
              <a:rPr lang="en-US" altLang="ko-KR" sz="2400">
                <a:latin typeface="Arial" charset="0"/>
                <a:ea typeface="굴림" charset="-127"/>
              </a:rPr>
              <a:t>Simple Inversion Mutation (SIM)	(1975)	Holland </a:t>
            </a:r>
          </a:p>
          <a:p>
            <a:pPr>
              <a:lnSpc>
                <a:spcPct val="90000"/>
              </a:lnSpc>
              <a:buFontTx/>
              <a:buNone/>
            </a:pPr>
            <a:endParaRPr lang="en-US" altLang="en-US" sz="2400">
              <a:latin typeface="Arial" charset="0"/>
            </a:endParaRPr>
          </a:p>
        </p:txBody>
      </p:sp>
      <p:cxnSp>
        <p:nvCxnSpPr>
          <p:cNvPr id="5" name="Straight Connector 4"/>
          <p:cNvCxnSpPr/>
          <p:nvPr/>
        </p:nvCxnSpPr>
        <p:spPr>
          <a:xfrm>
            <a:off x="6023992" y="4653136"/>
            <a:ext cx="0" cy="504056"/>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62951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90467">
                                            <p:txEl>
                                              <p:pRg st="0" end="0"/>
                                            </p:txEl>
                                          </p:spTgt>
                                        </p:tgtEl>
                                        <p:attrNameLst>
                                          <p:attrName>style.visibility</p:attrName>
                                        </p:attrNameLst>
                                      </p:cBhvr>
                                      <p:to>
                                        <p:strVal val="visible"/>
                                      </p:to>
                                    </p:set>
                                    <p:anim calcmode="lin" valueType="num">
                                      <p:cBhvr>
                                        <p:cTn id="7" dur="500" fill="hold"/>
                                        <p:tgtEl>
                                          <p:spTgt spid="19046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9046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90467">
                                            <p:txEl>
                                              <p:pRg st="0" end="0"/>
                                            </p:txEl>
                                          </p:spTgt>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190467">
                                            <p:txEl>
                                              <p:pRg st="1" end="1"/>
                                            </p:txEl>
                                          </p:spTgt>
                                        </p:tgtEl>
                                        <p:attrNameLst>
                                          <p:attrName>style.visibility</p:attrName>
                                        </p:attrNameLst>
                                      </p:cBhvr>
                                      <p:to>
                                        <p:strVal val="visible"/>
                                      </p:to>
                                    </p:set>
                                    <p:anim calcmode="lin" valueType="num">
                                      <p:cBhvr>
                                        <p:cTn id="12" dur="500" fill="hold"/>
                                        <p:tgtEl>
                                          <p:spTgt spid="190467">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190467">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190467">
                                            <p:txEl>
                                              <p:pRg st="1" end="1"/>
                                            </p:txEl>
                                          </p:spTgt>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90467">
                                            <p:txEl>
                                              <p:pRg st="2" end="2"/>
                                            </p:txEl>
                                          </p:spTgt>
                                        </p:tgtEl>
                                        <p:attrNameLst>
                                          <p:attrName>style.visibility</p:attrName>
                                        </p:attrNameLst>
                                      </p:cBhvr>
                                      <p:to>
                                        <p:strVal val="visible"/>
                                      </p:to>
                                    </p:set>
                                    <p:anim calcmode="lin" valueType="num">
                                      <p:cBhvr>
                                        <p:cTn id="17" dur="500" fill="hold"/>
                                        <p:tgtEl>
                                          <p:spTgt spid="190467">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190467">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190467">
                                            <p:txEl>
                                              <p:pRg st="2" end="2"/>
                                            </p:txEl>
                                          </p:spTgt>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190467">
                                            <p:txEl>
                                              <p:pRg st="3" end="3"/>
                                            </p:txEl>
                                          </p:spTgt>
                                        </p:tgtEl>
                                        <p:attrNameLst>
                                          <p:attrName>style.visibility</p:attrName>
                                        </p:attrNameLst>
                                      </p:cBhvr>
                                      <p:to>
                                        <p:strVal val="visible"/>
                                      </p:to>
                                    </p:set>
                                    <p:anim calcmode="lin" valueType="num">
                                      <p:cBhvr>
                                        <p:cTn id="22" dur="500" fill="hold"/>
                                        <p:tgtEl>
                                          <p:spTgt spid="190467">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190467">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190467">
                                            <p:txEl>
                                              <p:pRg st="3" end="3"/>
                                            </p:txEl>
                                          </p:spTgt>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190467">
                                            <p:txEl>
                                              <p:pRg st="4" end="4"/>
                                            </p:txEl>
                                          </p:spTgt>
                                        </p:tgtEl>
                                        <p:attrNameLst>
                                          <p:attrName>style.visibility</p:attrName>
                                        </p:attrNameLst>
                                      </p:cBhvr>
                                      <p:to>
                                        <p:strVal val="visible"/>
                                      </p:to>
                                    </p:set>
                                    <p:anim calcmode="lin" valueType="num">
                                      <p:cBhvr>
                                        <p:cTn id="27" dur="500" fill="hold"/>
                                        <p:tgtEl>
                                          <p:spTgt spid="190467">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190467">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190467">
                                            <p:txEl>
                                              <p:pRg st="4" end="4"/>
                                            </p:txEl>
                                          </p:spTgt>
                                        </p:tgtEl>
                                      </p:cBhvr>
                                    </p:animEffect>
                                  </p:childTnLst>
                                </p:cTn>
                              </p:par>
                              <p:par>
                                <p:cTn id="30" presetID="53" presetClass="entr" presetSubtype="0" fill="hold" grpId="0" nodeType="withEffect">
                                  <p:stCondLst>
                                    <p:cond delay="0"/>
                                  </p:stCondLst>
                                  <p:childTnLst>
                                    <p:set>
                                      <p:cBhvr>
                                        <p:cTn id="31" dur="1" fill="hold">
                                          <p:stCondLst>
                                            <p:cond delay="0"/>
                                          </p:stCondLst>
                                        </p:cTn>
                                        <p:tgtEl>
                                          <p:spTgt spid="190467">
                                            <p:txEl>
                                              <p:pRg st="5" end="5"/>
                                            </p:txEl>
                                          </p:spTgt>
                                        </p:tgtEl>
                                        <p:attrNameLst>
                                          <p:attrName>style.visibility</p:attrName>
                                        </p:attrNameLst>
                                      </p:cBhvr>
                                      <p:to>
                                        <p:strVal val="visible"/>
                                      </p:to>
                                    </p:set>
                                    <p:anim calcmode="lin" valueType="num">
                                      <p:cBhvr>
                                        <p:cTn id="32" dur="500" fill="hold"/>
                                        <p:tgtEl>
                                          <p:spTgt spid="190467">
                                            <p:txEl>
                                              <p:pRg st="5" end="5"/>
                                            </p:txEl>
                                          </p:spTgt>
                                        </p:tgtEl>
                                        <p:attrNameLst>
                                          <p:attrName>ppt_w</p:attrName>
                                        </p:attrNameLst>
                                      </p:cBhvr>
                                      <p:tavLst>
                                        <p:tav tm="0">
                                          <p:val>
                                            <p:fltVal val="0"/>
                                          </p:val>
                                        </p:tav>
                                        <p:tav tm="100000">
                                          <p:val>
                                            <p:strVal val="#ppt_w"/>
                                          </p:val>
                                        </p:tav>
                                      </p:tavLst>
                                    </p:anim>
                                    <p:anim calcmode="lin" valueType="num">
                                      <p:cBhvr>
                                        <p:cTn id="33" dur="500" fill="hold"/>
                                        <p:tgtEl>
                                          <p:spTgt spid="190467">
                                            <p:txEl>
                                              <p:pRg st="5" end="5"/>
                                            </p:txEl>
                                          </p:spTgt>
                                        </p:tgtEl>
                                        <p:attrNameLst>
                                          <p:attrName>ppt_h</p:attrName>
                                        </p:attrNameLst>
                                      </p:cBhvr>
                                      <p:tavLst>
                                        <p:tav tm="0">
                                          <p:val>
                                            <p:fltVal val="0"/>
                                          </p:val>
                                        </p:tav>
                                        <p:tav tm="100000">
                                          <p:val>
                                            <p:strVal val="#ppt_h"/>
                                          </p:val>
                                        </p:tav>
                                      </p:tavLst>
                                    </p:anim>
                                    <p:animEffect transition="in" filter="fade">
                                      <p:cBhvr>
                                        <p:cTn id="34" dur="500"/>
                                        <p:tgtEl>
                                          <p:spTgt spid="190467">
                                            <p:txEl>
                                              <p:pRg st="5" end="5"/>
                                            </p:txEl>
                                          </p:spTgt>
                                        </p:tgtEl>
                                      </p:cBhvr>
                                    </p:animEffect>
                                  </p:childTnLst>
                                </p:cTn>
                              </p:par>
                              <p:par>
                                <p:cTn id="35" presetID="53" presetClass="entr" presetSubtype="0" fill="hold" grpId="0" nodeType="withEffect">
                                  <p:stCondLst>
                                    <p:cond delay="0"/>
                                  </p:stCondLst>
                                  <p:childTnLst>
                                    <p:set>
                                      <p:cBhvr>
                                        <p:cTn id="36" dur="1" fill="hold">
                                          <p:stCondLst>
                                            <p:cond delay="0"/>
                                          </p:stCondLst>
                                        </p:cTn>
                                        <p:tgtEl>
                                          <p:spTgt spid="190467">
                                            <p:txEl>
                                              <p:pRg st="6" end="6"/>
                                            </p:txEl>
                                          </p:spTgt>
                                        </p:tgtEl>
                                        <p:attrNameLst>
                                          <p:attrName>style.visibility</p:attrName>
                                        </p:attrNameLst>
                                      </p:cBhvr>
                                      <p:to>
                                        <p:strVal val="visible"/>
                                      </p:to>
                                    </p:set>
                                    <p:anim calcmode="lin" valueType="num">
                                      <p:cBhvr>
                                        <p:cTn id="37" dur="500" fill="hold"/>
                                        <p:tgtEl>
                                          <p:spTgt spid="190467">
                                            <p:txEl>
                                              <p:pRg st="6" end="6"/>
                                            </p:txEl>
                                          </p:spTgt>
                                        </p:tgtEl>
                                        <p:attrNameLst>
                                          <p:attrName>ppt_w</p:attrName>
                                        </p:attrNameLst>
                                      </p:cBhvr>
                                      <p:tavLst>
                                        <p:tav tm="0">
                                          <p:val>
                                            <p:fltVal val="0"/>
                                          </p:val>
                                        </p:tav>
                                        <p:tav tm="100000">
                                          <p:val>
                                            <p:strVal val="#ppt_w"/>
                                          </p:val>
                                        </p:tav>
                                      </p:tavLst>
                                    </p:anim>
                                    <p:anim calcmode="lin" valueType="num">
                                      <p:cBhvr>
                                        <p:cTn id="38" dur="500" fill="hold"/>
                                        <p:tgtEl>
                                          <p:spTgt spid="190467">
                                            <p:txEl>
                                              <p:pRg st="6" end="6"/>
                                            </p:txEl>
                                          </p:spTgt>
                                        </p:tgtEl>
                                        <p:attrNameLst>
                                          <p:attrName>ppt_h</p:attrName>
                                        </p:attrNameLst>
                                      </p:cBhvr>
                                      <p:tavLst>
                                        <p:tav tm="0">
                                          <p:val>
                                            <p:fltVal val="0"/>
                                          </p:val>
                                        </p:tav>
                                        <p:tav tm="100000">
                                          <p:val>
                                            <p:strVal val="#ppt_h"/>
                                          </p:val>
                                        </p:tav>
                                      </p:tavLst>
                                    </p:anim>
                                    <p:animEffect transition="in" filter="fade">
                                      <p:cBhvr>
                                        <p:cTn id="39" dur="500"/>
                                        <p:tgtEl>
                                          <p:spTgt spid="1904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52C69D1-DF08-4160-9545-51F308AF6A8F}" type="slidenum">
              <a:rPr lang="en-US" altLang="en-US"/>
              <a:pPr/>
              <a:t>42</a:t>
            </a:fld>
            <a:endParaRPr lang="en-US" altLang="en-US"/>
          </a:p>
        </p:txBody>
      </p:sp>
      <p:sp>
        <p:nvSpPr>
          <p:cNvPr id="186370" name="Rectangle 2"/>
          <p:cNvSpPr>
            <a:spLocks noGrp="1" noChangeArrowheads="1"/>
          </p:cNvSpPr>
          <p:nvPr>
            <p:ph type="title"/>
          </p:nvPr>
        </p:nvSpPr>
        <p:spPr/>
        <p:txBody>
          <a:bodyPr>
            <a:normAutofit fontScale="90000"/>
          </a:bodyPr>
          <a:lstStyle/>
          <a:p>
            <a:r>
              <a:rPr lang="en-US" altLang="en-US" sz="4000" dirty="0"/>
              <a:t>GA vs MA for Solving TSP Experiments – Components </a:t>
            </a:r>
            <a:endParaRPr lang="tr-TR" altLang="en-US" sz="4000" dirty="0"/>
          </a:p>
        </p:txBody>
      </p:sp>
      <p:sp>
        <p:nvSpPr>
          <p:cNvPr id="186371" name="Rectangle 3"/>
          <p:cNvSpPr>
            <a:spLocks noGrp="1" noChangeArrowheads="1"/>
          </p:cNvSpPr>
          <p:nvPr>
            <p:ph type="body" idx="1"/>
          </p:nvPr>
        </p:nvSpPr>
        <p:spPr/>
        <p:txBody>
          <a:bodyPr/>
          <a:lstStyle/>
          <a:p>
            <a:pPr>
              <a:lnSpc>
                <a:spcPct val="80000"/>
              </a:lnSpc>
            </a:pPr>
            <a:r>
              <a:rPr lang="en-US" altLang="en-US" sz="2500" dirty="0"/>
              <a:t>Representation:</a:t>
            </a:r>
            <a:r>
              <a:rPr lang="en-US" altLang="en-US" sz="2500" b="1" i="1" dirty="0"/>
              <a:t> </a:t>
            </a:r>
            <a:r>
              <a:rPr lang="en-US" altLang="en-US" sz="2500" i="1" dirty="0"/>
              <a:t>path representation</a:t>
            </a:r>
            <a:r>
              <a:rPr lang="en-US" altLang="en-US" sz="2500" dirty="0"/>
              <a:t> (permutation)</a:t>
            </a:r>
          </a:p>
          <a:p>
            <a:pPr lvl="1">
              <a:lnSpc>
                <a:spcPct val="80000"/>
              </a:lnSpc>
            </a:pPr>
            <a:r>
              <a:rPr lang="en-US" altLang="en-US" sz="2500" dirty="0"/>
              <a:t>For example, (1 3 5 2 6 4) represents a tour starting from city 1, visiting 3, 5, 2, 6, 4 in that order and returning back to 1.</a:t>
            </a:r>
          </a:p>
          <a:p>
            <a:pPr>
              <a:lnSpc>
                <a:spcPct val="80000"/>
              </a:lnSpc>
            </a:pPr>
            <a:r>
              <a:rPr lang="en-US" altLang="en-US" sz="2500" dirty="0"/>
              <a:t>Fitness function: path length</a:t>
            </a:r>
          </a:p>
          <a:p>
            <a:pPr>
              <a:lnSpc>
                <a:spcPct val="80000"/>
              </a:lnSpc>
            </a:pPr>
            <a:r>
              <a:rPr lang="en-US" altLang="en-US" sz="2500" dirty="0"/>
              <a:t>Crossover: PMX, 2PTX (with repair/patch-up), OX</a:t>
            </a:r>
          </a:p>
          <a:p>
            <a:pPr>
              <a:lnSpc>
                <a:spcPct val="80000"/>
              </a:lnSpc>
            </a:pPr>
            <a:r>
              <a:rPr lang="en-US" altLang="en-US" sz="2500" dirty="0"/>
              <a:t>Mutation Operators: ISM, EM</a:t>
            </a:r>
            <a:r>
              <a:rPr lang="en-GB" altLang="en-US" sz="2500" dirty="0"/>
              <a:t>, </a:t>
            </a:r>
            <a:endParaRPr lang="en-US" altLang="en-US" sz="2500" dirty="0"/>
          </a:p>
          <a:p>
            <a:pPr>
              <a:lnSpc>
                <a:spcPct val="80000"/>
              </a:lnSpc>
            </a:pPr>
            <a:r>
              <a:rPr lang="en-US" altLang="en-US" sz="2500" dirty="0"/>
              <a:t>Mate Selection: RANK, TOUR</a:t>
            </a:r>
          </a:p>
          <a:p>
            <a:pPr>
              <a:lnSpc>
                <a:spcPct val="80000"/>
              </a:lnSpc>
            </a:pPr>
            <a:r>
              <a:rPr lang="en-US" altLang="en-US" sz="2500" dirty="0"/>
              <a:t>Replacement: TG, SS</a:t>
            </a:r>
            <a:endParaRPr lang="tr-TR" altLang="en-US" sz="2500" dirty="0"/>
          </a:p>
          <a:p>
            <a:pPr>
              <a:lnSpc>
                <a:spcPct val="80000"/>
              </a:lnSpc>
            </a:pPr>
            <a:r>
              <a:rPr lang="en-US" altLang="en-US" sz="2500" dirty="0"/>
              <a:t>Hill Climbing: RMHC using ISM, RMHC using EM</a:t>
            </a:r>
            <a:r>
              <a:rPr lang="tr-TR" altLang="en-US" sz="2500" dirty="0"/>
              <a:t> </a:t>
            </a:r>
            <a:endParaRPr lang="en-US" altLang="en-US" sz="2500" dirty="0"/>
          </a:p>
          <a:p>
            <a:pPr>
              <a:lnSpc>
                <a:spcPct val="80000"/>
              </a:lnSpc>
              <a:buFontTx/>
              <a:buNone/>
            </a:pPr>
            <a:r>
              <a:rPr lang="en-US" altLang="en-US" sz="2500" dirty="0"/>
              <a:t>	A hill climbing step is applied, as long as, max. number of iterations is not exceeded and the </a:t>
            </a:r>
            <a:r>
              <a:rPr lang="en-US" altLang="en-US" sz="2500" dirty="0" err="1"/>
              <a:t>indiv</a:t>
            </a:r>
            <a:r>
              <a:rPr lang="en-US" altLang="en-US" sz="2500" dirty="0"/>
              <a:t>. is improved.</a:t>
            </a:r>
            <a:endParaRPr lang="tr-TR" altLang="en-US" sz="2500" dirty="0"/>
          </a:p>
        </p:txBody>
      </p:sp>
    </p:spTree>
    <p:custDataLst>
      <p:tags r:id="rId1"/>
    </p:custDataLst>
    <p:extLst>
      <p:ext uri="{BB962C8B-B14F-4D97-AF65-F5344CB8AC3E}">
        <p14:creationId xmlns:p14="http://schemas.microsoft.com/office/powerpoint/2010/main" val="2923468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6371">
                                            <p:txEl>
                                              <p:pRg st="0" end="0"/>
                                            </p:txEl>
                                          </p:spTgt>
                                        </p:tgtEl>
                                        <p:attrNameLst>
                                          <p:attrName>style.visibility</p:attrName>
                                        </p:attrNameLst>
                                      </p:cBhvr>
                                      <p:to>
                                        <p:strVal val="visible"/>
                                      </p:to>
                                    </p:set>
                                    <p:animEffect transition="in" filter="fade">
                                      <p:cBhvr>
                                        <p:cTn id="7" dur="500"/>
                                        <p:tgtEl>
                                          <p:spTgt spid="18637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6371">
                                            <p:txEl>
                                              <p:pRg st="1" end="1"/>
                                            </p:txEl>
                                          </p:spTgt>
                                        </p:tgtEl>
                                        <p:attrNameLst>
                                          <p:attrName>style.visibility</p:attrName>
                                        </p:attrNameLst>
                                      </p:cBhvr>
                                      <p:to>
                                        <p:strVal val="visible"/>
                                      </p:to>
                                    </p:set>
                                    <p:animEffect transition="in" filter="fade">
                                      <p:cBhvr>
                                        <p:cTn id="10" dur="500"/>
                                        <p:tgtEl>
                                          <p:spTgt spid="18637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6371">
                                            <p:txEl>
                                              <p:pRg st="2" end="2"/>
                                            </p:txEl>
                                          </p:spTgt>
                                        </p:tgtEl>
                                        <p:attrNameLst>
                                          <p:attrName>style.visibility</p:attrName>
                                        </p:attrNameLst>
                                      </p:cBhvr>
                                      <p:to>
                                        <p:strVal val="visible"/>
                                      </p:to>
                                    </p:set>
                                    <p:animEffect transition="in" filter="fade">
                                      <p:cBhvr>
                                        <p:cTn id="15" dur="500"/>
                                        <p:tgtEl>
                                          <p:spTgt spid="18637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6371">
                                            <p:txEl>
                                              <p:pRg st="3" end="3"/>
                                            </p:txEl>
                                          </p:spTgt>
                                        </p:tgtEl>
                                        <p:attrNameLst>
                                          <p:attrName>style.visibility</p:attrName>
                                        </p:attrNameLst>
                                      </p:cBhvr>
                                      <p:to>
                                        <p:strVal val="visible"/>
                                      </p:to>
                                    </p:set>
                                    <p:animEffect transition="in" filter="fade">
                                      <p:cBhvr>
                                        <p:cTn id="20" dur="500"/>
                                        <p:tgtEl>
                                          <p:spTgt spid="18637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6371">
                                            <p:txEl>
                                              <p:pRg st="4" end="4"/>
                                            </p:txEl>
                                          </p:spTgt>
                                        </p:tgtEl>
                                        <p:attrNameLst>
                                          <p:attrName>style.visibility</p:attrName>
                                        </p:attrNameLst>
                                      </p:cBhvr>
                                      <p:to>
                                        <p:strVal val="visible"/>
                                      </p:to>
                                    </p:set>
                                    <p:animEffect transition="in" filter="fade">
                                      <p:cBhvr>
                                        <p:cTn id="25" dur="500"/>
                                        <p:tgtEl>
                                          <p:spTgt spid="186371">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86371">
                                            <p:txEl>
                                              <p:pRg st="5" end="5"/>
                                            </p:txEl>
                                          </p:spTgt>
                                        </p:tgtEl>
                                        <p:attrNameLst>
                                          <p:attrName>style.visibility</p:attrName>
                                        </p:attrNameLst>
                                      </p:cBhvr>
                                      <p:to>
                                        <p:strVal val="visible"/>
                                      </p:to>
                                    </p:set>
                                    <p:animEffect transition="in" filter="fade">
                                      <p:cBhvr>
                                        <p:cTn id="30" dur="500"/>
                                        <p:tgtEl>
                                          <p:spTgt spid="186371">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6371">
                                            <p:txEl>
                                              <p:pRg st="6" end="6"/>
                                            </p:txEl>
                                          </p:spTgt>
                                        </p:tgtEl>
                                        <p:attrNameLst>
                                          <p:attrName>style.visibility</p:attrName>
                                        </p:attrNameLst>
                                      </p:cBhvr>
                                      <p:to>
                                        <p:strVal val="visible"/>
                                      </p:to>
                                    </p:set>
                                    <p:animEffect transition="in" filter="fade">
                                      <p:cBhvr>
                                        <p:cTn id="35" dur="500"/>
                                        <p:tgtEl>
                                          <p:spTgt spid="186371">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86371">
                                            <p:txEl>
                                              <p:pRg st="7" end="7"/>
                                            </p:txEl>
                                          </p:spTgt>
                                        </p:tgtEl>
                                        <p:attrNameLst>
                                          <p:attrName>style.visibility</p:attrName>
                                        </p:attrNameLst>
                                      </p:cBhvr>
                                      <p:to>
                                        <p:strVal val="visible"/>
                                      </p:to>
                                    </p:set>
                                    <p:animEffect transition="in" filter="fade">
                                      <p:cBhvr>
                                        <p:cTn id="40" dur="500"/>
                                        <p:tgtEl>
                                          <p:spTgt spid="186371">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6371">
                                            <p:txEl>
                                              <p:pRg st="8" end="8"/>
                                            </p:txEl>
                                          </p:spTgt>
                                        </p:tgtEl>
                                        <p:attrNameLst>
                                          <p:attrName>style.visibility</p:attrName>
                                        </p:attrNameLst>
                                      </p:cBhvr>
                                      <p:to>
                                        <p:strVal val="visible"/>
                                      </p:to>
                                    </p:set>
                                    <p:animEffect transition="in" filter="fade">
                                      <p:cBhvr>
                                        <p:cTn id="45" dur="500"/>
                                        <p:tgtEl>
                                          <p:spTgt spid="18637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20"/>
          <p:cNvSpPr>
            <a:spLocks noGrp="1"/>
          </p:cNvSpPr>
          <p:nvPr>
            <p:ph type="sldNum" sz="quarter" idx="12"/>
          </p:nvPr>
        </p:nvSpPr>
        <p:spPr/>
        <p:txBody>
          <a:bodyPr/>
          <a:lstStyle/>
          <a:p>
            <a:fld id="{AB353089-A7E2-4058-B7EC-C76A4D2BEC51}" type="slidenum">
              <a:rPr lang="en-US" altLang="en-US"/>
              <a:pPr/>
              <a:t>43</a:t>
            </a:fld>
            <a:endParaRPr lang="en-US" altLang="en-US"/>
          </a:p>
        </p:txBody>
      </p:sp>
      <p:pic>
        <p:nvPicPr>
          <p:cNvPr id="1873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419600"/>
            <a:ext cx="1447800" cy="126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7397" name="Rectangle 5"/>
          <p:cNvSpPr>
            <a:spLocks noGrp="1" noChangeArrowheads="1"/>
          </p:cNvSpPr>
          <p:nvPr>
            <p:ph type="title"/>
          </p:nvPr>
        </p:nvSpPr>
        <p:spPr>
          <a:xfrm>
            <a:off x="1981200" y="274638"/>
            <a:ext cx="8229600" cy="1143000"/>
          </a:xfrm>
          <a:noFill/>
          <a:ln/>
        </p:spPr>
        <p:txBody>
          <a:bodyPr/>
          <a:lstStyle/>
          <a:p>
            <a:r>
              <a:rPr lang="en-US" altLang="en-US"/>
              <a:t>Experimental Data</a:t>
            </a:r>
            <a:endParaRPr lang="tr-TR" altLang="en-US"/>
          </a:p>
        </p:txBody>
      </p:sp>
      <p:graphicFrame>
        <p:nvGraphicFramePr>
          <p:cNvPr id="187398" name="Object 6"/>
          <p:cNvGraphicFramePr>
            <a:graphicFrameLocks noChangeAspect="1"/>
          </p:cNvGraphicFramePr>
          <p:nvPr/>
        </p:nvGraphicFramePr>
        <p:xfrm>
          <a:off x="6726238" y="1524001"/>
          <a:ext cx="2798762" cy="2124075"/>
        </p:xfrm>
        <a:graphic>
          <a:graphicData uri="http://schemas.openxmlformats.org/presentationml/2006/ole">
            <mc:AlternateContent xmlns:mc="http://schemas.openxmlformats.org/markup-compatibility/2006">
              <mc:Choice xmlns:v="urn:schemas-microsoft-com:vml" Requires="v">
                <p:oleObj name="Image" r:id="rId4" imgW="4101587" imgH="2793651" progId="Photoshop.Image.6">
                  <p:embed/>
                </p:oleObj>
              </mc:Choice>
              <mc:Fallback>
                <p:oleObj name="Image" r:id="rId4" imgW="4101587" imgH="2793651" progId="Photoshop.Image.6">
                  <p:embed/>
                  <p:pic>
                    <p:nvPicPr>
                      <p:cNvPr id="18739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26238" y="1524001"/>
                        <a:ext cx="2798762"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7399" name="Object 7"/>
          <p:cNvGraphicFramePr>
            <a:graphicFrameLocks noChangeAspect="1"/>
          </p:cNvGraphicFramePr>
          <p:nvPr/>
        </p:nvGraphicFramePr>
        <p:xfrm>
          <a:off x="3663950" y="1868488"/>
          <a:ext cx="2813050" cy="1593850"/>
        </p:xfrm>
        <a:graphic>
          <a:graphicData uri="http://schemas.openxmlformats.org/presentationml/2006/ole">
            <mc:AlternateContent xmlns:mc="http://schemas.openxmlformats.org/markup-compatibility/2006">
              <mc:Choice xmlns:v="urn:schemas-microsoft-com:vml" Requires="v">
                <p:oleObj name="Image" r:id="rId6" imgW="3987302" imgH="2349206" progId="Photoshop.Image.6">
                  <p:embed/>
                </p:oleObj>
              </mc:Choice>
              <mc:Fallback>
                <p:oleObj name="Image" r:id="rId6" imgW="3987302" imgH="2349206" progId="Photoshop.Image.6">
                  <p:embed/>
                  <p:pic>
                    <p:nvPicPr>
                      <p:cNvPr id="187399"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63950" y="1868488"/>
                        <a:ext cx="2813050"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7400" name="Oval 8"/>
          <p:cNvSpPr>
            <a:spLocks noChangeArrowheads="1"/>
          </p:cNvSpPr>
          <p:nvPr/>
        </p:nvSpPr>
        <p:spPr bwMode="auto">
          <a:xfrm>
            <a:off x="2133600" y="1828800"/>
            <a:ext cx="1360488" cy="1416050"/>
          </a:xfrm>
          <a:prstGeom prst="ellipse">
            <a:avLst/>
          </a:prstGeom>
          <a:solidFill>
            <a:srgbClr val="FFFFFF"/>
          </a:solidFill>
          <a:ln w="9525" algn="ctr">
            <a:solidFill>
              <a:srgbClr val="000000"/>
            </a:solidFill>
            <a:prstDash val="dash"/>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solidFill>
                <a:sysClr val="windowText" lastClr="000000"/>
              </a:solidFill>
            </a:endParaRPr>
          </a:p>
        </p:txBody>
      </p:sp>
      <p:sp>
        <p:nvSpPr>
          <p:cNvPr id="187401" name="Freeform 9"/>
          <p:cNvSpPr>
            <a:spLocks/>
          </p:cNvSpPr>
          <p:nvPr/>
        </p:nvSpPr>
        <p:spPr bwMode="auto">
          <a:xfrm>
            <a:off x="2814638" y="2032000"/>
            <a:ext cx="400050" cy="528638"/>
          </a:xfrm>
          <a:custGeom>
            <a:avLst/>
            <a:gdLst>
              <a:gd name="T0" fmla="*/ 0 w 424"/>
              <a:gd name="T1" fmla="*/ 552 h 552"/>
              <a:gd name="T2" fmla="*/ 424 w 424"/>
              <a:gd name="T3" fmla="*/ 0 h 552"/>
            </a:gdLst>
            <a:ahLst/>
            <a:cxnLst>
              <a:cxn ang="0">
                <a:pos x="T0" y="T1"/>
              </a:cxn>
              <a:cxn ang="0">
                <a:pos x="T2" y="T3"/>
              </a:cxn>
            </a:cxnLst>
            <a:rect l="0" t="0" r="r" b="b"/>
            <a:pathLst>
              <a:path w="424" h="552">
                <a:moveTo>
                  <a:pt x="0" y="552"/>
                </a:moveTo>
                <a:lnTo>
                  <a:pt x="424"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solidFill>
                <a:sysClr val="windowText" lastClr="000000"/>
              </a:solidFill>
            </a:endParaRPr>
          </a:p>
        </p:txBody>
      </p:sp>
      <p:sp>
        <p:nvSpPr>
          <p:cNvPr id="187402" name="Freeform 10"/>
          <p:cNvSpPr>
            <a:spLocks/>
          </p:cNvSpPr>
          <p:nvPr/>
        </p:nvSpPr>
        <p:spPr bwMode="auto">
          <a:xfrm>
            <a:off x="2814638" y="2217738"/>
            <a:ext cx="571500" cy="342900"/>
          </a:xfrm>
          <a:custGeom>
            <a:avLst/>
            <a:gdLst>
              <a:gd name="T0" fmla="*/ 0 w 605"/>
              <a:gd name="T1" fmla="*/ 359 h 359"/>
              <a:gd name="T2" fmla="*/ 605 w 605"/>
              <a:gd name="T3" fmla="*/ 0 h 359"/>
            </a:gdLst>
            <a:ahLst/>
            <a:cxnLst>
              <a:cxn ang="0">
                <a:pos x="T0" y="T1"/>
              </a:cxn>
              <a:cxn ang="0">
                <a:pos x="T2" y="T3"/>
              </a:cxn>
            </a:cxnLst>
            <a:rect l="0" t="0" r="r" b="b"/>
            <a:pathLst>
              <a:path w="605" h="359">
                <a:moveTo>
                  <a:pt x="0" y="359"/>
                </a:moveTo>
                <a:lnTo>
                  <a:pt x="605"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solidFill>
                <a:sysClr val="windowText" lastClr="000000"/>
              </a:solidFill>
            </a:endParaRPr>
          </a:p>
        </p:txBody>
      </p:sp>
      <p:sp>
        <p:nvSpPr>
          <p:cNvPr id="187403" name="Freeform 11"/>
          <p:cNvSpPr>
            <a:spLocks/>
          </p:cNvSpPr>
          <p:nvPr/>
        </p:nvSpPr>
        <p:spPr bwMode="auto">
          <a:xfrm>
            <a:off x="3032126" y="2292350"/>
            <a:ext cx="85725" cy="65088"/>
          </a:xfrm>
          <a:custGeom>
            <a:avLst/>
            <a:gdLst>
              <a:gd name="T0" fmla="*/ 0 w 91"/>
              <a:gd name="T1" fmla="*/ 0 h 68"/>
              <a:gd name="T2" fmla="*/ 91 w 91"/>
              <a:gd name="T3" fmla="*/ 68 h 68"/>
            </a:gdLst>
            <a:ahLst/>
            <a:cxnLst>
              <a:cxn ang="0">
                <a:pos x="T0" y="T1"/>
              </a:cxn>
              <a:cxn ang="0">
                <a:pos x="T2" y="T3"/>
              </a:cxn>
            </a:cxnLst>
            <a:rect l="0" t="0" r="r" b="b"/>
            <a:pathLst>
              <a:path w="91" h="68">
                <a:moveTo>
                  <a:pt x="0" y="0"/>
                </a:moveTo>
                <a:cubicBezTo>
                  <a:pt x="39" y="8"/>
                  <a:pt x="91" y="18"/>
                  <a:pt x="91" y="68"/>
                </a:cubicBez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solidFill>
                <a:sysClr val="windowText" lastClr="000000"/>
              </a:solidFill>
            </a:endParaRPr>
          </a:p>
        </p:txBody>
      </p:sp>
      <p:sp>
        <p:nvSpPr>
          <p:cNvPr id="187404" name="Text Box 12"/>
          <p:cNvSpPr txBox="1">
            <a:spLocks noChangeArrowheads="1"/>
          </p:cNvSpPr>
          <p:nvPr/>
        </p:nvSpPr>
        <p:spPr bwMode="auto">
          <a:xfrm>
            <a:off x="2855914" y="1484313"/>
            <a:ext cx="1360487" cy="862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r>
              <a:rPr lang="tr-TR" altLang="ko-KR" sz="1200">
                <a:solidFill>
                  <a:schemeClr val="bg1"/>
                </a:solidFill>
                <a:ea typeface="Batang" pitchFamily="18" charset="-127"/>
                <a:sym typeface="Symbol" pitchFamily="18" charset="2"/>
              </a:rPr>
              <a:t></a:t>
            </a:r>
            <a:r>
              <a:rPr lang="tr-TR" altLang="ko-KR" sz="1200">
                <a:solidFill>
                  <a:schemeClr val="bg1"/>
                </a:solidFill>
                <a:ea typeface="Batang" pitchFamily="18" charset="-127"/>
              </a:rPr>
              <a:t> = 2</a:t>
            </a:r>
            <a:r>
              <a:rPr lang="tr-TR" altLang="ko-KR" sz="1200">
                <a:solidFill>
                  <a:schemeClr val="bg1"/>
                </a:solidFill>
                <a:ea typeface="Batang" pitchFamily="18" charset="-127"/>
                <a:sym typeface="Symbol" pitchFamily="18" charset="2"/>
              </a:rPr>
              <a:t></a:t>
            </a:r>
            <a:r>
              <a:rPr lang="tr-TR" altLang="ko-KR" sz="1200">
                <a:solidFill>
                  <a:schemeClr val="bg1"/>
                </a:solidFill>
                <a:ea typeface="Batang" pitchFamily="18" charset="-127"/>
              </a:rPr>
              <a:t>/</a:t>
            </a:r>
            <a:r>
              <a:rPr lang="tr-TR" altLang="ko-KR" sz="1200" i="1">
                <a:solidFill>
                  <a:schemeClr val="bg1"/>
                </a:solidFill>
                <a:ea typeface="Batang" pitchFamily="18" charset="-127"/>
              </a:rPr>
              <a:t>N</a:t>
            </a:r>
            <a:endParaRPr lang="tr-TR" altLang="en-US" sz="1800">
              <a:solidFill>
                <a:schemeClr val="bg1"/>
              </a:solidFill>
              <a:latin typeface="Arial" charset="0"/>
            </a:endParaRPr>
          </a:p>
        </p:txBody>
      </p:sp>
      <p:sp>
        <p:nvSpPr>
          <p:cNvPr id="187405" name="Text Box 13"/>
          <p:cNvSpPr txBox="1">
            <a:spLocks noChangeArrowheads="1"/>
          </p:cNvSpPr>
          <p:nvPr/>
        </p:nvSpPr>
        <p:spPr bwMode="auto">
          <a:xfrm>
            <a:off x="2133600" y="3429000"/>
            <a:ext cx="1600200" cy="51593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r>
              <a:rPr lang="en-US" altLang="ko-KR" b="1">
                <a:solidFill>
                  <a:sysClr val="windowText" lastClr="000000"/>
                </a:solidFill>
                <a:ea typeface="Batang" pitchFamily="18" charset="-127"/>
              </a:rPr>
              <a:t>C20/30/40</a:t>
            </a:r>
            <a:endParaRPr lang="tr-TR" altLang="en-US">
              <a:solidFill>
                <a:sysClr val="windowText" lastClr="000000"/>
              </a:solidFill>
            </a:endParaRPr>
          </a:p>
        </p:txBody>
      </p:sp>
      <p:sp>
        <p:nvSpPr>
          <p:cNvPr id="187406" name="Text Box 14"/>
          <p:cNvSpPr txBox="1">
            <a:spLocks noChangeArrowheads="1"/>
          </p:cNvSpPr>
          <p:nvPr/>
        </p:nvSpPr>
        <p:spPr bwMode="auto">
          <a:xfrm>
            <a:off x="5591944" y="1516064"/>
            <a:ext cx="762000" cy="515937"/>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r>
              <a:rPr lang="en-US" altLang="ko-KR" b="1">
                <a:solidFill>
                  <a:sysClr val="windowText" lastClr="000000"/>
                </a:solidFill>
                <a:ea typeface="Batang" pitchFamily="18" charset="-127"/>
              </a:rPr>
              <a:t>F32</a:t>
            </a:r>
            <a:endParaRPr lang="tr-TR" altLang="en-US">
              <a:solidFill>
                <a:sysClr val="windowText" lastClr="000000"/>
              </a:solidFill>
            </a:endParaRPr>
          </a:p>
        </p:txBody>
      </p:sp>
      <p:sp>
        <p:nvSpPr>
          <p:cNvPr id="187407" name="Text Box 15"/>
          <p:cNvSpPr txBox="1">
            <a:spLocks noChangeArrowheads="1"/>
          </p:cNvSpPr>
          <p:nvPr/>
        </p:nvSpPr>
        <p:spPr bwMode="auto">
          <a:xfrm>
            <a:off x="9019001" y="1556792"/>
            <a:ext cx="685800" cy="51593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r>
              <a:rPr lang="en-US" altLang="ko-KR" b="1">
                <a:solidFill>
                  <a:sysClr val="windowText" lastClr="000000"/>
                </a:solidFill>
                <a:ea typeface="Batang" pitchFamily="18" charset="-127"/>
              </a:rPr>
              <a:t>F41</a:t>
            </a:r>
            <a:endParaRPr lang="tr-TR" altLang="en-US">
              <a:solidFill>
                <a:sysClr val="windowText" lastClr="000000"/>
              </a:solidFill>
            </a:endParaRPr>
          </a:p>
        </p:txBody>
      </p:sp>
      <p:graphicFrame>
        <p:nvGraphicFramePr>
          <p:cNvPr id="187408" name="Object 16"/>
          <p:cNvGraphicFramePr>
            <a:graphicFrameLocks noChangeAspect="1"/>
          </p:cNvGraphicFramePr>
          <p:nvPr/>
        </p:nvGraphicFramePr>
        <p:xfrm>
          <a:off x="4800601" y="3962401"/>
          <a:ext cx="4397375" cy="1674813"/>
        </p:xfrm>
        <a:graphic>
          <a:graphicData uri="http://schemas.openxmlformats.org/presentationml/2006/ole">
            <mc:AlternateContent xmlns:mc="http://schemas.openxmlformats.org/markup-compatibility/2006">
              <mc:Choice xmlns:v="urn:schemas-microsoft-com:vml" Requires="v">
                <p:oleObj name="Image" r:id="rId8" imgW="5930159" imgH="3263492" progId="Photoshop.Image.6">
                  <p:embed/>
                </p:oleObj>
              </mc:Choice>
              <mc:Fallback>
                <p:oleObj name="Image" r:id="rId8" imgW="5930159" imgH="3263492" progId="Photoshop.Image.6">
                  <p:embed/>
                  <p:pic>
                    <p:nvPicPr>
                      <p:cNvPr id="187408"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0601" y="3962401"/>
                        <a:ext cx="4397375" cy="167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7409" name="Text Box 17"/>
          <p:cNvSpPr txBox="1">
            <a:spLocks noChangeArrowheads="1"/>
          </p:cNvSpPr>
          <p:nvPr/>
        </p:nvSpPr>
        <p:spPr bwMode="auto">
          <a:xfrm>
            <a:off x="3648075" y="4941889"/>
            <a:ext cx="762000" cy="515937"/>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r>
              <a:rPr lang="en-US" altLang="ko-KR" b="1">
                <a:solidFill>
                  <a:sysClr val="windowText" lastClr="000000"/>
                </a:solidFill>
                <a:ea typeface="Batang" pitchFamily="18" charset="-127"/>
              </a:rPr>
              <a:t>S21</a:t>
            </a:r>
            <a:endParaRPr lang="tr-TR" altLang="en-US">
              <a:solidFill>
                <a:sysClr val="windowText" lastClr="000000"/>
              </a:solidFill>
            </a:endParaRPr>
          </a:p>
        </p:txBody>
      </p:sp>
      <p:sp>
        <p:nvSpPr>
          <p:cNvPr id="187410" name="Text Box 18"/>
          <p:cNvSpPr txBox="1">
            <a:spLocks noChangeArrowheads="1"/>
          </p:cNvSpPr>
          <p:nvPr/>
        </p:nvSpPr>
        <p:spPr bwMode="auto">
          <a:xfrm>
            <a:off x="9296400" y="4419600"/>
            <a:ext cx="762000" cy="51593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r>
              <a:rPr lang="en-US" altLang="ko-KR" b="1">
                <a:solidFill>
                  <a:sysClr val="windowText" lastClr="000000"/>
                </a:solidFill>
                <a:ea typeface="Batang" pitchFamily="18" charset="-127"/>
              </a:rPr>
              <a:t>T81</a:t>
            </a:r>
            <a:endParaRPr lang="tr-TR" altLang="en-US">
              <a:solidFill>
                <a:sysClr val="windowText" lastClr="000000"/>
              </a:solidFill>
            </a:endParaRPr>
          </a:p>
        </p:txBody>
      </p:sp>
      <p:sp>
        <p:nvSpPr>
          <p:cNvPr id="187411" name="Oval 19"/>
          <p:cNvSpPr>
            <a:spLocks noChangeArrowheads="1"/>
          </p:cNvSpPr>
          <p:nvPr/>
        </p:nvSpPr>
        <p:spPr bwMode="auto">
          <a:xfrm>
            <a:off x="2133600" y="1828800"/>
            <a:ext cx="1371600" cy="1447800"/>
          </a:xfrm>
          <a:prstGeom prst="ellipse">
            <a:avLst/>
          </a:prstGeom>
          <a:noFill/>
          <a:ln w="76200" cap="rnd">
            <a:solidFill>
              <a:srgbClr val="003399"/>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solidFill>
                <a:sysClr val="windowText" lastClr="000000"/>
              </a:solidFill>
            </a:endParaRPr>
          </a:p>
        </p:txBody>
      </p:sp>
      <p:sp>
        <p:nvSpPr>
          <p:cNvPr id="187412" name="Rectangle 20"/>
          <p:cNvSpPr>
            <a:spLocks noChangeArrowheads="1"/>
          </p:cNvSpPr>
          <p:nvPr/>
        </p:nvSpPr>
        <p:spPr bwMode="auto">
          <a:xfrm>
            <a:off x="4800600" y="3657600"/>
            <a:ext cx="5562600" cy="2286000"/>
          </a:xfrm>
          <a:prstGeom prst="rect">
            <a:avLst/>
          </a:prstGeom>
          <a:gradFill rotWithShape="1">
            <a:gsLst>
              <a:gs pos="0">
                <a:schemeClr val="accent1">
                  <a:alpha val="16000"/>
                </a:schemeClr>
              </a:gs>
              <a:gs pos="100000">
                <a:schemeClr val="accent1">
                  <a:gamma/>
                  <a:shade val="46275"/>
                  <a:invGamma/>
                  <a:alpha val="16000"/>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solidFill>
                <a:sysClr val="windowText" lastClr="000000"/>
              </a:solidFill>
            </a:endParaRPr>
          </a:p>
        </p:txBody>
      </p:sp>
    </p:spTree>
    <p:custDataLst>
      <p:tags r:id="rId1"/>
    </p:custDataLst>
    <p:extLst>
      <p:ext uri="{BB962C8B-B14F-4D97-AF65-F5344CB8AC3E}">
        <p14:creationId xmlns:p14="http://schemas.microsoft.com/office/powerpoint/2010/main" val="401120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87396"/>
                                        </p:tgtEl>
                                        <p:attrNameLst>
                                          <p:attrName>style.visibility</p:attrName>
                                        </p:attrNameLst>
                                      </p:cBhvr>
                                      <p:to>
                                        <p:strVal val="visible"/>
                                      </p:to>
                                    </p:set>
                                    <p:anim calcmode="lin" valueType="num">
                                      <p:cBhvr>
                                        <p:cTn id="7" dur="500" fill="hold"/>
                                        <p:tgtEl>
                                          <p:spTgt spid="187396"/>
                                        </p:tgtEl>
                                        <p:attrNameLst>
                                          <p:attrName>ppt_w</p:attrName>
                                        </p:attrNameLst>
                                      </p:cBhvr>
                                      <p:tavLst>
                                        <p:tav tm="0">
                                          <p:val>
                                            <p:fltVal val="0"/>
                                          </p:val>
                                        </p:tav>
                                        <p:tav tm="100000">
                                          <p:val>
                                            <p:strVal val="#ppt_w"/>
                                          </p:val>
                                        </p:tav>
                                      </p:tavLst>
                                    </p:anim>
                                    <p:anim calcmode="lin" valueType="num">
                                      <p:cBhvr>
                                        <p:cTn id="8" dur="500" fill="hold"/>
                                        <p:tgtEl>
                                          <p:spTgt spid="187396"/>
                                        </p:tgtEl>
                                        <p:attrNameLst>
                                          <p:attrName>ppt_h</p:attrName>
                                        </p:attrNameLst>
                                      </p:cBhvr>
                                      <p:tavLst>
                                        <p:tav tm="0">
                                          <p:val>
                                            <p:fltVal val="0"/>
                                          </p:val>
                                        </p:tav>
                                        <p:tav tm="100000">
                                          <p:val>
                                            <p:strVal val="#ppt_h"/>
                                          </p:val>
                                        </p:tav>
                                      </p:tavLst>
                                    </p:anim>
                                    <p:animEffect transition="in" filter="fade">
                                      <p:cBhvr>
                                        <p:cTn id="9" dur="500"/>
                                        <p:tgtEl>
                                          <p:spTgt spid="187396"/>
                                        </p:tgtEl>
                                      </p:cBhvr>
                                    </p:animEffect>
                                  </p:childTnLst>
                                </p:cTn>
                              </p:par>
                              <p:par>
                                <p:cTn id="10" presetID="53" presetClass="entr" presetSubtype="16" fill="hold" nodeType="withEffect">
                                  <p:stCondLst>
                                    <p:cond delay="0"/>
                                  </p:stCondLst>
                                  <p:childTnLst>
                                    <p:set>
                                      <p:cBhvr>
                                        <p:cTn id="11" dur="1" fill="hold">
                                          <p:stCondLst>
                                            <p:cond delay="0"/>
                                          </p:stCondLst>
                                        </p:cTn>
                                        <p:tgtEl>
                                          <p:spTgt spid="187398"/>
                                        </p:tgtEl>
                                        <p:attrNameLst>
                                          <p:attrName>style.visibility</p:attrName>
                                        </p:attrNameLst>
                                      </p:cBhvr>
                                      <p:to>
                                        <p:strVal val="visible"/>
                                      </p:to>
                                    </p:set>
                                    <p:anim calcmode="lin" valueType="num">
                                      <p:cBhvr>
                                        <p:cTn id="12" dur="500" fill="hold"/>
                                        <p:tgtEl>
                                          <p:spTgt spid="187398"/>
                                        </p:tgtEl>
                                        <p:attrNameLst>
                                          <p:attrName>ppt_w</p:attrName>
                                        </p:attrNameLst>
                                      </p:cBhvr>
                                      <p:tavLst>
                                        <p:tav tm="0">
                                          <p:val>
                                            <p:fltVal val="0"/>
                                          </p:val>
                                        </p:tav>
                                        <p:tav tm="100000">
                                          <p:val>
                                            <p:strVal val="#ppt_w"/>
                                          </p:val>
                                        </p:tav>
                                      </p:tavLst>
                                    </p:anim>
                                    <p:anim calcmode="lin" valueType="num">
                                      <p:cBhvr>
                                        <p:cTn id="13" dur="500" fill="hold"/>
                                        <p:tgtEl>
                                          <p:spTgt spid="187398"/>
                                        </p:tgtEl>
                                        <p:attrNameLst>
                                          <p:attrName>ppt_h</p:attrName>
                                        </p:attrNameLst>
                                      </p:cBhvr>
                                      <p:tavLst>
                                        <p:tav tm="0">
                                          <p:val>
                                            <p:fltVal val="0"/>
                                          </p:val>
                                        </p:tav>
                                        <p:tav tm="100000">
                                          <p:val>
                                            <p:strVal val="#ppt_h"/>
                                          </p:val>
                                        </p:tav>
                                      </p:tavLst>
                                    </p:anim>
                                    <p:animEffect transition="in" filter="fade">
                                      <p:cBhvr>
                                        <p:cTn id="14" dur="500"/>
                                        <p:tgtEl>
                                          <p:spTgt spid="187398"/>
                                        </p:tgtEl>
                                      </p:cBhvr>
                                    </p:animEffect>
                                  </p:childTnLst>
                                </p:cTn>
                              </p:par>
                              <p:par>
                                <p:cTn id="15" presetID="53" presetClass="entr" presetSubtype="16" fill="hold" nodeType="withEffect">
                                  <p:stCondLst>
                                    <p:cond delay="0"/>
                                  </p:stCondLst>
                                  <p:childTnLst>
                                    <p:set>
                                      <p:cBhvr>
                                        <p:cTn id="16" dur="1" fill="hold">
                                          <p:stCondLst>
                                            <p:cond delay="0"/>
                                          </p:stCondLst>
                                        </p:cTn>
                                        <p:tgtEl>
                                          <p:spTgt spid="187399"/>
                                        </p:tgtEl>
                                        <p:attrNameLst>
                                          <p:attrName>style.visibility</p:attrName>
                                        </p:attrNameLst>
                                      </p:cBhvr>
                                      <p:to>
                                        <p:strVal val="visible"/>
                                      </p:to>
                                    </p:set>
                                    <p:anim calcmode="lin" valueType="num">
                                      <p:cBhvr>
                                        <p:cTn id="17" dur="500" fill="hold"/>
                                        <p:tgtEl>
                                          <p:spTgt spid="187399"/>
                                        </p:tgtEl>
                                        <p:attrNameLst>
                                          <p:attrName>ppt_w</p:attrName>
                                        </p:attrNameLst>
                                      </p:cBhvr>
                                      <p:tavLst>
                                        <p:tav tm="0">
                                          <p:val>
                                            <p:fltVal val="0"/>
                                          </p:val>
                                        </p:tav>
                                        <p:tav tm="100000">
                                          <p:val>
                                            <p:strVal val="#ppt_w"/>
                                          </p:val>
                                        </p:tav>
                                      </p:tavLst>
                                    </p:anim>
                                    <p:anim calcmode="lin" valueType="num">
                                      <p:cBhvr>
                                        <p:cTn id="18" dur="500" fill="hold"/>
                                        <p:tgtEl>
                                          <p:spTgt spid="187399"/>
                                        </p:tgtEl>
                                        <p:attrNameLst>
                                          <p:attrName>ppt_h</p:attrName>
                                        </p:attrNameLst>
                                      </p:cBhvr>
                                      <p:tavLst>
                                        <p:tav tm="0">
                                          <p:val>
                                            <p:fltVal val="0"/>
                                          </p:val>
                                        </p:tav>
                                        <p:tav tm="100000">
                                          <p:val>
                                            <p:strVal val="#ppt_h"/>
                                          </p:val>
                                        </p:tav>
                                      </p:tavLst>
                                    </p:anim>
                                    <p:animEffect transition="in" filter="fade">
                                      <p:cBhvr>
                                        <p:cTn id="19" dur="500"/>
                                        <p:tgtEl>
                                          <p:spTgt spid="18739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87400"/>
                                        </p:tgtEl>
                                        <p:attrNameLst>
                                          <p:attrName>style.visibility</p:attrName>
                                        </p:attrNameLst>
                                      </p:cBhvr>
                                      <p:to>
                                        <p:strVal val="visible"/>
                                      </p:to>
                                    </p:set>
                                    <p:anim calcmode="lin" valueType="num">
                                      <p:cBhvr>
                                        <p:cTn id="22" dur="500" fill="hold"/>
                                        <p:tgtEl>
                                          <p:spTgt spid="187400"/>
                                        </p:tgtEl>
                                        <p:attrNameLst>
                                          <p:attrName>ppt_w</p:attrName>
                                        </p:attrNameLst>
                                      </p:cBhvr>
                                      <p:tavLst>
                                        <p:tav tm="0">
                                          <p:val>
                                            <p:fltVal val="0"/>
                                          </p:val>
                                        </p:tav>
                                        <p:tav tm="100000">
                                          <p:val>
                                            <p:strVal val="#ppt_w"/>
                                          </p:val>
                                        </p:tav>
                                      </p:tavLst>
                                    </p:anim>
                                    <p:anim calcmode="lin" valueType="num">
                                      <p:cBhvr>
                                        <p:cTn id="23" dur="500" fill="hold"/>
                                        <p:tgtEl>
                                          <p:spTgt spid="187400"/>
                                        </p:tgtEl>
                                        <p:attrNameLst>
                                          <p:attrName>ppt_h</p:attrName>
                                        </p:attrNameLst>
                                      </p:cBhvr>
                                      <p:tavLst>
                                        <p:tav tm="0">
                                          <p:val>
                                            <p:fltVal val="0"/>
                                          </p:val>
                                        </p:tav>
                                        <p:tav tm="100000">
                                          <p:val>
                                            <p:strVal val="#ppt_h"/>
                                          </p:val>
                                        </p:tav>
                                      </p:tavLst>
                                    </p:anim>
                                    <p:animEffect transition="in" filter="fade">
                                      <p:cBhvr>
                                        <p:cTn id="24" dur="500"/>
                                        <p:tgtEl>
                                          <p:spTgt spid="18740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87401"/>
                                        </p:tgtEl>
                                        <p:attrNameLst>
                                          <p:attrName>style.visibility</p:attrName>
                                        </p:attrNameLst>
                                      </p:cBhvr>
                                      <p:to>
                                        <p:strVal val="visible"/>
                                      </p:to>
                                    </p:set>
                                    <p:anim calcmode="lin" valueType="num">
                                      <p:cBhvr>
                                        <p:cTn id="27" dur="500" fill="hold"/>
                                        <p:tgtEl>
                                          <p:spTgt spid="187401"/>
                                        </p:tgtEl>
                                        <p:attrNameLst>
                                          <p:attrName>ppt_w</p:attrName>
                                        </p:attrNameLst>
                                      </p:cBhvr>
                                      <p:tavLst>
                                        <p:tav tm="0">
                                          <p:val>
                                            <p:fltVal val="0"/>
                                          </p:val>
                                        </p:tav>
                                        <p:tav tm="100000">
                                          <p:val>
                                            <p:strVal val="#ppt_w"/>
                                          </p:val>
                                        </p:tav>
                                      </p:tavLst>
                                    </p:anim>
                                    <p:anim calcmode="lin" valueType="num">
                                      <p:cBhvr>
                                        <p:cTn id="28" dur="500" fill="hold"/>
                                        <p:tgtEl>
                                          <p:spTgt spid="187401"/>
                                        </p:tgtEl>
                                        <p:attrNameLst>
                                          <p:attrName>ppt_h</p:attrName>
                                        </p:attrNameLst>
                                      </p:cBhvr>
                                      <p:tavLst>
                                        <p:tav tm="0">
                                          <p:val>
                                            <p:fltVal val="0"/>
                                          </p:val>
                                        </p:tav>
                                        <p:tav tm="100000">
                                          <p:val>
                                            <p:strVal val="#ppt_h"/>
                                          </p:val>
                                        </p:tav>
                                      </p:tavLst>
                                    </p:anim>
                                    <p:animEffect transition="in" filter="fade">
                                      <p:cBhvr>
                                        <p:cTn id="29" dur="500"/>
                                        <p:tgtEl>
                                          <p:spTgt spid="18740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87402"/>
                                        </p:tgtEl>
                                        <p:attrNameLst>
                                          <p:attrName>style.visibility</p:attrName>
                                        </p:attrNameLst>
                                      </p:cBhvr>
                                      <p:to>
                                        <p:strVal val="visible"/>
                                      </p:to>
                                    </p:set>
                                    <p:anim calcmode="lin" valueType="num">
                                      <p:cBhvr>
                                        <p:cTn id="32" dur="500" fill="hold"/>
                                        <p:tgtEl>
                                          <p:spTgt spid="187402"/>
                                        </p:tgtEl>
                                        <p:attrNameLst>
                                          <p:attrName>ppt_w</p:attrName>
                                        </p:attrNameLst>
                                      </p:cBhvr>
                                      <p:tavLst>
                                        <p:tav tm="0">
                                          <p:val>
                                            <p:fltVal val="0"/>
                                          </p:val>
                                        </p:tav>
                                        <p:tav tm="100000">
                                          <p:val>
                                            <p:strVal val="#ppt_w"/>
                                          </p:val>
                                        </p:tav>
                                      </p:tavLst>
                                    </p:anim>
                                    <p:anim calcmode="lin" valueType="num">
                                      <p:cBhvr>
                                        <p:cTn id="33" dur="500" fill="hold"/>
                                        <p:tgtEl>
                                          <p:spTgt spid="187402"/>
                                        </p:tgtEl>
                                        <p:attrNameLst>
                                          <p:attrName>ppt_h</p:attrName>
                                        </p:attrNameLst>
                                      </p:cBhvr>
                                      <p:tavLst>
                                        <p:tav tm="0">
                                          <p:val>
                                            <p:fltVal val="0"/>
                                          </p:val>
                                        </p:tav>
                                        <p:tav tm="100000">
                                          <p:val>
                                            <p:strVal val="#ppt_h"/>
                                          </p:val>
                                        </p:tav>
                                      </p:tavLst>
                                    </p:anim>
                                    <p:animEffect transition="in" filter="fade">
                                      <p:cBhvr>
                                        <p:cTn id="34" dur="500"/>
                                        <p:tgtEl>
                                          <p:spTgt spid="187402"/>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87403"/>
                                        </p:tgtEl>
                                        <p:attrNameLst>
                                          <p:attrName>style.visibility</p:attrName>
                                        </p:attrNameLst>
                                      </p:cBhvr>
                                      <p:to>
                                        <p:strVal val="visible"/>
                                      </p:to>
                                    </p:set>
                                    <p:anim calcmode="lin" valueType="num">
                                      <p:cBhvr>
                                        <p:cTn id="37" dur="500" fill="hold"/>
                                        <p:tgtEl>
                                          <p:spTgt spid="187403"/>
                                        </p:tgtEl>
                                        <p:attrNameLst>
                                          <p:attrName>ppt_w</p:attrName>
                                        </p:attrNameLst>
                                      </p:cBhvr>
                                      <p:tavLst>
                                        <p:tav tm="0">
                                          <p:val>
                                            <p:fltVal val="0"/>
                                          </p:val>
                                        </p:tav>
                                        <p:tav tm="100000">
                                          <p:val>
                                            <p:strVal val="#ppt_w"/>
                                          </p:val>
                                        </p:tav>
                                      </p:tavLst>
                                    </p:anim>
                                    <p:anim calcmode="lin" valueType="num">
                                      <p:cBhvr>
                                        <p:cTn id="38" dur="500" fill="hold"/>
                                        <p:tgtEl>
                                          <p:spTgt spid="187403"/>
                                        </p:tgtEl>
                                        <p:attrNameLst>
                                          <p:attrName>ppt_h</p:attrName>
                                        </p:attrNameLst>
                                      </p:cBhvr>
                                      <p:tavLst>
                                        <p:tav tm="0">
                                          <p:val>
                                            <p:fltVal val="0"/>
                                          </p:val>
                                        </p:tav>
                                        <p:tav tm="100000">
                                          <p:val>
                                            <p:strVal val="#ppt_h"/>
                                          </p:val>
                                        </p:tav>
                                      </p:tavLst>
                                    </p:anim>
                                    <p:animEffect transition="in" filter="fade">
                                      <p:cBhvr>
                                        <p:cTn id="39" dur="500"/>
                                        <p:tgtEl>
                                          <p:spTgt spid="187403"/>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87404"/>
                                        </p:tgtEl>
                                        <p:attrNameLst>
                                          <p:attrName>style.visibility</p:attrName>
                                        </p:attrNameLst>
                                      </p:cBhvr>
                                      <p:to>
                                        <p:strVal val="visible"/>
                                      </p:to>
                                    </p:set>
                                    <p:anim calcmode="lin" valueType="num">
                                      <p:cBhvr>
                                        <p:cTn id="42" dur="500" fill="hold"/>
                                        <p:tgtEl>
                                          <p:spTgt spid="187404"/>
                                        </p:tgtEl>
                                        <p:attrNameLst>
                                          <p:attrName>ppt_w</p:attrName>
                                        </p:attrNameLst>
                                      </p:cBhvr>
                                      <p:tavLst>
                                        <p:tav tm="0">
                                          <p:val>
                                            <p:fltVal val="0"/>
                                          </p:val>
                                        </p:tav>
                                        <p:tav tm="100000">
                                          <p:val>
                                            <p:strVal val="#ppt_w"/>
                                          </p:val>
                                        </p:tav>
                                      </p:tavLst>
                                    </p:anim>
                                    <p:anim calcmode="lin" valueType="num">
                                      <p:cBhvr>
                                        <p:cTn id="43" dur="500" fill="hold"/>
                                        <p:tgtEl>
                                          <p:spTgt spid="187404"/>
                                        </p:tgtEl>
                                        <p:attrNameLst>
                                          <p:attrName>ppt_h</p:attrName>
                                        </p:attrNameLst>
                                      </p:cBhvr>
                                      <p:tavLst>
                                        <p:tav tm="0">
                                          <p:val>
                                            <p:fltVal val="0"/>
                                          </p:val>
                                        </p:tav>
                                        <p:tav tm="100000">
                                          <p:val>
                                            <p:strVal val="#ppt_h"/>
                                          </p:val>
                                        </p:tav>
                                      </p:tavLst>
                                    </p:anim>
                                    <p:animEffect transition="in" filter="fade">
                                      <p:cBhvr>
                                        <p:cTn id="44" dur="500"/>
                                        <p:tgtEl>
                                          <p:spTgt spid="187404"/>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87405"/>
                                        </p:tgtEl>
                                        <p:attrNameLst>
                                          <p:attrName>style.visibility</p:attrName>
                                        </p:attrNameLst>
                                      </p:cBhvr>
                                      <p:to>
                                        <p:strVal val="visible"/>
                                      </p:to>
                                    </p:set>
                                    <p:anim calcmode="lin" valueType="num">
                                      <p:cBhvr>
                                        <p:cTn id="47" dur="500" fill="hold"/>
                                        <p:tgtEl>
                                          <p:spTgt spid="187405"/>
                                        </p:tgtEl>
                                        <p:attrNameLst>
                                          <p:attrName>ppt_w</p:attrName>
                                        </p:attrNameLst>
                                      </p:cBhvr>
                                      <p:tavLst>
                                        <p:tav tm="0">
                                          <p:val>
                                            <p:fltVal val="0"/>
                                          </p:val>
                                        </p:tav>
                                        <p:tav tm="100000">
                                          <p:val>
                                            <p:strVal val="#ppt_w"/>
                                          </p:val>
                                        </p:tav>
                                      </p:tavLst>
                                    </p:anim>
                                    <p:anim calcmode="lin" valueType="num">
                                      <p:cBhvr>
                                        <p:cTn id="48" dur="500" fill="hold"/>
                                        <p:tgtEl>
                                          <p:spTgt spid="187405"/>
                                        </p:tgtEl>
                                        <p:attrNameLst>
                                          <p:attrName>ppt_h</p:attrName>
                                        </p:attrNameLst>
                                      </p:cBhvr>
                                      <p:tavLst>
                                        <p:tav tm="0">
                                          <p:val>
                                            <p:fltVal val="0"/>
                                          </p:val>
                                        </p:tav>
                                        <p:tav tm="100000">
                                          <p:val>
                                            <p:strVal val="#ppt_h"/>
                                          </p:val>
                                        </p:tav>
                                      </p:tavLst>
                                    </p:anim>
                                    <p:animEffect transition="in" filter="fade">
                                      <p:cBhvr>
                                        <p:cTn id="49" dur="500"/>
                                        <p:tgtEl>
                                          <p:spTgt spid="187405"/>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87406"/>
                                        </p:tgtEl>
                                        <p:attrNameLst>
                                          <p:attrName>style.visibility</p:attrName>
                                        </p:attrNameLst>
                                      </p:cBhvr>
                                      <p:to>
                                        <p:strVal val="visible"/>
                                      </p:to>
                                    </p:set>
                                    <p:anim calcmode="lin" valueType="num">
                                      <p:cBhvr>
                                        <p:cTn id="52" dur="500" fill="hold"/>
                                        <p:tgtEl>
                                          <p:spTgt spid="187406"/>
                                        </p:tgtEl>
                                        <p:attrNameLst>
                                          <p:attrName>ppt_w</p:attrName>
                                        </p:attrNameLst>
                                      </p:cBhvr>
                                      <p:tavLst>
                                        <p:tav tm="0">
                                          <p:val>
                                            <p:fltVal val="0"/>
                                          </p:val>
                                        </p:tav>
                                        <p:tav tm="100000">
                                          <p:val>
                                            <p:strVal val="#ppt_w"/>
                                          </p:val>
                                        </p:tav>
                                      </p:tavLst>
                                    </p:anim>
                                    <p:anim calcmode="lin" valueType="num">
                                      <p:cBhvr>
                                        <p:cTn id="53" dur="500" fill="hold"/>
                                        <p:tgtEl>
                                          <p:spTgt spid="187406"/>
                                        </p:tgtEl>
                                        <p:attrNameLst>
                                          <p:attrName>ppt_h</p:attrName>
                                        </p:attrNameLst>
                                      </p:cBhvr>
                                      <p:tavLst>
                                        <p:tav tm="0">
                                          <p:val>
                                            <p:fltVal val="0"/>
                                          </p:val>
                                        </p:tav>
                                        <p:tav tm="100000">
                                          <p:val>
                                            <p:strVal val="#ppt_h"/>
                                          </p:val>
                                        </p:tav>
                                      </p:tavLst>
                                    </p:anim>
                                    <p:animEffect transition="in" filter="fade">
                                      <p:cBhvr>
                                        <p:cTn id="54" dur="500"/>
                                        <p:tgtEl>
                                          <p:spTgt spid="187406"/>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87407"/>
                                        </p:tgtEl>
                                        <p:attrNameLst>
                                          <p:attrName>style.visibility</p:attrName>
                                        </p:attrNameLst>
                                      </p:cBhvr>
                                      <p:to>
                                        <p:strVal val="visible"/>
                                      </p:to>
                                    </p:set>
                                    <p:anim calcmode="lin" valueType="num">
                                      <p:cBhvr>
                                        <p:cTn id="57" dur="500" fill="hold"/>
                                        <p:tgtEl>
                                          <p:spTgt spid="187407"/>
                                        </p:tgtEl>
                                        <p:attrNameLst>
                                          <p:attrName>ppt_w</p:attrName>
                                        </p:attrNameLst>
                                      </p:cBhvr>
                                      <p:tavLst>
                                        <p:tav tm="0">
                                          <p:val>
                                            <p:fltVal val="0"/>
                                          </p:val>
                                        </p:tav>
                                        <p:tav tm="100000">
                                          <p:val>
                                            <p:strVal val="#ppt_w"/>
                                          </p:val>
                                        </p:tav>
                                      </p:tavLst>
                                    </p:anim>
                                    <p:anim calcmode="lin" valueType="num">
                                      <p:cBhvr>
                                        <p:cTn id="58" dur="500" fill="hold"/>
                                        <p:tgtEl>
                                          <p:spTgt spid="187407"/>
                                        </p:tgtEl>
                                        <p:attrNameLst>
                                          <p:attrName>ppt_h</p:attrName>
                                        </p:attrNameLst>
                                      </p:cBhvr>
                                      <p:tavLst>
                                        <p:tav tm="0">
                                          <p:val>
                                            <p:fltVal val="0"/>
                                          </p:val>
                                        </p:tav>
                                        <p:tav tm="100000">
                                          <p:val>
                                            <p:strVal val="#ppt_h"/>
                                          </p:val>
                                        </p:tav>
                                      </p:tavLst>
                                    </p:anim>
                                    <p:animEffect transition="in" filter="fade">
                                      <p:cBhvr>
                                        <p:cTn id="59" dur="500"/>
                                        <p:tgtEl>
                                          <p:spTgt spid="187407"/>
                                        </p:tgtEl>
                                      </p:cBhvr>
                                    </p:animEffect>
                                  </p:childTnLst>
                                </p:cTn>
                              </p:par>
                              <p:par>
                                <p:cTn id="60" presetID="53" presetClass="entr" presetSubtype="16" fill="hold" nodeType="withEffect">
                                  <p:stCondLst>
                                    <p:cond delay="0"/>
                                  </p:stCondLst>
                                  <p:childTnLst>
                                    <p:set>
                                      <p:cBhvr>
                                        <p:cTn id="61" dur="1" fill="hold">
                                          <p:stCondLst>
                                            <p:cond delay="0"/>
                                          </p:stCondLst>
                                        </p:cTn>
                                        <p:tgtEl>
                                          <p:spTgt spid="187408"/>
                                        </p:tgtEl>
                                        <p:attrNameLst>
                                          <p:attrName>style.visibility</p:attrName>
                                        </p:attrNameLst>
                                      </p:cBhvr>
                                      <p:to>
                                        <p:strVal val="visible"/>
                                      </p:to>
                                    </p:set>
                                    <p:anim calcmode="lin" valueType="num">
                                      <p:cBhvr>
                                        <p:cTn id="62" dur="500" fill="hold"/>
                                        <p:tgtEl>
                                          <p:spTgt spid="187408"/>
                                        </p:tgtEl>
                                        <p:attrNameLst>
                                          <p:attrName>ppt_w</p:attrName>
                                        </p:attrNameLst>
                                      </p:cBhvr>
                                      <p:tavLst>
                                        <p:tav tm="0">
                                          <p:val>
                                            <p:fltVal val="0"/>
                                          </p:val>
                                        </p:tav>
                                        <p:tav tm="100000">
                                          <p:val>
                                            <p:strVal val="#ppt_w"/>
                                          </p:val>
                                        </p:tav>
                                      </p:tavLst>
                                    </p:anim>
                                    <p:anim calcmode="lin" valueType="num">
                                      <p:cBhvr>
                                        <p:cTn id="63" dur="500" fill="hold"/>
                                        <p:tgtEl>
                                          <p:spTgt spid="187408"/>
                                        </p:tgtEl>
                                        <p:attrNameLst>
                                          <p:attrName>ppt_h</p:attrName>
                                        </p:attrNameLst>
                                      </p:cBhvr>
                                      <p:tavLst>
                                        <p:tav tm="0">
                                          <p:val>
                                            <p:fltVal val="0"/>
                                          </p:val>
                                        </p:tav>
                                        <p:tav tm="100000">
                                          <p:val>
                                            <p:strVal val="#ppt_h"/>
                                          </p:val>
                                        </p:tav>
                                      </p:tavLst>
                                    </p:anim>
                                    <p:animEffect transition="in" filter="fade">
                                      <p:cBhvr>
                                        <p:cTn id="64" dur="500"/>
                                        <p:tgtEl>
                                          <p:spTgt spid="187408"/>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87409"/>
                                        </p:tgtEl>
                                        <p:attrNameLst>
                                          <p:attrName>style.visibility</p:attrName>
                                        </p:attrNameLst>
                                      </p:cBhvr>
                                      <p:to>
                                        <p:strVal val="visible"/>
                                      </p:to>
                                    </p:set>
                                    <p:anim calcmode="lin" valueType="num">
                                      <p:cBhvr>
                                        <p:cTn id="67" dur="500" fill="hold"/>
                                        <p:tgtEl>
                                          <p:spTgt spid="187409"/>
                                        </p:tgtEl>
                                        <p:attrNameLst>
                                          <p:attrName>ppt_w</p:attrName>
                                        </p:attrNameLst>
                                      </p:cBhvr>
                                      <p:tavLst>
                                        <p:tav tm="0">
                                          <p:val>
                                            <p:fltVal val="0"/>
                                          </p:val>
                                        </p:tav>
                                        <p:tav tm="100000">
                                          <p:val>
                                            <p:strVal val="#ppt_w"/>
                                          </p:val>
                                        </p:tav>
                                      </p:tavLst>
                                    </p:anim>
                                    <p:anim calcmode="lin" valueType="num">
                                      <p:cBhvr>
                                        <p:cTn id="68" dur="500" fill="hold"/>
                                        <p:tgtEl>
                                          <p:spTgt spid="187409"/>
                                        </p:tgtEl>
                                        <p:attrNameLst>
                                          <p:attrName>ppt_h</p:attrName>
                                        </p:attrNameLst>
                                      </p:cBhvr>
                                      <p:tavLst>
                                        <p:tav tm="0">
                                          <p:val>
                                            <p:fltVal val="0"/>
                                          </p:val>
                                        </p:tav>
                                        <p:tav tm="100000">
                                          <p:val>
                                            <p:strVal val="#ppt_h"/>
                                          </p:val>
                                        </p:tav>
                                      </p:tavLst>
                                    </p:anim>
                                    <p:animEffect transition="in" filter="fade">
                                      <p:cBhvr>
                                        <p:cTn id="69" dur="500"/>
                                        <p:tgtEl>
                                          <p:spTgt spid="187409"/>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87410"/>
                                        </p:tgtEl>
                                        <p:attrNameLst>
                                          <p:attrName>style.visibility</p:attrName>
                                        </p:attrNameLst>
                                      </p:cBhvr>
                                      <p:to>
                                        <p:strVal val="visible"/>
                                      </p:to>
                                    </p:set>
                                    <p:anim calcmode="lin" valueType="num">
                                      <p:cBhvr>
                                        <p:cTn id="72" dur="500" fill="hold"/>
                                        <p:tgtEl>
                                          <p:spTgt spid="187410"/>
                                        </p:tgtEl>
                                        <p:attrNameLst>
                                          <p:attrName>ppt_w</p:attrName>
                                        </p:attrNameLst>
                                      </p:cBhvr>
                                      <p:tavLst>
                                        <p:tav tm="0">
                                          <p:val>
                                            <p:fltVal val="0"/>
                                          </p:val>
                                        </p:tav>
                                        <p:tav tm="100000">
                                          <p:val>
                                            <p:strVal val="#ppt_w"/>
                                          </p:val>
                                        </p:tav>
                                      </p:tavLst>
                                    </p:anim>
                                    <p:anim calcmode="lin" valueType="num">
                                      <p:cBhvr>
                                        <p:cTn id="73" dur="500" fill="hold"/>
                                        <p:tgtEl>
                                          <p:spTgt spid="187410"/>
                                        </p:tgtEl>
                                        <p:attrNameLst>
                                          <p:attrName>ppt_h</p:attrName>
                                        </p:attrNameLst>
                                      </p:cBhvr>
                                      <p:tavLst>
                                        <p:tav tm="0">
                                          <p:val>
                                            <p:fltVal val="0"/>
                                          </p:val>
                                        </p:tav>
                                        <p:tav tm="100000">
                                          <p:val>
                                            <p:strVal val="#ppt_h"/>
                                          </p:val>
                                        </p:tav>
                                      </p:tavLst>
                                    </p:anim>
                                    <p:animEffect transition="in" filter="fade">
                                      <p:cBhvr>
                                        <p:cTn id="74" dur="500"/>
                                        <p:tgtEl>
                                          <p:spTgt spid="187410"/>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87411"/>
                                        </p:tgtEl>
                                        <p:attrNameLst>
                                          <p:attrName>style.visibility</p:attrName>
                                        </p:attrNameLst>
                                      </p:cBhvr>
                                      <p:to>
                                        <p:strVal val="visible"/>
                                      </p:to>
                                    </p:set>
                                    <p:anim calcmode="lin" valueType="num">
                                      <p:cBhvr>
                                        <p:cTn id="77" dur="500" fill="hold"/>
                                        <p:tgtEl>
                                          <p:spTgt spid="187411"/>
                                        </p:tgtEl>
                                        <p:attrNameLst>
                                          <p:attrName>ppt_w</p:attrName>
                                        </p:attrNameLst>
                                      </p:cBhvr>
                                      <p:tavLst>
                                        <p:tav tm="0">
                                          <p:val>
                                            <p:fltVal val="0"/>
                                          </p:val>
                                        </p:tav>
                                        <p:tav tm="100000">
                                          <p:val>
                                            <p:strVal val="#ppt_w"/>
                                          </p:val>
                                        </p:tav>
                                      </p:tavLst>
                                    </p:anim>
                                    <p:anim calcmode="lin" valueType="num">
                                      <p:cBhvr>
                                        <p:cTn id="78" dur="500" fill="hold"/>
                                        <p:tgtEl>
                                          <p:spTgt spid="187411"/>
                                        </p:tgtEl>
                                        <p:attrNameLst>
                                          <p:attrName>ppt_h</p:attrName>
                                        </p:attrNameLst>
                                      </p:cBhvr>
                                      <p:tavLst>
                                        <p:tav tm="0">
                                          <p:val>
                                            <p:fltVal val="0"/>
                                          </p:val>
                                        </p:tav>
                                        <p:tav tm="100000">
                                          <p:val>
                                            <p:strVal val="#ppt_h"/>
                                          </p:val>
                                        </p:tav>
                                      </p:tavLst>
                                    </p:anim>
                                    <p:animEffect transition="in" filter="fade">
                                      <p:cBhvr>
                                        <p:cTn id="79" dur="500"/>
                                        <p:tgtEl>
                                          <p:spTgt spid="187411"/>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187412"/>
                                        </p:tgtEl>
                                        <p:attrNameLst>
                                          <p:attrName>style.visibility</p:attrName>
                                        </p:attrNameLst>
                                      </p:cBhvr>
                                      <p:to>
                                        <p:strVal val="visible"/>
                                      </p:to>
                                    </p:set>
                                    <p:anim calcmode="lin" valueType="num">
                                      <p:cBhvr>
                                        <p:cTn id="82" dur="500" fill="hold"/>
                                        <p:tgtEl>
                                          <p:spTgt spid="187412"/>
                                        </p:tgtEl>
                                        <p:attrNameLst>
                                          <p:attrName>ppt_w</p:attrName>
                                        </p:attrNameLst>
                                      </p:cBhvr>
                                      <p:tavLst>
                                        <p:tav tm="0">
                                          <p:val>
                                            <p:fltVal val="0"/>
                                          </p:val>
                                        </p:tav>
                                        <p:tav tm="100000">
                                          <p:val>
                                            <p:strVal val="#ppt_w"/>
                                          </p:val>
                                        </p:tav>
                                      </p:tavLst>
                                    </p:anim>
                                    <p:anim calcmode="lin" valueType="num">
                                      <p:cBhvr>
                                        <p:cTn id="83" dur="500" fill="hold"/>
                                        <p:tgtEl>
                                          <p:spTgt spid="187412"/>
                                        </p:tgtEl>
                                        <p:attrNameLst>
                                          <p:attrName>ppt_h</p:attrName>
                                        </p:attrNameLst>
                                      </p:cBhvr>
                                      <p:tavLst>
                                        <p:tav tm="0">
                                          <p:val>
                                            <p:fltVal val="0"/>
                                          </p:val>
                                        </p:tav>
                                        <p:tav tm="100000">
                                          <p:val>
                                            <p:strVal val="#ppt_h"/>
                                          </p:val>
                                        </p:tav>
                                      </p:tavLst>
                                    </p:anim>
                                    <p:animEffect transition="in" filter="fade">
                                      <p:cBhvr>
                                        <p:cTn id="84" dur="500"/>
                                        <p:tgtEl>
                                          <p:spTgt spid="187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400" grpId="0" animBg="1"/>
      <p:bldP spid="187401" grpId="0" animBg="1"/>
      <p:bldP spid="187402" grpId="0" animBg="1"/>
      <p:bldP spid="187403" grpId="0" animBg="1"/>
      <p:bldP spid="187404" grpId="0"/>
      <p:bldP spid="187405" grpId="0" animBg="1"/>
      <p:bldP spid="187406" grpId="0" animBg="1"/>
      <p:bldP spid="187407" grpId="0" animBg="1"/>
      <p:bldP spid="187409" grpId="0" animBg="1"/>
      <p:bldP spid="187410" grpId="0" animBg="1"/>
      <p:bldP spid="187411" grpId="0" animBg="1"/>
      <p:bldP spid="1874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Results</a:t>
            </a:r>
          </a:p>
        </p:txBody>
      </p:sp>
      <p:sp>
        <p:nvSpPr>
          <p:cNvPr id="4" name="Slide Number Placeholder 3"/>
          <p:cNvSpPr>
            <a:spLocks noGrp="1"/>
          </p:cNvSpPr>
          <p:nvPr>
            <p:ph type="sldNum" sz="quarter" idx="12"/>
          </p:nvPr>
        </p:nvSpPr>
        <p:spPr/>
        <p:txBody>
          <a:bodyPr/>
          <a:lstStyle/>
          <a:p>
            <a:fld id="{BB72550B-508B-4D61-A817-90B00A29C4EF}" type="slidenum">
              <a:rPr lang="tr-TR" altLang="en-US" smtClean="0"/>
              <a:pPr/>
              <a:t>44</a:t>
            </a:fld>
            <a:endParaRPr lang="tr-TR" altLang="en-US"/>
          </a:p>
        </p:txBody>
      </p:sp>
      <p:pic>
        <p:nvPicPr>
          <p:cNvPr id="6" name="Picture 5"/>
          <p:cNvPicPr>
            <a:picLocks noChangeAspect="1"/>
          </p:cNvPicPr>
          <p:nvPr/>
        </p:nvPicPr>
        <p:blipFill>
          <a:blip r:embed="rId4"/>
          <a:stretch>
            <a:fillRect/>
          </a:stretch>
        </p:blipFill>
        <p:spPr>
          <a:xfrm>
            <a:off x="1964595" y="1558674"/>
            <a:ext cx="3376762" cy="4606631"/>
          </a:xfrm>
          <a:prstGeom prst="rect">
            <a:avLst/>
          </a:prstGeom>
        </p:spPr>
      </p:pic>
      <p:sp>
        <p:nvSpPr>
          <p:cNvPr id="7" name="Rectangle 6"/>
          <p:cNvSpPr/>
          <p:nvPr/>
        </p:nvSpPr>
        <p:spPr>
          <a:xfrm>
            <a:off x="1775520" y="6093297"/>
            <a:ext cx="4042792" cy="584775"/>
          </a:xfrm>
          <a:prstGeom prst="rect">
            <a:avLst/>
          </a:prstGeom>
        </p:spPr>
        <p:txBody>
          <a:bodyPr wrap="square">
            <a:spAutoFit/>
          </a:bodyPr>
          <a:lstStyle/>
          <a:p>
            <a:r>
              <a:rPr lang="en-GB" sz="1600" b="0" dirty="0"/>
              <a:t>α: </a:t>
            </a:r>
            <a:r>
              <a:rPr lang="en-GB" sz="1600" b="0" dirty="0" err="1"/>
              <a:t>avr</a:t>
            </a:r>
            <a:r>
              <a:rPr lang="en-GB" sz="1600" b="0" dirty="0"/>
              <a:t>. fitness per generation at each run </a:t>
            </a:r>
          </a:p>
          <a:p>
            <a:r>
              <a:rPr lang="en-GB" sz="1600" b="0" dirty="0"/>
              <a:t>β: best fitness across 100 runs</a:t>
            </a:r>
          </a:p>
        </p:txBody>
      </p:sp>
      <p:sp>
        <p:nvSpPr>
          <p:cNvPr id="9" name="Rectangle 3"/>
          <p:cNvSpPr txBox="1">
            <a:spLocks noChangeArrowheads="1"/>
          </p:cNvSpPr>
          <p:nvPr/>
        </p:nvSpPr>
        <p:spPr bwMode="auto">
          <a:xfrm>
            <a:off x="5447928" y="1634580"/>
            <a:ext cx="4762872"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accent1"/>
              </a:buClr>
              <a:buFont typeface="Wingdings" pitchFamily="2" charset="2"/>
              <a:buChar char="l"/>
              <a:defRPr sz="3200">
                <a:solidFill>
                  <a:schemeClr val="tx1"/>
                </a:solidFill>
                <a:latin typeface="+mn-lt"/>
                <a:ea typeface="+mn-ea"/>
                <a:cs typeface="+mn-cs"/>
              </a:defRPr>
            </a:lvl1pPr>
            <a:lvl2pPr marL="742950" indent="-285750" algn="l" rtl="0" fontAlgn="base">
              <a:spcBef>
                <a:spcPct val="20000"/>
              </a:spcBef>
              <a:spcAft>
                <a:spcPct val="0"/>
              </a:spcAft>
              <a:buClr>
                <a:schemeClr val="accent1"/>
              </a:buClr>
              <a:buFont typeface="Wingdings" pitchFamily="2" charset="2"/>
              <a:buChar char="¡"/>
              <a:defRPr sz="2700">
                <a:solidFill>
                  <a:schemeClr val="tx1"/>
                </a:solidFill>
                <a:latin typeface="+mn-lt"/>
              </a:defRPr>
            </a:lvl2pPr>
            <a:lvl3pPr marL="1143000" indent="-228600" algn="l" rtl="0" fontAlgn="base">
              <a:spcBef>
                <a:spcPct val="20000"/>
              </a:spcBef>
              <a:spcAft>
                <a:spcPct val="0"/>
              </a:spcAft>
              <a:buClr>
                <a:schemeClr val="accent1"/>
              </a:buClr>
              <a:buFont typeface="Wingdings" pitchFamily="2" charset="2"/>
              <a:buChar char="l"/>
              <a:defRPr sz="2300">
                <a:solidFill>
                  <a:schemeClr val="tx1"/>
                </a:solidFill>
                <a:latin typeface="+mn-lt"/>
              </a:defRPr>
            </a:lvl3pPr>
            <a:lvl4pPr marL="1600200" indent="-228600" algn="l" rtl="0" fontAlgn="base">
              <a:spcBef>
                <a:spcPct val="20000"/>
              </a:spcBef>
              <a:spcAft>
                <a:spcPct val="0"/>
              </a:spcAft>
              <a:buClr>
                <a:schemeClr val="accent1"/>
              </a:buClr>
              <a:buChar char="•"/>
              <a:defRPr sz="2000">
                <a:solidFill>
                  <a:schemeClr val="tx1"/>
                </a:solidFill>
                <a:latin typeface="+mn-lt"/>
              </a:defRPr>
            </a:lvl4pPr>
            <a:lvl5pPr marL="20574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9pPr>
          </a:lstStyle>
          <a:p>
            <a:pPr>
              <a:lnSpc>
                <a:spcPct val="80000"/>
              </a:lnSpc>
              <a:buFontTx/>
              <a:buNone/>
            </a:pPr>
            <a:r>
              <a:rPr lang="en-US" altLang="en-US" sz="2100" b="0" kern="0" dirty="0"/>
              <a:t>From the best to worst, considering the average fitness per generation at each run (100 runs)</a:t>
            </a:r>
          </a:p>
          <a:p>
            <a:pPr>
              <a:lnSpc>
                <a:spcPct val="80000"/>
              </a:lnSpc>
            </a:pPr>
            <a:r>
              <a:rPr lang="en-US" altLang="en-US" sz="2100" b="0" kern="0" dirty="0"/>
              <a:t>Crossover: </a:t>
            </a:r>
            <a:r>
              <a:rPr lang="en-US" altLang="en-US" sz="2100" b="1" kern="0" dirty="0"/>
              <a:t>OX1</a:t>
            </a:r>
            <a:r>
              <a:rPr lang="en-US" altLang="en-US" sz="2100" b="0" kern="0" dirty="0"/>
              <a:t>,  2PTX, PMX</a:t>
            </a:r>
          </a:p>
          <a:p>
            <a:pPr>
              <a:lnSpc>
                <a:spcPct val="80000"/>
              </a:lnSpc>
            </a:pPr>
            <a:r>
              <a:rPr lang="en-US" altLang="en-US" sz="2100" b="0" kern="0" dirty="0"/>
              <a:t>Mutation: </a:t>
            </a:r>
            <a:r>
              <a:rPr lang="en-US" altLang="en-US" sz="2100" b="1" kern="0" dirty="0"/>
              <a:t>EM</a:t>
            </a:r>
            <a:r>
              <a:rPr lang="en-US" altLang="en-US" sz="2100" b="0" kern="0" dirty="0"/>
              <a:t>, ISM (ISM is better in finding the best), 1/chromosome-</a:t>
            </a:r>
            <a:r>
              <a:rPr lang="en-US" altLang="en-US" sz="2100" b="0" kern="0" dirty="0" err="1"/>
              <a:t>lenght</a:t>
            </a:r>
            <a:endParaRPr lang="en-US" altLang="en-US" sz="2100" b="0" kern="0" dirty="0"/>
          </a:p>
          <a:p>
            <a:pPr>
              <a:lnSpc>
                <a:spcPct val="80000"/>
              </a:lnSpc>
            </a:pPr>
            <a:r>
              <a:rPr lang="en-US" altLang="en-US" sz="2100" b="0" kern="0" dirty="0"/>
              <a:t>Mate Selection: </a:t>
            </a:r>
            <a:r>
              <a:rPr lang="en-US" altLang="en-US" sz="2100" b="1" kern="0" dirty="0"/>
              <a:t>TOUR </a:t>
            </a:r>
            <a:r>
              <a:rPr lang="en-US" altLang="en-US" sz="2100" b="0" kern="0" dirty="0"/>
              <a:t>(tour-size:2), RANK</a:t>
            </a:r>
          </a:p>
          <a:p>
            <a:pPr>
              <a:lnSpc>
                <a:spcPct val="80000"/>
              </a:lnSpc>
            </a:pPr>
            <a:r>
              <a:rPr lang="en-US" altLang="en-US" sz="2100" b="0" kern="0" dirty="0"/>
              <a:t>Replacement: </a:t>
            </a:r>
            <a:r>
              <a:rPr lang="en-US" altLang="en-US" sz="2100" b="1" kern="0" dirty="0"/>
              <a:t>TG </a:t>
            </a:r>
            <a:r>
              <a:rPr lang="en-US" altLang="en-US" sz="2100" b="0" kern="0" dirty="0"/>
              <a:t>(keep top 2 and replace the rest with offspring, </a:t>
            </a:r>
            <a:r>
              <a:rPr lang="en-US" altLang="en-US" sz="2100" b="0" i="1" kern="0" dirty="0"/>
              <a:t>g</a:t>
            </a:r>
            <a:r>
              <a:rPr lang="en-US" altLang="en-US" sz="2100" b="0" kern="0" dirty="0"/>
              <a:t>=popSize-2),</a:t>
            </a:r>
            <a:r>
              <a:rPr lang="en-US" altLang="en-US" sz="2100" b="1" kern="0" dirty="0"/>
              <a:t> </a:t>
            </a:r>
            <a:r>
              <a:rPr lang="en-US" altLang="en-US" sz="2100" b="0" kern="0" dirty="0"/>
              <a:t>SS (</a:t>
            </a:r>
            <a:r>
              <a:rPr lang="en-GB" sz="2100" b="0" kern="0" dirty="0"/>
              <a:t>replace the worst pair of individuals with the best pair among the offspring and parents</a:t>
            </a:r>
            <a:r>
              <a:rPr lang="en-US" altLang="en-US" sz="2100" b="0" kern="0" dirty="0"/>
              <a:t>)</a:t>
            </a:r>
          </a:p>
          <a:p>
            <a:pPr>
              <a:lnSpc>
                <a:spcPct val="80000"/>
              </a:lnSpc>
            </a:pPr>
            <a:r>
              <a:rPr lang="en-US" altLang="en-US" sz="2100" b="0" kern="0" dirty="0"/>
              <a:t>Approach: </a:t>
            </a:r>
            <a:r>
              <a:rPr lang="en-US" altLang="en-US" sz="2100" b="1" kern="0" dirty="0"/>
              <a:t>MA</a:t>
            </a:r>
            <a:r>
              <a:rPr lang="en-US" altLang="en-US" sz="2100" b="0" kern="0" dirty="0"/>
              <a:t> (Hill Climbing: </a:t>
            </a:r>
            <a:r>
              <a:rPr lang="en-US" altLang="en-US" sz="2100" b="1" kern="0" dirty="0"/>
              <a:t>EM</a:t>
            </a:r>
            <a:r>
              <a:rPr lang="en-US" altLang="en-US" sz="2100" b="0" kern="0" dirty="0"/>
              <a:t>, ISM), GA</a:t>
            </a:r>
            <a:endParaRPr lang="tr-TR" altLang="en-US" sz="2100" b="0" kern="0" dirty="0"/>
          </a:p>
        </p:txBody>
      </p:sp>
    </p:spTree>
    <p:custDataLst>
      <p:tags r:id="rId1"/>
    </p:custDataLst>
    <p:extLst>
      <p:ext uri="{BB962C8B-B14F-4D97-AF65-F5344CB8AC3E}">
        <p14:creationId xmlns:p14="http://schemas.microsoft.com/office/powerpoint/2010/main" val="2424758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fade">
                                      <p:cBhvr>
                                        <p:cTn id="32"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A Classification of </a:t>
            </a:r>
            <a:br>
              <a:rPr lang="en-GB" dirty="0"/>
            </a:br>
            <a:r>
              <a:rPr lang="en-GB" dirty="0"/>
              <a:t>Memetic Algorithms</a:t>
            </a:r>
          </a:p>
        </p:txBody>
      </p:sp>
      <p:sp>
        <p:nvSpPr>
          <p:cNvPr id="5" name="Slide Number Placeholder 4"/>
          <p:cNvSpPr>
            <a:spLocks noGrp="1"/>
          </p:cNvSpPr>
          <p:nvPr>
            <p:ph type="sldNum" sz="quarter" idx="12"/>
          </p:nvPr>
        </p:nvSpPr>
        <p:spPr>
          <a:xfrm>
            <a:off x="7680176" y="6222995"/>
            <a:ext cx="2133600" cy="457200"/>
          </a:xfrm>
        </p:spPr>
        <p:txBody>
          <a:bodyPr/>
          <a:lstStyle/>
          <a:p>
            <a:fld id="{BB72550B-508B-4D61-A817-90B00A29C4EF}" type="slidenum">
              <a:rPr lang="tr-TR" altLang="en-US" smtClean="0"/>
              <a:pPr/>
              <a:t>45</a:t>
            </a:fld>
            <a:endParaRPr lang="tr-TR" altLang="en-US"/>
          </a:p>
        </p:txBody>
      </p:sp>
      <p:sp>
        <p:nvSpPr>
          <p:cNvPr id="6" name="Rectangle 5"/>
          <p:cNvSpPr/>
          <p:nvPr/>
        </p:nvSpPr>
        <p:spPr>
          <a:xfrm>
            <a:off x="2207568" y="5484331"/>
            <a:ext cx="8136904" cy="738664"/>
          </a:xfrm>
          <a:prstGeom prst="rect">
            <a:avLst/>
          </a:prstGeom>
        </p:spPr>
        <p:txBody>
          <a:bodyPr wrap="square">
            <a:spAutoFit/>
          </a:bodyPr>
          <a:lstStyle/>
          <a:p>
            <a:r>
              <a:rPr lang="en-GB" sz="1400" dirty="0"/>
              <a:t>Yew-Soon Ong; </a:t>
            </a:r>
            <a:r>
              <a:rPr lang="en-GB" sz="1400" dirty="0" err="1"/>
              <a:t>Meng-Hiot</a:t>
            </a:r>
            <a:r>
              <a:rPr lang="en-GB" sz="1400" dirty="0"/>
              <a:t> Lim; Ning Zhu; </a:t>
            </a:r>
            <a:r>
              <a:rPr lang="en-GB" sz="1400" dirty="0" err="1"/>
              <a:t>Kok</a:t>
            </a:r>
            <a:r>
              <a:rPr lang="en-GB" sz="1400" dirty="0"/>
              <a:t>-Wai Wong, "Classification of adaptive memetic algorithms: a comparative study," </a:t>
            </a:r>
            <a:r>
              <a:rPr lang="en-GB" sz="1400" i="1" dirty="0"/>
              <a:t>Systems, Man, and Cybernetics, Part B: Cybernetics, IEEE Transactions on</a:t>
            </a:r>
            <a:r>
              <a:rPr lang="en-GB" sz="1400" dirty="0"/>
              <a:t> , vol.36, no.1, pp.141,152, Feb. 2006 [</a:t>
            </a:r>
            <a:r>
              <a:rPr lang="en-GB" sz="1400" dirty="0">
                <a:hlinkClick r:id="rId2"/>
              </a:rPr>
              <a:t>PDF</a:t>
            </a:r>
            <a:r>
              <a:rPr lang="en-GB" sz="1400" dirty="0"/>
              <a:t>]</a:t>
            </a:r>
          </a:p>
        </p:txBody>
      </p:sp>
      <p:pic>
        <p:nvPicPr>
          <p:cNvPr id="3" name="Picture 2"/>
          <p:cNvPicPr>
            <a:picLocks noChangeAspect="1"/>
          </p:cNvPicPr>
          <p:nvPr/>
        </p:nvPicPr>
        <p:blipFill>
          <a:blip r:embed="rId3"/>
          <a:stretch>
            <a:fillRect/>
          </a:stretch>
        </p:blipFill>
        <p:spPr>
          <a:xfrm>
            <a:off x="3116808" y="1901569"/>
            <a:ext cx="5616624" cy="3349268"/>
          </a:xfrm>
          <a:prstGeom prst="rect">
            <a:avLst/>
          </a:prstGeom>
        </p:spPr>
      </p:pic>
      <p:sp>
        <p:nvSpPr>
          <p:cNvPr id="4" name="Rectangle 3"/>
          <p:cNvSpPr/>
          <p:nvPr/>
        </p:nvSpPr>
        <p:spPr>
          <a:xfrm>
            <a:off x="3215680" y="3789040"/>
            <a:ext cx="648072"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3719736" y="2665285"/>
            <a:ext cx="648072" cy="360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3503712" y="4850501"/>
            <a:ext cx="1008112" cy="2479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6023992" y="4653136"/>
            <a:ext cx="1656184" cy="7200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19007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CED91-8E04-2E81-DD68-84F2D42CFE8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3EB1BF2-49FB-A2BA-CB2A-3CDA6F7526A0}"/>
              </a:ext>
            </a:extLst>
          </p:cNvPr>
          <p:cNvSpPr>
            <a:spLocks noGrp="1"/>
          </p:cNvSpPr>
          <p:nvPr>
            <p:ph type="ctrTitle"/>
          </p:nvPr>
        </p:nvSpPr>
        <p:spPr>
          <a:xfrm>
            <a:off x="427089" y="2013677"/>
            <a:ext cx="10466198" cy="874948"/>
          </a:xfrm>
        </p:spPr>
        <p:txBody>
          <a:bodyPr>
            <a:normAutofit fontScale="90000"/>
          </a:bodyPr>
          <a:lstStyle/>
          <a:p>
            <a:r>
              <a:rPr lang="en-GB" dirty="0" err="1"/>
              <a:t>Multimeme</a:t>
            </a:r>
            <a:r>
              <a:rPr lang="en-GB" dirty="0"/>
              <a:t> </a:t>
            </a:r>
            <a:br>
              <a:rPr lang="en-GB" dirty="0"/>
            </a:br>
            <a:r>
              <a:rPr lang="en-GB" dirty="0"/>
              <a:t>Memetic Algorithms</a:t>
            </a:r>
            <a:endParaRPr lang="en-GB" noProof="0" dirty="0"/>
          </a:p>
        </p:txBody>
      </p:sp>
      <p:sp>
        <p:nvSpPr>
          <p:cNvPr id="3" name="Subtitle 2">
            <a:extLst>
              <a:ext uri="{FF2B5EF4-FFF2-40B4-BE49-F238E27FC236}">
                <a16:creationId xmlns:a16="http://schemas.microsoft.com/office/drawing/2014/main" id="{FCF818B2-4FF3-5B35-B02C-6D11D932C483}"/>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1166023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tr-TR" altLang="en-US" dirty="0"/>
              <a:t>Self Adaptation for </a:t>
            </a:r>
            <a:r>
              <a:rPr lang="en-GB" altLang="en-US" dirty="0"/>
              <a:t>Genetic </a:t>
            </a:r>
            <a:r>
              <a:rPr lang="tr-TR" altLang="en-US" dirty="0"/>
              <a:t>Operators</a:t>
            </a:r>
            <a:endParaRPr lang="en-US" altLang="en-US" dirty="0"/>
          </a:p>
        </p:txBody>
      </p:sp>
      <p:sp>
        <p:nvSpPr>
          <p:cNvPr id="79875" name="Rectangle 3"/>
          <p:cNvSpPr>
            <a:spLocks noGrp="1" noChangeArrowheads="1"/>
          </p:cNvSpPr>
          <p:nvPr>
            <p:ph type="body" idx="1"/>
          </p:nvPr>
        </p:nvSpPr>
        <p:spPr/>
        <p:txBody>
          <a:bodyPr/>
          <a:lstStyle/>
          <a:p>
            <a:r>
              <a:rPr lang="en-GB" altLang="en-US" sz="2400" u="sng" dirty="0"/>
              <a:t>Self Adaptation</a:t>
            </a:r>
            <a:r>
              <a:rPr lang="en-GB" altLang="en-US" sz="2400" dirty="0"/>
              <a:t>: Deciding which operators and settings to use on the fly whenever needed receiving feedback during the evolutionary search process</a:t>
            </a:r>
          </a:p>
          <a:p>
            <a:endParaRPr lang="en-GB" altLang="en-US" sz="2400" dirty="0"/>
          </a:p>
          <a:p>
            <a:r>
              <a:rPr lang="tr-TR" altLang="en-US" sz="2400" dirty="0"/>
              <a:t>Davis used varying probabilities of applying different operators</a:t>
            </a:r>
          </a:p>
          <a:p>
            <a:pPr lvl="1"/>
            <a:r>
              <a:rPr lang="tr-TR" altLang="en-US" sz="2000" dirty="0"/>
              <a:t>Uses the performance of the operator within the last few generations to update probabilities</a:t>
            </a:r>
          </a:p>
          <a:p>
            <a:endParaRPr lang="tr-TR" altLang="en-US" sz="2400" dirty="0"/>
          </a:p>
          <a:p>
            <a:r>
              <a:rPr lang="tr-TR" altLang="en-US" sz="2400" dirty="0" err="1"/>
              <a:t>Grefenstette</a:t>
            </a:r>
            <a:r>
              <a:rPr lang="tr-TR" altLang="en-US" sz="2400" dirty="0"/>
              <a:t>, Kakuza, Friesleben, Hartfelder used subpopulations, each having different set of parameters and operators</a:t>
            </a:r>
          </a:p>
          <a:p>
            <a:endParaRPr lang="tr-TR" altLang="en-US" sz="2400" dirty="0"/>
          </a:p>
          <a:p>
            <a:r>
              <a:rPr lang="tr-TR" altLang="en-US" sz="2400" dirty="0" err="1"/>
              <a:t>Spears</a:t>
            </a:r>
            <a:r>
              <a:rPr lang="tr-TR" altLang="en-US" sz="2400" dirty="0"/>
              <a:t> used an additional bit to decide whether apply 2-PTX or UX to an individual (co-evolution)</a:t>
            </a:r>
          </a:p>
          <a:p>
            <a:endParaRPr lang="en-US" altLang="en-US" sz="2400" dirty="0"/>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47</a:t>
            </a:fld>
            <a:endParaRPr lang="tr-TR" altLang="en-US"/>
          </a:p>
        </p:txBody>
      </p:sp>
    </p:spTree>
    <p:custDataLst>
      <p:tags r:id="rId1"/>
    </p:custDataLst>
    <p:extLst>
      <p:ext uri="{BB962C8B-B14F-4D97-AF65-F5344CB8AC3E}">
        <p14:creationId xmlns:p14="http://schemas.microsoft.com/office/powerpoint/2010/main" val="112676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Effect transition="in" filter="fade">
                                      <p:cBhvr>
                                        <p:cTn id="7" dur="500"/>
                                        <p:tgtEl>
                                          <p:spTgt spid="798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9875">
                                            <p:txEl>
                                              <p:pRg st="2" end="2"/>
                                            </p:txEl>
                                          </p:spTgt>
                                        </p:tgtEl>
                                        <p:attrNameLst>
                                          <p:attrName>style.visibility</p:attrName>
                                        </p:attrNameLst>
                                      </p:cBhvr>
                                      <p:to>
                                        <p:strVal val="visible"/>
                                      </p:to>
                                    </p:set>
                                    <p:animEffect transition="in" filter="fade">
                                      <p:cBhvr>
                                        <p:cTn id="12" dur="500"/>
                                        <p:tgtEl>
                                          <p:spTgt spid="79875">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9875">
                                            <p:txEl>
                                              <p:pRg st="3" end="3"/>
                                            </p:txEl>
                                          </p:spTgt>
                                        </p:tgtEl>
                                        <p:attrNameLst>
                                          <p:attrName>style.visibility</p:attrName>
                                        </p:attrNameLst>
                                      </p:cBhvr>
                                      <p:to>
                                        <p:strVal val="visible"/>
                                      </p:to>
                                    </p:set>
                                    <p:animEffect transition="in" filter="fade">
                                      <p:cBhvr>
                                        <p:cTn id="15" dur="500"/>
                                        <p:tgtEl>
                                          <p:spTgt spid="79875">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9875">
                                            <p:txEl>
                                              <p:pRg st="5" end="5"/>
                                            </p:txEl>
                                          </p:spTgt>
                                        </p:tgtEl>
                                        <p:attrNameLst>
                                          <p:attrName>style.visibility</p:attrName>
                                        </p:attrNameLst>
                                      </p:cBhvr>
                                      <p:to>
                                        <p:strVal val="visible"/>
                                      </p:to>
                                    </p:set>
                                    <p:animEffect transition="in" filter="fade">
                                      <p:cBhvr>
                                        <p:cTn id="20" dur="500"/>
                                        <p:tgtEl>
                                          <p:spTgt spid="79875">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9875">
                                            <p:txEl>
                                              <p:pRg st="7" end="7"/>
                                            </p:txEl>
                                          </p:spTgt>
                                        </p:tgtEl>
                                        <p:attrNameLst>
                                          <p:attrName>style.visibility</p:attrName>
                                        </p:attrNameLst>
                                      </p:cBhvr>
                                      <p:to>
                                        <p:strVal val="visible"/>
                                      </p:to>
                                    </p:set>
                                    <p:animEffect transition="in" filter="fade">
                                      <p:cBhvr>
                                        <p:cTn id="25" dur="500"/>
                                        <p:tgtEl>
                                          <p:spTgt spid="7987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tr-TR" altLang="en-US"/>
              <a:t>Multimeme Memetic Algorithms</a:t>
            </a:r>
            <a:endParaRPr lang="en-US" altLang="en-US"/>
          </a:p>
        </p:txBody>
      </p:sp>
      <p:sp>
        <p:nvSpPr>
          <p:cNvPr id="81923" name="Rectangle 3"/>
          <p:cNvSpPr>
            <a:spLocks noGrp="1" noChangeArrowheads="1"/>
          </p:cNvSpPr>
          <p:nvPr>
            <p:ph type="body" idx="1"/>
          </p:nvPr>
        </p:nvSpPr>
        <p:spPr/>
        <p:txBody>
          <a:bodyPr/>
          <a:lstStyle/>
          <a:p>
            <a:r>
              <a:rPr lang="tr-TR" altLang="en-US" sz="2800" dirty="0"/>
              <a:t>Introduce memetic material for each individual</a:t>
            </a:r>
          </a:p>
          <a:p>
            <a:pPr lvl="1"/>
            <a:r>
              <a:rPr lang="tr-TR" altLang="en-US" sz="2300" b="1" dirty="0"/>
              <a:t>Co-evolve</a:t>
            </a:r>
            <a:r>
              <a:rPr lang="tr-TR" altLang="en-US" sz="2300" dirty="0"/>
              <a:t> genetic and memetic material</a:t>
            </a:r>
          </a:p>
          <a:p>
            <a:r>
              <a:rPr lang="tr-TR" altLang="en-US" sz="2800" dirty="0"/>
              <a:t>Krasnogor formali</a:t>
            </a:r>
            <a:r>
              <a:rPr lang="en-GB" altLang="en-US" sz="2800" dirty="0"/>
              <a:t>s</a:t>
            </a:r>
            <a:r>
              <a:rPr lang="tr-TR" altLang="en-US" sz="2800" dirty="0"/>
              <a:t>ed in his </a:t>
            </a:r>
            <a:r>
              <a:rPr lang="en-GB" altLang="en-US" sz="2800" dirty="0"/>
              <a:t>PhD </a:t>
            </a:r>
            <a:r>
              <a:rPr lang="tr-TR" altLang="en-US" sz="2800" dirty="0"/>
              <a:t>thesis</a:t>
            </a:r>
            <a:r>
              <a:rPr lang="en-GB" altLang="en-US" sz="2800" dirty="0"/>
              <a:t>*</a:t>
            </a:r>
            <a:r>
              <a:rPr lang="tr-TR" altLang="en-US" sz="2800" dirty="0"/>
              <a:t>.</a:t>
            </a:r>
          </a:p>
          <a:p>
            <a:r>
              <a:rPr lang="tr-TR" altLang="en-US" sz="2800" dirty="0"/>
              <a:t>A meme encodes </a:t>
            </a:r>
            <a:r>
              <a:rPr lang="en-US" altLang="en-US" sz="2800" dirty="0"/>
              <a:t>how</a:t>
            </a:r>
            <a:r>
              <a:rPr lang="tr-TR" altLang="en-US" sz="2800" dirty="0"/>
              <a:t> to apply</a:t>
            </a:r>
            <a:r>
              <a:rPr lang="en-US" altLang="en-US" sz="2800" dirty="0"/>
              <a:t> an operator (which one to apply, max. no. of iterations, acceptance criteria)</a:t>
            </a:r>
            <a:r>
              <a:rPr lang="tr-TR" altLang="en-US" sz="2800" dirty="0"/>
              <a:t>, when to apply, where to apply, </a:t>
            </a:r>
            <a:r>
              <a:rPr lang="en-US" altLang="en-US" sz="2800" dirty="0"/>
              <a:t>and how frequent</a:t>
            </a:r>
            <a:r>
              <a:rPr lang="tr-TR" altLang="en-US" sz="2800" dirty="0"/>
              <a:t> to apply</a:t>
            </a:r>
          </a:p>
          <a:p>
            <a:r>
              <a:rPr lang="tr-TR" altLang="en-US" sz="2800" dirty="0"/>
              <a:t>Meme of each operator can be combined under a </a:t>
            </a:r>
            <a:r>
              <a:rPr lang="tr-TR" altLang="en-US" sz="2800" i="1" dirty="0"/>
              <a:t>memeplex</a:t>
            </a:r>
            <a:endParaRPr lang="en-US" altLang="en-US" sz="2800" i="1" dirty="0"/>
          </a:p>
        </p:txBody>
      </p:sp>
      <p:sp>
        <p:nvSpPr>
          <p:cNvPr id="2" name="Rectangle 1"/>
          <p:cNvSpPr/>
          <p:nvPr/>
        </p:nvSpPr>
        <p:spPr>
          <a:xfrm>
            <a:off x="2053917" y="5419471"/>
            <a:ext cx="7992888" cy="646331"/>
          </a:xfrm>
          <a:prstGeom prst="rect">
            <a:avLst/>
          </a:prstGeom>
        </p:spPr>
        <p:txBody>
          <a:bodyPr wrap="square">
            <a:spAutoFit/>
          </a:bodyPr>
          <a:lstStyle/>
          <a:p>
            <a:r>
              <a:rPr lang="en-GB" b="0" dirty="0"/>
              <a:t>*</a:t>
            </a:r>
            <a:r>
              <a:rPr lang="en-GB" b="0" dirty="0" err="1"/>
              <a:t>Krasnogor</a:t>
            </a:r>
            <a:r>
              <a:rPr lang="en-GB" b="0" dirty="0"/>
              <a:t> N (2002) Studies on the theory and design space of memetic algorithms, PhD Thesis, University of the West of England, Bristol, UK</a:t>
            </a:r>
          </a:p>
        </p:txBody>
      </p:sp>
      <p:sp>
        <p:nvSpPr>
          <p:cNvPr id="4" name="Slide Number Placeholder 3"/>
          <p:cNvSpPr>
            <a:spLocks noGrp="1"/>
          </p:cNvSpPr>
          <p:nvPr>
            <p:ph type="sldNum" sz="quarter" idx="12"/>
          </p:nvPr>
        </p:nvSpPr>
        <p:spPr/>
        <p:txBody>
          <a:bodyPr/>
          <a:lstStyle/>
          <a:p>
            <a:fld id="{BB72550B-508B-4D61-A817-90B00A29C4EF}" type="slidenum">
              <a:rPr lang="tr-TR" altLang="en-US" smtClean="0"/>
              <a:pPr/>
              <a:t>48</a:t>
            </a:fld>
            <a:endParaRPr lang="tr-TR" altLang="en-US" dirty="0"/>
          </a:p>
        </p:txBody>
      </p:sp>
    </p:spTree>
    <p:custDataLst>
      <p:tags r:id="rId1"/>
    </p:custDataLst>
    <p:extLst>
      <p:ext uri="{BB962C8B-B14F-4D97-AF65-F5344CB8AC3E}">
        <p14:creationId xmlns:p14="http://schemas.microsoft.com/office/powerpoint/2010/main" val="3633369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fade">
                                      <p:cBhvr>
                                        <p:cTn id="7" dur="500"/>
                                        <p:tgtEl>
                                          <p:spTgt spid="8192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1923">
                                            <p:txEl>
                                              <p:pRg st="1" end="1"/>
                                            </p:txEl>
                                          </p:spTgt>
                                        </p:tgtEl>
                                        <p:attrNameLst>
                                          <p:attrName>style.visibility</p:attrName>
                                        </p:attrNameLst>
                                      </p:cBhvr>
                                      <p:to>
                                        <p:strVal val="visible"/>
                                      </p:to>
                                    </p:set>
                                    <p:animEffect transition="in" filter="fade">
                                      <p:cBhvr>
                                        <p:cTn id="10" dur="500"/>
                                        <p:tgtEl>
                                          <p:spTgt spid="8192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1923">
                                            <p:txEl>
                                              <p:pRg st="2" end="2"/>
                                            </p:txEl>
                                          </p:spTgt>
                                        </p:tgtEl>
                                        <p:attrNameLst>
                                          <p:attrName>style.visibility</p:attrName>
                                        </p:attrNameLst>
                                      </p:cBhvr>
                                      <p:to>
                                        <p:strVal val="visible"/>
                                      </p:to>
                                    </p:set>
                                    <p:animEffect transition="in" filter="fade">
                                      <p:cBhvr>
                                        <p:cTn id="15" dur="500"/>
                                        <p:tgtEl>
                                          <p:spTgt spid="8192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1923">
                                            <p:txEl>
                                              <p:pRg st="3" end="3"/>
                                            </p:txEl>
                                          </p:spTgt>
                                        </p:tgtEl>
                                        <p:attrNameLst>
                                          <p:attrName>style.visibility</p:attrName>
                                        </p:attrNameLst>
                                      </p:cBhvr>
                                      <p:to>
                                        <p:strVal val="visible"/>
                                      </p:to>
                                    </p:set>
                                    <p:animEffect transition="in" filter="fade">
                                      <p:cBhvr>
                                        <p:cTn id="23" dur="500"/>
                                        <p:tgtEl>
                                          <p:spTgt spid="8192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1923">
                                            <p:txEl>
                                              <p:pRg st="4" end="4"/>
                                            </p:txEl>
                                          </p:spTgt>
                                        </p:tgtEl>
                                        <p:attrNameLst>
                                          <p:attrName>style.visibility</p:attrName>
                                        </p:attrNameLst>
                                      </p:cBhvr>
                                      <p:to>
                                        <p:strVal val="visible"/>
                                      </p:to>
                                    </p:set>
                                    <p:animEffect transition="in" filter="fade">
                                      <p:cBhvr>
                                        <p:cTn id="28" dur="500"/>
                                        <p:tgtEl>
                                          <p:spTgt spid="819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uiExpand="1" build="p"/>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altLang="en-US" sz="4000" dirty="0"/>
              <a:t>Grammar for a </a:t>
            </a:r>
            <a:r>
              <a:rPr lang="en-US" altLang="en-US" sz="4000" dirty="0" err="1"/>
              <a:t>Memeplex</a:t>
            </a:r>
            <a:r>
              <a:rPr lang="en-US" altLang="en-US" sz="4000" dirty="0"/>
              <a:t>– </a:t>
            </a:r>
            <a:br>
              <a:rPr lang="en-US" altLang="en-US" sz="4000" dirty="0"/>
            </a:br>
            <a:r>
              <a:rPr lang="en-US" altLang="en-US" sz="4000" dirty="0"/>
              <a:t>Compound of Memes</a:t>
            </a:r>
            <a:endParaRPr lang="en-GB" dirty="0"/>
          </a:p>
        </p:txBody>
      </p:sp>
      <p:sp>
        <p:nvSpPr>
          <p:cNvPr id="3" name="Content Placeholder 2"/>
          <p:cNvSpPr>
            <a:spLocks noGrp="1"/>
          </p:cNvSpPr>
          <p:nvPr>
            <p:ph idx="1"/>
          </p:nvPr>
        </p:nvSpPr>
        <p:spPr>
          <a:xfrm>
            <a:off x="1981200" y="1719263"/>
            <a:ext cx="8363272" cy="4411662"/>
          </a:xfrm>
        </p:spPr>
        <p:txBody>
          <a:bodyPr/>
          <a:lstStyle/>
          <a:p>
            <a:r>
              <a:rPr lang="en-GB" sz="1800" dirty="0" err="1"/>
              <a:t>Memeplex</a:t>
            </a:r>
            <a:r>
              <a:rPr lang="en-GB" sz="1800" dirty="0"/>
              <a:t> = &lt;</a:t>
            </a:r>
            <a:r>
              <a:rPr lang="en-GB" sz="1800" i="1" dirty="0"/>
              <a:t>Meme</a:t>
            </a:r>
            <a:r>
              <a:rPr lang="en-GB" sz="1800" dirty="0"/>
              <a:t>&gt;;&lt;</a:t>
            </a:r>
            <a:r>
              <a:rPr lang="en-GB" sz="1800" i="1" dirty="0"/>
              <a:t>Meme&gt;</a:t>
            </a:r>
            <a:r>
              <a:rPr lang="en-GB" sz="1800" dirty="0"/>
              <a:t>:</a:t>
            </a:r>
            <a:r>
              <a:rPr lang="en-GB" sz="1800" i="1" dirty="0"/>
              <a:t>&lt;</a:t>
            </a:r>
            <a:r>
              <a:rPr lang="en-GB" sz="1800" i="1" dirty="0" err="1"/>
              <a:t>Memeplex</a:t>
            </a:r>
            <a:r>
              <a:rPr lang="en-GB" sz="1800" i="1" dirty="0"/>
              <a:t>&gt;</a:t>
            </a:r>
          </a:p>
          <a:p>
            <a:r>
              <a:rPr lang="en-GB" sz="1800" dirty="0"/>
              <a:t>Meme = (</a:t>
            </a:r>
            <a:r>
              <a:rPr lang="en-GB" sz="1800" i="1" dirty="0"/>
              <a:t>&lt; Where &gt;, &lt; When &gt;, &lt; How &gt;, &lt; Frequency &gt;</a:t>
            </a:r>
            <a:r>
              <a:rPr lang="en-GB" sz="1800" dirty="0"/>
              <a:t>)</a:t>
            </a:r>
          </a:p>
          <a:p>
            <a:r>
              <a:rPr lang="en-GB" sz="1800" dirty="0"/>
              <a:t>Where = &lt; </a:t>
            </a:r>
            <a:r>
              <a:rPr lang="en-GB" sz="1800" i="1" dirty="0"/>
              <a:t>Location</a:t>
            </a:r>
            <a:r>
              <a:rPr lang="en-GB" sz="1800" dirty="0"/>
              <a:t> &gt; </a:t>
            </a:r>
            <a:r>
              <a:rPr lang="en-GB" sz="1800" i="1" dirty="0"/>
              <a:t>Crossover </a:t>
            </a:r>
            <a:r>
              <a:rPr lang="en-GB" sz="1800" dirty="0"/>
              <a:t>; &lt; </a:t>
            </a:r>
            <a:r>
              <a:rPr lang="en-GB" sz="1800" i="1" dirty="0"/>
              <a:t>Location</a:t>
            </a:r>
            <a:r>
              <a:rPr lang="en-GB" sz="1800" dirty="0"/>
              <a:t> &gt; </a:t>
            </a:r>
            <a:r>
              <a:rPr lang="en-GB" sz="1800" i="1" dirty="0"/>
              <a:t>Mutation</a:t>
            </a:r>
            <a:r>
              <a:rPr lang="en-GB" sz="1800" dirty="0"/>
              <a:t>; </a:t>
            </a:r>
          </a:p>
          <a:p>
            <a:r>
              <a:rPr lang="en-GB" sz="1800" dirty="0"/>
              <a:t>Location = </a:t>
            </a:r>
            <a:r>
              <a:rPr lang="en-GB" sz="1800" i="1" dirty="0"/>
              <a:t>After </a:t>
            </a:r>
            <a:r>
              <a:rPr lang="en-GB" sz="1800" dirty="0"/>
              <a:t>; </a:t>
            </a:r>
            <a:r>
              <a:rPr lang="en-GB" sz="1800" i="1" dirty="0"/>
              <a:t>Before</a:t>
            </a:r>
            <a:r>
              <a:rPr lang="en-GB" sz="1800" dirty="0"/>
              <a:t> </a:t>
            </a:r>
          </a:p>
          <a:p>
            <a:r>
              <a:rPr lang="en-GB" sz="1800" dirty="0"/>
              <a:t>When = &lt; </a:t>
            </a:r>
            <a:r>
              <a:rPr lang="en-GB" sz="1800" dirty="0" err="1"/>
              <a:t>BooleanCondition</a:t>
            </a:r>
            <a:r>
              <a:rPr lang="en-GB" sz="1800" dirty="0"/>
              <a:t> &gt;</a:t>
            </a:r>
          </a:p>
          <a:p>
            <a:r>
              <a:rPr lang="en-GB" sz="1800" dirty="0"/>
              <a:t>How = </a:t>
            </a:r>
            <a:r>
              <a:rPr lang="en-GB" sz="1800" i="1" dirty="0" err="1"/>
              <a:t>GeneralHillClimber</a:t>
            </a:r>
            <a:r>
              <a:rPr lang="en-GB" sz="1800" i="1" dirty="0"/>
              <a:t> &lt; Move &gt;&lt; Strategy &gt;&lt; Iterations &gt;</a:t>
            </a:r>
            <a:r>
              <a:rPr lang="en-GB" sz="1800" dirty="0"/>
              <a:t>; </a:t>
            </a:r>
            <a:r>
              <a:rPr lang="en-GB" sz="1800" i="1" dirty="0" err="1"/>
              <a:t>BoltzmanAdaptiveHillClimber</a:t>
            </a:r>
            <a:r>
              <a:rPr lang="en-GB" sz="1800" i="1" dirty="0"/>
              <a:t> &lt; Move &gt;&lt; Strategy &gt;&lt; Iterations &gt; …</a:t>
            </a:r>
          </a:p>
          <a:p>
            <a:r>
              <a:rPr lang="en-GB" sz="1800" dirty="0"/>
              <a:t>Frequency = </a:t>
            </a:r>
            <a:r>
              <a:rPr lang="en-GB" sz="1800" i="1" dirty="0"/>
              <a:t>Always</a:t>
            </a:r>
            <a:r>
              <a:rPr lang="en-GB" sz="1800" dirty="0"/>
              <a:t>; </a:t>
            </a:r>
            <a:r>
              <a:rPr lang="en-GB" sz="1800" i="1" dirty="0"/>
              <a:t>For</a:t>
            </a:r>
            <a:r>
              <a:rPr lang="en-GB" sz="1800" dirty="0"/>
              <a:t> &lt; </a:t>
            </a:r>
            <a:r>
              <a:rPr lang="en-GB" sz="1800" i="1" dirty="0"/>
              <a:t>Iterations</a:t>
            </a:r>
            <a:r>
              <a:rPr lang="en-GB" sz="1800" dirty="0"/>
              <a:t> &gt;; </a:t>
            </a:r>
            <a:r>
              <a:rPr lang="en-GB" sz="1800" i="1" dirty="0"/>
              <a:t>Never</a:t>
            </a:r>
            <a:r>
              <a:rPr lang="en-GB" sz="1800" dirty="0"/>
              <a:t> …</a:t>
            </a:r>
          </a:p>
          <a:p>
            <a:r>
              <a:rPr lang="en-GB" sz="1800" dirty="0"/>
              <a:t>Move = </a:t>
            </a:r>
            <a:r>
              <a:rPr lang="en-GB" sz="1800" i="1" dirty="0"/>
              <a:t>2-exchange</a:t>
            </a:r>
            <a:r>
              <a:rPr lang="en-GB" sz="1800" dirty="0"/>
              <a:t>, 3-</a:t>
            </a:r>
            <a:r>
              <a:rPr lang="en-GB" sz="1800" i="1" dirty="0"/>
              <a:t>exchange</a:t>
            </a:r>
            <a:endParaRPr lang="en-GB" sz="1800" dirty="0"/>
          </a:p>
          <a:p>
            <a:r>
              <a:rPr lang="en-GB" sz="1800" dirty="0"/>
              <a:t>Strategy = </a:t>
            </a:r>
            <a:r>
              <a:rPr lang="en-GB" sz="1800" i="1" dirty="0" err="1"/>
              <a:t>NextAscent</a:t>
            </a:r>
            <a:r>
              <a:rPr lang="en-GB" sz="1800" dirty="0"/>
              <a:t>; </a:t>
            </a:r>
            <a:r>
              <a:rPr lang="en-GB" sz="1800" i="1" dirty="0" err="1"/>
              <a:t>SteepestAscent</a:t>
            </a:r>
            <a:r>
              <a:rPr lang="en-GB" sz="1800" dirty="0"/>
              <a:t>; </a:t>
            </a:r>
            <a:r>
              <a:rPr lang="en-GB" sz="1800" i="1" dirty="0" err="1"/>
              <a:t>MiniMax</a:t>
            </a:r>
            <a:r>
              <a:rPr lang="en-GB" sz="1800" dirty="0"/>
              <a:t> &lt; </a:t>
            </a:r>
            <a:r>
              <a:rPr lang="en-GB" sz="1800" i="1" dirty="0"/>
              <a:t>Size</a:t>
            </a:r>
            <a:r>
              <a:rPr lang="en-GB" sz="1800" dirty="0"/>
              <a:t> &gt;; </a:t>
            </a:r>
            <a:r>
              <a:rPr lang="en-GB" sz="1800" i="1" dirty="0" err="1"/>
              <a:t>MaxiMin</a:t>
            </a:r>
            <a:r>
              <a:rPr lang="en-GB" sz="1800" dirty="0"/>
              <a:t> &lt; </a:t>
            </a:r>
            <a:r>
              <a:rPr lang="en-GB" sz="1800" i="1" dirty="0"/>
              <a:t>Size </a:t>
            </a:r>
            <a:r>
              <a:rPr lang="en-GB" sz="1800" dirty="0"/>
              <a:t>&gt;</a:t>
            </a:r>
          </a:p>
          <a:p>
            <a:r>
              <a:rPr lang="en-GB" sz="1800" dirty="0"/>
              <a:t>Size = &lt; </a:t>
            </a:r>
            <a:r>
              <a:rPr lang="en-GB" sz="1800" i="1" dirty="0" err="1"/>
              <a:t>Num</a:t>
            </a:r>
            <a:r>
              <a:rPr lang="en-GB" sz="1800" dirty="0"/>
              <a:t> &gt;</a:t>
            </a:r>
          </a:p>
          <a:p>
            <a:r>
              <a:rPr lang="en-GB" sz="1800" dirty="0"/>
              <a:t>Iterations = &lt; </a:t>
            </a:r>
            <a:r>
              <a:rPr lang="en-GB" sz="1800" i="1" dirty="0" err="1"/>
              <a:t>Num</a:t>
            </a:r>
            <a:r>
              <a:rPr lang="en-GB" sz="1800" dirty="0"/>
              <a:t> &gt;</a:t>
            </a:r>
          </a:p>
        </p:txBody>
      </p:sp>
      <p:sp>
        <p:nvSpPr>
          <p:cNvPr id="4" name="Slide Number Placeholder 3"/>
          <p:cNvSpPr>
            <a:spLocks noGrp="1"/>
          </p:cNvSpPr>
          <p:nvPr>
            <p:ph type="sldNum" sz="quarter" idx="12"/>
          </p:nvPr>
        </p:nvSpPr>
        <p:spPr/>
        <p:txBody>
          <a:bodyPr/>
          <a:lstStyle/>
          <a:p>
            <a:pPr>
              <a:defRPr/>
            </a:pPr>
            <a:fld id="{2F447EBC-305D-44C7-89E1-564E18FC1CD4}" type="slidenum">
              <a:rPr lang="en-GB" altLang="en-US" smtClean="0"/>
              <a:pPr>
                <a:defRPr/>
              </a:pPr>
              <a:t>49</a:t>
            </a:fld>
            <a:endParaRPr lang="en-GB" altLang="en-US" dirty="0"/>
          </a:p>
        </p:txBody>
      </p:sp>
      <p:cxnSp>
        <p:nvCxnSpPr>
          <p:cNvPr id="8" name="Straight Connector 7"/>
          <p:cNvCxnSpPr/>
          <p:nvPr/>
        </p:nvCxnSpPr>
        <p:spPr>
          <a:xfrm>
            <a:off x="5375920" y="5589240"/>
            <a:ext cx="0" cy="36004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9749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3">
                                            <p:txEl>
                                              <p:pRg st="2" end="2"/>
                                            </p:txEl>
                                          </p:spTgt>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3">
                                            <p:txEl>
                                              <p:pRg st="3" end="3"/>
                                            </p:txEl>
                                          </p:spTgt>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p:cTn id="27"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3">
                                            <p:txEl>
                                              <p:pRg st="4" end="4"/>
                                            </p:txEl>
                                          </p:spTgt>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p:cTn id="3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4" dur="500"/>
                                        <p:tgtEl>
                                          <p:spTgt spid="3">
                                            <p:txEl>
                                              <p:pRg st="5" end="5"/>
                                            </p:txEl>
                                          </p:spTgt>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p:cTn id="37"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39" dur="500"/>
                                        <p:tgtEl>
                                          <p:spTgt spid="3">
                                            <p:txEl>
                                              <p:pRg st="6" end="6"/>
                                            </p:txEl>
                                          </p:spTgt>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 calcmode="lin" valueType="num">
                                      <p:cBhvr>
                                        <p:cTn id="42"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44" dur="500"/>
                                        <p:tgtEl>
                                          <p:spTgt spid="3">
                                            <p:txEl>
                                              <p:pRg st="7" end="7"/>
                                            </p:txEl>
                                          </p:spTgt>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p:cTn id="47"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48"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49" dur="500"/>
                                        <p:tgtEl>
                                          <p:spTgt spid="3">
                                            <p:txEl>
                                              <p:pRg st="8" end="8"/>
                                            </p:txEl>
                                          </p:spTgt>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 calcmode="lin" valueType="num">
                                      <p:cBhvr>
                                        <p:cTn id="52" dur="500" fill="hold"/>
                                        <p:tgtEl>
                                          <p:spTgt spid="3">
                                            <p:txEl>
                                              <p:pRg st="9" end="9"/>
                                            </p:txEl>
                                          </p:spTgt>
                                        </p:tgtEl>
                                        <p:attrNameLst>
                                          <p:attrName>ppt_w</p:attrName>
                                        </p:attrNameLst>
                                      </p:cBhvr>
                                      <p:tavLst>
                                        <p:tav tm="0">
                                          <p:val>
                                            <p:fltVal val="0"/>
                                          </p:val>
                                        </p:tav>
                                        <p:tav tm="100000">
                                          <p:val>
                                            <p:strVal val="#ppt_w"/>
                                          </p:val>
                                        </p:tav>
                                      </p:tavLst>
                                    </p:anim>
                                    <p:anim calcmode="lin" valueType="num">
                                      <p:cBhvr>
                                        <p:cTn id="53" dur="500" fill="hold"/>
                                        <p:tgtEl>
                                          <p:spTgt spid="3">
                                            <p:txEl>
                                              <p:pRg st="9" end="9"/>
                                            </p:txEl>
                                          </p:spTgt>
                                        </p:tgtEl>
                                        <p:attrNameLst>
                                          <p:attrName>ppt_h</p:attrName>
                                        </p:attrNameLst>
                                      </p:cBhvr>
                                      <p:tavLst>
                                        <p:tav tm="0">
                                          <p:val>
                                            <p:fltVal val="0"/>
                                          </p:val>
                                        </p:tav>
                                        <p:tav tm="100000">
                                          <p:val>
                                            <p:strVal val="#ppt_h"/>
                                          </p:val>
                                        </p:tav>
                                      </p:tavLst>
                                    </p:anim>
                                    <p:animEffect transition="in" filter="fade">
                                      <p:cBhvr>
                                        <p:cTn id="54" dur="500"/>
                                        <p:tgtEl>
                                          <p:spTgt spid="3">
                                            <p:txEl>
                                              <p:pRg st="9" end="9"/>
                                            </p:txEl>
                                          </p:spTgt>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 calcmode="lin" valueType="num">
                                      <p:cBhvr>
                                        <p:cTn id="57" dur="5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58" dur="500" fill="hold"/>
                                        <p:tgtEl>
                                          <p:spTgt spid="3">
                                            <p:txEl>
                                              <p:pRg st="10" end="10"/>
                                            </p:txEl>
                                          </p:spTgt>
                                        </p:tgtEl>
                                        <p:attrNameLst>
                                          <p:attrName>ppt_h</p:attrName>
                                        </p:attrNameLst>
                                      </p:cBhvr>
                                      <p:tavLst>
                                        <p:tav tm="0">
                                          <p:val>
                                            <p:fltVal val="0"/>
                                          </p:val>
                                        </p:tav>
                                        <p:tav tm="100000">
                                          <p:val>
                                            <p:strVal val="#ppt_h"/>
                                          </p:val>
                                        </p:tav>
                                      </p:tavLst>
                                    </p:anim>
                                    <p:animEffect transition="in" filter="fade">
                                      <p:cBhvr>
                                        <p:cTn id="5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tr-TR" altLang="en-US" sz="3400"/>
              <a:t>Multimeme Memetic Algorithms</a:t>
            </a:r>
            <a:r>
              <a:rPr lang="en-US" altLang="en-US" sz="3400"/>
              <a:t> – Features</a:t>
            </a:r>
          </a:p>
        </p:txBody>
      </p:sp>
      <p:sp>
        <p:nvSpPr>
          <p:cNvPr id="100355" name="Rectangle 3"/>
          <p:cNvSpPr>
            <a:spLocks noGrp="1" noChangeArrowheads="1"/>
          </p:cNvSpPr>
          <p:nvPr>
            <p:ph type="body" idx="1"/>
          </p:nvPr>
        </p:nvSpPr>
        <p:spPr>
          <a:xfrm>
            <a:off x="425450" y="1997075"/>
            <a:ext cx="11341099" cy="4149725"/>
          </a:xfrm>
        </p:spPr>
        <p:txBody>
          <a:bodyPr/>
          <a:lstStyle/>
          <a:p>
            <a:r>
              <a:rPr lang="en-US" altLang="en-US" sz="3200" dirty="0"/>
              <a:t>Memes represent instructions for self-improvement</a:t>
            </a:r>
          </a:p>
          <a:p>
            <a:pPr lvl="1"/>
            <a:r>
              <a:rPr lang="en-US" altLang="en-US" sz="2400" dirty="0"/>
              <a:t>Specify set of rules, programs, heuristics, strategies, behaviors, etc.</a:t>
            </a:r>
          </a:p>
          <a:p>
            <a:pPr lvl="1"/>
            <a:endParaRPr lang="en-US" altLang="en-US" sz="2400" dirty="0"/>
          </a:p>
          <a:p>
            <a:r>
              <a:rPr lang="en-US" altLang="en-US" sz="3200" dirty="0"/>
              <a:t>Interaction between memes and genes are not direct</a:t>
            </a:r>
          </a:p>
          <a:p>
            <a:pPr lvl="1"/>
            <a:r>
              <a:rPr lang="en-US" altLang="en-US" sz="2400" dirty="0"/>
              <a:t>Mediated by individual (genetic and memetic material)</a:t>
            </a:r>
          </a:p>
          <a:p>
            <a:pPr lvl="1"/>
            <a:endParaRPr lang="en-US" altLang="en-US" sz="2400" dirty="0"/>
          </a:p>
          <a:p>
            <a:r>
              <a:rPr lang="en-US" altLang="en-US" sz="3200" dirty="0"/>
              <a:t>Memes can evolve, change by means of nontraditional genetic transformations and metrics</a:t>
            </a:r>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50</a:t>
            </a:fld>
            <a:endParaRPr lang="tr-TR" altLang="en-US"/>
          </a:p>
        </p:txBody>
      </p:sp>
    </p:spTree>
    <p:custDataLst>
      <p:tags r:id="rId1"/>
    </p:custDataLst>
    <p:extLst>
      <p:ext uri="{BB962C8B-B14F-4D97-AF65-F5344CB8AC3E}">
        <p14:creationId xmlns:p14="http://schemas.microsoft.com/office/powerpoint/2010/main" val="1153984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animEffect transition="in" filter="fade">
                                      <p:cBhvr>
                                        <p:cTn id="7" dur="500"/>
                                        <p:tgtEl>
                                          <p:spTgt spid="10035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0355">
                                            <p:txEl>
                                              <p:pRg st="1" end="1"/>
                                            </p:txEl>
                                          </p:spTgt>
                                        </p:tgtEl>
                                        <p:attrNameLst>
                                          <p:attrName>style.visibility</p:attrName>
                                        </p:attrNameLst>
                                      </p:cBhvr>
                                      <p:to>
                                        <p:strVal val="visible"/>
                                      </p:to>
                                    </p:set>
                                    <p:animEffect transition="in" filter="fade">
                                      <p:cBhvr>
                                        <p:cTn id="10" dur="500"/>
                                        <p:tgtEl>
                                          <p:spTgt spid="10035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355">
                                            <p:txEl>
                                              <p:pRg st="3" end="3"/>
                                            </p:txEl>
                                          </p:spTgt>
                                        </p:tgtEl>
                                        <p:attrNameLst>
                                          <p:attrName>style.visibility</p:attrName>
                                        </p:attrNameLst>
                                      </p:cBhvr>
                                      <p:to>
                                        <p:strVal val="visible"/>
                                      </p:to>
                                    </p:set>
                                    <p:animEffect transition="in" filter="fade">
                                      <p:cBhvr>
                                        <p:cTn id="15" dur="500"/>
                                        <p:tgtEl>
                                          <p:spTgt spid="100355">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0355">
                                            <p:txEl>
                                              <p:pRg st="4" end="4"/>
                                            </p:txEl>
                                          </p:spTgt>
                                        </p:tgtEl>
                                        <p:attrNameLst>
                                          <p:attrName>style.visibility</p:attrName>
                                        </p:attrNameLst>
                                      </p:cBhvr>
                                      <p:to>
                                        <p:strVal val="visible"/>
                                      </p:to>
                                    </p:set>
                                    <p:animEffect transition="in" filter="fade">
                                      <p:cBhvr>
                                        <p:cTn id="18" dur="500"/>
                                        <p:tgtEl>
                                          <p:spTgt spid="10035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0355">
                                            <p:txEl>
                                              <p:pRg st="6" end="6"/>
                                            </p:txEl>
                                          </p:spTgt>
                                        </p:tgtEl>
                                        <p:attrNameLst>
                                          <p:attrName>style.visibility</p:attrName>
                                        </p:attrNameLst>
                                      </p:cBhvr>
                                      <p:to>
                                        <p:strVal val="visible"/>
                                      </p:to>
                                    </p:set>
                                    <p:animEffect transition="in" filter="fade">
                                      <p:cBhvr>
                                        <p:cTn id="23" dur="500"/>
                                        <p:tgtEl>
                                          <p:spTgt spid="1003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Examples – Implementation </a:t>
            </a:r>
          </a:p>
        </p:txBody>
      </p:sp>
      <p:sp>
        <p:nvSpPr>
          <p:cNvPr id="3" name="Content Placeholder 2"/>
          <p:cNvSpPr>
            <a:spLocks noGrp="1"/>
          </p:cNvSpPr>
          <p:nvPr>
            <p:ph idx="1"/>
          </p:nvPr>
        </p:nvSpPr>
        <p:spPr>
          <a:xfrm>
            <a:off x="1981200" y="1600201"/>
            <a:ext cx="8579296" cy="4530725"/>
          </a:xfrm>
        </p:spPr>
        <p:txBody>
          <a:bodyPr/>
          <a:lstStyle/>
          <a:p>
            <a:r>
              <a:rPr lang="en-GB" sz="2600" dirty="0"/>
              <a:t>MAX-SAT: (1 0 0 0 1 </a:t>
            </a:r>
            <a:r>
              <a:rPr lang="en-AU" altLang="en-US" sz="2600" dirty="0">
                <a:solidFill>
                  <a:srgbClr val="FF0000"/>
                </a:solidFill>
              </a:rPr>
              <a:t>+ 2 </a:t>
            </a:r>
            <a:r>
              <a:rPr lang="en-AU" altLang="en-US" sz="2600" dirty="0"/>
              <a:t>)</a:t>
            </a:r>
          </a:p>
          <a:p>
            <a:pPr marL="0" indent="0">
              <a:buNone/>
            </a:pPr>
            <a:endParaRPr lang="en-AU" altLang="en-US" sz="2600" dirty="0"/>
          </a:p>
          <a:p>
            <a:pPr lvl="1"/>
            <a:r>
              <a:rPr lang="en-AU" altLang="en-US" sz="2000" dirty="0" err="1">
                <a:solidFill>
                  <a:srgbClr val="FF0000"/>
                </a:solidFill>
              </a:rPr>
              <a:t>Hc</a:t>
            </a:r>
            <a:r>
              <a:rPr lang="en-AU" altLang="en-US" sz="2000" dirty="0">
                <a:solidFill>
                  <a:srgbClr val="FF0000"/>
                </a:solidFill>
              </a:rPr>
              <a:t> (hill climbing operator)</a:t>
            </a:r>
            <a:r>
              <a:rPr lang="en-AU" altLang="en-US" sz="2000" dirty="0">
                <a:solidFill>
                  <a:srgbClr val="FF0000"/>
                </a:solidFill>
                <a:sym typeface="Symbol" panose="05050102010706020507" pitchFamily="18" charset="2"/>
              </a:rPr>
              <a:t> </a:t>
            </a:r>
            <a:r>
              <a:rPr lang="en-AU" sz="2000" dirty="0"/>
              <a:t>0: RMHC, 1: SDHC, 2: </a:t>
            </a:r>
            <a:r>
              <a:rPr lang="en-AU" sz="2000" u="sng" dirty="0"/>
              <a:t>NDHC</a:t>
            </a:r>
          </a:p>
          <a:p>
            <a:pPr lvl="1"/>
            <a:endParaRPr lang="en-GB" sz="2000" dirty="0"/>
          </a:p>
          <a:p>
            <a:r>
              <a:rPr lang="en-AU" altLang="en-US" sz="2400" dirty="0"/>
              <a:t>TSP:(4 5 2 1 8 7 6 9 3 </a:t>
            </a:r>
            <a:r>
              <a:rPr lang="en-AU" altLang="en-US" sz="2400" dirty="0">
                <a:solidFill>
                  <a:srgbClr val="FF0000"/>
                </a:solidFill>
              </a:rPr>
              <a:t>+    </a:t>
            </a:r>
            <a:r>
              <a:rPr lang="en-AU" altLang="en-US" sz="1800" dirty="0">
                <a:solidFill>
                  <a:srgbClr val="FF0000"/>
                </a:solidFill>
              </a:rPr>
              <a:t> </a:t>
            </a:r>
            <a:r>
              <a:rPr lang="en-AU" altLang="en-US" sz="2400" dirty="0">
                <a:solidFill>
                  <a:srgbClr val="FF0000"/>
                </a:solidFill>
              </a:rPr>
              <a:t>2     1    </a:t>
            </a:r>
            <a:r>
              <a:rPr lang="en-AU" altLang="en-US" sz="1600" dirty="0">
                <a:solidFill>
                  <a:srgbClr val="FF0000"/>
                </a:solidFill>
              </a:rPr>
              <a:t> </a:t>
            </a:r>
            <a:r>
              <a:rPr lang="en-AU" altLang="en-US" sz="2400" dirty="0">
                <a:solidFill>
                  <a:srgbClr val="FF0000"/>
                </a:solidFill>
              </a:rPr>
              <a:t>1    </a:t>
            </a:r>
            <a:r>
              <a:rPr lang="en-AU" altLang="en-US" sz="1600" dirty="0">
                <a:solidFill>
                  <a:srgbClr val="FF0000"/>
                </a:solidFill>
              </a:rPr>
              <a:t> </a:t>
            </a:r>
            <a:r>
              <a:rPr lang="en-AU" altLang="en-US" sz="2400" dirty="0">
                <a:solidFill>
                  <a:srgbClr val="FF0000"/>
                </a:solidFill>
              </a:rPr>
              <a:t>2   0     1    1 2</a:t>
            </a:r>
            <a:r>
              <a:rPr lang="en-AU" altLang="en-US" sz="2400" dirty="0"/>
              <a:t>)</a:t>
            </a:r>
          </a:p>
          <a:p>
            <a:pPr lvl="1"/>
            <a:r>
              <a:rPr lang="en-AU" altLang="en-US" sz="1800" dirty="0">
                <a:solidFill>
                  <a:srgbClr val="FF0000"/>
                </a:solidFill>
              </a:rPr>
              <a:t> </a:t>
            </a:r>
            <a:r>
              <a:rPr lang="en-AU" altLang="en-US" sz="1800" dirty="0" err="1">
                <a:solidFill>
                  <a:srgbClr val="FF0000"/>
                </a:solidFill>
              </a:rPr>
              <a:t>Mp</a:t>
            </a:r>
            <a:r>
              <a:rPr lang="en-AU" altLang="en-US" sz="1800" dirty="0">
                <a:solidFill>
                  <a:srgbClr val="FF0000"/>
                </a:solidFill>
              </a:rPr>
              <a:t> (mutation probability) </a:t>
            </a:r>
            <a:r>
              <a:rPr lang="en-AU" altLang="en-US" sz="1800" dirty="0">
                <a:solidFill>
                  <a:srgbClr val="FF0000"/>
                </a:solidFill>
                <a:sym typeface="Symbol" panose="05050102010706020507" pitchFamily="18" charset="2"/>
              </a:rPr>
              <a:t> </a:t>
            </a:r>
            <a:r>
              <a:rPr lang="en-AU" altLang="en-US" sz="1800" dirty="0">
                <a:sym typeface="Symbol" panose="05050102010706020507" pitchFamily="18" charset="2"/>
              </a:rPr>
              <a:t>0: 2/</a:t>
            </a:r>
            <a:r>
              <a:rPr lang="en-AU" altLang="en-US" sz="1800" i="1" dirty="0">
                <a:sym typeface="Symbol" panose="05050102010706020507" pitchFamily="18" charset="2"/>
              </a:rPr>
              <a:t>n</a:t>
            </a:r>
            <a:r>
              <a:rPr lang="en-AU" altLang="en-US" sz="1800" dirty="0">
                <a:sym typeface="Symbol" panose="05050102010706020507" pitchFamily="18" charset="2"/>
              </a:rPr>
              <a:t>, 1: 1/</a:t>
            </a:r>
            <a:r>
              <a:rPr lang="en-AU" altLang="en-US" sz="1800" i="1" dirty="0">
                <a:sym typeface="Symbol" panose="05050102010706020507" pitchFamily="18" charset="2"/>
              </a:rPr>
              <a:t>n</a:t>
            </a:r>
            <a:r>
              <a:rPr lang="en-AU" altLang="en-US" sz="1800" dirty="0">
                <a:sym typeface="Symbol" panose="05050102010706020507" pitchFamily="18" charset="2"/>
              </a:rPr>
              <a:t>, 2: </a:t>
            </a:r>
            <a:r>
              <a:rPr lang="en-AU" altLang="en-US" sz="1800" u="sng" dirty="0">
                <a:sym typeface="Symbol" panose="05050102010706020507" pitchFamily="18" charset="2"/>
              </a:rPr>
              <a:t>1/(2x</a:t>
            </a:r>
            <a:r>
              <a:rPr lang="en-AU" altLang="en-US" sz="1800" i="1" u="sng" dirty="0">
                <a:sym typeface="Symbol" panose="05050102010706020507" pitchFamily="18" charset="2"/>
              </a:rPr>
              <a:t>n</a:t>
            </a:r>
            <a:r>
              <a:rPr lang="en-AU" altLang="en-US" sz="1800" u="sng" dirty="0">
                <a:sym typeface="Symbol" panose="05050102010706020507" pitchFamily="18" charset="2"/>
              </a:rPr>
              <a:t>)</a:t>
            </a:r>
            <a:r>
              <a:rPr lang="en-AU" altLang="en-US" sz="1800" dirty="0">
                <a:sym typeface="Symbol" panose="05050102010706020507" pitchFamily="18" charset="2"/>
              </a:rPr>
              <a:t>, 3: 0.1,…</a:t>
            </a:r>
          </a:p>
          <a:p>
            <a:pPr lvl="1"/>
            <a:r>
              <a:rPr lang="en-AU" altLang="en-US" sz="1800" dirty="0">
                <a:solidFill>
                  <a:srgbClr val="FF0000"/>
                </a:solidFill>
                <a:sym typeface="Symbol" panose="05050102010706020507" pitchFamily="18" charset="2"/>
              </a:rPr>
              <a:t> Mo (mutation operator)  </a:t>
            </a:r>
            <a:r>
              <a:rPr lang="en-AU" altLang="en-US" sz="1800" dirty="0">
                <a:sym typeface="Symbol" panose="05050102010706020507" pitchFamily="18" charset="2"/>
              </a:rPr>
              <a:t>0: Exchange, 1: </a:t>
            </a:r>
            <a:r>
              <a:rPr lang="en-AU" altLang="en-US" sz="1800" u="sng" dirty="0">
                <a:sym typeface="Symbol" panose="05050102010706020507" pitchFamily="18" charset="2"/>
              </a:rPr>
              <a:t>Insertion</a:t>
            </a:r>
            <a:r>
              <a:rPr lang="en-AU" altLang="en-US" sz="1800" dirty="0">
                <a:sym typeface="Symbol" panose="05050102010706020507" pitchFamily="18" charset="2"/>
              </a:rPr>
              <a:t>,…</a:t>
            </a:r>
          </a:p>
          <a:p>
            <a:pPr lvl="1"/>
            <a:r>
              <a:rPr lang="en-AU" altLang="en-US" sz="1800" dirty="0">
                <a:solidFill>
                  <a:srgbClr val="FF0000"/>
                </a:solidFill>
                <a:sym typeface="Symbol" panose="05050102010706020507" pitchFamily="18" charset="2"/>
              </a:rPr>
              <a:t> </a:t>
            </a:r>
            <a:r>
              <a:rPr lang="en-AU" altLang="en-US" sz="1800" dirty="0" err="1">
                <a:solidFill>
                  <a:srgbClr val="FF0000"/>
                </a:solidFill>
                <a:sym typeface="Symbol" panose="05050102010706020507" pitchFamily="18" charset="2"/>
              </a:rPr>
              <a:t>Cp</a:t>
            </a:r>
            <a:r>
              <a:rPr lang="en-AU" altLang="en-US" sz="1800" dirty="0">
                <a:solidFill>
                  <a:srgbClr val="FF0000"/>
                </a:solidFill>
                <a:sym typeface="Symbol" panose="05050102010706020507" pitchFamily="18" charset="2"/>
              </a:rPr>
              <a:t> (crossover probability)  </a:t>
            </a:r>
            <a:r>
              <a:rPr lang="en-AU" altLang="en-US" sz="1800" dirty="0">
                <a:sym typeface="Symbol" panose="05050102010706020507" pitchFamily="18" charset="2"/>
              </a:rPr>
              <a:t>0: 1.0, 1: </a:t>
            </a:r>
            <a:r>
              <a:rPr lang="en-AU" altLang="en-US" sz="1800" u="sng" dirty="0">
                <a:sym typeface="Symbol" panose="05050102010706020507" pitchFamily="18" charset="2"/>
              </a:rPr>
              <a:t>0.95</a:t>
            </a:r>
            <a:r>
              <a:rPr lang="en-AU" altLang="en-US" sz="1800" dirty="0">
                <a:sym typeface="Symbol" panose="05050102010706020507" pitchFamily="18" charset="2"/>
              </a:rPr>
              <a:t>, 2: 0.90,…</a:t>
            </a:r>
          </a:p>
          <a:p>
            <a:pPr lvl="1"/>
            <a:r>
              <a:rPr lang="en-AU" altLang="en-US" sz="1800" dirty="0">
                <a:solidFill>
                  <a:srgbClr val="FF0000"/>
                </a:solidFill>
                <a:sym typeface="Symbol" panose="05050102010706020507" pitchFamily="18" charset="2"/>
              </a:rPr>
              <a:t> Co (crossover operator)  </a:t>
            </a:r>
            <a:r>
              <a:rPr lang="en-AU" altLang="en-US" sz="1800" dirty="0">
                <a:sym typeface="Symbol" panose="05050102010706020507" pitchFamily="18" charset="2"/>
              </a:rPr>
              <a:t>0: 1PTX+repair, 1: OX, 2: </a:t>
            </a:r>
            <a:r>
              <a:rPr lang="en-AU" altLang="en-US" sz="1800" u="sng" dirty="0">
                <a:sym typeface="Symbol" panose="05050102010706020507" pitchFamily="18" charset="2"/>
              </a:rPr>
              <a:t>CX</a:t>
            </a:r>
            <a:r>
              <a:rPr lang="en-AU" altLang="en-US" sz="1800" dirty="0">
                <a:sym typeface="Symbol" panose="05050102010706020507" pitchFamily="18" charset="2"/>
              </a:rPr>
              <a:t>,…</a:t>
            </a:r>
          </a:p>
          <a:p>
            <a:pPr lvl="1"/>
            <a:r>
              <a:rPr lang="en-AU" altLang="en-US" sz="1800" dirty="0">
                <a:solidFill>
                  <a:srgbClr val="FF0000"/>
                </a:solidFill>
                <a:sym typeface="Symbol" panose="05050102010706020507" pitchFamily="18" charset="2"/>
              </a:rPr>
              <a:t> W (where to apply HC)  </a:t>
            </a:r>
            <a:r>
              <a:rPr lang="en-AU" altLang="en-US" sz="1800" dirty="0">
                <a:sym typeface="Symbol" panose="05050102010706020507" pitchFamily="18" charset="2"/>
              </a:rPr>
              <a:t>0: </a:t>
            </a:r>
            <a:r>
              <a:rPr lang="en-AU" altLang="en-US" sz="1800" u="sng" dirty="0">
                <a:sym typeface="Symbol" panose="05050102010706020507" pitchFamily="18" charset="2"/>
              </a:rPr>
              <a:t>After Mutation</a:t>
            </a:r>
            <a:r>
              <a:rPr lang="en-AU" altLang="en-US" sz="1800" dirty="0">
                <a:sym typeface="Symbol" panose="05050102010706020507" pitchFamily="18" charset="2"/>
              </a:rPr>
              <a:t>, 1: After Crossover,…</a:t>
            </a:r>
          </a:p>
          <a:p>
            <a:pPr lvl="1"/>
            <a:r>
              <a:rPr lang="en-AU" altLang="en-US" sz="1800" dirty="0">
                <a:solidFill>
                  <a:srgbClr val="FF0000"/>
                </a:solidFill>
              </a:rPr>
              <a:t> </a:t>
            </a:r>
            <a:r>
              <a:rPr lang="en-AU" altLang="en-US" sz="1800" dirty="0" err="1">
                <a:solidFill>
                  <a:srgbClr val="FF0000"/>
                </a:solidFill>
              </a:rPr>
              <a:t>Hc</a:t>
            </a:r>
            <a:r>
              <a:rPr lang="en-AU" altLang="en-US" sz="1800" dirty="0">
                <a:solidFill>
                  <a:srgbClr val="FF0000"/>
                </a:solidFill>
              </a:rPr>
              <a:t> (strategy/how to apply HC) </a:t>
            </a:r>
            <a:r>
              <a:rPr lang="en-AU" altLang="en-US" sz="1800" dirty="0">
                <a:solidFill>
                  <a:srgbClr val="FF0000"/>
                </a:solidFill>
                <a:sym typeface="Symbol" panose="05050102010706020507" pitchFamily="18" charset="2"/>
              </a:rPr>
              <a:t> </a:t>
            </a:r>
            <a:r>
              <a:rPr lang="en-AU" sz="1800" dirty="0"/>
              <a:t>0: first </a:t>
            </a:r>
            <a:r>
              <a:rPr lang="en-AU" sz="1800" dirty="0" err="1"/>
              <a:t>impr</a:t>
            </a:r>
            <a:r>
              <a:rPr lang="en-AU" sz="1800" dirty="0"/>
              <a:t>., 1: </a:t>
            </a:r>
            <a:r>
              <a:rPr lang="en-AU" sz="1800" u="sng" dirty="0"/>
              <a:t>best improvement</a:t>
            </a:r>
            <a:r>
              <a:rPr lang="en-AU" altLang="en-US" sz="1800" dirty="0">
                <a:sym typeface="Symbol" panose="05050102010706020507" pitchFamily="18" charset="2"/>
              </a:rPr>
              <a:t>,…</a:t>
            </a:r>
            <a:endParaRPr lang="en-AU" sz="1800" u="sng" dirty="0"/>
          </a:p>
          <a:p>
            <a:pPr lvl="1"/>
            <a:r>
              <a:rPr lang="en-AU" altLang="en-US" sz="1800" dirty="0">
                <a:solidFill>
                  <a:srgbClr val="FF0000"/>
                </a:solidFill>
              </a:rPr>
              <a:t> Hs (move/HC step)</a:t>
            </a:r>
            <a:r>
              <a:rPr lang="en-AU" altLang="en-US" sz="1800" dirty="0">
                <a:solidFill>
                  <a:srgbClr val="FF0000"/>
                </a:solidFill>
                <a:sym typeface="Symbol" panose="05050102010706020507" pitchFamily="18" charset="2"/>
              </a:rPr>
              <a:t> </a:t>
            </a:r>
            <a:r>
              <a:rPr lang="en-AU" sz="1800" dirty="0"/>
              <a:t>0: </a:t>
            </a:r>
            <a:r>
              <a:rPr lang="en-AU" altLang="en-US" sz="1800" dirty="0">
                <a:sym typeface="Symbol" panose="05050102010706020507" pitchFamily="18" charset="2"/>
              </a:rPr>
              <a:t>Exchange, 1: </a:t>
            </a:r>
            <a:r>
              <a:rPr lang="en-AU" altLang="en-US" sz="1800" u="sng" dirty="0">
                <a:sym typeface="Symbol" panose="05050102010706020507" pitchFamily="18" charset="2"/>
              </a:rPr>
              <a:t>Adjacent interchange</a:t>
            </a:r>
            <a:r>
              <a:rPr lang="en-AU" altLang="en-US" sz="1800" dirty="0">
                <a:sym typeface="Symbol" panose="05050102010706020507" pitchFamily="18" charset="2"/>
              </a:rPr>
              <a:t>,…</a:t>
            </a:r>
            <a:endParaRPr lang="en-AU" altLang="en-US" sz="1800" u="sng" dirty="0">
              <a:solidFill>
                <a:srgbClr val="FF0000"/>
              </a:solidFill>
              <a:sym typeface="Symbol" panose="05050102010706020507" pitchFamily="18" charset="2"/>
            </a:endParaRPr>
          </a:p>
          <a:p>
            <a:pPr lvl="1"/>
            <a:r>
              <a:rPr lang="en-AU" sz="1800" dirty="0">
                <a:solidFill>
                  <a:srgbClr val="FF0000"/>
                </a:solidFill>
                <a:sym typeface="Symbol" panose="05050102010706020507" pitchFamily="18" charset="2"/>
              </a:rPr>
              <a:t> I</a:t>
            </a:r>
            <a:r>
              <a:rPr lang="en-AU" altLang="en-US" sz="1800" dirty="0">
                <a:solidFill>
                  <a:srgbClr val="FF0000"/>
                </a:solidFill>
              </a:rPr>
              <a:t> (frequency/number of HC iterations) </a:t>
            </a:r>
            <a:r>
              <a:rPr lang="en-AU" altLang="en-US" sz="1800" dirty="0">
                <a:solidFill>
                  <a:srgbClr val="FF0000"/>
                </a:solidFill>
                <a:sym typeface="Symbol" panose="05050102010706020507" pitchFamily="18" charset="2"/>
              </a:rPr>
              <a:t> </a:t>
            </a:r>
            <a:r>
              <a:rPr lang="en-AU" altLang="en-US" sz="1800" dirty="0">
                <a:sym typeface="Symbol" panose="05050102010706020507" pitchFamily="18" charset="2"/>
              </a:rPr>
              <a:t>0: </a:t>
            </a:r>
            <a:r>
              <a:rPr lang="en-AU" altLang="en-US" sz="1800" i="1" dirty="0">
                <a:sym typeface="Symbol" panose="05050102010706020507" pitchFamily="18" charset="2"/>
              </a:rPr>
              <a:t>n</a:t>
            </a:r>
            <a:r>
              <a:rPr lang="en-AU" altLang="en-US" sz="1800" dirty="0">
                <a:sym typeface="Symbol" panose="05050102010706020507" pitchFamily="18" charset="2"/>
              </a:rPr>
              <a:t>, 1: 2</a:t>
            </a:r>
            <a:r>
              <a:rPr lang="en-AU" altLang="en-US" sz="1800" i="1" dirty="0">
                <a:sym typeface="Symbol" panose="05050102010706020507" pitchFamily="18" charset="2"/>
              </a:rPr>
              <a:t>n</a:t>
            </a:r>
            <a:r>
              <a:rPr lang="en-AU" altLang="en-US" sz="1800" dirty="0">
                <a:sym typeface="Symbol" panose="05050102010706020507" pitchFamily="18" charset="2"/>
              </a:rPr>
              <a:t> , 2: </a:t>
            </a:r>
            <a:r>
              <a:rPr lang="en-AU" altLang="en-US" sz="1800" u="sng" dirty="0">
                <a:sym typeface="Symbol" panose="05050102010706020507" pitchFamily="18" charset="2"/>
              </a:rPr>
              <a:t>4</a:t>
            </a:r>
            <a:r>
              <a:rPr lang="en-AU" altLang="en-US" sz="1800" i="1" u="sng" dirty="0">
                <a:sym typeface="Symbol" panose="05050102010706020507" pitchFamily="18" charset="2"/>
              </a:rPr>
              <a:t>n</a:t>
            </a:r>
            <a:r>
              <a:rPr lang="en-AU" altLang="en-US" sz="1800" dirty="0">
                <a:sym typeface="Symbol" panose="05050102010706020507" pitchFamily="18" charset="2"/>
              </a:rPr>
              <a:t>, 3: 8</a:t>
            </a:r>
            <a:r>
              <a:rPr lang="en-AU" altLang="en-US" sz="1800" i="1" dirty="0">
                <a:sym typeface="Symbol" panose="05050102010706020507" pitchFamily="18" charset="2"/>
              </a:rPr>
              <a:t>n</a:t>
            </a:r>
            <a:r>
              <a:rPr lang="en-AU" altLang="en-US" sz="1800" dirty="0">
                <a:sym typeface="Symbol" panose="05050102010706020507" pitchFamily="18" charset="2"/>
              </a:rPr>
              <a:t>,…</a:t>
            </a:r>
            <a:endParaRPr lang="en-GB" sz="2600" dirty="0"/>
          </a:p>
          <a:p>
            <a:endParaRPr lang="en-GB" sz="2600" dirty="0"/>
          </a:p>
          <a:p>
            <a:endParaRPr lang="en-GB" sz="2600" dirty="0"/>
          </a:p>
          <a:p>
            <a:endParaRPr lang="en-GB" sz="2600" dirty="0"/>
          </a:p>
          <a:p>
            <a:endParaRPr lang="en-GB" sz="2600" dirty="0"/>
          </a:p>
        </p:txBody>
      </p:sp>
      <p:sp>
        <p:nvSpPr>
          <p:cNvPr id="4" name="Slide Number Placeholder 3"/>
          <p:cNvSpPr>
            <a:spLocks noGrp="1"/>
          </p:cNvSpPr>
          <p:nvPr>
            <p:ph type="sldNum" sz="quarter" idx="12"/>
          </p:nvPr>
        </p:nvSpPr>
        <p:spPr/>
        <p:txBody>
          <a:bodyPr/>
          <a:lstStyle/>
          <a:p>
            <a:fld id="{BB72550B-508B-4D61-A817-90B00A29C4EF}" type="slidenum">
              <a:rPr lang="tr-TR" altLang="en-US" smtClean="0"/>
              <a:pPr/>
              <a:t>51</a:t>
            </a:fld>
            <a:endParaRPr lang="tr-TR" altLang="en-US" dirty="0"/>
          </a:p>
        </p:txBody>
      </p:sp>
      <p:sp>
        <p:nvSpPr>
          <p:cNvPr id="5" name="TextBox 4"/>
          <p:cNvSpPr txBox="1"/>
          <p:nvPr/>
        </p:nvSpPr>
        <p:spPr>
          <a:xfrm>
            <a:off x="3613944" y="1210193"/>
            <a:ext cx="2232248" cy="369332"/>
          </a:xfrm>
          <a:prstGeom prst="rect">
            <a:avLst/>
          </a:prstGeom>
          <a:noFill/>
        </p:spPr>
        <p:txBody>
          <a:bodyPr wrap="square" rtlCol="0">
            <a:spAutoFit/>
          </a:bodyPr>
          <a:lstStyle/>
          <a:p>
            <a:r>
              <a:rPr lang="en-GB" u="sng" dirty="0"/>
              <a:t>genetic material</a:t>
            </a:r>
          </a:p>
        </p:txBody>
      </p:sp>
      <p:sp>
        <p:nvSpPr>
          <p:cNvPr id="6" name="TextBox 5"/>
          <p:cNvSpPr txBox="1"/>
          <p:nvPr/>
        </p:nvSpPr>
        <p:spPr>
          <a:xfrm>
            <a:off x="5426757" y="1199896"/>
            <a:ext cx="2232248" cy="369332"/>
          </a:xfrm>
          <a:prstGeom prst="rect">
            <a:avLst/>
          </a:prstGeom>
          <a:noFill/>
        </p:spPr>
        <p:txBody>
          <a:bodyPr wrap="square" rtlCol="0">
            <a:spAutoFit/>
          </a:bodyPr>
          <a:lstStyle/>
          <a:p>
            <a:r>
              <a:rPr lang="en-GB" u="sng" dirty="0">
                <a:solidFill>
                  <a:srgbClr val="FF0000"/>
                </a:solidFill>
              </a:rPr>
              <a:t>memetic material</a:t>
            </a:r>
          </a:p>
        </p:txBody>
      </p:sp>
      <p:sp>
        <p:nvSpPr>
          <p:cNvPr id="7" name="Rectangle 6"/>
          <p:cNvSpPr/>
          <p:nvPr/>
        </p:nvSpPr>
        <p:spPr>
          <a:xfrm>
            <a:off x="5519936" y="2852937"/>
            <a:ext cx="4330032" cy="461665"/>
          </a:xfrm>
          <a:prstGeom prst="rect">
            <a:avLst/>
          </a:prstGeom>
        </p:spPr>
        <p:txBody>
          <a:bodyPr wrap="square">
            <a:spAutoFit/>
          </a:bodyPr>
          <a:lstStyle/>
          <a:p>
            <a:r>
              <a:rPr lang="en-AU" altLang="en-US" sz="2400" b="0" u="sng" dirty="0">
                <a:solidFill>
                  <a:srgbClr val="FF0000"/>
                </a:solidFill>
                <a:latin typeface="+mn-lt"/>
              </a:rPr>
              <a:t>Mp2Mo1</a:t>
            </a:r>
            <a:r>
              <a:rPr lang="en-AU" altLang="en-US" sz="2400" b="0" dirty="0">
                <a:solidFill>
                  <a:srgbClr val="FF0000"/>
                </a:solidFill>
                <a:latin typeface="+mn-lt"/>
              </a:rPr>
              <a:t>Cp1Co2</a:t>
            </a:r>
            <a:r>
              <a:rPr lang="en-AU" altLang="en-US" sz="2400" b="0" u="sng" dirty="0">
                <a:solidFill>
                  <a:srgbClr val="FF0000"/>
                </a:solidFill>
                <a:latin typeface="+mn-lt"/>
              </a:rPr>
              <a:t>W0Hc1Hs1I2</a:t>
            </a:r>
            <a:endParaRPr lang="en-GB" sz="2400" b="0" u="sng" dirty="0">
              <a:latin typeface="+mn-lt"/>
            </a:endParaRPr>
          </a:p>
        </p:txBody>
      </p:sp>
      <p:sp>
        <p:nvSpPr>
          <p:cNvPr id="8" name="Rectangle 7"/>
          <p:cNvSpPr/>
          <p:nvPr/>
        </p:nvSpPr>
        <p:spPr>
          <a:xfrm>
            <a:off x="3853166" y="1997069"/>
            <a:ext cx="6995362" cy="492443"/>
          </a:xfrm>
          <a:prstGeom prst="rect">
            <a:avLst/>
          </a:prstGeom>
        </p:spPr>
        <p:txBody>
          <a:bodyPr wrap="square">
            <a:spAutoFit/>
          </a:bodyPr>
          <a:lstStyle/>
          <a:p>
            <a:r>
              <a:rPr lang="en-AU" altLang="en-US" sz="2600" b="0" dirty="0" err="1">
                <a:solidFill>
                  <a:srgbClr val="FF0000"/>
                </a:solidFill>
                <a:latin typeface="+mn-lt"/>
              </a:rPr>
              <a:t>memeplex</a:t>
            </a:r>
            <a:r>
              <a:rPr lang="en-AU" altLang="en-US" sz="2600" b="0" dirty="0">
                <a:solidFill>
                  <a:srgbClr val="FF0000"/>
                </a:solidFill>
                <a:latin typeface="+mn-lt"/>
              </a:rPr>
              <a:t>: Hc2 </a:t>
            </a:r>
            <a:r>
              <a:rPr lang="en-AU" altLang="en-US" sz="2400" b="0" dirty="0">
                <a:latin typeface="+mn-lt"/>
              </a:rPr>
              <a:t>(</a:t>
            </a:r>
            <a:r>
              <a:rPr lang="en-AU" altLang="en-US" sz="2400" b="0" dirty="0" err="1">
                <a:latin typeface="+mn-lt"/>
              </a:rPr>
              <a:t>Hc</a:t>
            </a:r>
            <a:r>
              <a:rPr lang="en-AU" altLang="en-US" sz="2400" dirty="0">
                <a:latin typeface="+mn-lt"/>
              </a:rPr>
              <a:t>:</a:t>
            </a:r>
            <a:r>
              <a:rPr lang="en-AU" altLang="en-US" sz="2400" b="0" dirty="0">
                <a:latin typeface="+mn-lt"/>
              </a:rPr>
              <a:t> meme and 2:meme option)</a:t>
            </a:r>
            <a:endParaRPr lang="en-GB" sz="2400" b="0" dirty="0">
              <a:latin typeface="+mn-lt"/>
            </a:endParaRPr>
          </a:p>
        </p:txBody>
      </p:sp>
      <p:grpSp>
        <p:nvGrpSpPr>
          <p:cNvPr id="15" name="Group 14"/>
          <p:cNvGrpSpPr/>
          <p:nvPr/>
        </p:nvGrpSpPr>
        <p:grpSpPr>
          <a:xfrm>
            <a:off x="1855366" y="3628018"/>
            <a:ext cx="689248" cy="2592288"/>
            <a:chOff x="858416" y="3717032"/>
            <a:chExt cx="689248" cy="2592288"/>
          </a:xfrm>
        </p:grpSpPr>
        <p:sp>
          <p:nvSpPr>
            <p:cNvPr id="9" name="Left Brace 8"/>
            <p:cNvSpPr/>
            <p:nvPr/>
          </p:nvSpPr>
          <p:spPr bwMode="auto">
            <a:xfrm>
              <a:off x="1187624" y="3717032"/>
              <a:ext cx="144016" cy="648072"/>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a:ln>
                  <a:noFill/>
                </a:ln>
                <a:solidFill>
                  <a:schemeClr val="tx1"/>
                </a:solidFill>
                <a:effectLst/>
                <a:latin typeface="Arial" charset="0"/>
              </a:endParaRPr>
            </a:p>
          </p:txBody>
        </p:sp>
        <p:sp>
          <p:nvSpPr>
            <p:cNvPr id="10" name="Left Brace 9"/>
            <p:cNvSpPr/>
            <p:nvPr/>
          </p:nvSpPr>
          <p:spPr bwMode="auto">
            <a:xfrm>
              <a:off x="1179567" y="4375502"/>
              <a:ext cx="144016" cy="648072"/>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a:ln>
                  <a:noFill/>
                </a:ln>
                <a:solidFill>
                  <a:schemeClr val="tx1"/>
                </a:solidFill>
                <a:effectLst/>
                <a:latin typeface="Arial" charset="0"/>
              </a:endParaRPr>
            </a:p>
          </p:txBody>
        </p:sp>
        <p:sp>
          <p:nvSpPr>
            <p:cNvPr id="11" name="Left Brace 10"/>
            <p:cNvSpPr/>
            <p:nvPr/>
          </p:nvSpPr>
          <p:spPr bwMode="auto">
            <a:xfrm>
              <a:off x="1179567" y="5085184"/>
              <a:ext cx="144016" cy="1224136"/>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a:ln>
                  <a:noFill/>
                </a:ln>
                <a:solidFill>
                  <a:schemeClr val="tx1"/>
                </a:solidFill>
                <a:effectLst/>
                <a:latin typeface="Arial" charset="0"/>
              </a:endParaRPr>
            </a:p>
          </p:txBody>
        </p:sp>
        <p:sp>
          <p:nvSpPr>
            <p:cNvPr id="12" name="TextBox 11"/>
            <p:cNvSpPr txBox="1"/>
            <p:nvPr/>
          </p:nvSpPr>
          <p:spPr>
            <a:xfrm>
              <a:off x="858416" y="3937973"/>
              <a:ext cx="658416" cy="230832"/>
            </a:xfrm>
            <a:prstGeom prst="rect">
              <a:avLst/>
            </a:prstGeom>
            <a:noFill/>
          </p:spPr>
          <p:txBody>
            <a:bodyPr wrap="square" rtlCol="0">
              <a:spAutoFit/>
            </a:bodyPr>
            <a:lstStyle/>
            <a:p>
              <a:r>
                <a:rPr lang="en-GB" sz="900" dirty="0"/>
                <a:t>#1</a:t>
              </a:r>
            </a:p>
          </p:txBody>
        </p:sp>
        <p:sp>
          <p:nvSpPr>
            <p:cNvPr id="13" name="TextBox 12"/>
            <p:cNvSpPr txBox="1"/>
            <p:nvPr/>
          </p:nvSpPr>
          <p:spPr>
            <a:xfrm>
              <a:off x="889248" y="4592461"/>
              <a:ext cx="658416" cy="230832"/>
            </a:xfrm>
            <a:prstGeom prst="rect">
              <a:avLst/>
            </a:prstGeom>
            <a:noFill/>
          </p:spPr>
          <p:txBody>
            <a:bodyPr wrap="square" rtlCol="0">
              <a:spAutoFit/>
            </a:bodyPr>
            <a:lstStyle/>
            <a:p>
              <a:r>
                <a:rPr lang="en-GB" sz="900" dirty="0"/>
                <a:t>#2</a:t>
              </a:r>
            </a:p>
          </p:txBody>
        </p:sp>
        <p:sp>
          <p:nvSpPr>
            <p:cNvPr id="14" name="TextBox 13"/>
            <p:cNvSpPr txBox="1"/>
            <p:nvPr/>
          </p:nvSpPr>
          <p:spPr>
            <a:xfrm>
              <a:off x="889248" y="5561974"/>
              <a:ext cx="658416" cy="230832"/>
            </a:xfrm>
            <a:prstGeom prst="rect">
              <a:avLst/>
            </a:prstGeom>
            <a:noFill/>
          </p:spPr>
          <p:txBody>
            <a:bodyPr wrap="square" rtlCol="0">
              <a:spAutoFit/>
            </a:bodyPr>
            <a:lstStyle/>
            <a:p>
              <a:r>
                <a:rPr lang="en-GB" sz="900" dirty="0"/>
                <a:t>#3</a:t>
              </a:r>
            </a:p>
          </p:txBody>
        </p:sp>
      </p:grpSp>
      <p:sp>
        <p:nvSpPr>
          <p:cNvPr id="18" name="TextBox 17"/>
          <p:cNvSpPr txBox="1"/>
          <p:nvPr/>
        </p:nvSpPr>
        <p:spPr>
          <a:xfrm>
            <a:off x="7350847" y="6309685"/>
            <a:ext cx="1720974" cy="369332"/>
          </a:xfrm>
          <a:prstGeom prst="rect">
            <a:avLst/>
          </a:prstGeom>
          <a:noFill/>
        </p:spPr>
        <p:txBody>
          <a:bodyPr wrap="square" rtlCol="0">
            <a:spAutoFit/>
          </a:bodyPr>
          <a:lstStyle/>
          <a:p>
            <a:r>
              <a:rPr lang="en-GB" i="1" dirty="0"/>
              <a:t>meme options</a:t>
            </a:r>
          </a:p>
        </p:txBody>
      </p:sp>
      <p:sp>
        <p:nvSpPr>
          <p:cNvPr id="19" name="TextBox 18"/>
          <p:cNvSpPr txBox="1"/>
          <p:nvPr/>
        </p:nvSpPr>
        <p:spPr>
          <a:xfrm>
            <a:off x="3705783" y="6336268"/>
            <a:ext cx="1720974" cy="369332"/>
          </a:xfrm>
          <a:prstGeom prst="rect">
            <a:avLst/>
          </a:prstGeom>
          <a:noFill/>
        </p:spPr>
        <p:txBody>
          <a:bodyPr wrap="square" rtlCol="0">
            <a:spAutoFit/>
          </a:bodyPr>
          <a:lstStyle/>
          <a:p>
            <a:r>
              <a:rPr lang="en-GB" i="1" dirty="0"/>
              <a:t>memes</a:t>
            </a:r>
          </a:p>
        </p:txBody>
      </p:sp>
    </p:spTree>
    <p:custDataLst>
      <p:tags r:id="rId1"/>
    </p:custDataLst>
    <p:extLst>
      <p:ext uri="{BB962C8B-B14F-4D97-AF65-F5344CB8AC3E}">
        <p14:creationId xmlns:p14="http://schemas.microsoft.com/office/powerpoint/2010/main" val="3508358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10" end="10"/>
                                            </p:txEl>
                                          </p:spTgt>
                                        </p:tgtEl>
                                        <p:attrNameLst>
                                          <p:attrName>style.visibility</p:attrName>
                                        </p:attrNameLst>
                                      </p:cBhvr>
                                      <p:to>
                                        <p:strVal val="visible"/>
                                      </p:to>
                                    </p:set>
                                    <p:animEffect transition="in" filter="fade">
                                      <p:cBhvr>
                                        <p:cTn id="40" dur="500"/>
                                        <p:tgtEl>
                                          <p:spTgt spid="3">
                                            <p:txEl>
                                              <p:pRg st="10" end="1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Effect transition="in" filter="fade">
                                      <p:cBhvr>
                                        <p:cTn id="43" dur="500"/>
                                        <p:tgtEl>
                                          <p:spTgt spid="3">
                                            <p:txEl>
                                              <p:pRg st="11" end="11"/>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12" end="12"/>
                                            </p:txEl>
                                          </p:spTgt>
                                        </p:tgtEl>
                                        <p:attrNameLst>
                                          <p:attrName>style.visibility</p:attrName>
                                        </p:attrNameLst>
                                      </p:cBhvr>
                                      <p:to>
                                        <p:strVal val="visible"/>
                                      </p:to>
                                    </p:set>
                                    <p:animEffect transition="in" filter="fade">
                                      <p:cBhvr>
                                        <p:cTn id="46" dur="500"/>
                                        <p:tgtEl>
                                          <p:spTgt spid="3">
                                            <p:txEl>
                                              <p:pRg st="12" end="12"/>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par>
                          <p:cTn id="53" fill="hold">
                            <p:stCondLst>
                              <p:cond delay="1500"/>
                            </p:stCondLst>
                            <p:childTnLst>
                              <p:par>
                                <p:cTn id="54" presetID="1" presetClass="entr" presetSubtype="0" fill="hold" nodeType="after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8" grpId="0"/>
      <p:bldP spid="1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tr-TR" altLang="en-US"/>
              <a:t>Inheriting Memetic Material – SIM </a:t>
            </a:r>
            <a:endParaRPr lang="en-US" altLang="en-US"/>
          </a:p>
        </p:txBody>
      </p:sp>
      <p:sp>
        <p:nvSpPr>
          <p:cNvPr id="4" name="Content Placeholder 3"/>
          <p:cNvSpPr>
            <a:spLocks noGrp="1"/>
          </p:cNvSpPr>
          <p:nvPr>
            <p:ph sz="half" idx="1"/>
          </p:nvPr>
        </p:nvSpPr>
        <p:spPr>
          <a:xfrm>
            <a:off x="1981200" y="2420889"/>
            <a:ext cx="4038600" cy="3710037"/>
          </a:xfrm>
        </p:spPr>
        <p:txBody>
          <a:bodyPr/>
          <a:lstStyle/>
          <a:p>
            <a:pPr marL="0" indent="0">
              <a:buNone/>
            </a:pPr>
            <a:r>
              <a:rPr lang="en-GB" sz="2400" dirty="0"/>
              <a:t>(1 0 0 0 1 </a:t>
            </a:r>
            <a:r>
              <a:rPr lang="en-AU" altLang="en-US" sz="2400" dirty="0">
                <a:solidFill>
                  <a:srgbClr val="FF0000"/>
                </a:solidFill>
              </a:rPr>
              <a:t>+ Hc1Hs1I2</a:t>
            </a:r>
            <a:r>
              <a:rPr lang="en-AU" altLang="en-US" sz="2400" dirty="0"/>
              <a:t>) </a:t>
            </a:r>
            <a:r>
              <a:rPr lang="en-AU" altLang="en-US" sz="2400" i="1" dirty="0">
                <a:latin typeface="Times New Roman" panose="02020603050405020304" pitchFamily="18" charset="0"/>
                <a:cs typeface="Times New Roman" panose="02020603050405020304" pitchFamily="18" charset="0"/>
              </a:rPr>
              <a:t>f </a:t>
            </a:r>
            <a:r>
              <a:rPr lang="en-AU" altLang="en-US" sz="2400" dirty="0"/>
              <a:t>=2</a:t>
            </a:r>
          </a:p>
          <a:p>
            <a:pPr marL="0" indent="0">
              <a:buNone/>
            </a:pPr>
            <a:r>
              <a:rPr lang="en-GB" sz="2400" dirty="0"/>
              <a:t>(</a:t>
            </a:r>
            <a:r>
              <a:rPr lang="en-GB" sz="2400" b="1" dirty="0"/>
              <a:t>1 1 0 1 1 </a:t>
            </a:r>
            <a:r>
              <a:rPr lang="en-AU" altLang="en-US" sz="2400" dirty="0">
                <a:solidFill>
                  <a:srgbClr val="FF0000"/>
                </a:solidFill>
              </a:rPr>
              <a:t>+ </a:t>
            </a:r>
            <a:r>
              <a:rPr lang="en-AU" altLang="en-US" sz="2400" b="1" dirty="0">
                <a:solidFill>
                  <a:srgbClr val="FF0000"/>
                </a:solidFill>
              </a:rPr>
              <a:t>Hc0Hs4I1</a:t>
            </a:r>
            <a:r>
              <a:rPr lang="en-AU" altLang="en-US" sz="2400" dirty="0"/>
              <a:t>) </a:t>
            </a:r>
            <a:r>
              <a:rPr lang="en-AU" altLang="en-US" sz="2400" i="1" dirty="0">
                <a:latin typeface="Times New Roman" panose="02020603050405020304" pitchFamily="18" charset="0"/>
                <a:cs typeface="Times New Roman" panose="02020603050405020304" pitchFamily="18" charset="0"/>
              </a:rPr>
              <a:t>f </a:t>
            </a:r>
            <a:r>
              <a:rPr lang="en-AU" altLang="en-US" sz="2400" dirty="0"/>
              <a:t>=1</a:t>
            </a:r>
            <a:endParaRPr lang="en-GB" sz="2400" dirty="0"/>
          </a:p>
          <a:p>
            <a:pPr marL="0" indent="0">
              <a:buNone/>
            </a:pPr>
            <a:endParaRPr lang="en-GB" sz="2400" dirty="0"/>
          </a:p>
          <a:p>
            <a:pPr marL="0" indent="0">
              <a:buNone/>
            </a:pPr>
            <a:r>
              <a:rPr lang="en-GB" sz="2400" dirty="0"/>
              <a:t>(</a:t>
            </a:r>
            <a:r>
              <a:rPr lang="en-GB" sz="2400" b="1" dirty="0"/>
              <a:t>1 1 </a:t>
            </a:r>
            <a:r>
              <a:rPr lang="en-GB" sz="2400" dirty="0"/>
              <a:t>0 0 1 </a:t>
            </a:r>
            <a:r>
              <a:rPr lang="en-AU" altLang="en-US" sz="2400" dirty="0">
                <a:solidFill>
                  <a:srgbClr val="FF0000"/>
                </a:solidFill>
              </a:rPr>
              <a:t>+ </a:t>
            </a:r>
            <a:r>
              <a:rPr lang="en-AU" altLang="en-US" sz="2400" b="1" dirty="0">
                <a:solidFill>
                  <a:srgbClr val="FF0000"/>
                </a:solidFill>
              </a:rPr>
              <a:t>Hc0Hs4I1</a:t>
            </a:r>
            <a:r>
              <a:rPr lang="en-AU" altLang="en-US" sz="2400" dirty="0"/>
              <a:t>) </a:t>
            </a:r>
          </a:p>
          <a:p>
            <a:pPr marL="0" indent="0">
              <a:buNone/>
            </a:pPr>
            <a:r>
              <a:rPr lang="en-GB" sz="2400" dirty="0"/>
              <a:t>(1 0 </a:t>
            </a:r>
            <a:r>
              <a:rPr lang="en-GB" sz="2400" b="1" dirty="0"/>
              <a:t>0 1 1 </a:t>
            </a:r>
            <a:r>
              <a:rPr lang="en-AU" altLang="en-US" sz="2400" dirty="0">
                <a:solidFill>
                  <a:srgbClr val="FF0000"/>
                </a:solidFill>
              </a:rPr>
              <a:t>+ </a:t>
            </a:r>
            <a:r>
              <a:rPr lang="en-AU" altLang="en-US" sz="2400" b="1" dirty="0">
                <a:solidFill>
                  <a:srgbClr val="FF0000"/>
                </a:solidFill>
              </a:rPr>
              <a:t>Hc0Hs4I1</a:t>
            </a:r>
            <a:r>
              <a:rPr lang="en-AU" altLang="en-US" sz="2400" dirty="0"/>
              <a:t>)</a:t>
            </a:r>
            <a:endParaRPr lang="en-GB" sz="2400" dirty="0"/>
          </a:p>
        </p:txBody>
      </p:sp>
      <p:pic>
        <p:nvPicPr>
          <p:cNvPr id="829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8613" y="1772817"/>
            <a:ext cx="3931003" cy="3659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Connector 6"/>
          <p:cNvCxnSpPr/>
          <p:nvPr/>
        </p:nvCxnSpPr>
        <p:spPr bwMode="auto">
          <a:xfrm>
            <a:off x="2550716" y="2209726"/>
            <a:ext cx="0" cy="1219274"/>
          </a:xfrm>
          <a:prstGeom prst="line">
            <a:avLst/>
          </a:prstGeom>
          <a:solidFill>
            <a:schemeClr val="accent1"/>
          </a:solidFill>
          <a:ln w="4445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Slide Number Placeholder 1"/>
          <p:cNvSpPr>
            <a:spLocks noGrp="1"/>
          </p:cNvSpPr>
          <p:nvPr>
            <p:ph type="sldNum" sz="quarter" idx="12"/>
          </p:nvPr>
        </p:nvSpPr>
        <p:spPr/>
        <p:txBody>
          <a:bodyPr/>
          <a:lstStyle/>
          <a:p>
            <a:fld id="{FEAB93A7-CF51-45B9-A2D9-9F095E6D369A}" type="slidenum">
              <a:rPr lang="tr-TR" altLang="en-US" smtClean="0"/>
              <a:pPr/>
              <a:t>52</a:t>
            </a:fld>
            <a:endParaRPr lang="tr-TR" altLang="en-US"/>
          </a:p>
        </p:txBody>
      </p:sp>
      <p:sp>
        <p:nvSpPr>
          <p:cNvPr id="8" name="Rectangle 7"/>
          <p:cNvSpPr/>
          <p:nvPr/>
        </p:nvSpPr>
        <p:spPr>
          <a:xfrm>
            <a:off x="2351584" y="5642084"/>
            <a:ext cx="8208912" cy="523220"/>
          </a:xfrm>
          <a:prstGeom prst="rect">
            <a:avLst/>
          </a:prstGeom>
        </p:spPr>
        <p:txBody>
          <a:bodyPr wrap="square">
            <a:spAutoFit/>
          </a:bodyPr>
          <a:lstStyle/>
          <a:p>
            <a:r>
              <a:rPr lang="en-GB" sz="1400" b="0" dirty="0" err="1"/>
              <a:t>Krasnogor</a:t>
            </a:r>
            <a:r>
              <a:rPr lang="en-GB" sz="1400" b="0" dirty="0"/>
              <a:t> N, Smith JE (2001) Emergence of profitable search strategies based on a simple inheritance mechanism. In: Proc of the Genetic and Evolutionary Comp. Conf., pp 432–439</a:t>
            </a:r>
          </a:p>
        </p:txBody>
      </p:sp>
      <p:sp>
        <p:nvSpPr>
          <p:cNvPr id="9" name="Rectangle 8"/>
          <p:cNvSpPr/>
          <p:nvPr/>
        </p:nvSpPr>
        <p:spPr>
          <a:xfrm>
            <a:off x="3440832" y="6093297"/>
            <a:ext cx="6030416" cy="307777"/>
          </a:xfrm>
          <a:prstGeom prst="rect">
            <a:avLst/>
          </a:prstGeom>
        </p:spPr>
        <p:txBody>
          <a:bodyPr wrap="square">
            <a:spAutoFit/>
          </a:bodyPr>
          <a:lstStyle/>
          <a:p>
            <a:r>
              <a:rPr lang="en-GB" sz="1400" b="0" dirty="0">
                <a:hlinkClick r:id="rId4"/>
              </a:rPr>
              <a:t>http://eprints.uwe.ac.uk/11088/1/11088.pdf</a:t>
            </a:r>
            <a:r>
              <a:rPr lang="en-GB" sz="1400" b="0" dirty="0"/>
              <a:t> </a:t>
            </a:r>
          </a:p>
        </p:txBody>
      </p:sp>
    </p:spTree>
    <p:custDataLst>
      <p:tags r:id="rId1"/>
    </p:custDataLst>
    <p:extLst>
      <p:ext uri="{BB962C8B-B14F-4D97-AF65-F5344CB8AC3E}">
        <p14:creationId xmlns:p14="http://schemas.microsoft.com/office/powerpoint/2010/main" val="4114903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xEl>
                                              <p:pRg st="3" end="3"/>
                                            </p:txEl>
                                          </p:spTgt>
                                        </p:tgtEl>
                                        <p:attrNameLst>
                                          <p:attrName>style.visibility</p:attrName>
                                        </p:attrNameLst>
                                      </p:cBhvr>
                                      <p:to>
                                        <p:strVal val="visible"/>
                                      </p:to>
                                    </p:set>
                                    <p:anim calcmode="lin" valueType="num">
                                      <p:cBhvr>
                                        <p:cTn id="14"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15"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16" dur="500"/>
                                        <p:tgtEl>
                                          <p:spTgt spid="4">
                                            <p:txEl>
                                              <p:pRg st="3" end="3"/>
                                            </p:txEl>
                                          </p:spTgt>
                                        </p:tgtEl>
                                      </p:cBhvr>
                                    </p:animEffect>
                                  </p:childTnLst>
                                </p:cTn>
                              </p:par>
                              <p:par>
                                <p:cTn id="17" presetID="53" presetClass="entr" presetSubtype="16"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p:cTn id="19"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20"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2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tr-TR" altLang="en-US"/>
              <a:t>Mutati</a:t>
            </a:r>
            <a:r>
              <a:rPr lang="en-US" altLang="en-US"/>
              <a:t>ng Memes during Evolution</a:t>
            </a:r>
          </a:p>
        </p:txBody>
      </p:sp>
      <p:sp>
        <p:nvSpPr>
          <p:cNvPr id="83971" name="Rectangle 3"/>
          <p:cNvSpPr>
            <a:spLocks noGrp="1" noChangeArrowheads="1"/>
          </p:cNvSpPr>
          <p:nvPr>
            <p:ph type="body" idx="1"/>
          </p:nvPr>
        </p:nvSpPr>
        <p:spPr>
          <a:xfrm>
            <a:off x="425451" y="1168167"/>
            <a:ext cx="11341099" cy="4860925"/>
          </a:xfrm>
        </p:spPr>
        <p:txBody>
          <a:bodyPr>
            <a:normAutofit lnSpcReduction="10000"/>
          </a:bodyPr>
          <a:lstStyle/>
          <a:p>
            <a:pPr>
              <a:lnSpc>
                <a:spcPct val="90000"/>
              </a:lnSpc>
            </a:pPr>
            <a:r>
              <a:rPr lang="tr-TR" altLang="en-US" sz="2600" dirty="0"/>
              <a:t>Inovation rate (IR) </a:t>
            </a:r>
            <a:r>
              <a:rPr lang="tr-TR" altLang="en-US" sz="2600" dirty="0">
                <a:sym typeface="Symbol" pitchFamily="18" charset="2"/>
              </a:rPr>
              <a:t></a:t>
            </a:r>
            <a:r>
              <a:rPr lang="tr-TR" altLang="en-US" sz="2600" dirty="0"/>
              <a:t>[0,1], is the probability of mutating </a:t>
            </a:r>
            <a:r>
              <a:rPr lang="en-GB" altLang="en-US" sz="2600" dirty="0"/>
              <a:t>the</a:t>
            </a:r>
            <a:r>
              <a:rPr lang="tr-TR" altLang="en-US" sz="2600" dirty="0"/>
              <a:t> meme</a:t>
            </a:r>
            <a:r>
              <a:rPr lang="en-GB" altLang="en-US" sz="2600" dirty="0"/>
              <a:t>s</a:t>
            </a:r>
          </a:p>
          <a:p>
            <a:pPr>
              <a:lnSpc>
                <a:spcPct val="90000"/>
              </a:lnSpc>
            </a:pPr>
            <a:endParaRPr lang="tr-TR" altLang="en-US" sz="2600" dirty="0"/>
          </a:p>
          <a:p>
            <a:pPr>
              <a:lnSpc>
                <a:spcPct val="90000"/>
              </a:lnSpc>
            </a:pPr>
            <a:r>
              <a:rPr lang="tr-TR" altLang="en-US" sz="2600" dirty="0"/>
              <a:t>Mutation randomly sets the meme</a:t>
            </a:r>
            <a:r>
              <a:rPr lang="en-GB" altLang="en-US" sz="2600" dirty="0"/>
              <a:t> option</a:t>
            </a:r>
            <a:r>
              <a:rPr lang="tr-TR" altLang="en-US" sz="2600" dirty="0"/>
              <a:t> to one of the </a:t>
            </a:r>
            <a:r>
              <a:rPr lang="en-GB" altLang="en-US" sz="2600" dirty="0"/>
              <a:t>other options</a:t>
            </a:r>
          </a:p>
          <a:p>
            <a:pPr lvl="1">
              <a:lnSpc>
                <a:spcPct val="90000"/>
              </a:lnSpc>
            </a:pPr>
            <a:r>
              <a:rPr lang="en-GB" sz="2400" dirty="0"/>
              <a:t>MAX-SAT: (1 0 0 0 1 </a:t>
            </a:r>
            <a:r>
              <a:rPr lang="en-AU" altLang="en-US" sz="2400" dirty="0">
                <a:solidFill>
                  <a:srgbClr val="FF0000"/>
                </a:solidFill>
              </a:rPr>
              <a:t>+ Hc2 </a:t>
            </a:r>
            <a:r>
              <a:rPr lang="en-AU" altLang="en-US" sz="2400" dirty="0"/>
              <a:t>) </a:t>
            </a:r>
            <a:r>
              <a:rPr lang="en-AU" altLang="en-US" sz="2400" dirty="0">
                <a:solidFill>
                  <a:srgbClr val="FF0000"/>
                </a:solidFill>
                <a:sym typeface="Symbol" panose="05050102010706020507" pitchFamily="18" charset="2"/>
              </a:rPr>
              <a:t> </a:t>
            </a:r>
            <a:r>
              <a:rPr lang="en-AU" altLang="en-US" sz="2400" dirty="0">
                <a:sym typeface="Symbol" panose="05050102010706020507" pitchFamily="18" charset="2"/>
              </a:rPr>
              <a:t>0: </a:t>
            </a:r>
            <a:r>
              <a:rPr lang="en-GB" sz="2400" dirty="0"/>
              <a:t>(1 0 0 0 1 </a:t>
            </a:r>
            <a:r>
              <a:rPr lang="en-AU" altLang="en-US" sz="2400" dirty="0">
                <a:solidFill>
                  <a:srgbClr val="FF0000"/>
                </a:solidFill>
              </a:rPr>
              <a:t>+ Hc0</a:t>
            </a:r>
            <a:r>
              <a:rPr lang="en-AU" altLang="en-US" sz="2400" dirty="0"/>
              <a:t>) </a:t>
            </a:r>
          </a:p>
          <a:p>
            <a:pPr lvl="1">
              <a:lnSpc>
                <a:spcPct val="90000"/>
              </a:lnSpc>
            </a:pPr>
            <a:r>
              <a:rPr lang="en-AU" altLang="en-US" sz="2400" dirty="0"/>
              <a:t>TSP:	</a:t>
            </a:r>
            <a:r>
              <a:rPr lang="en-AU" altLang="en-US" sz="2000" dirty="0"/>
              <a:t>(4 5 2 1 8 7 6 9 3 </a:t>
            </a:r>
            <a:r>
              <a:rPr lang="en-AU" altLang="en-US" sz="2000" dirty="0">
                <a:solidFill>
                  <a:srgbClr val="FF0000"/>
                </a:solidFill>
              </a:rPr>
              <a:t>+ Mp2Mo1Cp1Co2W0Hc1Hs1I2</a:t>
            </a:r>
            <a:r>
              <a:rPr lang="en-AU" altLang="en-US" sz="2000" dirty="0"/>
              <a:t>)</a:t>
            </a:r>
            <a:r>
              <a:rPr lang="en-AU" altLang="en-US" sz="2000" dirty="0">
                <a:solidFill>
                  <a:srgbClr val="FF0000"/>
                </a:solidFill>
                <a:sym typeface="Symbol" panose="05050102010706020507" pitchFamily="18" charset="2"/>
              </a:rPr>
              <a:t> </a:t>
            </a:r>
            <a:endParaRPr lang="en-AU" altLang="en-US" sz="2000" dirty="0"/>
          </a:p>
          <a:p>
            <a:pPr marL="457200" lvl="1" indent="0">
              <a:lnSpc>
                <a:spcPct val="90000"/>
              </a:lnSpc>
              <a:buNone/>
            </a:pPr>
            <a:r>
              <a:rPr lang="en-AU" altLang="en-US" sz="2000" dirty="0"/>
              <a:t>	        	(4 5 2 1 8 7 6 9 3 </a:t>
            </a:r>
            <a:r>
              <a:rPr lang="en-AU" altLang="en-US" sz="2000" dirty="0">
                <a:solidFill>
                  <a:srgbClr val="FF0000"/>
                </a:solidFill>
              </a:rPr>
              <a:t>+ Mp0Mo2Cp0Co1W1Hc3Hs0I4</a:t>
            </a:r>
            <a:r>
              <a:rPr lang="en-AU" altLang="en-US" sz="2000" dirty="0"/>
              <a:t>)</a:t>
            </a:r>
            <a:endParaRPr lang="tr-TR" altLang="en-US" sz="2000" dirty="0"/>
          </a:p>
          <a:p>
            <a:pPr>
              <a:lnSpc>
                <a:spcPct val="90000"/>
              </a:lnSpc>
            </a:pPr>
            <a:endParaRPr lang="tr-TR" altLang="en-US" sz="2600" dirty="0"/>
          </a:p>
          <a:p>
            <a:pPr>
              <a:lnSpc>
                <a:spcPct val="90000"/>
              </a:lnSpc>
            </a:pPr>
            <a:r>
              <a:rPr lang="tr-TR" altLang="en-US" sz="2600" dirty="0"/>
              <a:t>IR=0; no innovation, if a</a:t>
            </a:r>
            <a:r>
              <a:rPr lang="en-GB" altLang="en-US" sz="2600" dirty="0"/>
              <a:t> meme option </a:t>
            </a:r>
            <a:r>
              <a:rPr lang="tr-TR" altLang="en-US" sz="2600" dirty="0"/>
              <a:t>is not introduced in the initial generation, it will not be reintroduced again</a:t>
            </a:r>
          </a:p>
          <a:p>
            <a:pPr>
              <a:lnSpc>
                <a:spcPct val="90000"/>
              </a:lnSpc>
            </a:pPr>
            <a:endParaRPr lang="tr-TR" altLang="en-US" sz="2600" dirty="0"/>
          </a:p>
          <a:p>
            <a:pPr>
              <a:lnSpc>
                <a:spcPct val="90000"/>
              </a:lnSpc>
            </a:pPr>
            <a:r>
              <a:rPr lang="tr-TR" altLang="en-US" sz="2600" dirty="0"/>
              <a:t>IR=1; All different strategies implied by the available M memes might be equally used.</a:t>
            </a:r>
            <a:endParaRPr lang="en-US" altLang="en-US" sz="2600" dirty="0"/>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53</a:t>
            </a:fld>
            <a:endParaRPr lang="tr-TR" altLang="en-US"/>
          </a:p>
        </p:txBody>
      </p:sp>
    </p:spTree>
    <p:extLst>
      <p:ext uri="{BB962C8B-B14F-4D97-AF65-F5344CB8AC3E}">
        <p14:creationId xmlns:p14="http://schemas.microsoft.com/office/powerpoint/2010/main" val="54656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animEffect transition="in" filter="dissolve">
                                      <p:cBhvr>
                                        <p:cTn id="7" dur="500"/>
                                        <p:tgtEl>
                                          <p:spTgt spid="83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3971">
                                            <p:txEl>
                                              <p:pRg st="2" end="2"/>
                                            </p:txEl>
                                          </p:spTgt>
                                        </p:tgtEl>
                                        <p:attrNameLst>
                                          <p:attrName>style.visibility</p:attrName>
                                        </p:attrNameLst>
                                      </p:cBhvr>
                                      <p:to>
                                        <p:strVal val="visible"/>
                                      </p:to>
                                    </p:set>
                                    <p:animEffect transition="in" filter="dissolve">
                                      <p:cBhvr>
                                        <p:cTn id="12" dur="500"/>
                                        <p:tgtEl>
                                          <p:spTgt spid="83971">
                                            <p:txEl>
                                              <p:pRg st="2" end="2"/>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83971">
                                            <p:txEl>
                                              <p:pRg st="3" end="3"/>
                                            </p:txEl>
                                          </p:spTgt>
                                        </p:tgtEl>
                                        <p:attrNameLst>
                                          <p:attrName>style.visibility</p:attrName>
                                        </p:attrNameLst>
                                      </p:cBhvr>
                                      <p:to>
                                        <p:strVal val="visible"/>
                                      </p:to>
                                    </p:set>
                                    <p:animEffect transition="in" filter="dissolve">
                                      <p:cBhvr>
                                        <p:cTn id="15" dur="500"/>
                                        <p:tgtEl>
                                          <p:spTgt spid="83971">
                                            <p:txEl>
                                              <p:pRg st="3" end="3"/>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83971">
                                            <p:txEl>
                                              <p:pRg st="4" end="4"/>
                                            </p:txEl>
                                          </p:spTgt>
                                        </p:tgtEl>
                                        <p:attrNameLst>
                                          <p:attrName>style.visibility</p:attrName>
                                        </p:attrNameLst>
                                      </p:cBhvr>
                                      <p:to>
                                        <p:strVal val="visible"/>
                                      </p:to>
                                    </p:set>
                                    <p:animEffect transition="in" filter="dissolve">
                                      <p:cBhvr>
                                        <p:cTn id="18" dur="500"/>
                                        <p:tgtEl>
                                          <p:spTgt spid="83971">
                                            <p:txEl>
                                              <p:pRg st="4" end="4"/>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83971">
                                            <p:txEl>
                                              <p:pRg st="5" end="5"/>
                                            </p:txEl>
                                          </p:spTgt>
                                        </p:tgtEl>
                                        <p:attrNameLst>
                                          <p:attrName>style.visibility</p:attrName>
                                        </p:attrNameLst>
                                      </p:cBhvr>
                                      <p:to>
                                        <p:strVal val="visible"/>
                                      </p:to>
                                    </p:set>
                                    <p:animEffect transition="in" filter="dissolve">
                                      <p:cBhvr>
                                        <p:cTn id="21" dur="500"/>
                                        <p:tgtEl>
                                          <p:spTgt spid="83971">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83971">
                                            <p:txEl>
                                              <p:pRg st="7" end="7"/>
                                            </p:txEl>
                                          </p:spTgt>
                                        </p:tgtEl>
                                        <p:attrNameLst>
                                          <p:attrName>style.visibility</p:attrName>
                                        </p:attrNameLst>
                                      </p:cBhvr>
                                      <p:to>
                                        <p:strVal val="visible"/>
                                      </p:to>
                                    </p:set>
                                    <p:animEffect transition="in" filter="dissolve">
                                      <p:cBhvr>
                                        <p:cTn id="26" dur="500"/>
                                        <p:tgtEl>
                                          <p:spTgt spid="83971">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83971">
                                            <p:txEl>
                                              <p:pRg st="9" end="9"/>
                                            </p:txEl>
                                          </p:spTgt>
                                        </p:tgtEl>
                                        <p:attrNameLst>
                                          <p:attrName>style.visibility</p:attrName>
                                        </p:attrNameLst>
                                      </p:cBhvr>
                                      <p:to>
                                        <p:strVal val="visible"/>
                                      </p:to>
                                    </p:set>
                                    <p:animEffect transition="in" filter="dissolve">
                                      <p:cBhvr>
                                        <p:cTn id="31" dur="500"/>
                                        <p:tgtEl>
                                          <p:spTgt spid="8397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tr-TR" altLang="en-US" sz="3400"/>
              <a:t>Measure for Evaluating Meme Performance </a:t>
            </a:r>
            <a:endParaRPr lang="en-US" altLang="en-US" sz="3400"/>
          </a:p>
        </p:txBody>
      </p:sp>
      <p:sp>
        <p:nvSpPr>
          <p:cNvPr id="84995" name="Rectangle 3"/>
          <p:cNvSpPr>
            <a:spLocks noGrp="1" noChangeArrowheads="1"/>
          </p:cNvSpPr>
          <p:nvPr>
            <p:ph type="body" idx="1"/>
          </p:nvPr>
        </p:nvSpPr>
        <p:spPr>
          <a:xfrm>
            <a:off x="425450" y="1764779"/>
            <a:ext cx="11341099" cy="4860925"/>
          </a:xfrm>
        </p:spPr>
        <p:txBody>
          <a:bodyPr/>
          <a:lstStyle/>
          <a:p>
            <a:r>
              <a:rPr lang="tr-TR" altLang="en-US" sz="2800" i="1" dirty="0"/>
              <a:t>Concentration of a meme</a:t>
            </a:r>
            <a:r>
              <a:rPr lang="tr-TR" altLang="en-US" sz="2800" dirty="0"/>
              <a:t> </a:t>
            </a:r>
            <a:r>
              <a:rPr lang="en-GB" altLang="en-US" sz="2800" dirty="0"/>
              <a:t>(</a:t>
            </a:r>
            <a:r>
              <a:rPr lang="en-GB" altLang="en-US" sz="2800" i="1" dirty="0">
                <a:latin typeface="Times New Roman" panose="02020603050405020304" pitchFamily="18" charset="0"/>
                <a:cs typeface="Times New Roman" panose="02020603050405020304" pitchFamily="18" charset="0"/>
              </a:rPr>
              <a:t>c</a:t>
            </a:r>
            <a:r>
              <a:rPr lang="en-GB" altLang="en-US" sz="2800" i="1" baseline="-25000" dirty="0">
                <a:latin typeface="Times New Roman" panose="02020603050405020304" pitchFamily="18" charset="0"/>
                <a:cs typeface="Times New Roman" panose="02020603050405020304" pitchFamily="18" charset="0"/>
              </a:rPr>
              <a:t>i</a:t>
            </a:r>
            <a:r>
              <a:rPr lang="en-GB" altLang="en-US" sz="2800" dirty="0">
                <a:latin typeface="Times New Roman" panose="02020603050405020304" pitchFamily="18" charset="0"/>
                <a:cs typeface="Times New Roman" panose="02020603050405020304" pitchFamily="18" charset="0"/>
              </a:rPr>
              <a:t>(</a:t>
            </a:r>
            <a:r>
              <a:rPr lang="en-GB" altLang="en-US" sz="2800" i="1" dirty="0">
                <a:latin typeface="Times New Roman" panose="02020603050405020304" pitchFamily="18" charset="0"/>
                <a:cs typeface="Times New Roman" panose="02020603050405020304" pitchFamily="18" charset="0"/>
              </a:rPr>
              <a:t>t</a:t>
            </a:r>
            <a:r>
              <a:rPr lang="en-GB" altLang="en-US" sz="2800" dirty="0">
                <a:latin typeface="Times New Roman" panose="02020603050405020304" pitchFamily="18" charset="0"/>
                <a:cs typeface="Times New Roman" panose="02020603050405020304" pitchFamily="18" charset="0"/>
              </a:rPr>
              <a:t>)</a:t>
            </a:r>
            <a:r>
              <a:rPr lang="en-GB" altLang="en-US" sz="2800" dirty="0"/>
              <a:t>) </a:t>
            </a:r>
            <a:r>
              <a:rPr lang="tr-TR" altLang="en-US" sz="2800" dirty="0"/>
              <a:t>is the total number of individuals that carry the meme </a:t>
            </a:r>
            <a:r>
              <a:rPr lang="en-GB" altLang="en-US" sz="2800" i="1" dirty="0" err="1"/>
              <a:t>i</a:t>
            </a:r>
            <a:r>
              <a:rPr lang="en-GB" altLang="en-US" sz="2800" dirty="0"/>
              <a:t> </a:t>
            </a:r>
            <a:r>
              <a:rPr lang="tr-TR" altLang="en-US" sz="2800" dirty="0"/>
              <a:t>at a given generation</a:t>
            </a:r>
            <a:r>
              <a:rPr lang="en-GB" altLang="en-US" sz="2800" dirty="0"/>
              <a:t> </a:t>
            </a:r>
            <a:r>
              <a:rPr lang="en-GB" altLang="en-US" sz="2800" i="1" dirty="0"/>
              <a:t>t</a:t>
            </a:r>
            <a:r>
              <a:rPr lang="tr-TR" altLang="en-US" sz="2800" dirty="0"/>
              <a:t>,</a:t>
            </a:r>
          </a:p>
          <a:p>
            <a:pPr lvl="1"/>
            <a:r>
              <a:rPr lang="tr-TR" altLang="en-US" sz="2300" dirty="0"/>
              <a:t>Crude measure of a meme success; gives no information about continual usage of a meme</a:t>
            </a:r>
          </a:p>
          <a:p>
            <a:pPr lvl="1"/>
            <a:endParaRPr lang="tr-TR" altLang="en-US" sz="2300" dirty="0"/>
          </a:p>
          <a:p>
            <a:r>
              <a:rPr lang="tr-TR" altLang="en-US" sz="2800" i="1" dirty="0"/>
              <a:t>Evolutionary activity of a meme</a:t>
            </a:r>
            <a:r>
              <a:rPr lang="en-GB" altLang="en-US" sz="2800" i="1" dirty="0"/>
              <a:t> </a:t>
            </a:r>
            <a:r>
              <a:rPr lang="en-GB" altLang="en-US" sz="2800" dirty="0"/>
              <a:t>(</a:t>
            </a:r>
            <a:r>
              <a:rPr lang="en-GB" altLang="en-US" sz="2800" i="1" dirty="0" err="1">
                <a:latin typeface="Times New Roman" panose="02020603050405020304" pitchFamily="18" charset="0"/>
                <a:cs typeface="Times New Roman" panose="02020603050405020304" pitchFamily="18" charset="0"/>
              </a:rPr>
              <a:t>a</a:t>
            </a:r>
            <a:r>
              <a:rPr lang="en-GB" altLang="en-US" sz="2800" i="1" baseline="-25000" dirty="0" err="1">
                <a:latin typeface="Times New Roman" panose="02020603050405020304" pitchFamily="18" charset="0"/>
                <a:cs typeface="Times New Roman" panose="02020603050405020304" pitchFamily="18" charset="0"/>
              </a:rPr>
              <a:t>i</a:t>
            </a:r>
            <a:r>
              <a:rPr lang="en-GB" altLang="en-US" sz="2800" dirty="0">
                <a:latin typeface="Times New Roman" panose="02020603050405020304" pitchFamily="18" charset="0"/>
                <a:cs typeface="Times New Roman" panose="02020603050405020304" pitchFamily="18" charset="0"/>
              </a:rPr>
              <a:t>(</a:t>
            </a:r>
            <a:r>
              <a:rPr lang="en-GB" altLang="en-US" sz="2800" i="1" dirty="0">
                <a:latin typeface="Times New Roman" panose="02020603050405020304" pitchFamily="18" charset="0"/>
                <a:cs typeface="Times New Roman" panose="02020603050405020304" pitchFamily="18" charset="0"/>
              </a:rPr>
              <a:t>t</a:t>
            </a:r>
            <a:r>
              <a:rPr lang="en-GB" altLang="en-US" sz="2800" dirty="0">
                <a:latin typeface="Times New Roman" panose="02020603050405020304" pitchFamily="18" charset="0"/>
                <a:cs typeface="Times New Roman" panose="02020603050405020304" pitchFamily="18" charset="0"/>
              </a:rPr>
              <a:t>)</a:t>
            </a:r>
            <a:r>
              <a:rPr lang="en-GB" altLang="en-US" sz="2800" dirty="0"/>
              <a:t>)</a:t>
            </a:r>
            <a:r>
              <a:rPr lang="tr-TR" altLang="en-US" sz="2800" dirty="0"/>
              <a:t> is the accumulation of meme concentration until a given generation,</a:t>
            </a:r>
            <a:r>
              <a:rPr lang="en-GB" altLang="en-US" sz="2800" dirty="0"/>
              <a:t> </a:t>
            </a:r>
            <a:endParaRPr lang="tr-TR" altLang="en-US" sz="2800" dirty="0"/>
          </a:p>
          <a:p>
            <a:pPr marL="0" indent="0">
              <a:buNone/>
            </a:pPr>
            <a:endParaRPr lang="tr-TR" altLang="en-US" sz="2800" dirty="0"/>
          </a:p>
          <a:p>
            <a:pPr lvl="1"/>
            <a:r>
              <a:rPr lang="tr-TR" altLang="en-US" sz="2300" dirty="0"/>
              <a:t>Slope </a:t>
            </a:r>
            <a:r>
              <a:rPr lang="en-GB" altLang="en-US" sz="2300" dirty="0"/>
              <a:t>in a plot </a:t>
            </a:r>
            <a:r>
              <a:rPr lang="tr-TR" altLang="en-US" sz="2300" dirty="0"/>
              <a:t>represents the</a:t>
            </a:r>
            <a:r>
              <a:rPr lang="en-GB" altLang="en-US" sz="2300" dirty="0"/>
              <a:t> rate of increase of</a:t>
            </a:r>
            <a:r>
              <a:rPr lang="tr-TR" altLang="en-US" sz="2300" dirty="0"/>
              <a:t> </a:t>
            </a:r>
            <a:r>
              <a:rPr lang="en-GB" altLang="en-US" sz="2300" dirty="0"/>
              <a:t>a </a:t>
            </a:r>
            <a:r>
              <a:rPr lang="tr-TR" altLang="en-US" sz="2300" dirty="0"/>
              <a:t>meme concentration</a:t>
            </a:r>
            <a:endParaRPr lang="en-US" altLang="en-US" sz="2300" dirty="0"/>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54</a:t>
            </a:fld>
            <a:endParaRPr lang="tr-TR" altLang="en-US"/>
          </a:p>
        </p:txBody>
      </p:sp>
      <mc:AlternateContent xmlns:mc="http://schemas.openxmlformats.org/markup-compatibility/2006" xmlns:a14="http://schemas.microsoft.com/office/drawing/2010/main">
        <mc:Choice Requires="a14">
          <p:sp>
            <p:nvSpPr>
              <p:cNvPr id="3" name="Rectangle 2"/>
              <p:cNvSpPr/>
              <p:nvPr/>
            </p:nvSpPr>
            <p:spPr>
              <a:xfrm>
                <a:off x="6799497" y="4195241"/>
                <a:ext cx="2850973" cy="811761"/>
              </a:xfrm>
              <a:prstGeom prst="rect">
                <a:avLst/>
              </a:prstGeom>
            </p:spPr>
            <p:txBody>
              <a:bodyPr wrap="square">
                <a:spAutoFit/>
              </a:bodyPr>
              <a:lstStyle/>
              <a:p>
                <a:r>
                  <a:rPr lang="en-GB" altLang="en-US" i="1" dirty="0">
                    <a:latin typeface="Times New Roman" panose="02020603050405020304" pitchFamily="18" charset="0"/>
                    <a:cs typeface="Times New Roman" panose="02020603050405020304" pitchFamily="18" charset="0"/>
                  </a:rPr>
                  <a:t>a</a:t>
                </a:r>
                <a:r>
                  <a:rPr lang="en-GB" altLang="en-US" i="1" baseline="-25000" dirty="0" err="1">
                    <a:latin typeface="Times New Roman" panose="02020603050405020304" pitchFamily="18" charset="0"/>
                    <a:cs typeface="Times New Roman" panose="02020603050405020304" pitchFamily="18" charset="0"/>
                  </a:rPr>
                  <a:t>i</a:t>
                </a:r>
                <a:r>
                  <a:rPr lang="en-GB" altLang="en-US" dirty="0">
                    <a:latin typeface="Times New Roman" panose="02020603050405020304" pitchFamily="18" charset="0"/>
                    <a:cs typeface="Times New Roman" panose="02020603050405020304" pitchFamily="18" charset="0"/>
                  </a:rPr>
                  <a:t>(</a:t>
                </a:r>
                <a:r>
                  <a:rPr lang="en-GB" altLang="en-US" i="1" dirty="0">
                    <a:latin typeface="Times New Roman" panose="02020603050405020304" pitchFamily="18" charset="0"/>
                    <a:cs typeface="Times New Roman" panose="02020603050405020304" pitchFamily="18" charset="0"/>
                  </a:rPr>
                  <a:t>t</a:t>
                </a:r>
                <a:r>
                  <a:rPr lang="en-GB" altLang="en-US" dirty="0">
                    <a:latin typeface="Times New Roman" panose="02020603050405020304" pitchFamily="18" charset="0"/>
                    <a:cs typeface="Times New Roman" panose="02020603050405020304" pitchFamily="18" charset="0"/>
                  </a:rPr>
                  <a:t>)</a:t>
                </a:r>
                <a14:m>
                  <m:oMath xmlns:m="http://schemas.openxmlformats.org/officeDocument/2006/math">
                    <m:r>
                      <a:rPr lang="tr-TR" altLang="en-US" i="1">
                        <a:latin typeface="Cambria Math" panose="02040503050406030204" pitchFamily="18" charset="0"/>
                        <a:ea typeface="Cambria Math" panose="02040503050406030204" pitchFamily="18" charset="0"/>
                      </a:rPr>
                      <m:t>=</m:t>
                    </m:r>
                    <m:d>
                      <m:dPr>
                        <m:begChr m:val="{"/>
                        <m:endChr m:val=""/>
                        <m:ctrlPr>
                          <a:rPr lang="tr-TR" altLang="en-US" i="1">
                            <a:latin typeface="Cambria Math" panose="02040503050406030204" pitchFamily="18" charset="0"/>
                            <a:ea typeface="Cambria Math" panose="02040503050406030204" pitchFamily="18" charset="0"/>
                          </a:rPr>
                        </m:ctrlPr>
                      </m:dPr>
                      <m:e>
                        <m:eqArr>
                          <m:eqArrPr>
                            <m:ctrlPr>
                              <a:rPr lang="tr-TR" altLang="en-US" i="1">
                                <a:latin typeface="Cambria Math" panose="02040503050406030204" pitchFamily="18" charset="0"/>
                                <a:ea typeface="Cambria Math" panose="02040503050406030204" pitchFamily="18" charset="0"/>
                              </a:rPr>
                            </m:ctrlPr>
                          </m:eqArrPr>
                          <m:e>
                            <m:nary>
                              <m:naryPr>
                                <m:limLoc m:val="undOvr"/>
                                <m:ctrlPr>
                                  <a:rPr lang="tr-TR" altLang="en-US" i="1">
                                    <a:latin typeface="Cambria Math" panose="02040503050406030204" pitchFamily="18" charset="0"/>
                                    <a:ea typeface="Cambria Math" panose="02040503050406030204" pitchFamily="18" charset="0"/>
                                  </a:rPr>
                                </m:ctrlPr>
                              </m:naryPr>
                              <m:sub>
                                <m:r>
                                  <m:rPr>
                                    <m:brk m:alnAt="24"/>
                                  </m:rPr>
                                  <a:rPr lang="en-GB" altLang="en-US" i="1">
                                    <a:latin typeface="Cambria Math" panose="02040503050406030204" pitchFamily="18" charset="0"/>
                                    <a:ea typeface="Cambria Math" panose="02040503050406030204" pitchFamily="18" charset="0"/>
                                  </a:rPr>
                                  <m:t>0</m:t>
                                </m:r>
                              </m:sub>
                              <m:sup>
                                <m:r>
                                  <a:rPr lang="en-GB" altLang="en-US" i="1">
                                    <a:latin typeface="Cambria Math" panose="02040503050406030204" pitchFamily="18" charset="0"/>
                                    <a:ea typeface="Cambria Math" panose="02040503050406030204" pitchFamily="18" charset="0"/>
                                  </a:rPr>
                                  <m:t>𝑡</m:t>
                                </m:r>
                              </m:sup>
                              <m:e>
                                <m:r>
                                  <m:rPr>
                                    <m:nor/>
                                  </m:rPr>
                                  <a:rPr lang="en-GB" altLang="en-US" i="1" dirty="0">
                                    <a:latin typeface="Times New Roman" panose="02020603050405020304" pitchFamily="18" charset="0"/>
                                    <a:cs typeface="Times New Roman" panose="02020603050405020304" pitchFamily="18" charset="0"/>
                                  </a:rPr>
                                  <m:t>c</m:t>
                                </m:r>
                                <m:r>
                                  <m:rPr>
                                    <m:nor/>
                                  </m:rPr>
                                  <a:rPr lang="en-GB" altLang="en-US" i="1" baseline="-25000" dirty="0">
                                    <a:latin typeface="Times New Roman" panose="02020603050405020304" pitchFamily="18" charset="0"/>
                                    <a:cs typeface="Times New Roman" panose="02020603050405020304" pitchFamily="18" charset="0"/>
                                  </a:rPr>
                                  <m:t>i</m:t>
                                </m:r>
                                <m:r>
                                  <m:rPr>
                                    <m:nor/>
                                  </m:rPr>
                                  <a:rPr lang="en-GB" altLang="en-US" dirty="0">
                                    <a:latin typeface="Times New Roman" panose="02020603050405020304" pitchFamily="18" charset="0"/>
                                    <a:cs typeface="Times New Roman" panose="02020603050405020304" pitchFamily="18" charset="0"/>
                                  </a:rPr>
                                  <m:t>(</m:t>
                                </m:r>
                                <m:r>
                                  <m:rPr>
                                    <m:nor/>
                                  </m:rPr>
                                  <a:rPr lang="en-GB" altLang="en-US" i="1" dirty="0">
                                    <a:latin typeface="Times New Roman" panose="02020603050405020304" pitchFamily="18" charset="0"/>
                                    <a:cs typeface="Times New Roman" panose="02020603050405020304" pitchFamily="18" charset="0"/>
                                  </a:rPr>
                                  <m:t>t</m:t>
                                </m:r>
                                <m:r>
                                  <m:rPr>
                                    <m:nor/>
                                  </m:rPr>
                                  <a:rPr lang="en-GB" altLang="en-US" dirty="0">
                                    <a:latin typeface="Times New Roman" panose="02020603050405020304" pitchFamily="18" charset="0"/>
                                    <a:cs typeface="Times New Roman" panose="02020603050405020304" pitchFamily="18" charset="0"/>
                                  </a:rPr>
                                  <m:t>)</m:t>
                                </m:r>
                                <m:r>
                                  <m:rPr>
                                    <m:nor/>
                                  </m:rPr>
                                  <a:rPr lang="en-GB" altLang="en-US" i="1" dirty="0">
                                    <a:latin typeface="Times New Roman" panose="02020603050405020304" pitchFamily="18" charset="0"/>
                                    <a:cs typeface="Times New Roman" panose="02020603050405020304" pitchFamily="18" charset="0"/>
                                  </a:rPr>
                                  <m:t>dt</m:t>
                                </m:r>
                                <m:r>
                                  <m:rPr>
                                    <m:nor/>
                                  </m:rPr>
                                  <a:rPr lang="en-GB" altLang="en-US" b="0" i="1" dirty="0" smtClean="0">
                                    <a:latin typeface="Times New Roman" panose="02020603050405020304" pitchFamily="18" charset="0"/>
                                    <a:cs typeface="Times New Roman" panose="02020603050405020304" pitchFamily="18" charset="0"/>
                                  </a:rPr>
                                  <m:t>,</m:t>
                                </m:r>
                                <m:r>
                                  <m:rPr>
                                    <m:nor/>
                                  </m:rPr>
                                  <a:rPr lang="en-GB" altLang="en-US" b="0" i="0" dirty="0" smtClean="0">
                                    <a:latin typeface="Times New Roman" panose="02020603050405020304" pitchFamily="18" charset="0"/>
                                    <a:cs typeface="Times New Roman" panose="02020603050405020304" pitchFamily="18" charset="0"/>
                                  </a:rPr>
                                  <m:t> </m:t>
                                </m:r>
                                <m:r>
                                  <m:rPr>
                                    <m:nor/>
                                  </m:rPr>
                                  <a:rPr lang="en-GB" altLang="en-US" b="0" dirty="0" smtClean="0">
                                    <a:latin typeface="Times New Roman" panose="02020603050405020304" pitchFamily="18" charset="0"/>
                                    <a:cs typeface="Times New Roman" panose="02020603050405020304" pitchFamily="18" charset="0"/>
                                  </a:rPr>
                                  <m:t>if</m:t>
                                </m:r>
                                <m:r>
                                  <m:rPr>
                                    <m:nor/>
                                  </m:rPr>
                                  <a:rPr lang="en-GB" altLang="en-US" b="0" i="1" dirty="0" smtClean="0">
                                    <a:latin typeface="Times New Roman" panose="02020603050405020304" pitchFamily="18" charset="0"/>
                                    <a:cs typeface="Times New Roman" panose="02020603050405020304" pitchFamily="18" charset="0"/>
                                  </a:rPr>
                                  <m:t> </m:t>
                                </m:r>
                                <m:r>
                                  <m:rPr>
                                    <m:nor/>
                                  </m:rPr>
                                  <a:rPr lang="en-GB" altLang="en-US" i="1" dirty="0">
                                    <a:latin typeface="Times New Roman" panose="02020603050405020304" pitchFamily="18" charset="0"/>
                                    <a:cs typeface="Times New Roman" panose="02020603050405020304" pitchFamily="18" charset="0"/>
                                  </a:rPr>
                                  <m:t>c</m:t>
                                </m:r>
                                <m:r>
                                  <m:rPr>
                                    <m:nor/>
                                  </m:rPr>
                                  <a:rPr lang="en-GB" altLang="en-US" i="1" baseline="-25000" dirty="0">
                                    <a:latin typeface="Times New Roman" panose="02020603050405020304" pitchFamily="18" charset="0"/>
                                    <a:cs typeface="Times New Roman" panose="02020603050405020304" pitchFamily="18" charset="0"/>
                                  </a:rPr>
                                  <m:t>i</m:t>
                                </m:r>
                                <m:r>
                                  <m:rPr>
                                    <m:nor/>
                                  </m:rPr>
                                  <a:rPr lang="en-GB" altLang="en-US" dirty="0">
                                    <a:latin typeface="Times New Roman" panose="02020603050405020304" pitchFamily="18" charset="0"/>
                                    <a:cs typeface="Times New Roman" panose="02020603050405020304" pitchFamily="18" charset="0"/>
                                  </a:rPr>
                                  <m:t>(</m:t>
                                </m:r>
                                <m:r>
                                  <m:rPr>
                                    <m:nor/>
                                  </m:rPr>
                                  <a:rPr lang="en-GB" altLang="en-US" i="1" dirty="0">
                                    <a:latin typeface="Times New Roman" panose="02020603050405020304" pitchFamily="18" charset="0"/>
                                    <a:cs typeface="Times New Roman" panose="02020603050405020304" pitchFamily="18" charset="0"/>
                                  </a:rPr>
                                  <m:t>t</m:t>
                                </m:r>
                                <m:r>
                                  <m:rPr>
                                    <m:nor/>
                                  </m:rPr>
                                  <a:rPr lang="en-GB" altLang="en-US" dirty="0">
                                    <a:latin typeface="Times New Roman" panose="02020603050405020304" pitchFamily="18" charset="0"/>
                                    <a:cs typeface="Times New Roman" panose="02020603050405020304" pitchFamily="18" charset="0"/>
                                  </a:rPr>
                                  <m:t>)</m:t>
                                </m:r>
                                <m:r>
                                  <a:rPr lang="en-GB" altLang="en-US" b="0" i="0" dirty="0" smtClean="0">
                                    <a:latin typeface="Cambria Math" panose="02040503050406030204" pitchFamily="18" charset="0"/>
                                    <a:cs typeface="Times New Roman" panose="02020603050405020304" pitchFamily="18" charset="0"/>
                                  </a:rPr>
                                  <m:t>&gt;0</m:t>
                                </m:r>
                              </m:e>
                            </m:nary>
                          </m:e>
                          <m:e>
                            <m:r>
                              <a:rPr lang="en-GB" altLang="en-US" i="1">
                                <a:latin typeface="Cambria Math" panose="02040503050406030204" pitchFamily="18" charset="0"/>
                                <a:ea typeface="Cambria Math" panose="02040503050406030204" pitchFamily="18" charset="0"/>
                              </a:rPr>
                              <m:t>0</m:t>
                            </m:r>
                            <m:r>
                              <a:rPr lang="en-GB" altLang="en-US" b="0" i="1" smtClean="0">
                                <a:latin typeface="Cambria Math" panose="02040503050406030204" pitchFamily="18" charset="0"/>
                                <a:ea typeface="Cambria Math" panose="02040503050406030204" pitchFamily="18" charset="0"/>
                              </a:rPr>
                              <m:t>,</m:t>
                            </m:r>
                            <m:r>
                              <a:rPr lang="en-GB" altLang="en-US" b="0" i="0" smtClean="0">
                                <a:latin typeface="Cambria Math" panose="02040503050406030204" pitchFamily="18" charset="0"/>
                                <a:ea typeface="Cambria Math" panose="02040503050406030204" pitchFamily="18" charset="0"/>
                              </a:rPr>
                              <m:t>              </m:t>
                            </m:r>
                            <m:r>
                              <m:rPr>
                                <m:sty m:val="p"/>
                              </m:rPr>
                              <a:rPr lang="en-GB" altLang="en-US" b="0" i="0" smtClean="0">
                                <a:latin typeface="Cambria Math" panose="02040503050406030204" pitchFamily="18" charset="0"/>
                                <a:ea typeface="Cambria Math" panose="02040503050406030204" pitchFamily="18" charset="0"/>
                              </a:rPr>
                              <m:t>otherwise</m:t>
                            </m:r>
                          </m:e>
                        </m:eqArr>
                      </m:e>
                    </m:d>
                  </m:oMath>
                </a14:m>
                <a:endParaRPr lang="en-GB" dirty="0"/>
              </a:p>
            </p:txBody>
          </p:sp>
        </mc:Choice>
        <mc:Fallback xmlns="">
          <p:sp>
            <p:nvSpPr>
              <p:cNvPr id="3" name="Rectangle 2"/>
              <p:cNvSpPr>
                <a:spLocks noRot="1" noChangeAspect="1" noMove="1" noResize="1" noEditPoints="1" noAdjustHandles="1" noChangeArrowheads="1" noChangeShapeType="1" noTextEdit="1"/>
              </p:cNvSpPr>
              <p:nvPr/>
            </p:nvSpPr>
            <p:spPr>
              <a:xfrm>
                <a:off x="6799497" y="4195241"/>
                <a:ext cx="2850973" cy="811761"/>
              </a:xfrm>
              <a:prstGeom prst="rect">
                <a:avLst/>
              </a:prstGeom>
              <a:blipFill>
                <a:blip r:embed="rId4"/>
                <a:stretch>
                  <a:fillRect l="-22667" t="-193846" b="-278462"/>
                </a:stretch>
              </a:blipFill>
            </p:spPr>
            <p:txBody>
              <a:bodyPr/>
              <a:lstStyle/>
              <a:p>
                <a:r>
                  <a:rPr lang="en-GB">
                    <a:noFill/>
                  </a:rPr>
                  <a:t> </a:t>
                </a:r>
              </a:p>
            </p:txBody>
          </p:sp>
        </mc:Fallback>
      </mc:AlternateContent>
    </p:spTree>
    <p:custDataLst>
      <p:tags r:id="rId1"/>
    </p:custDataLst>
    <p:extLst>
      <p:ext uri="{BB962C8B-B14F-4D97-AF65-F5344CB8AC3E}">
        <p14:creationId xmlns:p14="http://schemas.microsoft.com/office/powerpoint/2010/main" val="2043635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Effect transition="in" filter="dissolve">
                                      <p:cBhvr>
                                        <p:cTn id="7" dur="500"/>
                                        <p:tgtEl>
                                          <p:spTgt spid="84995">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4995">
                                            <p:txEl>
                                              <p:pRg st="1" end="1"/>
                                            </p:txEl>
                                          </p:spTgt>
                                        </p:tgtEl>
                                        <p:attrNameLst>
                                          <p:attrName>style.visibility</p:attrName>
                                        </p:attrNameLst>
                                      </p:cBhvr>
                                      <p:to>
                                        <p:strVal val="visible"/>
                                      </p:to>
                                    </p:set>
                                    <p:animEffect transition="in" filter="dissolve">
                                      <p:cBhvr>
                                        <p:cTn id="10" dur="500"/>
                                        <p:tgtEl>
                                          <p:spTgt spid="8499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4995">
                                            <p:txEl>
                                              <p:pRg st="3" end="3"/>
                                            </p:txEl>
                                          </p:spTgt>
                                        </p:tgtEl>
                                        <p:attrNameLst>
                                          <p:attrName>style.visibility</p:attrName>
                                        </p:attrNameLst>
                                      </p:cBhvr>
                                      <p:to>
                                        <p:strVal val="visible"/>
                                      </p:to>
                                    </p:set>
                                    <p:animEffect transition="in" filter="dissolve">
                                      <p:cBhvr>
                                        <p:cTn id="15" dur="500"/>
                                        <p:tgtEl>
                                          <p:spTgt spid="84995">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84995">
                                            <p:txEl>
                                              <p:pRg st="5" end="5"/>
                                            </p:txEl>
                                          </p:spTgt>
                                        </p:tgtEl>
                                        <p:attrNameLst>
                                          <p:attrName>style.visibility</p:attrName>
                                        </p:attrNameLst>
                                      </p:cBhvr>
                                      <p:to>
                                        <p:strVal val="visible"/>
                                      </p:to>
                                    </p:set>
                                    <p:animEffect transition="in" filter="dissolve">
                                      <p:cBhvr>
                                        <p:cTn id="23" dur="500"/>
                                        <p:tgtEl>
                                          <p:spTgt spid="849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uiExpand="1" build="p"/>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lide Number Placeholder 5"/>
          <p:cNvSpPr>
            <a:spLocks noGrp="1"/>
          </p:cNvSpPr>
          <p:nvPr>
            <p:ph type="sldNum" sz="quarter" idx="12"/>
          </p:nvPr>
        </p:nvSpPr>
        <p:spPr/>
        <p:txBody>
          <a:bodyPr/>
          <a:lstStyle/>
          <a:p>
            <a:pPr>
              <a:defRPr/>
            </a:pPr>
            <a:fld id="{E09842EC-7C8A-424B-AAF1-D5804955F606}" type="slidenum">
              <a:rPr lang="en-US"/>
              <a:pPr>
                <a:defRPr/>
              </a:pPr>
              <a:t>55</a:t>
            </a:fld>
            <a:endParaRPr lang="en-US"/>
          </a:p>
        </p:txBody>
      </p:sp>
      <p:sp>
        <p:nvSpPr>
          <p:cNvPr id="67586" name="Rectangle 2"/>
          <p:cNvSpPr>
            <a:spLocks noGrp="1" noChangeArrowheads="1"/>
          </p:cNvSpPr>
          <p:nvPr>
            <p:ph type="title"/>
          </p:nvPr>
        </p:nvSpPr>
        <p:spPr/>
        <p:txBody>
          <a:bodyPr>
            <a:normAutofit fontScale="90000"/>
          </a:bodyPr>
          <a:lstStyle/>
          <a:p>
            <a:pPr eaLnBrk="1" hangingPunct="1">
              <a:defRPr/>
            </a:pPr>
            <a:r>
              <a:rPr lang="en-GB" dirty="0"/>
              <a:t>Memetic Algorithms (MAs)</a:t>
            </a:r>
            <a:br>
              <a:rPr lang="en-GB" dirty="0"/>
            </a:br>
            <a:endParaRPr lang="en-US" dirty="0"/>
          </a:p>
        </p:txBody>
      </p:sp>
      <p:sp>
        <p:nvSpPr>
          <p:cNvPr id="67590" name="Rectangle 6"/>
          <p:cNvSpPr>
            <a:spLocks noChangeArrowheads="1"/>
          </p:cNvSpPr>
          <p:nvPr/>
        </p:nvSpPr>
        <p:spPr bwMode="auto">
          <a:xfrm>
            <a:off x="5735638" y="2420938"/>
            <a:ext cx="2520950" cy="43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Select Mates (Parents)</a:t>
            </a:r>
            <a:endParaRPr lang="en-US" altLang="en-US"/>
          </a:p>
        </p:txBody>
      </p:sp>
      <p:sp>
        <p:nvSpPr>
          <p:cNvPr id="67591" name="Rectangle 7"/>
          <p:cNvSpPr>
            <a:spLocks noChangeArrowheads="1"/>
          </p:cNvSpPr>
          <p:nvPr/>
        </p:nvSpPr>
        <p:spPr bwMode="auto">
          <a:xfrm>
            <a:off x="5735638" y="3357563"/>
            <a:ext cx="2520950" cy="43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Crossover</a:t>
            </a:r>
            <a:endParaRPr lang="en-US" altLang="en-US"/>
          </a:p>
        </p:txBody>
      </p:sp>
      <p:sp>
        <p:nvSpPr>
          <p:cNvPr id="67592" name="Rectangle 8"/>
          <p:cNvSpPr>
            <a:spLocks noChangeArrowheads="1"/>
          </p:cNvSpPr>
          <p:nvPr/>
        </p:nvSpPr>
        <p:spPr bwMode="auto">
          <a:xfrm>
            <a:off x="5735638" y="4221163"/>
            <a:ext cx="2520950" cy="43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Mutate</a:t>
            </a:r>
            <a:endParaRPr lang="en-US" altLang="en-US"/>
          </a:p>
        </p:txBody>
      </p:sp>
      <p:sp>
        <p:nvSpPr>
          <p:cNvPr id="67593" name="AutoShape 9"/>
          <p:cNvSpPr>
            <a:spLocks noChangeArrowheads="1"/>
          </p:cNvSpPr>
          <p:nvPr/>
        </p:nvSpPr>
        <p:spPr bwMode="auto">
          <a:xfrm>
            <a:off x="8904289" y="2924176"/>
            <a:ext cx="1584325" cy="936625"/>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Terminate?</a:t>
            </a:r>
            <a:endParaRPr lang="en-US" altLang="en-US"/>
          </a:p>
        </p:txBody>
      </p:sp>
      <p:sp>
        <p:nvSpPr>
          <p:cNvPr id="67594" name="Rectangle 10"/>
          <p:cNvSpPr>
            <a:spLocks noChangeArrowheads="1"/>
          </p:cNvSpPr>
          <p:nvPr/>
        </p:nvSpPr>
        <p:spPr bwMode="auto">
          <a:xfrm>
            <a:off x="5735638" y="5949950"/>
            <a:ext cx="2520950" cy="43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Form Next Generation</a:t>
            </a:r>
            <a:endParaRPr lang="en-US" altLang="en-US"/>
          </a:p>
        </p:txBody>
      </p:sp>
      <p:grpSp>
        <p:nvGrpSpPr>
          <p:cNvPr id="2" name="Group 64"/>
          <p:cNvGrpSpPr>
            <a:grpSpLocks/>
          </p:cNvGrpSpPr>
          <p:nvPr/>
        </p:nvGrpSpPr>
        <p:grpSpPr bwMode="auto">
          <a:xfrm>
            <a:off x="4294189" y="2420938"/>
            <a:ext cx="1081087" cy="215900"/>
            <a:chOff x="1791" y="2614"/>
            <a:chExt cx="681" cy="136"/>
          </a:xfrm>
        </p:grpSpPr>
        <p:sp>
          <p:nvSpPr>
            <p:cNvPr id="6308" name="Rectangle 65"/>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309" name="Rectangle 66"/>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310" name="Rectangle 67"/>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311" name="Rectangle 68"/>
            <p:cNvSpPr>
              <a:spLocks noChangeArrowheads="1"/>
            </p:cNvSpPr>
            <p:nvPr/>
          </p:nvSpPr>
          <p:spPr bwMode="auto">
            <a:xfrm>
              <a:off x="2200"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312" name="Rectangle 69"/>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3" name="Group 70"/>
          <p:cNvGrpSpPr>
            <a:grpSpLocks/>
          </p:cNvGrpSpPr>
          <p:nvPr/>
        </p:nvGrpSpPr>
        <p:grpSpPr bwMode="auto">
          <a:xfrm>
            <a:off x="4294189" y="2662238"/>
            <a:ext cx="1081087" cy="215900"/>
            <a:chOff x="1791" y="2614"/>
            <a:chExt cx="681" cy="136"/>
          </a:xfrm>
        </p:grpSpPr>
        <p:sp>
          <p:nvSpPr>
            <p:cNvPr id="6303" name="Rectangle 71"/>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304" name="Rectangle 72"/>
            <p:cNvSpPr>
              <a:spLocks noChangeArrowheads="1"/>
            </p:cNvSpPr>
            <p:nvPr/>
          </p:nvSpPr>
          <p:spPr bwMode="auto">
            <a:xfrm>
              <a:off x="1927"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305" name="Rectangle 73"/>
            <p:cNvSpPr>
              <a:spLocks noChangeArrowheads="1"/>
            </p:cNvSpPr>
            <p:nvPr/>
          </p:nvSpPr>
          <p:spPr bwMode="auto">
            <a:xfrm>
              <a:off x="2064"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306" name="Rectangle 74"/>
            <p:cNvSpPr>
              <a:spLocks noChangeArrowheads="1"/>
            </p:cNvSpPr>
            <p:nvPr/>
          </p:nvSpPr>
          <p:spPr bwMode="auto">
            <a:xfrm>
              <a:off x="2200"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307" name="Rectangle 75"/>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4" name="Group 215"/>
          <p:cNvGrpSpPr>
            <a:grpSpLocks/>
          </p:cNvGrpSpPr>
          <p:nvPr/>
        </p:nvGrpSpPr>
        <p:grpSpPr bwMode="auto">
          <a:xfrm>
            <a:off x="3935413" y="2454275"/>
            <a:ext cx="647700" cy="420688"/>
            <a:chOff x="1519" y="1546"/>
            <a:chExt cx="408" cy="265"/>
          </a:xfrm>
        </p:grpSpPr>
        <p:sp>
          <p:nvSpPr>
            <p:cNvPr id="6301" name="Text Box 76"/>
            <p:cNvSpPr txBox="1">
              <a:spLocks noChangeArrowheads="1"/>
            </p:cNvSpPr>
            <p:nvPr/>
          </p:nvSpPr>
          <p:spPr bwMode="auto">
            <a:xfrm>
              <a:off x="1519" y="1546"/>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7.0</a:t>
              </a:r>
              <a:endParaRPr lang="en-US" altLang="en-US" sz="1200" b="1"/>
            </a:p>
          </p:txBody>
        </p:sp>
        <p:sp>
          <p:nvSpPr>
            <p:cNvPr id="6302" name="Text Box 77"/>
            <p:cNvSpPr txBox="1">
              <a:spLocks noChangeArrowheads="1"/>
            </p:cNvSpPr>
            <p:nvPr/>
          </p:nvSpPr>
          <p:spPr bwMode="auto">
            <a:xfrm>
              <a:off x="1564" y="1696"/>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9.0</a:t>
              </a:r>
              <a:endParaRPr lang="en-US" altLang="en-US" sz="1200" b="1"/>
            </a:p>
          </p:txBody>
        </p:sp>
      </p:grpSp>
      <p:grpSp>
        <p:nvGrpSpPr>
          <p:cNvPr id="5" name="Group 154"/>
          <p:cNvGrpSpPr>
            <a:grpSpLocks/>
          </p:cNvGrpSpPr>
          <p:nvPr/>
        </p:nvGrpSpPr>
        <p:grpSpPr bwMode="auto">
          <a:xfrm>
            <a:off x="4295775" y="2924175"/>
            <a:ext cx="1081088" cy="1214438"/>
            <a:chOff x="1655" y="2387"/>
            <a:chExt cx="681" cy="765"/>
          </a:xfrm>
        </p:grpSpPr>
        <p:grpSp>
          <p:nvGrpSpPr>
            <p:cNvPr id="6276" name="Group 78"/>
            <p:cNvGrpSpPr>
              <a:grpSpLocks/>
            </p:cNvGrpSpPr>
            <p:nvPr/>
          </p:nvGrpSpPr>
          <p:grpSpPr bwMode="auto">
            <a:xfrm>
              <a:off x="1655" y="2462"/>
              <a:ext cx="681" cy="136"/>
              <a:chOff x="1791" y="2614"/>
              <a:chExt cx="681" cy="136"/>
            </a:xfrm>
          </p:grpSpPr>
          <p:sp>
            <p:nvSpPr>
              <p:cNvPr id="6296" name="Rectangle 79"/>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97" name="Rectangle 80"/>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98" name="Rectangle 81"/>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99" name="Rectangle 82"/>
              <p:cNvSpPr>
                <a:spLocks noChangeArrowheads="1"/>
              </p:cNvSpPr>
              <p:nvPr/>
            </p:nvSpPr>
            <p:spPr bwMode="auto">
              <a:xfrm>
                <a:off x="2200"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300" name="Rectangle 83"/>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6277" name="Group 84"/>
            <p:cNvGrpSpPr>
              <a:grpSpLocks/>
            </p:cNvGrpSpPr>
            <p:nvPr/>
          </p:nvGrpSpPr>
          <p:grpSpPr bwMode="auto">
            <a:xfrm>
              <a:off x="1655" y="2614"/>
              <a:ext cx="681" cy="136"/>
              <a:chOff x="1791" y="2614"/>
              <a:chExt cx="681" cy="136"/>
            </a:xfrm>
          </p:grpSpPr>
          <p:sp>
            <p:nvSpPr>
              <p:cNvPr id="6291" name="Rectangle 85"/>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92" name="Rectangle 86"/>
              <p:cNvSpPr>
                <a:spLocks noChangeArrowheads="1"/>
              </p:cNvSpPr>
              <p:nvPr/>
            </p:nvSpPr>
            <p:spPr bwMode="auto">
              <a:xfrm>
                <a:off x="1927"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93" name="Rectangle 87"/>
              <p:cNvSpPr>
                <a:spLocks noChangeArrowheads="1"/>
              </p:cNvSpPr>
              <p:nvPr/>
            </p:nvSpPr>
            <p:spPr bwMode="auto">
              <a:xfrm>
                <a:off x="2064"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94" name="Rectangle 88"/>
              <p:cNvSpPr>
                <a:spLocks noChangeArrowheads="1"/>
              </p:cNvSpPr>
              <p:nvPr/>
            </p:nvSpPr>
            <p:spPr bwMode="auto">
              <a:xfrm>
                <a:off x="2200"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95" name="Rectangle 89"/>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sp>
          <p:nvSpPr>
            <p:cNvPr id="6278" name="Line 92"/>
            <p:cNvSpPr>
              <a:spLocks noChangeShapeType="1"/>
            </p:cNvSpPr>
            <p:nvPr/>
          </p:nvSpPr>
          <p:spPr bwMode="auto">
            <a:xfrm>
              <a:off x="1927" y="2387"/>
              <a:ext cx="0" cy="453"/>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GB"/>
            </a:p>
          </p:txBody>
        </p:sp>
        <p:grpSp>
          <p:nvGrpSpPr>
            <p:cNvPr id="6279" name="Group 93"/>
            <p:cNvGrpSpPr>
              <a:grpSpLocks/>
            </p:cNvGrpSpPr>
            <p:nvPr/>
          </p:nvGrpSpPr>
          <p:grpSpPr bwMode="auto">
            <a:xfrm>
              <a:off x="1655" y="2864"/>
              <a:ext cx="681" cy="136"/>
              <a:chOff x="1791" y="2614"/>
              <a:chExt cx="681" cy="136"/>
            </a:xfrm>
          </p:grpSpPr>
          <p:sp>
            <p:nvSpPr>
              <p:cNvPr id="6286" name="Rectangle 94"/>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87" name="Rectangle 95"/>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88" name="Rectangle 96"/>
              <p:cNvSpPr>
                <a:spLocks noChangeArrowheads="1"/>
              </p:cNvSpPr>
              <p:nvPr/>
            </p:nvSpPr>
            <p:spPr bwMode="auto">
              <a:xfrm>
                <a:off x="2064"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89" name="Rectangle 97"/>
              <p:cNvSpPr>
                <a:spLocks noChangeArrowheads="1"/>
              </p:cNvSpPr>
              <p:nvPr/>
            </p:nvSpPr>
            <p:spPr bwMode="auto">
              <a:xfrm>
                <a:off x="2200"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90" name="Rectangle 98"/>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6280" name="Group 99"/>
            <p:cNvGrpSpPr>
              <a:grpSpLocks/>
            </p:cNvGrpSpPr>
            <p:nvPr/>
          </p:nvGrpSpPr>
          <p:grpSpPr bwMode="auto">
            <a:xfrm>
              <a:off x="1655" y="3016"/>
              <a:ext cx="681" cy="136"/>
              <a:chOff x="1791" y="2614"/>
              <a:chExt cx="681" cy="136"/>
            </a:xfrm>
          </p:grpSpPr>
          <p:sp>
            <p:nvSpPr>
              <p:cNvPr id="6281" name="Rectangle 100"/>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82" name="Rectangle 101"/>
              <p:cNvSpPr>
                <a:spLocks noChangeArrowheads="1"/>
              </p:cNvSpPr>
              <p:nvPr/>
            </p:nvSpPr>
            <p:spPr bwMode="auto">
              <a:xfrm>
                <a:off x="1927"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83" name="Rectangle 102"/>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84" name="Rectangle 103"/>
              <p:cNvSpPr>
                <a:spLocks noChangeArrowheads="1"/>
              </p:cNvSpPr>
              <p:nvPr/>
            </p:nvSpPr>
            <p:spPr bwMode="auto">
              <a:xfrm>
                <a:off x="2200"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85" name="Rectangle 104"/>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sp>
        <p:nvSpPr>
          <p:cNvPr id="67703" name="Rectangle 119"/>
          <p:cNvSpPr>
            <a:spLocks noChangeArrowheads="1"/>
          </p:cNvSpPr>
          <p:nvPr/>
        </p:nvSpPr>
        <p:spPr bwMode="auto">
          <a:xfrm>
            <a:off x="5735638" y="4652963"/>
            <a:ext cx="2520950" cy="43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dirty="0"/>
              <a:t>Evaluate All Children</a:t>
            </a:r>
            <a:endParaRPr lang="en-US" altLang="en-US" dirty="0"/>
          </a:p>
        </p:txBody>
      </p:sp>
      <p:grpSp>
        <p:nvGrpSpPr>
          <p:cNvPr id="10" name="Group 107"/>
          <p:cNvGrpSpPr>
            <a:grpSpLocks/>
          </p:cNvGrpSpPr>
          <p:nvPr/>
        </p:nvGrpSpPr>
        <p:grpSpPr bwMode="auto">
          <a:xfrm>
            <a:off x="4294189" y="4391025"/>
            <a:ext cx="1081087" cy="215900"/>
            <a:chOff x="1791" y="2614"/>
            <a:chExt cx="681" cy="136"/>
          </a:xfrm>
        </p:grpSpPr>
        <p:sp>
          <p:nvSpPr>
            <p:cNvPr id="6271" name="Rectangle 108"/>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72" name="Rectangle 109"/>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73" name="Rectangle 110"/>
            <p:cNvSpPr>
              <a:spLocks noChangeArrowheads="1"/>
            </p:cNvSpPr>
            <p:nvPr/>
          </p:nvSpPr>
          <p:spPr bwMode="auto">
            <a:xfrm>
              <a:off x="2064"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74" name="Rectangle 111"/>
            <p:cNvSpPr>
              <a:spLocks noChangeArrowheads="1"/>
            </p:cNvSpPr>
            <p:nvPr/>
          </p:nvSpPr>
          <p:spPr bwMode="auto">
            <a:xfrm>
              <a:off x="2200" y="2614"/>
              <a:ext cx="136" cy="13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75" name="Rectangle 112"/>
            <p:cNvSpPr>
              <a:spLocks noChangeArrowheads="1"/>
            </p:cNvSpPr>
            <p:nvPr/>
          </p:nvSpPr>
          <p:spPr bwMode="auto">
            <a:xfrm>
              <a:off x="2336" y="2614"/>
              <a:ext cx="136" cy="136"/>
            </a:xfrm>
            <a:prstGeom prst="rect">
              <a:avLst/>
            </a:prstGeom>
            <a:solidFill>
              <a:schemeClr val="accent1"/>
            </a:solidFill>
            <a:ln w="2857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11" name="Group 113"/>
          <p:cNvGrpSpPr>
            <a:grpSpLocks/>
          </p:cNvGrpSpPr>
          <p:nvPr/>
        </p:nvGrpSpPr>
        <p:grpSpPr bwMode="auto">
          <a:xfrm>
            <a:off x="4294189" y="4652963"/>
            <a:ext cx="1081087" cy="215900"/>
            <a:chOff x="1791" y="2614"/>
            <a:chExt cx="681" cy="136"/>
          </a:xfrm>
        </p:grpSpPr>
        <p:sp>
          <p:nvSpPr>
            <p:cNvPr id="6266" name="Rectangle 114"/>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67" name="Rectangle 115"/>
            <p:cNvSpPr>
              <a:spLocks noChangeArrowheads="1"/>
            </p:cNvSpPr>
            <p:nvPr/>
          </p:nvSpPr>
          <p:spPr bwMode="auto">
            <a:xfrm>
              <a:off x="1927" y="2614"/>
              <a:ext cx="136" cy="136"/>
            </a:xfrm>
            <a:prstGeom prst="rect">
              <a:avLst/>
            </a:prstGeom>
            <a:solidFill>
              <a:schemeClr val="accent1"/>
            </a:solidFill>
            <a:ln w="2857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68" name="Rectangle 116"/>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69" name="Rectangle 117"/>
            <p:cNvSpPr>
              <a:spLocks noChangeArrowheads="1"/>
            </p:cNvSpPr>
            <p:nvPr/>
          </p:nvSpPr>
          <p:spPr bwMode="auto">
            <a:xfrm>
              <a:off x="2200"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70" name="Rectangle 118"/>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sp>
        <p:nvSpPr>
          <p:cNvPr id="67704" name="Text Box 120"/>
          <p:cNvSpPr txBox="1">
            <a:spLocks noChangeArrowheads="1"/>
          </p:cNvSpPr>
          <p:nvPr/>
        </p:nvSpPr>
        <p:spPr bwMode="auto">
          <a:xfrm>
            <a:off x="3871913" y="4430713"/>
            <a:ext cx="57626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16.0</a:t>
            </a:r>
            <a:endParaRPr lang="en-US" altLang="en-US" sz="1200" b="1"/>
          </a:p>
        </p:txBody>
      </p:sp>
      <p:sp>
        <p:nvSpPr>
          <p:cNvPr id="67705" name="Text Box 121"/>
          <p:cNvSpPr txBox="1">
            <a:spLocks noChangeArrowheads="1"/>
          </p:cNvSpPr>
          <p:nvPr/>
        </p:nvSpPr>
        <p:spPr bwMode="auto">
          <a:xfrm>
            <a:off x="3922713" y="4668838"/>
            <a:ext cx="57626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11.0</a:t>
            </a:r>
            <a:endParaRPr lang="en-US" altLang="en-US" sz="1200" b="1"/>
          </a:p>
        </p:txBody>
      </p:sp>
      <p:grpSp>
        <p:nvGrpSpPr>
          <p:cNvPr id="12" name="Group 213"/>
          <p:cNvGrpSpPr>
            <a:grpSpLocks/>
          </p:cNvGrpSpPr>
          <p:nvPr/>
        </p:nvGrpSpPr>
        <p:grpSpPr bwMode="auto">
          <a:xfrm>
            <a:off x="4079876" y="5888038"/>
            <a:ext cx="1503363" cy="938212"/>
            <a:chOff x="1610" y="3709"/>
            <a:chExt cx="947" cy="591"/>
          </a:xfrm>
        </p:grpSpPr>
        <p:grpSp>
          <p:nvGrpSpPr>
            <p:cNvPr id="6238" name="Group 122"/>
            <p:cNvGrpSpPr>
              <a:grpSpLocks/>
            </p:cNvGrpSpPr>
            <p:nvPr/>
          </p:nvGrpSpPr>
          <p:grpSpPr bwMode="auto">
            <a:xfrm>
              <a:off x="1876" y="3709"/>
              <a:ext cx="681" cy="136"/>
              <a:chOff x="1791" y="2614"/>
              <a:chExt cx="681" cy="136"/>
            </a:xfrm>
          </p:grpSpPr>
          <p:sp>
            <p:nvSpPr>
              <p:cNvPr id="6261" name="Rectangle 123"/>
              <p:cNvSpPr>
                <a:spLocks noChangeArrowheads="1"/>
              </p:cNvSpPr>
              <p:nvPr/>
            </p:nvSpPr>
            <p:spPr bwMode="auto">
              <a:xfrm>
                <a:off x="1791" y="2614"/>
                <a:ext cx="136" cy="136"/>
              </a:xfrm>
              <a:prstGeom prst="rect">
                <a:avLst/>
              </a:prstGeom>
              <a:solidFill>
                <a:schemeClr val="bg1"/>
              </a:solidFill>
              <a:ln w="6350">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62" name="Rectangle 124"/>
              <p:cNvSpPr>
                <a:spLocks noChangeArrowheads="1"/>
              </p:cNvSpPr>
              <p:nvPr/>
            </p:nvSpPr>
            <p:spPr bwMode="auto">
              <a:xfrm>
                <a:off x="1927" y="2614"/>
                <a:ext cx="136" cy="136"/>
              </a:xfrm>
              <a:prstGeom prst="rect">
                <a:avLst/>
              </a:prstGeom>
              <a:solidFill>
                <a:schemeClr val="accent1"/>
              </a:solidFill>
              <a:ln w="6350">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63" name="Rectangle 125"/>
              <p:cNvSpPr>
                <a:spLocks noChangeArrowheads="1"/>
              </p:cNvSpPr>
              <p:nvPr/>
            </p:nvSpPr>
            <p:spPr bwMode="auto">
              <a:xfrm>
                <a:off x="2064" y="2614"/>
                <a:ext cx="136" cy="136"/>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64" name="Rectangle 126"/>
              <p:cNvSpPr>
                <a:spLocks noChangeArrowheads="1"/>
              </p:cNvSpPr>
              <p:nvPr/>
            </p:nvSpPr>
            <p:spPr bwMode="auto">
              <a:xfrm>
                <a:off x="2200" y="2614"/>
                <a:ext cx="136" cy="136"/>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65" name="Rectangle 127"/>
              <p:cNvSpPr>
                <a:spLocks noChangeArrowheads="1"/>
              </p:cNvSpPr>
              <p:nvPr/>
            </p:nvSpPr>
            <p:spPr bwMode="auto">
              <a:xfrm>
                <a:off x="2336" y="2614"/>
                <a:ext cx="136" cy="136"/>
              </a:xfrm>
              <a:prstGeom prst="rect">
                <a:avLst/>
              </a:prstGeom>
              <a:solidFill>
                <a:schemeClr val="bg1"/>
              </a:solidFill>
              <a:ln w="6350">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6239" name="Group 128"/>
            <p:cNvGrpSpPr>
              <a:grpSpLocks/>
            </p:cNvGrpSpPr>
            <p:nvPr/>
          </p:nvGrpSpPr>
          <p:grpSpPr bwMode="auto">
            <a:xfrm>
              <a:off x="1873" y="4164"/>
              <a:ext cx="681" cy="136"/>
              <a:chOff x="1791" y="2614"/>
              <a:chExt cx="681" cy="136"/>
            </a:xfrm>
          </p:grpSpPr>
          <p:sp>
            <p:nvSpPr>
              <p:cNvPr id="6256" name="Rectangle 129"/>
              <p:cNvSpPr>
                <a:spLocks noChangeArrowheads="1"/>
              </p:cNvSpPr>
              <p:nvPr/>
            </p:nvSpPr>
            <p:spPr bwMode="auto">
              <a:xfrm>
                <a:off x="1791" y="2614"/>
                <a:ext cx="136" cy="136"/>
              </a:xfrm>
              <a:prstGeom prst="rect">
                <a:avLst/>
              </a:prstGeom>
              <a:solidFill>
                <a:schemeClr val="accent1"/>
              </a:solidFill>
              <a:ln w="6350">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57" name="Rectangle 130"/>
              <p:cNvSpPr>
                <a:spLocks noChangeArrowheads="1"/>
              </p:cNvSpPr>
              <p:nvPr/>
            </p:nvSpPr>
            <p:spPr bwMode="auto">
              <a:xfrm>
                <a:off x="1927" y="2614"/>
                <a:ext cx="136" cy="136"/>
              </a:xfrm>
              <a:prstGeom prst="rect">
                <a:avLst/>
              </a:prstGeom>
              <a:solidFill>
                <a:schemeClr val="bg1"/>
              </a:solidFill>
              <a:ln w="6350">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58" name="Rectangle 131"/>
              <p:cNvSpPr>
                <a:spLocks noChangeArrowheads="1"/>
              </p:cNvSpPr>
              <p:nvPr/>
            </p:nvSpPr>
            <p:spPr bwMode="auto">
              <a:xfrm>
                <a:off x="2064" y="2614"/>
                <a:ext cx="136" cy="136"/>
              </a:xfrm>
              <a:prstGeom prst="rect">
                <a:avLst/>
              </a:prstGeom>
              <a:solidFill>
                <a:schemeClr val="accent1"/>
              </a:solidFill>
              <a:ln w="6350">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59" name="Rectangle 132"/>
              <p:cNvSpPr>
                <a:spLocks noChangeArrowheads="1"/>
              </p:cNvSpPr>
              <p:nvPr/>
            </p:nvSpPr>
            <p:spPr bwMode="auto">
              <a:xfrm>
                <a:off x="2200" y="2614"/>
                <a:ext cx="136" cy="136"/>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60" name="Rectangle 133"/>
              <p:cNvSpPr>
                <a:spLocks noChangeArrowheads="1"/>
              </p:cNvSpPr>
              <p:nvPr/>
            </p:nvSpPr>
            <p:spPr bwMode="auto">
              <a:xfrm>
                <a:off x="2336" y="2614"/>
                <a:ext cx="136" cy="136"/>
              </a:xfrm>
              <a:prstGeom prst="rect">
                <a:avLst/>
              </a:prstGeom>
              <a:solidFill>
                <a:schemeClr val="accent1"/>
              </a:solidFill>
              <a:ln w="6350">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sp>
          <p:nvSpPr>
            <p:cNvPr id="6240" name="Text Box 134"/>
            <p:cNvSpPr txBox="1">
              <a:spLocks noChangeArrowheads="1"/>
            </p:cNvSpPr>
            <p:nvPr/>
          </p:nvSpPr>
          <p:spPr bwMode="auto">
            <a:xfrm>
              <a:off x="1610" y="3742"/>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6.0</a:t>
              </a:r>
              <a:endParaRPr lang="en-US" altLang="en-US" sz="1200" b="1"/>
            </a:p>
          </p:txBody>
        </p:sp>
        <p:sp>
          <p:nvSpPr>
            <p:cNvPr id="6241" name="Text Box 135"/>
            <p:cNvSpPr txBox="1">
              <a:spLocks noChangeArrowheads="1"/>
            </p:cNvSpPr>
            <p:nvPr/>
          </p:nvSpPr>
          <p:spPr bwMode="auto">
            <a:xfrm>
              <a:off x="1639" y="4174"/>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10.0</a:t>
              </a:r>
              <a:endParaRPr lang="en-US" altLang="en-US" sz="1200" b="1"/>
            </a:p>
          </p:txBody>
        </p:sp>
        <p:grpSp>
          <p:nvGrpSpPr>
            <p:cNvPr id="6242" name="Group 136"/>
            <p:cNvGrpSpPr>
              <a:grpSpLocks/>
            </p:cNvGrpSpPr>
            <p:nvPr/>
          </p:nvGrpSpPr>
          <p:grpSpPr bwMode="auto">
            <a:xfrm>
              <a:off x="1876" y="3862"/>
              <a:ext cx="681" cy="136"/>
              <a:chOff x="1791" y="2614"/>
              <a:chExt cx="681" cy="136"/>
            </a:xfrm>
          </p:grpSpPr>
          <p:sp>
            <p:nvSpPr>
              <p:cNvPr id="6251" name="Rectangle 137"/>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52" name="Rectangle 138"/>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53" name="Rectangle 139"/>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54" name="Rectangle 140"/>
              <p:cNvSpPr>
                <a:spLocks noChangeArrowheads="1"/>
              </p:cNvSpPr>
              <p:nvPr/>
            </p:nvSpPr>
            <p:spPr bwMode="auto">
              <a:xfrm>
                <a:off x="2200"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55" name="Rectangle 141"/>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6243" name="Group 142"/>
            <p:cNvGrpSpPr>
              <a:grpSpLocks/>
            </p:cNvGrpSpPr>
            <p:nvPr/>
          </p:nvGrpSpPr>
          <p:grpSpPr bwMode="auto">
            <a:xfrm>
              <a:off x="1876" y="4014"/>
              <a:ext cx="681" cy="136"/>
              <a:chOff x="1791" y="2614"/>
              <a:chExt cx="681" cy="136"/>
            </a:xfrm>
          </p:grpSpPr>
          <p:sp>
            <p:nvSpPr>
              <p:cNvPr id="6246" name="Rectangle 143"/>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47" name="Rectangle 144"/>
              <p:cNvSpPr>
                <a:spLocks noChangeArrowheads="1"/>
              </p:cNvSpPr>
              <p:nvPr/>
            </p:nvSpPr>
            <p:spPr bwMode="auto">
              <a:xfrm>
                <a:off x="1927"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48" name="Rectangle 145"/>
              <p:cNvSpPr>
                <a:spLocks noChangeArrowheads="1"/>
              </p:cNvSpPr>
              <p:nvPr/>
            </p:nvSpPr>
            <p:spPr bwMode="auto">
              <a:xfrm>
                <a:off x="2064"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49" name="Rectangle 146"/>
              <p:cNvSpPr>
                <a:spLocks noChangeArrowheads="1"/>
              </p:cNvSpPr>
              <p:nvPr/>
            </p:nvSpPr>
            <p:spPr bwMode="auto">
              <a:xfrm>
                <a:off x="2200"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50" name="Rectangle 147"/>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sp>
          <p:nvSpPr>
            <p:cNvPr id="6244" name="Text Box 148"/>
            <p:cNvSpPr txBox="1">
              <a:spLocks noChangeArrowheads="1"/>
            </p:cNvSpPr>
            <p:nvPr/>
          </p:nvSpPr>
          <p:spPr bwMode="auto">
            <a:xfrm>
              <a:off x="1650" y="3883"/>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7.0</a:t>
              </a:r>
              <a:endParaRPr lang="en-US" altLang="en-US" sz="1200" b="1"/>
            </a:p>
          </p:txBody>
        </p:sp>
        <p:sp>
          <p:nvSpPr>
            <p:cNvPr id="6245" name="Text Box 149"/>
            <p:cNvSpPr txBox="1">
              <a:spLocks noChangeArrowheads="1"/>
            </p:cNvSpPr>
            <p:nvPr/>
          </p:nvSpPr>
          <p:spPr bwMode="auto">
            <a:xfrm>
              <a:off x="1679" y="4033"/>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9.0</a:t>
              </a:r>
              <a:endParaRPr lang="en-US" altLang="en-US" sz="1200" b="1"/>
            </a:p>
          </p:txBody>
        </p:sp>
      </p:grpSp>
      <p:sp>
        <p:nvSpPr>
          <p:cNvPr id="67740" name="Rectangle 156"/>
          <p:cNvSpPr>
            <a:spLocks noChangeArrowheads="1"/>
          </p:cNvSpPr>
          <p:nvPr/>
        </p:nvSpPr>
        <p:spPr bwMode="auto">
          <a:xfrm>
            <a:off x="5735638" y="5300663"/>
            <a:ext cx="2520950" cy="43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Hill Climbing</a:t>
            </a:r>
            <a:endParaRPr lang="en-US" altLang="en-US"/>
          </a:p>
        </p:txBody>
      </p:sp>
      <p:sp>
        <p:nvSpPr>
          <p:cNvPr id="67743" name="Line 159"/>
          <p:cNvSpPr>
            <a:spLocks noChangeShapeType="1"/>
          </p:cNvSpPr>
          <p:nvPr/>
        </p:nvSpPr>
        <p:spPr bwMode="auto">
          <a:xfrm>
            <a:off x="3792538" y="2962275"/>
            <a:ext cx="482441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67744" name="Line 160"/>
          <p:cNvSpPr>
            <a:spLocks noChangeShapeType="1"/>
          </p:cNvSpPr>
          <p:nvPr/>
        </p:nvSpPr>
        <p:spPr bwMode="auto">
          <a:xfrm>
            <a:off x="3792538" y="4162425"/>
            <a:ext cx="482441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67745" name="Line 161"/>
          <p:cNvSpPr>
            <a:spLocks noChangeShapeType="1"/>
          </p:cNvSpPr>
          <p:nvPr/>
        </p:nvSpPr>
        <p:spPr bwMode="auto">
          <a:xfrm>
            <a:off x="3792538" y="5183188"/>
            <a:ext cx="482441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67746" name="Line 162"/>
          <p:cNvSpPr>
            <a:spLocks noChangeShapeType="1"/>
          </p:cNvSpPr>
          <p:nvPr/>
        </p:nvSpPr>
        <p:spPr bwMode="auto">
          <a:xfrm>
            <a:off x="3792538" y="5830888"/>
            <a:ext cx="482441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grpSp>
        <p:nvGrpSpPr>
          <p:cNvPr id="17" name="Group 163"/>
          <p:cNvGrpSpPr>
            <a:grpSpLocks/>
          </p:cNvGrpSpPr>
          <p:nvPr/>
        </p:nvGrpSpPr>
        <p:grpSpPr bwMode="auto">
          <a:xfrm>
            <a:off x="3863976" y="5256214"/>
            <a:ext cx="1503363" cy="477837"/>
            <a:chOff x="1389" y="3324"/>
            <a:chExt cx="947" cy="301"/>
          </a:xfrm>
        </p:grpSpPr>
        <p:grpSp>
          <p:nvGrpSpPr>
            <p:cNvPr id="6224" name="Group 164"/>
            <p:cNvGrpSpPr>
              <a:grpSpLocks/>
            </p:cNvGrpSpPr>
            <p:nvPr/>
          </p:nvGrpSpPr>
          <p:grpSpPr bwMode="auto">
            <a:xfrm>
              <a:off x="1655" y="3324"/>
              <a:ext cx="681" cy="136"/>
              <a:chOff x="1791" y="2614"/>
              <a:chExt cx="681" cy="136"/>
            </a:xfrm>
          </p:grpSpPr>
          <p:sp>
            <p:nvSpPr>
              <p:cNvPr id="6233" name="Rectangle 165"/>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34" name="Rectangle 166"/>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35" name="Rectangle 167"/>
              <p:cNvSpPr>
                <a:spLocks noChangeArrowheads="1"/>
              </p:cNvSpPr>
              <p:nvPr/>
            </p:nvSpPr>
            <p:spPr bwMode="auto">
              <a:xfrm>
                <a:off x="2064"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36" name="Rectangle 168"/>
              <p:cNvSpPr>
                <a:spLocks noChangeArrowheads="1"/>
              </p:cNvSpPr>
              <p:nvPr/>
            </p:nvSpPr>
            <p:spPr bwMode="auto">
              <a:xfrm>
                <a:off x="2200" y="2614"/>
                <a:ext cx="136" cy="136"/>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37" name="Rectangle 169"/>
              <p:cNvSpPr>
                <a:spLocks noChangeArrowheads="1"/>
              </p:cNvSpPr>
              <p:nvPr/>
            </p:nvSpPr>
            <p:spPr bwMode="auto">
              <a:xfrm>
                <a:off x="2336" y="2614"/>
                <a:ext cx="136" cy="136"/>
              </a:xfrm>
              <a:prstGeom prst="rect">
                <a:avLst/>
              </a:prstGeom>
              <a:solidFill>
                <a:schemeClr val="bg1"/>
              </a:solidFill>
              <a:ln w="2857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6225" name="Group 170"/>
            <p:cNvGrpSpPr>
              <a:grpSpLocks/>
            </p:cNvGrpSpPr>
            <p:nvPr/>
          </p:nvGrpSpPr>
          <p:grpSpPr bwMode="auto">
            <a:xfrm>
              <a:off x="1655" y="3489"/>
              <a:ext cx="681" cy="136"/>
              <a:chOff x="1791" y="2614"/>
              <a:chExt cx="681" cy="136"/>
            </a:xfrm>
          </p:grpSpPr>
          <p:sp>
            <p:nvSpPr>
              <p:cNvPr id="6228" name="Rectangle 171"/>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29" name="Rectangle 172"/>
              <p:cNvSpPr>
                <a:spLocks noChangeArrowheads="1"/>
              </p:cNvSpPr>
              <p:nvPr/>
            </p:nvSpPr>
            <p:spPr bwMode="auto">
              <a:xfrm>
                <a:off x="1927" y="2614"/>
                <a:ext cx="136" cy="136"/>
              </a:xfrm>
              <a:prstGeom prst="rect">
                <a:avLst/>
              </a:prstGeom>
              <a:solidFill>
                <a:schemeClr val="bg1"/>
              </a:solidFill>
              <a:ln w="2857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30" name="Rectangle 173"/>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31" name="Rectangle 174"/>
              <p:cNvSpPr>
                <a:spLocks noChangeArrowheads="1"/>
              </p:cNvSpPr>
              <p:nvPr/>
            </p:nvSpPr>
            <p:spPr bwMode="auto">
              <a:xfrm>
                <a:off x="2200"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32" name="Rectangle 175"/>
              <p:cNvSpPr>
                <a:spLocks noChangeArrowheads="1"/>
              </p:cNvSpPr>
              <p:nvPr/>
            </p:nvSpPr>
            <p:spPr bwMode="auto">
              <a:xfrm>
                <a:off x="2336" y="2614"/>
                <a:ext cx="136" cy="136"/>
              </a:xfrm>
              <a:prstGeom prst="rect">
                <a:avLst/>
              </a:prstGeom>
              <a:solidFill>
                <a:schemeClr val="accent1"/>
              </a:solidFill>
              <a:ln w="2857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sp>
          <p:nvSpPr>
            <p:cNvPr id="6226" name="Text Box 176"/>
            <p:cNvSpPr txBox="1">
              <a:spLocks noChangeArrowheads="1"/>
            </p:cNvSpPr>
            <p:nvPr/>
          </p:nvSpPr>
          <p:spPr bwMode="auto">
            <a:xfrm>
              <a:off x="1389" y="3349"/>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6.0</a:t>
              </a:r>
              <a:endParaRPr lang="en-US" altLang="en-US" sz="1200" b="1"/>
            </a:p>
          </p:txBody>
        </p:sp>
        <p:sp>
          <p:nvSpPr>
            <p:cNvPr id="6227" name="Text Box 177"/>
            <p:cNvSpPr txBox="1">
              <a:spLocks noChangeArrowheads="1"/>
            </p:cNvSpPr>
            <p:nvPr/>
          </p:nvSpPr>
          <p:spPr bwMode="auto">
            <a:xfrm>
              <a:off x="1421" y="3499"/>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10.0</a:t>
              </a:r>
              <a:endParaRPr lang="en-US" altLang="en-US" sz="1200" b="1"/>
            </a:p>
          </p:txBody>
        </p:sp>
      </p:grpSp>
      <p:grpSp>
        <p:nvGrpSpPr>
          <p:cNvPr id="20" name="Group 182"/>
          <p:cNvGrpSpPr>
            <a:grpSpLocks/>
          </p:cNvGrpSpPr>
          <p:nvPr/>
        </p:nvGrpSpPr>
        <p:grpSpPr bwMode="auto">
          <a:xfrm>
            <a:off x="5472113" y="3670301"/>
            <a:ext cx="144462" cy="982663"/>
            <a:chOff x="2471" y="2312"/>
            <a:chExt cx="91" cy="619"/>
          </a:xfrm>
        </p:grpSpPr>
        <p:sp>
          <p:nvSpPr>
            <p:cNvPr id="6222" name="Freeform 178"/>
            <p:cNvSpPr>
              <a:spLocks/>
            </p:cNvSpPr>
            <p:nvPr/>
          </p:nvSpPr>
          <p:spPr bwMode="auto">
            <a:xfrm>
              <a:off x="2472" y="2478"/>
              <a:ext cx="90" cy="453"/>
            </a:xfrm>
            <a:custGeom>
              <a:avLst/>
              <a:gdLst>
                <a:gd name="T0" fmla="*/ 0 w 90"/>
                <a:gd name="T1" fmla="*/ 0 h 453"/>
                <a:gd name="T2" fmla="*/ 90 w 90"/>
                <a:gd name="T3" fmla="*/ 226 h 453"/>
                <a:gd name="T4" fmla="*/ 0 w 90"/>
                <a:gd name="T5" fmla="*/ 453 h 453"/>
                <a:gd name="T6" fmla="*/ 0 60000 65536"/>
                <a:gd name="T7" fmla="*/ 0 60000 65536"/>
                <a:gd name="T8" fmla="*/ 0 60000 65536"/>
                <a:gd name="T9" fmla="*/ 0 w 90"/>
                <a:gd name="T10" fmla="*/ 0 h 453"/>
                <a:gd name="T11" fmla="*/ 90 w 90"/>
                <a:gd name="T12" fmla="*/ 453 h 453"/>
              </a:gdLst>
              <a:ahLst/>
              <a:cxnLst>
                <a:cxn ang="T6">
                  <a:pos x="T0" y="T1"/>
                </a:cxn>
                <a:cxn ang="T7">
                  <a:pos x="T2" y="T3"/>
                </a:cxn>
                <a:cxn ang="T8">
                  <a:pos x="T4" y="T5"/>
                </a:cxn>
              </a:cxnLst>
              <a:rect l="T9" t="T10" r="T11" b="T12"/>
              <a:pathLst>
                <a:path w="90" h="453">
                  <a:moveTo>
                    <a:pt x="0" y="0"/>
                  </a:moveTo>
                  <a:cubicBezTo>
                    <a:pt x="45" y="75"/>
                    <a:pt x="90" y="151"/>
                    <a:pt x="90" y="226"/>
                  </a:cubicBezTo>
                  <a:cubicBezTo>
                    <a:pt x="90" y="301"/>
                    <a:pt x="45" y="377"/>
                    <a:pt x="0" y="453"/>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23" name="Freeform 180"/>
            <p:cNvSpPr>
              <a:spLocks/>
            </p:cNvSpPr>
            <p:nvPr/>
          </p:nvSpPr>
          <p:spPr bwMode="auto">
            <a:xfrm>
              <a:off x="2471" y="2312"/>
              <a:ext cx="2" cy="286"/>
            </a:xfrm>
            <a:custGeom>
              <a:avLst/>
              <a:gdLst>
                <a:gd name="T0" fmla="*/ 0 w 2"/>
                <a:gd name="T1" fmla="*/ 0 h 286"/>
                <a:gd name="T2" fmla="*/ 2 w 2"/>
                <a:gd name="T3" fmla="*/ 286 h 286"/>
                <a:gd name="T4" fmla="*/ 0 60000 65536"/>
                <a:gd name="T5" fmla="*/ 0 60000 65536"/>
                <a:gd name="T6" fmla="*/ 0 w 2"/>
                <a:gd name="T7" fmla="*/ 0 h 286"/>
                <a:gd name="T8" fmla="*/ 2 w 2"/>
                <a:gd name="T9" fmla="*/ 286 h 286"/>
              </a:gdLst>
              <a:ahLst/>
              <a:cxnLst>
                <a:cxn ang="T4">
                  <a:pos x="T0" y="T1"/>
                </a:cxn>
                <a:cxn ang="T5">
                  <a:pos x="T2" y="T3"/>
                </a:cxn>
              </a:cxnLst>
              <a:rect l="T6" t="T7" r="T8" b="T9"/>
              <a:pathLst>
                <a:path w="2" h="286">
                  <a:moveTo>
                    <a:pt x="0" y="0"/>
                  </a:moveTo>
                  <a:lnTo>
                    <a:pt x="2" y="286"/>
                  </a:lnTo>
                </a:path>
              </a:pathLst>
            </a:custGeom>
            <a:noFill/>
            <a:ln w="9525">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GB"/>
            </a:p>
          </p:txBody>
        </p:sp>
      </p:grpSp>
      <p:grpSp>
        <p:nvGrpSpPr>
          <p:cNvPr id="21" name="Group 183"/>
          <p:cNvGrpSpPr>
            <a:grpSpLocks/>
          </p:cNvGrpSpPr>
          <p:nvPr/>
        </p:nvGrpSpPr>
        <p:grpSpPr bwMode="auto">
          <a:xfrm>
            <a:off x="5434013" y="4391026"/>
            <a:ext cx="144462" cy="982663"/>
            <a:chOff x="2471" y="2312"/>
            <a:chExt cx="91" cy="619"/>
          </a:xfrm>
        </p:grpSpPr>
        <p:sp>
          <p:nvSpPr>
            <p:cNvPr id="6220" name="Freeform 184"/>
            <p:cNvSpPr>
              <a:spLocks/>
            </p:cNvSpPr>
            <p:nvPr/>
          </p:nvSpPr>
          <p:spPr bwMode="auto">
            <a:xfrm>
              <a:off x="2472" y="2478"/>
              <a:ext cx="90" cy="453"/>
            </a:xfrm>
            <a:custGeom>
              <a:avLst/>
              <a:gdLst>
                <a:gd name="T0" fmla="*/ 0 w 90"/>
                <a:gd name="T1" fmla="*/ 0 h 453"/>
                <a:gd name="T2" fmla="*/ 90 w 90"/>
                <a:gd name="T3" fmla="*/ 226 h 453"/>
                <a:gd name="T4" fmla="*/ 0 w 90"/>
                <a:gd name="T5" fmla="*/ 453 h 453"/>
                <a:gd name="T6" fmla="*/ 0 60000 65536"/>
                <a:gd name="T7" fmla="*/ 0 60000 65536"/>
                <a:gd name="T8" fmla="*/ 0 60000 65536"/>
                <a:gd name="T9" fmla="*/ 0 w 90"/>
                <a:gd name="T10" fmla="*/ 0 h 453"/>
                <a:gd name="T11" fmla="*/ 90 w 90"/>
                <a:gd name="T12" fmla="*/ 453 h 453"/>
              </a:gdLst>
              <a:ahLst/>
              <a:cxnLst>
                <a:cxn ang="T6">
                  <a:pos x="T0" y="T1"/>
                </a:cxn>
                <a:cxn ang="T7">
                  <a:pos x="T2" y="T3"/>
                </a:cxn>
                <a:cxn ang="T8">
                  <a:pos x="T4" y="T5"/>
                </a:cxn>
              </a:cxnLst>
              <a:rect l="T9" t="T10" r="T11" b="T12"/>
              <a:pathLst>
                <a:path w="90" h="453">
                  <a:moveTo>
                    <a:pt x="0" y="0"/>
                  </a:moveTo>
                  <a:cubicBezTo>
                    <a:pt x="45" y="75"/>
                    <a:pt x="90" y="151"/>
                    <a:pt x="90" y="226"/>
                  </a:cubicBezTo>
                  <a:cubicBezTo>
                    <a:pt x="90" y="301"/>
                    <a:pt x="45" y="377"/>
                    <a:pt x="0" y="453"/>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21" name="Freeform 185"/>
            <p:cNvSpPr>
              <a:spLocks/>
            </p:cNvSpPr>
            <p:nvPr/>
          </p:nvSpPr>
          <p:spPr bwMode="auto">
            <a:xfrm>
              <a:off x="2471" y="2312"/>
              <a:ext cx="2" cy="286"/>
            </a:xfrm>
            <a:custGeom>
              <a:avLst/>
              <a:gdLst>
                <a:gd name="T0" fmla="*/ 0 w 2"/>
                <a:gd name="T1" fmla="*/ 0 h 286"/>
                <a:gd name="T2" fmla="*/ 2 w 2"/>
                <a:gd name="T3" fmla="*/ 286 h 286"/>
                <a:gd name="T4" fmla="*/ 0 60000 65536"/>
                <a:gd name="T5" fmla="*/ 0 60000 65536"/>
                <a:gd name="T6" fmla="*/ 0 w 2"/>
                <a:gd name="T7" fmla="*/ 0 h 286"/>
                <a:gd name="T8" fmla="*/ 2 w 2"/>
                <a:gd name="T9" fmla="*/ 286 h 286"/>
              </a:gdLst>
              <a:ahLst/>
              <a:cxnLst>
                <a:cxn ang="T4">
                  <a:pos x="T0" y="T1"/>
                </a:cxn>
                <a:cxn ang="T5">
                  <a:pos x="T2" y="T3"/>
                </a:cxn>
              </a:cxnLst>
              <a:rect l="T6" t="T7" r="T8" b="T9"/>
              <a:pathLst>
                <a:path w="2" h="286">
                  <a:moveTo>
                    <a:pt x="0" y="0"/>
                  </a:moveTo>
                  <a:lnTo>
                    <a:pt x="2" y="286"/>
                  </a:lnTo>
                </a:path>
              </a:pathLst>
            </a:custGeom>
            <a:noFill/>
            <a:ln w="9525">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GB"/>
            </a:p>
          </p:txBody>
        </p:sp>
      </p:grpSp>
      <p:sp>
        <p:nvSpPr>
          <p:cNvPr id="67770" name="Line 186"/>
          <p:cNvSpPr>
            <a:spLocks noChangeShapeType="1"/>
          </p:cNvSpPr>
          <p:nvPr/>
        </p:nvSpPr>
        <p:spPr bwMode="auto">
          <a:xfrm>
            <a:off x="6888163" y="2060576"/>
            <a:ext cx="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7771" name="Line 187"/>
          <p:cNvSpPr>
            <a:spLocks noChangeShapeType="1"/>
          </p:cNvSpPr>
          <p:nvPr/>
        </p:nvSpPr>
        <p:spPr bwMode="auto">
          <a:xfrm>
            <a:off x="6888163" y="2852739"/>
            <a:ext cx="0"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7772" name="Line 188"/>
          <p:cNvSpPr>
            <a:spLocks noChangeShapeType="1"/>
          </p:cNvSpPr>
          <p:nvPr/>
        </p:nvSpPr>
        <p:spPr bwMode="auto">
          <a:xfrm>
            <a:off x="6888163" y="3787775"/>
            <a:ext cx="0" cy="4333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7773" name="Line 189"/>
          <p:cNvSpPr>
            <a:spLocks noChangeShapeType="1"/>
          </p:cNvSpPr>
          <p:nvPr/>
        </p:nvSpPr>
        <p:spPr bwMode="auto">
          <a:xfrm>
            <a:off x="6888163" y="5084763"/>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7774" name="Line 190"/>
          <p:cNvSpPr>
            <a:spLocks noChangeShapeType="1"/>
          </p:cNvSpPr>
          <p:nvPr/>
        </p:nvSpPr>
        <p:spPr bwMode="auto">
          <a:xfrm>
            <a:off x="6888163" y="5734050"/>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7775" name="Line 191"/>
          <p:cNvSpPr>
            <a:spLocks noChangeShapeType="1"/>
          </p:cNvSpPr>
          <p:nvPr/>
        </p:nvSpPr>
        <p:spPr bwMode="auto">
          <a:xfrm>
            <a:off x="8256588" y="6165850"/>
            <a:ext cx="1439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7776" name="Line 192"/>
          <p:cNvSpPr>
            <a:spLocks noChangeShapeType="1"/>
          </p:cNvSpPr>
          <p:nvPr/>
        </p:nvSpPr>
        <p:spPr bwMode="auto">
          <a:xfrm flipV="1">
            <a:off x="9696450" y="3860800"/>
            <a:ext cx="0" cy="23050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nvGrpSpPr>
          <p:cNvPr id="22" name="Group 212"/>
          <p:cNvGrpSpPr>
            <a:grpSpLocks/>
          </p:cNvGrpSpPr>
          <p:nvPr/>
        </p:nvGrpSpPr>
        <p:grpSpPr bwMode="auto">
          <a:xfrm>
            <a:off x="3935414" y="1209676"/>
            <a:ext cx="4537075" cy="923925"/>
            <a:chOff x="1519" y="762"/>
            <a:chExt cx="2858" cy="582"/>
          </a:xfrm>
        </p:grpSpPr>
        <p:sp>
          <p:nvSpPr>
            <p:cNvPr id="6215" name="Text Box 59"/>
            <p:cNvSpPr txBox="1">
              <a:spLocks noChangeArrowheads="1"/>
            </p:cNvSpPr>
            <p:nvPr/>
          </p:nvSpPr>
          <p:spPr bwMode="auto">
            <a:xfrm>
              <a:off x="1519" y="762"/>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15.0</a:t>
              </a:r>
              <a:endParaRPr lang="en-US" altLang="en-US" sz="1200" b="1"/>
            </a:p>
          </p:txBody>
        </p:sp>
        <p:sp>
          <p:nvSpPr>
            <p:cNvPr id="6216" name="Text Box 61"/>
            <p:cNvSpPr txBox="1">
              <a:spLocks noChangeArrowheads="1"/>
            </p:cNvSpPr>
            <p:nvPr/>
          </p:nvSpPr>
          <p:spPr bwMode="auto">
            <a:xfrm>
              <a:off x="1527" y="919"/>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28.0</a:t>
              </a:r>
              <a:endParaRPr lang="en-US" altLang="en-US" sz="1200" b="1"/>
            </a:p>
          </p:txBody>
        </p:sp>
        <p:sp>
          <p:nvSpPr>
            <p:cNvPr id="6217" name="Text Box 62"/>
            <p:cNvSpPr txBox="1">
              <a:spLocks noChangeArrowheads="1"/>
            </p:cNvSpPr>
            <p:nvPr/>
          </p:nvSpPr>
          <p:spPr bwMode="auto">
            <a:xfrm>
              <a:off x="1519" y="1079"/>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7.0</a:t>
              </a:r>
              <a:endParaRPr lang="en-US" altLang="en-US" sz="1200" b="1"/>
            </a:p>
          </p:txBody>
        </p:sp>
        <p:sp>
          <p:nvSpPr>
            <p:cNvPr id="6218" name="Text Box 63"/>
            <p:cNvSpPr txBox="1">
              <a:spLocks noChangeArrowheads="1"/>
            </p:cNvSpPr>
            <p:nvPr/>
          </p:nvSpPr>
          <p:spPr bwMode="auto">
            <a:xfrm>
              <a:off x="1564" y="1229"/>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9.0</a:t>
              </a:r>
              <a:endParaRPr lang="en-US" altLang="en-US" sz="1200" b="1"/>
            </a:p>
          </p:txBody>
        </p:sp>
        <p:sp>
          <p:nvSpPr>
            <p:cNvPr id="6219" name="Rectangle 157"/>
            <p:cNvSpPr>
              <a:spLocks noChangeArrowheads="1"/>
            </p:cNvSpPr>
            <p:nvPr/>
          </p:nvSpPr>
          <p:spPr bwMode="auto">
            <a:xfrm>
              <a:off x="2517" y="1026"/>
              <a:ext cx="1860"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Evaluate All Individuals</a:t>
              </a:r>
              <a:endParaRPr lang="en-US" altLang="en-US"/>
            </a:p>
          </p:txBody>
        </p:sp>
      </p:grpSp>
      <p:sp>
        <p:nvSpPr>
          <p:cNvPr id="67742" name="Line 158"/>
          <p:cNvSpPr>
            <a:spLocks noChangeShapeType="1"/>
          </p:cNvSpPr>
          <p:nvPr/>
        </p:nvSpPr>
        <p:spPr bwMode="auto">
          <a:xfrm>
            <a:off x="3792538" y="2243138"/>
            <a:ext cx="482441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grpSp>
        <p:nvGrpSpPr>
          <p:cNvPr id="23" name="Group 211"/>
          <p:cNvGrpSpPr>
            <a:grpSpLocks/>
          </p:cNvGrpSpPr>
          <p:nvPr/>
        </p:nvGrpSpPr>
        <p:grpSpPr bwMode="auto">
          <a:xfrm>
            <a:off x="4294188" y="752475"/>
            <a:ext cx="4178300" cy="1384300"/>
            <a:chOff x="1745" y="474"/>
            <a:chExt cx="2632" cy="872"/>
          </a:xfrm>
        </p:grpSpPr>
        <p:sp>
          <p:nvSpPr>
            <p:cNvPr id="6187" name="Line 200"/>
            <p:cNvSpPr>
              <a:spLocks noChangeShapeType="1"/>
            </p:cNvSpPr>
            <p:nvPr/>
          </p:nvSpPr>
          <p:spPr bwMode="auto">
            <a:xfrm flipH="1">
              <a:off x="2381" y="618"/>
              <a:ext cx="91" cy="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nvGrpSpPr>
            <p:cNvPr id="6188" name="Group 210"/>
            <p:cNvGrpSpPr>
              <a:grpSpLocks/>
            </p:cNvGrpSpPr>
            <p:nvPr/>
          </p:nvGrpSpPr>
          <p:grpSpPr bwMode="auto">
            <a:xfrm>
              <a:off x="1745" y="474"/>
              <a:ext cx="2632" cy="872"/>
              <a:chOff x="1745" y="474"/>
              <a:chExt cx="2632" cy="872"/>
            </a:xfrm>
          </p:grpSpPr>
          <p:sp>
            <p:nvSpPr>
              <p:cNvPr id="6189" name="Rectangle 4"/>
              <p:cNvSpPr>
                <a:spLocks noChangeArrowheads="1"/>
              </p:cNvSpPr>
              <p:nvPr/>
            </p:nvSpPr>
            <p:spPr bwMode="auto">
              <a:xfrm>
                <a:off x="2517" y="754"/>
                <a:ext cx="1860"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Generate Initial Population</a:t>
                </a:r>
                <a:endParaRPr lang="en-US" altLang="en-US"/>
              </a:p>
            </p:txBody>
          </p:sp>
          <p:grpSp>
            <p:nvGrpSpPr>
              <p:cNvPr id="6190" name="Group 35"/>
              <p:cNvGrpSpPr>
                <a:grpSpLocks/>
              </p:cNvGrpSpPr>
              <p:nvPr/>
            </p:nvGrpSpPr>
            <p:grpSpPr bwMode="auto">
              <a:xfrm>
                <a:off x="1745" y="754"/>
                <a:ext cx="681" cy="136"/>
                <a:chOff x="1791" y="2614"/>
                <a:chExt cx="681" cy="136"/>
              </a:xfrm>
            </p:grpSpPr>
            <p:sp>
              <p:nvSpPr>
                <p:cNvPr id="6210" name="Rectangle 36"/>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11" name="Rectangle 37"/>
                <p:cNvSpPr>
                  <a:spLocks noChangeArrowheads="1"/>
                </p:cNvSpPr>
                <p:nvPr/>
              </p:nvSpPr>
              <p:spPr bwMode="auto">
                <a:xfrm>
                  <a:off x="1927"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12" name="Rectangle 38"/>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13" name="Rectangle 39"/>
                <p:cNvSpPr>
                  <a:spLocks noChangeArrowheads="1"/>
                </p:cNvSpPr>
                <p:nvPr/>
              </p:nvSpPr>
              <p:spPr bwMode="auto">
                <a:xfrm>
                  <a:off x="2200"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14" name="Rectangle 40"/>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6191" name="Group 41"/>
              <p:cNvGrpSpPr>
                <a:grpSpLocks/>
              </p:cNvGrpSpPr>
              <p:nvPr/>
            </p:nvGrpSpPr>
            <p:grpSpPr bwMode="auto">
              <a:xfrm>
                <a:off x="1745" y="906"/>
                <a:ext cx="681" cy="136"/>
                <a:chOff x="1791" y="2614"/>
                <a:chExt cx="681" cy="136"/>
              </a:xfrm>
            </p:grpSpPr>
            <p:sp>
              <p:nvSpPr>
                <p:cNvPr id="6205" name="Rectangle 42"/>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06" name="Rectangle 43"/>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07" name="Rectangle 44"/>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08" name="Rectangle 45"/>
                <p:cNvSpPr>
                  <a:spLocks noChangeArrowheads="1"/>
                </p:cNvSpPr>
                <p:nvPr/>
              </p:nvSpPr>
              <p:spPr bwMode="auto">
                <a:xfrm>
                  <a:off x="2200"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09" name="Rectangle 46"/>
                <p:cNvSpPr>
                  <a:spLocks noChangeArrowheads="1"/>
                </p:cNvSpPr>
                <p:nvPr/>
              </p:nvSpPr>
              <p:spPr bwMode="auto">
                <a:xfrm>
                  <a:off x="2336"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6192" name="Group 47"/>
              <p:cNvGrpSpPr>
                <a:grpSpLocks/>
              </p:cNvGrpSpPr>
              <p:nvPr/>
            </p:nvGrpSpPr>
            <p:grpSpPr bwMode="auto">
              <a:xfrm>
                <a:off x="1745" y="1058"/>
                <a:ext cx="681" cy="136"/>
                <a:chOff x="1791" y="2614"/>
                <a:chExt cx="681" cy="136"/>
              </a:xfrm>
            </p:grpSpPr>
            <p:sp>
              <p:nvSpPr>
                <p:cNvPr id="6200" name="Rectangle 48"/>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01" name="Rectangle 49"/>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02" name="Rectangle 50"/>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03" name="Rectangle 51"/>
                <p:cNvSpPr>
                  <a:spLocks noChangeArrowheads="1"/>
                </p:cNvSpPr>
                <p:nvPr/>
              </p:nvSpPr>
              <p:spPr bwMode="auto">
                <a:xfrm>
                  <a:off x="2200"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204" name="Rectangle 52"/>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6193" name="Group 53"/>
              <p:cNvGrpSpPr>
                <a:grpSpLocks/>
              </p:cNvGrpSpPr>
              <p:nvPr/>
            </p:nvGrpSpPr>
            <p:grpSpPr bwMode="auto">
              <a:xfrm>
                <a:off x="1745" y="1210"/>
                <a:ext cx="681" cy="136"/>
                <a:chOff x="1791" y="2614"/>
                <a:chExt cx="681" cy="136"/>
              </a:xfrm>
            </p:grpSpPr>
            <p:sp>
              <p:nvSpPr>
                <p:cNvPr id="6195" name="Rectangle 54"/>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196" name="Rectangle 55"/>
                <p:cNvSpPr>
                  <a:spLocks noChangeArrowheads="1"/>
                </p:cNvSpPr>
                <p:nvPr/>
              </p:nvSpPr>
              <p:spPr bwMode="auto">
                <a:xfrm>
                  <a:off x="1927"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197" name="Rectangle 56"/>
                <p:cNvSpPr>
                  <a:spLocks noChangeArrowheads="1"/>
                </p:cNvSpPr>
                <p:nvPr/>
              </p:nvSpPr>
              <p:spPr bwMode="auto">
                <a:xfrm>
                  <a:off x="2064"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198" name="Rectangle 57"/>
                <p:cNvSpPr>
                  <a:spLocks noChangeArrowheads="1"/>
                </p:cNvSpPr>
                <p:nvPr/>
              </p:nvSpPr>
              <p:spPr bwMode="auto">
                <a:xfrm>
                  <a:off x="2200"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6199" name="Rectangle 58"/>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sp>
            <p:nvSpPr>
              <p:cNvPr id="6194" name="Text Box 201"/>
              <p:cNvSpPr txBox="1">
                <a:spLocks noChangeArrowheads="1"/>
              </p:cNvSpPr>
              <p:nvPr/>
            </p:nvSpPr>
            <p:spPr bwMode="auto">
              <a:xfrm>
                <a:off x="2434" y="474"/>
                <a:ext cx="5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dirty="0"/>
                  <a:t>gene</a:t>
                </a:r>
                <a:endParaRPr lang="en-US" altLang="en-US" dirty="0"/>
              </a:p>
            </p:txBody>
          </p:sp>
        </p:grpSp>
      </p:grpSp>
      <p:grpSp>
        <p:nvGrpSpPr>
          <p:cNvPr id="29" name="Group 214"/>
          <p:cNvGrpSpPr>
            <a:grpSpLocks/>
          </p:cNvGrpSpPr>
          <p:nvPr/>
        </p:nvGrpSpPr>
        <p:grpSpPr bwMode="auto">
          <a:xfrm>
            <a:off x="8256589" y="2636838"/>
            <a:ext cx="1512887" cy="366712"/>
            <a:chOff x="4241" y="1661"/>
            <a:chExt cx="953" cy="231"/>
          </a:xfrm>
        </p:grpSpPr>
        <p:sp>
          <p:nvSpPr>
            <p:cNvPr id="6184" name="Line 193"/>
            <p:cNvSpPr>
              <a:spLocks noChangeShapeType="1"/>
            </p:cNvSpPr>
            <p:nvPr/>
          </p:nvSpPr>
          <p:spPr bwMode="auto">
            <a:xfrm flipV="1">
              <a:off x="5148" y="1661"/>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185" name="Line 194"/>
            <p:cNvSpPr>
              <a:spLocks noChangeShapeType="1"/>
            </p:cNvSpPr>
            <p:nvPr/>
          </p:nvSpPr>
          <p:spPr bwMode="auto">
            <a:xfrm flipH="1">
              <a:off x="4241" y="1661"/>
              <a:ext cx="90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186" name="Text Box 203"/>
            <p:cNvSpPr txBox="1">
              <a:spLocks noChangeArrowheads="1"/>
            </p:cNvSpPr>
            <p:nvPr/>
          </p:nvSpPr>
          <p:spPr bwMode="auto">
            <a:xfrm>
              <a:off x="4876" y="1661"/>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a:t>no</a:t>
              </a:r>
              <a:endParaRPr lang="en-US" altLang="en-US"/>
            </a:p>
          </p:txBody>
        </p:sp>
      </p:grpSp>
      <p:sp>
        <p:nvSpPr>
          <p:cNvPr id="67788" name="Line 204"/>
          <p:cNvSpPr>
            <a:spLocks noChangeShapeType="1"/>
          </p:cNvSpPr>
          <p:nvPr/>
        </p:nvSpPr>
        <p:spPr bwMode="auto">
          <a:xfrm>
            <a:off x="10488614" y="3382963"/>
            <a:ext cx="1793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7789" name="Text Box 205"/>
          <p:cNvSpPr txBox="1">
            <a:spLocks noChangeArrowheads="1"/>
          </p:cNvSpPr>
          <p:nvPr/>
        </p:nvSpPr>
        <p:spPr bwMode="auto">
          <a:xfrm>
            <a:off x="10201275" y="2924176"/>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a:t>yes</a:t>
            </a:r>
            <a:endParaRPr lang="en-US" altLang="en-US"/>
          </a:p>
        </p:txBody>
      </p:sp>
    </p:spTree>
    <p:extLst>
      <p:ext uri="{BB962C8B-B14F-4D97-AF65-F5344CB8AC3E}">
        <p14:creationId xmlns:p14="http://schemas.microsoft.com/office/powerpoint/2010/main" val="1207335780"/>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6" name="Rectangle 171"/>
          <p:cNvSpPr>
            <a:spLocks noChangeArrowheads="1"/>
          </p:cNvSpPr>
          <p:nvPr/>
        </p:nvSpPr>
        <p:spPr bwMode="auto">
          <a:xfrm>
            <a:off x="9131300" y="1296194"/>
            <a:ext cx="1079500" cy="1150938"/>
          </a:xfrm>
          <a:prstGeom prst="rect">
            <a:avLst/>
          </a:prstGeom>
          <a:solidFill>
            <a:schemeClr val="bg1"/>
          </a:solidFill>
          <a:ln w="9525">
            <a:solidFill>
              <a:schemeClr val="tx1"/>
            </a:solidFill>
            <a:prstDash val="dash"/>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195" name="Slide Number Placeholder 5"/>
          <p:cNvSpPr>
            <a:spLocks noGrp="1"/>
          </p:cNvSpPr>
          <p:nvPr>
            <p:ph type="sldNum" sz="quarter" idx="12"/>
          </p:nvPr>
        </p:nvSpPr>
        <p:spPr/>
        <p:txBody>
          <a:bodyPr/>
          <a:lstStyle/>
          <a:p>
            <a:pPr>
              <a:defRPr/>
            </a:pPr>
            <a:fld id="{9D23EA7A-5A55-42B9-8819-5767F7052BFF}" type="slidenum">
              <a:rPr lang="en-US"/>
              <a:pPr>
                <a:defRPr/>
              </a:pPr>
              <a:t>56</a:t>
            </a:fld>
            <a:endParaRPr lang="en-US"/>
          </a:p>
        </p:txBody>
      </p:sp>
      <p:sp>
        <p:nvSpPr>
          <p:cNvPr id="7171" name="Rectangle 192"/>
          <p:cNvSpPr>
            <a:spLocks noChangeArrowheads="1"/>
          </p:cNvSpPr>
          <p:nvPr/>
        </p:nvSpPr>
        <p:spPr bwMode="auto">
          <a:xfrm>
            <a:off x="3648076" y="0"/>
            <a:ext cx="2016125"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173" name="Rectangle 3"/>
          <p:cNvSpPr>
            <a:spLocks noChangeArrowheads="1"/>
          </p:cNvSpPr>
          <p:nvPr/>
        </p:nvSpPr>
        <p:spPr bwMode="auto">
          <a:xfrm>
            <a:off x="5519738" y="1196975"/>
            <a:ext cx="2952750" cy="43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Generate Initial Population</a:t>
            </a:r>
            <a:endParaRPr lang="en-US" altLang="en-US"/>
          </a:p>
        </p:txBody>
      </p:sp>
      <p:sp>
        <p:nvSpPr>
          <p:cNvPr id="7174" name="Rectangle 4"/>
          <p:cNvSpPr>
            <a:spLocks noChangeArrowheads="1"/>
          </p:cNvSpPr>
          <p:nvPr/>
        </p:nvSpPr>
        <p:spPr bwMode="auto">
          <a:xfrm>
            <a:off x="5735638" y="2420938"/>
            <a:ext cx="2520950" cy="43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Select Mates (Parents)</a:t>
            </a:r>
            <a:endParaRPr lang="en-US" altLang="en-US"/>
          </a:p>
        </p:txBody>
      </p:sp>
      <p:sp>
        <p:nvSpPr>
          <p:cNvPr id="7175" name="Rectangle 5"/>
          <p:cNvSpPr>
            <a:spLocks noChangeArrowheads="1"/>
          </p:cNvSpPr>
          <p:nvPr/>
        </p:nvSpPr>
        <p:spPr bwMode="auto">
          <a:xfrm>
            <a:off x="5735638" y="3357563"/>
            <a:ext cx="2520950" cy="43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Crossover</a:t>
            </a:r>
            <a:endParaRPr lang="en-US" altLang="en-US"/>
          </a:p>
        </p:txBody>
      </p:sp>
      <p:sp>
        <p:nvSpPr>
          <p:cNvPr id="7176" name="Rectangle 6"/>
          <p:cNvSpPr>
            <a:spLocks noChangeArrowheads="1"/>
          </p:cNvSpPr>
          <p:nvPr/>
        </p:nvSpPr>
        <p:spPr bwMode="auto">
          <a:xfrm>
            <a:off x="5735638" y="4221163"/>
            <a:ext cx="2520950" cy="43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Mutate</a:t>
            </a:r>
            <a:endParaRPr lang="en-US" altLang="en-US"/>
          </a:p>
        </p:txBody>
      </p:sp>
      <p:sp>
        <p:nvSpPr>
          <p:cNvPr id="7177" name="AutoShape 7"/>
          <p:cNvSpPr>
            <a:spLocks noChangeArrowheads="1"/>
          </p:cNvSpPr>
          <p:nvPr/>
        </p:nvSpPr>
        <p:spPr bwMode="auto">
          <a:xfrm>
            <a:off x="8904289" y="2924176"/>
            <a:ext cx="1584325" cy="936625"/>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Terminate?</a:t>
            </a:r>
            <a:endParaRPr lang="en-US" altLang="en-US"/>
          </a:p>
        </p:txBody>
      </p:sp>
      <p:sp>
        <p:nvSpPr>
          <p:cNvPr id="7178" name="Rectangle 8"/>
          <p:cNvSpPr>
            <a:spLocks noChangeArrowheads="1"/>
          </p:cNvSpPr>
          <p:nvPr/>
        </p:nvSpPr>
        <p:spPr bwMode="auto">
          <a:xfrm>
            <a:off x="5735638" y="5949950"/>
            <a:ext cx="2520950" cy="43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Form Next Generation</a:t>
            </a:r>
            <a:endParaRPr lang="en-US" altLang="en-US"/>
          </a:p>
        </p:txBody>
      </p:sp>
      <p:grpSp>
        <p:nvGrpSpPr>
          <p:cNvPr id="7179" name="Group 9"/>
          <p:cNvGrpSpPr>
            <a:grpSpLocks/>
          </p:cNvGrpSpPr>
          <p:nvPr/>
        </p:nvGrpSpPr>
        <p:grpSpPr bwMode="auto">
          <a:xfrm>
            <a:off x="3935413" y="1196975"/>
            <a:ext cx="1439862" cy="939800"/>
            <a:chOff x="1429" y="1389"/>
            <a:chExt cx="907" cy="592"/>
          </a:xfrm>
        </p:grpSpPr>
        <p:grpSp>
          <p:nvGrpSpPr>
            <p:cNvPr id="7334" name="Group 10"/>
            <p:cNvGrpSpPr>
              <a:grpSpLocks/>
            </p:cNvGrpSpPr>
            <p:nvPr/>
          </p:nvGrpSpPr>
          <p:grpSpPr bwMode="auto">
            <a:xfrm>
              <a:off x="1655" y="1389"/>
              <a:ext cx="681" cy="136"/>
              <a:chOff x="1791" y="2614"/>
              <a:chExt cx="681" cy="136"/>
            </a:xfrm>
          </p:grpSpPr>
          <p:sp>
            <p:nvSpPr>
              <p:cNvPr id="7357" name="Rectangle 11"/>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58" name="Rectangle 12"/>
              <p:cNvSpPr>
                <a:spLocks noChangeArrowheads="1"/>
              </p:cNvSpPr>
              <p:nvPr/>
            </p:nvSpPr>
            <p:spPr bwMode="auto">
              <a:xfrm>
                <a:off x="1927"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59" name="Rectangle 13"/>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60" name="Rectangle 14"/>
              <p:cNvSpPr>
                <a:spLocks noChangeArrowheads="1"/>
              </p:cNvSpPr>
              <p:nvPr/>
            </p:nvSpPr>
            <p:spPr bwMode="auto">
              <a:xfrm>
                <a:off x="2200"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61" name="Rectangle 15"/>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7335" name="Group 16"/>
            <p:cNvGrpSpPr>
              <a:grpSpLocks/>
            </p:cNvGrpSpPr>
            <p:nvPr/>
          </p:nvGrpSpPr>
          <p:grpSpPr bwMode="auto">
            <a:xfrm>
              <a:off x="1655" y="1541"/>
              <a:ext cx="681" cy="136"/>
              <a:chOff x="1791" y="2614"/>
              <a:chExt cx="681" cy="136"/>
            </a:xfrm>
          </p:grpSpPr>
          <p:sp>
            <p:nvSpPr>
              <p:cNvPr id="7352" name="Rectangle 17"/>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53" name="Rectangle 18"/>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54" name="Rectangle 19"/>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55" name="Rectangle 20"/>
              <p:cNvSpPr>
                <a:spLocks noChangeArrowheads="1"/>
              </p:cNvSpPr>
              <p:nvPr/>
            </p:nvSpPr>
            <p:spPr bwMode="auto">
              <a:xfrm>
                <a:off x="2200"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56" name="Rectangle 21"/>
              <p:cNvSpPr>
                <a:spLocks noChangeArrowheads="1"/>
              </p:cNvSpPr>
              <p:nvPr/>
            </p:nvSpPr>
            <p:spPr bwMode="auto">
              <a:xfrm>
                <a:off x="2336"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7336" name="Group 22"/>
            <p:cNvGrpSpPr>
              <a:grpSpLocks/>
            </p:cNvGrpSpPr>
            <p:nvPr/>
          </p:nvGrpSpPr>
          <p:grpSpPr bwMode="auto">
            <a:xfrm>
              <a:off x="1655" y="1693"/>
              <a:ext cx="681" cy="136"/>
              <a:chOff x="1791" y="2614"/>
              <a:chExt cx="681" cy="136"/>
            </a:xfrm>
          </p:grpSpPr>
          <p:sp>
            <p:nvSpPr>
              <p:cNvPr id="7347" name="Rectangle 23"/>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48" name="Rectangle 24"/>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49" name="Rectangle 25"/>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50" name="Rectangle 26"/>
              <p:cNvSpPr>
                <a:spLocks noChangeArrowheads="1"/>
              </p:cNvSpPr>
              <p:nvPr/>
            </p:nvSpPr>
            <p:spPr bwMode="auto">
              <a:xfrm>
                <a:off x="2200"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51" name="Rectangle 27"/>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7337" name="Group 28"/>
            <p:cNvGrpSpPr>
              <a:grpSpLocks/>
            </p:cNvGrpSpPr>
            <p:nvPr/>
          </p:nvGrpSpPr>
          <p:grpSpPr bwMode="auto">
            <a:xfrm>
              <a:off x="1655" y="1845"/>
              <a:ext cx="681" cy="136"/>
              <a:chOff x="1791" y="2614"/>
              <a:chExt cx="681" cy="136"/>
            </a:xfrm>
          </p:grpSpPr>
          <p:sp>
            <p:nvSpPr>
              <p:cNvPr id="7342" name="Rectangle 29"/>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43" name="Rectangle 30"/>
              <p:cNvSpPr>
                <a:spLocks noChangeArrowheads="1"/>
              </p:cNvSpPr>
              <p:nvPr/>
            </p:nvSpPr>
            <p:spPr bwMode="auto">
              <a:xfrm>
                <a:off x="1927"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44" name="Rectangle 31"/>
              <p:cNvSpPr>
                <a:spLocks noChangeArrowheads="1"/>
              </p:cNvSpPr>
              <p:nvPr/>
            </p:nvSpPr>
            <p:spPr bwMode="auto">
              <a:xfrm>
                <a:off x="2064"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45" name="Rectangle 32"/>
              <p:cNvSpPr>
                <a:spLocks noChangeArrowheads="1"/>
              </p:cNvSpPr>
              <p:nvPr/>
            </p:nvSpPr>
            <p:spPr bwMode="auto">
              <a:xfrm>
                <a:off x="2200"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46" name="Rectangle 33"/>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sp>
          <p:nvSpPr>
            <p:cNvPr id="7338" name="Text Box 34"/>
            <p:cNvSpPr txBox="1">
              <a:spLocks noChangeArrowheads="1"/>
            </p:cNvSpPr>
            <p:nvPr/>
          </p:nvSpPr>
          <p:spPr bwMode="auto">
            <a:xfrm>
              <a:off x="1429" y="1397"/>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15.0</a:t>
              </a:r>
              <a:endParaRPr lang="en-US" altLang="en-US" sz="1200" b="1"/>
            </a:p>
          </p:txBody>
        </p:sp>
        <p:sp>
          <p:nvSpPr>
            <p:cNvPr id="7339" name="Text Box 35"/>
            <p:cNvSpPr txBox="1">
              <a:spLocks noChangeArrowheads="1"/>
            </p:cNvSpPr>
            <p:nvPr/>
          </p:nvSpPr>
          <p:spPr bwMode="auto">
            <a:xfrm>
              <a:off x="1437" y="1554"/>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28.0</a:t>
              </a:r>
              <a:endParaRPr lang="en-US" altLang="en-US" sz="1200" b="1"/>
            </a:p>
          </p:txBody>
        </p:sp>
        <p:sp>
          <p:nvSpPr>
            <p:cNvPr id="7340" name="Text Box 36"/>
            <p:cNvSpPr txBox="1">
              <a:spLocks noChangeArrowheads="1"/>
            </p:cNvSpPr>
            <p:nvPr/>
          </p:nvSpPr>
          <p:spPr bwMode="auto">
            <a:xfrm>
              <a:off x="1429" y="1714"/>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7.0</a:t>
              </a:r>
              <a:endParaRPr lang="en-US" altLang="en-US" sz="1200" b="1"/>
            </a:p>
          </p:txBody>
        </p:sp>
        <p:sp>
          <p:nvSpPr>
            <p:cNvPr id="7341" name="Text Box 37"/>
            <p:cNvSpPr txBox="1">
              <a:spLocks noChangeArrowheads="1"/>
            </p:cNvSpPr>
            <p:nvPr/>
          </p:nvSpPr>
          <p:spPr bwMode="auto">
            <a:xfrm>
              <a:off x="1474" y="1864"/>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9.0</a:t>
              </a:r>
              <a:endParaRPr lang="en-US" altLang="en-US" sz="1200" b="1"/>
            </a:p>
          </p:txBody>
        </p:sp>
      </p:grpSp>
      <p:grpSp>
        <p:nvGrpSpPr>
          <p:cNvPr id="7180" name="Group 38"/>
          <p:cNvGrpSpPr>
            <a:grpSpLocks/>
          </p:cNvGrpSpPr>
          <p:nvPr/>
        </p:nvGrpSpPr>
        <p:grpSpPr bwMode="auto">
          <a:xfrm>
            <a:off x="3935413" y="2420938"/>
            <a:ext cx="1439862" cy="457200"/>
            <a:chOff x="1429" y="2048"/>
            <a:chExt cx="907" cy="288"/>
          </a:xfrm>
        </p:grpSpPr>
        <p:grpSp>
          <p:nvGrpSpPr>
            <p:cNvPr id="7320" name="Group 39"/>
            <p:cNvGrpSpPr>
              <a:grpSpLocks/>
            </p:cNvGrpSpPr>
            <p:nvPr/>
          </p:nvGrpSpPr>
          <p:grpSpPr bwMode="auto">
            <a:xfrm>
              <a:off x="1655" y="2048"/>
              <a:ext cx="681" cy="136"/>
              <a:chOff x="1791" y="2614"/>
              <a:chExt cx="681" cy="136"/>
            </a:xfrm>
          </p:grpSpPr>
          <p:sp>
            <p:nvSpPr>
              <p:cNvPr id="7329" name="Rectangle 40"/>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30" name="Rectangle 41"/>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31" name="Rectangle 42"/>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32" name="Rectangle 43"/>
              <p:cNvSpPr>
                <a:spLocks noChangeArrowheads="1"/>
              </p:cNvSpPr>
              <p:nvPr/>
            </p:nvSpPr>
            <p:spPr bwMode="auto">
              <a:xfrm>
                <a:off x="2200"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33" name="Rectangle 44"/>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7321" name="Group 45"/>
            <p:cNvGrpSpPr>
              <a:grpSpLocks/>
            </p:cNvGrpSpPr>
            <p:nvPr/>
          </p:nvGrpSpPr>
          <p:grpSpPr bwMode="auto">
            <a:xfrm>
              <a:off x="1655" y="2200"/>
              <a:ext cx="681" cy="136"/>
              <a:chOff x="1791" y="2614"/>
              <a:chExt cx="681" cy="136"/>
            </a:xfrm>
          </p:grpSpPr>
          <p:sp>
            <p:nvSpPr>
              <p:cNvPr id="7324" name="Rectangle 46"/>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25" name="Rectangle 47"/>
              <p:cNvSpPr>
                <a:spLocks noChangeArrowheads="1"/>
              </p:cNvSpPr>
              <p:nvPr/>
            </p:nvSpPr>
            <p:spPr bwMode="auto">
              <a:xfrm>
                <a:off x="1927"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26" name="Rectangle 48"/>
              <p:cNvSpPr>
                <a:spLocks noChangeArrowheads="1"/>
              </p:cNvSpPr>
              <p:nvPr/>
            </p:nvSpPr>
            <p:spPr bwMode="auto">
              <a:xfrm>
                <a:off x="2064"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27" name="Rectangle 49"/>
              <p:cNvSpPr>
                <a:spLocks noChangeArrowheads="1"/>
              </p:cNvSpPr>
              <p:nvPr/>
            </p:nvSpPr>
            <p:spPr bwMode="auto">
              <a:xfrm>
                <a:off x="2200"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28" name="Rectangle 50"/>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sp>
          <p:nvSpPr>
            <p:cNvPr id="7322" name="Text Box 51"/>
            <p:cNvSpPr txBox="1">
              <a:spLocks noChangeArrowheads="1"/>
            </p:cNvSpPr>
            <p:nvPr/>
          </p:nvSpPr>
          <p:spPr bwMode="auto">
            <a:xfrm>
              <a:off x="1429" y="2069"/>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7.0</a:t>
              </a:r>
              <a:endParaRPr lang="en-US" altLang="en-US" sz="1200" b="1"/>
            </a:p>
          </p:txBody>
        </p:sp>
        <p:sp>
          <p:nvSpPr>
            <p:cNvPr id="7323" name="Text Box 52"/>
            <p:cNvSpPr txBox="1">
              <a:spLocks noChangeArrowheads="1"/>
            </p:cNvSpPr>
            <p:nvPr/>
          </p:nvSpPr>
          <p:spPr bwMode="auto">
            <a:xfrm>
              <a:off x="1474" y="2219"/>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9.0</a:t>
              </a:r>
              <a:endParaRPr lang="en-US" altLang="en-US" sz="1200" b="1"/>
            </a:p>
          </p:txBody>
        </p:sp>
      </p:grpSp>
      <p:grpSp>
        <p:nvGrpSpPr>
          <p:cNvPr id="7181" name="Group 53"/>
          <p:cNvGrpSpPr>
            <a:grpSpLocks/>
          </p:cNvGrpSpPr>
          <p:nvPr/>
        </p:nvGrpSpPr>
        <p:grpSpPr bwMode="auto">
          <a:xfrm>
            <a:off x="4295775" y="2924175"/>
            <a:ext cx="1081088" cy="1214438"/>
            <a:chOff x="1655" y="2387"/>
            <a:chExt cx="681" cy="765"/>
          </a:xfrm>
        </p:grpSpPr>
        <p:grpSp>
          <p:nvGrpSpPr>
            <p:cNvPr id="7295" name="Group 54"/>
            <p:cNvGrpSpPr>
              <a:grpSpLocks/>
            </p:cNvGrpSpPr>
            <p:nvPr/>
          </p:nvGrpSpPr>
          <p:grpSpPr bwMode="auto">
            <a:xfrm>
              <a:off x="1655" y="2462"/>
              <a:ext cx="681" cy="136"/>
              <a:chOff x="1791" y="2614"/>
              <a:chExt cx="681" cy="136"/>
            </a:xfrm>
          </p:grpSpPr>
          <p:sp>
            <p:nvSpPr>
              <p:cNvPr id="7315" name="Rectangle 55"/>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16" name="Rectangle 56"/>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17" name="Rectangle 57"/>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18" name="Rectangle 58"/>
              <p:cNvSpPr>
                <a:spLocks noChangeArrowheads="1"/>
              </p:cNvSpPr>
              <p:nvPr/>
            </p:nvSpPr>
            <p:spPr bwMode="auto">
              <a:xfrm>
                <a:off x="2200"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19" name="Rectangle 59"/>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7296" name="Group 60"/>
            <p:cNvGrpSpPr>
              <a:grpSpLocks/>
            </p:cNvGrpSpPr>
            <p:nvPr/>
          </p:nvGrpSpPr>
          <p:grpSpPr bwMode="auto">
            <a:xfrm>
              <a:off x="1655" y="2614"/>
              <a:ext cx="681" cy="136"/>
              <a:chOff x="1791" y="2614"/>
              <a:chExt cx="681" cy="136"/>
            </a:xfrm>
          </p:grpSpPr>
          <p:sp>
            <p:nvSpPr>
              <p:cNvPr id="7310" name="Rectangle 61"/>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11" name="Rectangle 62"/>
              <p:cNvSpPr>
                <a:spLocks noChangeArrowheads="1"/>
              </p:cNvSpPr>
              <p:nvPr/>
            </p:nvSpPr>
            <p:spPr bwMode="auto">
              <a:xfrm>
                <a:off x="1927"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12" name="Rectangle 63"/>
              <p:cNvSpPr>
                <a:spLocks noChangeArrowheads="1"/>
              </p:cNvSpPr>
              <p:nvPr/>
            </p:nvSpPr>
            <p:spPr bwMode="auto">
              <a:xfrm>
                <a:off x="2064"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13" name="Rectangle 64"/>
              <p:cNvSpPr>
                <a:spLocks noChangeArrowheads="1"/>
              </p:cNvSpPr>
              <p:nvPr/>
            </p:nvSpPr>
            <p:spPr bwMode="auto">
              <a:xfrm>
                <a:off x="2200"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14" name="Rectangle 65"/>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sp>
          <p:nvSpPr>
            <p:cNvPr id="7297" name="Line 66"/>
            <p:cNvSpPr>
              <a:spLocks noChangeShapeType="1"/>
            </p:cNvSpPr>
            <p:nvPr/>
          </p:nvSpPr>
          <p:spPr bwMode="auto">
            <a:xfrm>
              <a:off x="1927" y="2387"/>
              <a:ext cx="0" cy="453"/>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GB"/>
            </a:p>
          </p:txBody>
        </p:sp>
        <p:grpSp>
          <p:nvGrpSpPr>
            <p:cNvPr id="7298" name="Group 67"/>
            <p:cNvGrpSpPr>
              <a:grpSpLocks/>
            </p:cNvGrpSpPr>
            <p:nvPr/>
          </p:nvGrpSpPr>
          <p:grpSpPr bwMode="auto">
            <a:xfrm>
              <a:off x="1655" y="2864"/>
              <a:ext cx="681" cy="136"/>
              <a:chOff x="1791" y="2614"/>
              <a:chExt cx="681" cy="136"/>
            </a:xfrm>
          </p:grpSpPr>
          <p:sp>
            <p:nvSpPr>
              <p:cNvPr id="7305" name="Rectangle 68"/>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06" name="Rectangle 69"/>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07" name="Rectangle 70"/>
              <p:cNvSpPr>
                <a:spLocks noChangeArrowheads="1"/>
              </p:cNvSpPr>
              <p:nvPr/>
            </p:nvSpPr>
            <p:spPr bwMode="auto">
              <a:xfrm>
                <a:off x="2064"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08" name="Rectangle 71"/>
              <p:cNvSpPr>
                <a:spLocks noChangeArrowheads="1"/>
              </p:cNvSpPr>
              <p:nvPr/>
            </p:nvSpPr>
            <p:spPr bwMode="auto">
              <a:xfrm>
                <a:off x="2200"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09" name="Rectangle 72"/>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7299" name="Group 73"/>
            <p:cNvGrpSpPr>
              <a:grpSpLocks/>
            </p:cNvGrpSpPr>
            <p:nvPr/>
          </p:nvGrpSpPr>
          <p:grpSpPr bwMode="auto">
            <a:xfrm>
              <a:off x="1655" y="3016"/>
              <a:ext cx="681" cy="136"/>
              <a:chOff x="1791" y="2614"/>
              <a:chExt cx="681" cy="136"/>
            </a:xfrm>
          </p:grpSpPr>
          <p:sp>
            <p:nvSpPr>
              <p:cNvPr id="7300" name="Rectangle 74"/>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01" name="Rectangle 75"/>
              <p:cNvSpPr>
                <a:spLocks noChangeArrowheads="1"/>
              </p:cNvSpPr>
              <p:nvPr/>
            </p:nvSpPr>
            <p:spPr bwMode="auto">
              <a:xfrm>
                <a:off x="1927"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02" name="Rectangle 76"/>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03" name="Rectangle 77"/>
              <p:cNvSpPr>
                <a:spLocks noChangeArrowheads="1"/>
              </p:cNvSpPr>
              <p:nvPr/>
            </p:nvSpPr>
            <p:spPr bwMode="auto">
              <a:xfrm>
                <a:off x="2200"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304" name="Rectangle 78"/>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sp>
        <p:nvSpPr>
          <p:cNvPr id="7182" name="Rectangle 79"/>
          <p:cNvSpPr>
            <a:spLocks noChangeArrowheads="1"/>
          </p:cNvSpPr>
          <p:nvPr/>
        </p:nvSpPr>
        <p:spPr bwMode="auto">
          <a:xfrm>
            <a:off x="5735638" y="4652963"/>
            <a:ext cx="2520950" cy="43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Evaluate All Children</a:t>
            </a:r>
            <a:endParaRPr lang="en-US" altLang="en-US"/>
          </a:p>
        </p:txBody>
      </p:sp>
      <p:grpSp>
        <p:nvGrpSpPr>
          <p:cNvPr id="7183" name="Group 80"/>
          <p:cNvGrpSpPr>
            <a:grpSpLocks/>
          </p:cNvGrpSpPr>
          <p:nvPr/>
        </p:nvGrpSpPr>
        <p:grpSpPr bwMode="auto">
          <a:xfrm>
            <a:off x="3871913" y="4391025"/>
            <a:ext cx="1503362" cy="477838"/>
            <a:chOff x="1389" y="3324"/>
            <a:chExt cx="947" cy="301"/>
          </a:xfrm>
        </p:grpSpPr>
        <p:grpSp>
          <p:nvGrpSpPr>
            <p:cNvPr id="7281" name="Group 81"/>
            <p:cNvGrpSpPr>
              <a:grpSpLocks/>
            </p:cNvGrpSpPr>
            <p:nvPr/>
          </p:nvGrpSpPr>
          <p:grpSpPr bwMode="auto">
            <a:xfrm>
              <a:off x="1655" y="3324"/>
              <a:ext cx="681" cy="136"/>
              <a:chOff x="1791" y="2614"/>
              <a:chExt cx="681" cy="136"/>
            </a:xfrm>
          </p:grpSpPr>
          <p:sp>
            <p:nvSpPr>
              <p:cNvPr id="7290" name="Rectangle 82"/>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91" name="Rectangle 83"/>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92" name="Rectangle 84"/>
              <p:cNvSpPr>
                <a:spLocks noChangeArrowheads="1"/>
              </p:cNvSpPr>
              <p:nvPr/>
            </p:nvSpPr>
            <p:spPr bwMode="auto">
              <a:xfrm>
                <a:off x="2064"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93" name="Rectangle 85"/>
              <p:cNvSpPr>
                <a:spLocks noChangeArrowheads="1"/>
              </p:cNvSpPr>
              <p:nvPr/>
            </p:nvSpPr>
            <p:spPr bwMode="auto">
              <a:xfrm>
                <a:off x="2200" y="2614"/>
                <a:ext cx="136" cy="13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94" name="Rectangle 86"/>
              <p:cNvSpPr>
                <a:spLocks noChangeArrowheads="1"/>
              </p:cNvSpPr>
              <p:nvPr/>
            </p:nvSpPr>
            <p:spPr bwMode="auto">
              <a:xfrm>
                <a:off x="2336" y="2614"/>
                <a:ext cx="136" cy="136"/>
              </a:xfrm>
              <a:prstGeom prst="rect">
                <a:avLst/>
              </a:prstGeom>
              <a:solidFill>
                <a:schemeClr val="accent1"/>
              </a:solidFill>
              <a:ln w="2857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7282" name="Group 87"/>
            <p:cNvGrpSpPr>
              <a:grpSpLocks/>
            </p:cNvGrpSpPr>
            <p:nvPr/>
          </p:nvGrpSpPr>
          <p:grpSpPr bwMode="auto">
            <a:xfrm>
              <a:off x="1655" y="3489"/>
              <a:ext cx="681" cy="136"/>
              <a:chOff x="1791" y="2614"/>
              <a:chExt cx="681" cy="136"/>
            </a:xfrm>
          </p:grpSpPr>
          <p:sp>
            <p:nvSpPr>
              <p:cNvPr id="7285" name="Rectangle 88"/>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86" name="Rectangle 89"/>
              <p:cNvSpPr>
                <a:spLocks noChangeArrowheads="1"/>
              </p:cNvSpPr>
              <p:nvPr/>
            </p:nvSpPr>
            <p:spPr bwMode="auto">
              <a:xfrm>
                <a:off x="1927" y="2614"/>
                <a:ext cx="136" cy="136"/>
              </a:xfrm>
              <a:prstGeom prst="rect">
                <a:avLst/>
              </a:prstGeom>
              <a:solidFill>
                <a:schemeClr val="accent1"/>
              </a:solidFill>
              <a:ln w="2857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87" name="Rectangle 90"/>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88" name="Rectangle 91"/>
              <p:cNvSpPr>
                <a:spLocks noChangeArrowheads="1"/>
              </p:cNvSpPr>
              <p:nvPr/>
            </p:nvSpPr>
            <p:spPr bwMode="auto">
              <a:xfrm>
                <a:off x="2200"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89" name="Rectangle 92"/>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sp>
          <p:nvSpPr>
            <p:cNvPr id="7283" name="Text Box 93"/>
            <p:cNvSpPr txBox="1">
              <a:spLocks noChangeArrowheads="1"/>
            </p:cNvSpPr>
            <p:nvPr/>
          </p:nvSpPr>
          <p:spPr bwMode="auto">
            <a:xfrm>
              <a:off x="1389" y="3349"/>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16.0</a:t>
              </a:r>
              <a:endParaRPr lang="en-US" altLang="en-US" sz="1200" b="1"/>
            </a:p>
          </p:txBody>
        </p:sp>
        <p:sp>
          <p:nvSpPr>
            <p:cNvPr id="7284" name="Text Box 94"/>
            <p:cNvSpPr txBox="1">
              <a:spLocks noChangeArrowheads="1"/>
            </p:cNvSpPr>
            <p:nvPr/>
          </p:nvSpPr>
          <p:spPr bwMode="auto">
            <a:xfrm>
              <a:off x="1421" y="3499"/>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11.0</a:t>
              </a:r>
              <a:endParaRPr lang="en-US" altLang="en-US" sz="1200" b="1"/>
            </a:p>
          </p:txBody>
        </p:sp>
      </p:grpSp>
      <p:grpSp>
        <p:nvGrpSpPr>
          <p:cNvPr id="7184" name="Group 95"/>
          <p:cNvGrpSpPr>
            <a:grpSpLocks/>
          </p:cNvGrpSpPr>
          <p:nvPr/>
        </p:nvGrpSpPr>
        <p:grpSpPr bwMode="auto">
          <a:xfrm>
            <a:off x="4502150" y="5888038"/>
            <a:ext cx="1081088" cy="215900"/>
            <a:chOff x="1791" y="2614"/>
            <a:chExt cx="681" cy="136"/>
          </a:xfrm>
        </p:grpSpPr>
        <p:sp>
          <p:nvSpPr>
            <p:cNvPr id="7276" name="Rectangle 96"/>
            <p:cNvSpPr>
              <a:spLocks noChangeArrowheads="1"/>
            </p:cNvSpPr>
            <p:nvPr/>
          </p:nvSpPr>
          <p:spPr bwMode="auto">
            <a:xfrm>
              <a:off x="1791" y="2614"/>
              <a:ext cx="136" cy="136"/>
            </a:xfrm>
            <a:prstGeom prst="rect">
              <a:avLst/>
            </a:prstGeom>
            <a:solidFill>
              <a:schemeClr val="bg1"/>
            </a:solidFill>
            <a:ln w="6350">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77" name="Rectangle 97"/>
            <p:cNvSpPr>
              <a:spLocks noChangeArrowheads="1"/>
            </p:cNvSpPr>
            <p:nvPr/>
          </p:nvSpPr>
          <p:spPr bwMode="auto">
            <a:xfrm>
              <a:off x="1927" y="2614"/>
              <a:ext cx="136" cy="136"/>
            </a:xfrm>
            <a:prstGeom prst="rect">
              <a:avLst/>
            </a:prstGeom>
            <a:solidFill>
              <a:schemeClr val="accent1"/>
            </a:solidFill>
            <a:ln w="6350">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78" name="Rectangle 98"/>
            <p:cNvSpPr>
              <a:spLocks noChangeArrowheads="1"/>
            </p:cNvSpPr>
            <p:nvPr/>
          </p:nvSpPr>
          <p:spPr bwMode="auto">
            <a:xfrm>
              <a:off x="2064" y="2614"/>
              <a:ext cx="136" cy="136"/>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79" name="Rectangle 99"/>
            <p:cNvSpPr>
              <a:spLocks noChangeArrowheads="1"/>
            </p:cNvSpPr>
            <p:nvPr/>
          </p:nvSpPr>
          <p:spPr bwMode="auto">
            <a:xfrm>
              <a:off x="2200" y="2614"/>
              <a:ext cx="136" cy="136"/>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80" name="Rectangle 100"/>
            <p:cNvSpPr>
              <a:spLocks noChangeArrowheads="1"/>
            </p:cNvSpPr>
            <p:nvPr/>
          </p:nvSpPr>
          <p:spPr bwMode="auto">
            <a:xfrm>
              <a:off x="2336" y="2614"/>
              <a:ext cx="136" cy="136"/>
            </a:xfrm>
            <a:prstGeom prst="rect">
              <a:avLst/>
            </a:prstGeom>
            <a:solidFill>
              <a:schemeClr val="bg1"/>
            </a:solidFill>
            <a:ln w="6350">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7185" name="Group 101"/>
          <p:cNvGrpSpPr>
            <a:grpSpLocks/>
          </p:cNvGrpSpPr>
          <p:nvPr/>
        </p:nvGrpSpPr>
        <p:grpSpPr bwMode="auto">
          <a:xfrm>
            <a:off x="4497389" y="6610350"/>
            <a:ext cx="1081087" cy="215900"/>
            <a:chOff x="1791" y="2614"/>
            <a:chExt cx="681" cy="136"/>
          </a:xfrm>
        </p:grpSpPr>
        <p:sp>
          <p:nvSpPr>
            <p:cNvPr id="7271" name="Rectangle 102"/>
            <p:cNvSpPr>
              <a:spLocks noChangeArrowheads="1"/>
            </p:cNvSpPr>
            <p:nvPr/>
          </p:nvSpPr>
          <p:spPr bwMode="auto">
            <a:xfrm>
              <a:off x="1791" y="2614"/>
              <a:ext cx="136" cy="136"/>
            </a:xfrm>
            <a:prstGeom prst="rect">
              <a:avLst/>
            </a:prstGeom>
            <a:solidFill>
              <a:schemeClr val="accent1"/>
            </a:solidFill>
            <a:ln w="6350">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72" name="Rectangle 103"/>
            <p:cNvSpPr>
              <a:spLocks noChangeArrowheads="1"/>
            </p:cNvSpPr>
            <p:nvPr/>
          </p:nvSpPr>
          <p:spPr bwMode="auto">
            <a:xfrm>
              <a:off x="1927" y="2614"/>
              <a:ext cx="136" cy="136"/>
            </a:xfrm>
            <a:prstGeom prst="rect">
              <a:avLst/>
            </a:prstGeom>
            <a:solidFill>
              <a:schemeClr val="bg1"/>
            </a:solidFill>
            <a:ln w="6350">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73" name="Rectangle 104"/>
            <p:cNvSpPr>
              <a:spLocks noChangeArrowheads="1"/>
            </p:cNvSpPr>
            <p:nvPr/>
          </p:nvSpPr>
          <p:spPr bwMode="auto">
            <a:xfrm>
              <a:off x="2064" y="2614"/>
              <a:ext cx="136" cy="136"/>
            </a:xfrm>
            <a:prstGeom prst="rect">
              <a:avLst/>
            </a:prstGeom>
            <a:solidFill>
              <a:schemeClr val="accent1"/>
            </a:solidFill>
            <a:ln w="6350">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74" name="Rectangle 105"/>
            <p:cNvSpPr>
              <a:spLocks noChangeArrowheads="1"/>
            </p:cNvSpPr>
            <p:nvPr/>
          </p:nvSpPr>
          <p:spPr bwMode="auto">
            <a:xfrm>
              <a:off x="2200" y="2614"/>
              <a:ext cx="136" cy="136"/>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75" name="Rectangle 106"/>
            <p:cNvSpPr>
              <a:spLocks noChangeArrowheads="1"/>
            </p:cNvSpPr>
            <p:nvPr/>
          </p:nvSpPr>
          <p:spPr bwMode="auto">
            <a:xfrm>
              <a:off x="2336" y="2614"/>
              <a:ext cx="136" cy="136"/>
            </a:xfrm>
            <a:prstGeom prst="rect">
              <a:avLst/>
            </a:prstGeom>
            <a:solidFill>
              <a:schemeClr val="accent1"/>
            </a:solidFill>
            <a:ln w="6350">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sp>
        <p:nvSpPr>
          <p:cNvPr id="7186" name="Text Box 107"/>
          <p:cNvSpPr txBox="1">
            <a:spLocks noChangeArrowheads="1"/>
          </p:cNvSpPr>
          <p:nvPr/>
        </p:nvSpPr>
        <p:spPr bwMode="auto">
          <a:xfrm>
            <a:off x="4079876" y="5940426"/>
            <a:ext cx="57626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6.0</a:t>
            </a:r>
            <a:endParaRPr lang="en-US" altLang="en-US" sz="1200" b="1"/>
          </a:p>
        </p:txBody>
      </p:sp>
      <p:sp>
        <p:nvSpPr>
          <p:cNvPr id="7187" name="Text Box 108"/>
          <p:cNvSpPr txBox="1">
            <a:spLocks noChangeArrowheads="1"/>
          </p:cNvSpPr>
          <p:nvPr/>
        </p:nvSpPr>
        <p:spPr bwMode="auto">
          <a:xfrm>
            <a:off x="4125913" y="6626226"/>
            <a:ext cx="57626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10.0</a:t>
            </a:r>
            <a:endParaRPr lang="en-US" altLang="en-US" sz="1200" b="1"/>
          </a:p>
        </p:txBody>
      </p:sp>
      <p:grpSp>
        <p:nvGrpSpPr>
          <p:cNvPr id="7188" name="Group 109"/>
          <p:cNvGrpSpPr>
            <a:grpSpLocks/>
          </p:cNvGrpSpPr>
          <p:nvPr/>
        </p:nvGrpSpPr>
        <p:grpSpPr bwMode="auto">
          <a:xfrm>
            <a:off x="4502150" y="6130925"/>
            <a:ext cx="1081088" cy="215900"/>
            <a:chOff x="1791" y="2614"/>
            <a:chExt cx="681" cy="136"/>
          </a:xfrm>
        </p:grpSpPr>
        <p:sp>
          <p:nvSpPr>
            <p:cNvPr id="7266" name="Rectangle 110"/>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67" name="Rectangle 111"/>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68" name="Rectangle 112"/>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69" name="Rectangle 113"/>
            <p:cNvSpPr>
              <a:spLocks noChangeArrowheads="1"/>
            </p:cNvSpPr>
            <p:nvPr/>
          </p:nvSpPr>
          <p:spPr bwMode="auto">
            <a:xfrm>
              <a:off x="2200"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70" name="Rectangle 114"/>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7189" name="Group 115"/>
          <p:cNvGrpSpPr>
            <a:grpSpLocks/>
          </p:cNvGrpSpPr>
          <p:nvPr/>
        </p:nvGrpSpPr>
        <p:grpSpPr bwMode="auto">
          <a:xfrm>
            <a:off x="4502150" y="6372225"/>
            <a:ext cx="1081088" cy="215900"/>
            <a:chOff x="1791" y="2614"/>
            <a:chExt cx="681" cy="136"/>
          </a:xfrm>
        </p:grpSpPr>
        <p:sp>
          <p:nvSpPr>
            <p:cNvPr id="7261" name="Rectangle 116"/>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62" name="Rectangle 117"/>
            <p:cNvSpPr>
              <a:spLocks noChangeArrowheads="1"/>
            </p:cNvSpPr>
            <p:nvPr/>
          </p:nvSpPr>
          <p:spPr bwMode="auto">
            <a:xfrm>
              <a:off x="1927"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63" name="Rectangle 118"/>
            <p:cNvSpPr>
              <a:spLocks noChangeArrowheads="1"/>
            </p:cNvSpPr>
            <p:nvPr/>
          </p:nvSpPr>
          <p:spPr bwMode="auto">
            <a:xfrm>
              <a:off x="2064"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64" name="Rectangle 119"/>
            <p:cNvSpPr>
              <a:spLocks noChangeArrowheads="1"/>
            </p:cNvSpPr>
            <p:nvPr/>
          </p:nvSpPr>
          <p:spPr bwMode="auto">
            <a:xfrm>
              <a:off x="2200"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65" name="Rectangle 120"/>
            <p:cNvSpPr>
              <a:spLocks noChangeArrowheads="1"/>
            </p:cNvSpPr>
            <p:nvPr/>
          </p:nvSpPr>
          <p:spPr bwMode="auto">
            <a:xfrm>
              <a:off x="2336"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sp>
        <p:nvSpPr>
          <p:cNvPr id="7190" name="Text Box 121"/>
          <p:cNvSpPr txBox="1">
            <a:spLocks noChangeArrowheads="1"/>
          </p:cNvSpPr>
          <p:nvPr/>
        </p:nvSpPr>
        <p:spPr bwMode="auto">
          <a:xfrm>
            <a:off x="4143376" y="6164263"/>
            <a:ext cx="57626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7.0</a:t>
            </a:r>
            <a:endParaRPr lang="en-US" altLang="en-US" sz="1200" b="1"/>
          </a:p>
        </p:txBody>
      </p:sp>
      <p:sp>
        <p:nvSpPr>
          <p:cNvPr id="7191" name="Text Box 122"/>
          <p:cNvSpPr txBox="1">
            <a:spLocks noChangeArrowheads="1"/>
          </p:cNvSpPr>
          <p:nvPr/>
        </p:nvSpPr>
        <p:spPr bwMode="auto">
          <a:xfrm>
            <a:off x="4189413" y="6402388"/>
            <a:ext cx="57626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9.0</a:t>
            </a:r>
            <a:endParaRPr lang="en-US" altLang="en-US" sz="1200" b="1"/>
          </a:p>
        </p:txBody>
      </p:sp>
      <p:sp>
        <p:nvSpPr>
          <p:cNvPr id="7192" name="Rectangle 123"/>
          <p:cNvSpPr>
            <a:spLocks noChangeArrowheads="1"/>
          </p:cNvSpPr>
          <p:nvPr/>
        </p:nvSpPr>
        <p:spPr bwMode="auto">
          <a:xfrm>
            <a:off x="5735638" y="5300663"/>
            <a:ext cx="2520950" cy="43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Hill Climbing</a:t>
            </a:r>
            <a:endParaRPr lang="en-US" altLang="en-US"/>
          </a:p>
        </p:txBody>
      </p:sp>
      <p:sp>
        <p:nvSpPr>
          <p:cNvPr id="7193" name="Rectangle 124"/>
          <p:cNvSpPr>
            <a:spLocks noChangeArrowheads="1"/>
          </p:cNvSpPr>
          <p:nvPr/>
        </p:nvSpPr>
        <p:spPr bwMode="auto">
          <a:xfrm>
            <a:off x="5519738" y="1628775"/>
            <a:ext cx="2952750" cy="43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a:t>Evaluate All Individuals</a:t>
            </a:r>
            <a:endParaRPr lang="en-US" altLang="en-US"/>
          </a:p>
        </p:txBody>
      </p:sp>
      <p:sp>
        <p:nvSpPr>
          <p:cNvPr id="7194" name="Line 125"/>
          <p:cNvSpPr>
            <a:spLocks noChangeShapeType="1"/>
          </p:cNvSpPr>
          <p:nvPr/>
        </p:nvSpPr>
        <p:spPr bwMode="auto">
          <a:xfrm>
            <a:off x="3792538" y="2243138"/>
            <a:ext cx="482441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7195" name="Line 126"/>
          <p:cNvSpPr>
            <a:spLocks noChangeShapeType="1"/>
          </p:cNvSpPr>
          <p:nvPr/>
        </p:nvSpPr>
        <p:spPr bwMode="auto">
          <a:xfrm>
            <a:off x="3792538" y="2962275"/>
            <a:ext cx="482441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7196" name="Line 127"/>
          <p:cNvSpPr>
            <a:spLocks noChangeShapeType="1"/>
          </p:cNvSpPr>
          <p:nvPr/>
        </p:nvSpPr>
        <p:spPr bwMode="auto">
          <a:xfrm>
            <a:off x="3792538" y="4162425"/>
            <a:ext cx="482441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7197" name="Line 128"/>
          <p:cNvSpPr>
            <a:spLocks noChangeShapeType="1"/>
          </p:cNvSpPr>
          <p:nvPr/>
        </p:nvSpPr>
        <p:spPr bwMode="auto">
          <a:xfrm>
            <a:off x="3792538" y="5183188"/>
            <a:ext cx="482441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7198" name="Line 129"/>
          <p:cNvSpPr>
            <a:spLocks noChangeShapeType="1"/>
          </p:cNvSpPr>
          <p:nvPr/>
        </p:nvSpPr>
        <p:spPr bwMode="auto">
          <a:xfrm>
            <a:off x="3792538" y="5830888"/>
            <a:ext cx="482441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grpSp>
        <p:nvGrpSpPr>
          <p:cNvPr id="7199" name="Group 130"/>
          <p:cNvGrpSpPr>
            <a:grpSpLocks/>
          </p:cNvGrpSpPr>
          <p:nvPr/>
        </p:nvGrpSpPr>
        <p:grpSpPr bwMode="auto">
          <a:xfrm>
            <a:off x="3863976" y="5256214"/>
            <a:ext cx="1503363" cy="477837"/>
            <a:chOff x="1389" y="3324"/>
            <a:chExt cx="947" cy="301"/>
          </a:xfrm>
        </p:grpSpPr>
        <p:grpSp>
          <p:nvGrpSpPr>
            <p:cNvPr id="7247" name="Group 131"/>
            <p:cNvGrpSpPr>
              <a:grpSpLocks/>
            </p:cNvGrpSpPr>
            <p:nvPr/>
          </p:nvGrpSpPr>
          <p:grpSpPr bwMode="auto">
            <a:xfrm>
              <a:off x="1655" y="3324"/>
              <a:ext cx="681" cy="136"/>
              <a:chOff x="1791" y="2614"/>
              <a:chExt cx="681" cy="136"/>
            </a:xfrm>
          </p:grpSpPr>
          <p:sp>
            <p:nvSpPr>
              <p:cNvPr id="7256" name="Rectangle 132"/>
              <p:cNvSpPr>
                <a:spLocks noChangeArrowheads="1"/>
              </p:cNvSpPr>
              <p:nvPr/>
            </p:nvSpPr>
            <p:spPr bwMode="auto">
              <a:xfrm>
                <a:off x="1791" y="2614"/>
                <a:ext cx="136" cy="13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57" name="Rectangle 133"/>
              <p:cNvSpPr>
                <a:spLocks noChangeArrowheads="1"/>
              </p:cNvSpPr>
              <p:nvPr/>
            </p:nvSpPr>
            <p:spPr bwMode="auto">
              <a:xfrm>
                <a:off x="1927"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58" name="Rectangle 134"/>
              <p:cNvSpPr>
                <a:spLocks noChangeArrowheads="1"/>
              </p:cNvSpPr>
              <p:nvPr/>
            </p:nvSpPr>
            <p:spPr bwMode="auto">
              <a:xfrm>
                <a:off x="2064"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59" name="Rectangle 135"/>
              <p:cNvSpPr>
                <a:spLocks noChangeArrowheads="1"/>
              </p:cNvSpPr>
              <p:nvPr/>
            </p:nvSpPr>
            <p:spPr bwMode="auto">
              <a:xfrm>
                <a:off x="2200" y="2614"/>
                <a:ext cx="136" cy="136"/>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60" name="Rectangle 136"/>
              <p:cNvSpPr>
                <a:spLocks noChangeArrowheads="1"/>
              </p:cNvSpPr>
              <p:nvPr/>
            </p:nvSpPr>
            <p:spPr bwMode="auto">
              <a:xfrm>
                <a:off x="2336" y="2614"/>
                <a:ext cx="136" cy="136"/>
              </a:xfrm>
              <a:prstGeom prst="rect">
                <a:avLst/>
              </a:prstGeom>
              <a:solidFill>
                <a:schemeClr val="bg1"/>
              </a:solidFill>
              <a:ln w="2857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grpSp>
          <p:nvGrpSpPr>
            <p:cNvPr id="7248" name="Group 137"/>
            <p:cNvGrpSpPr>
              <a:grpSpLocks/>
            </p:cNvGrpSpPr>
            <p:nvPr/>
          </p:nvGrpSpPr>
          <p:grpSpPr bwMode="auto">
            <a:xfrm>
              <a:off x="1655" y="3489"/>
              <a:ext cx="681" cy="136"/>
              <a:chOff x="1791" y="2614"/>
              <a:chExt cx="681" cy="136"/>
            </a:xfrm>
          </p:grpSpPr>
          <p:sp>
            <p:nvSpPr>
              <p:cNvPr id="7251" name="Rectangle 138"/>
              <p:cNvSpPr>
                <a:spLocks noChangeArrowheads="1"/>
              </p:cNvSpPr>
              <p:nvPr/>
            </p:nvSpPr>
            <p:spPr bwMode="auto">
              <a:xfrm>
                <a:off x="1791"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52" name="Rectangle 139"/>
              <p:cNvSpPr>
                <a:spLocks noChangeArrowheads="1"/>
              </p:cNvSpPr>
              <p:nvPr/>
            </p:nvSpPr>
            <p:spPr bwMode="auto">
              <a:xfrm>
                <a:off x="1927" y="2614"/>
                <a:ext cx="136" cy="136"/>
              </a:xfrm>
              <a:prstGeom prst="rect">
                <a:avLst/>
              </a:prstGeom>
              <a:solidFill>
                <a:schemeClr val="bg1"/>
              </a:solidFill>
              <a:ln w="2857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53" name="Rectangle 140"/>
              <p:cNvSpPr>
                <a:spLocks noChangeArrowheads="1"/>
              </p:cNvSpPr>
              <p:nvPr/>
            </p:nvSpPr>
            <p:spPr bwMode="auto">
              <a:xfrm>
                <a:off x="2064" y="2614"/>
                <a:ext cx="136" cy="136"/>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54" name="Rectangle 141"/>
              <p:cNvSpPr>
                <a:spLocks noChangeArrowheads="1"/>
              </p:cNvSpPr>
              <p:nvPr/>
            </p:nvSpPr>
            <p:spPr bwMode="auto">
              <a:xfrm>
                <a:off x="2200" y="2614"/>
                <a:ext cx="136"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sp>
            <p:nvSpPr>
              <p:cNvPr id="7255" name="Rectangle 142"/>
              <p:cNvSpPr>
                <a:spLocks noChangeArrowheads="1"/>
              </p:cNvSpPr>
              <p:nvPr/>
            </p:nvSpPr>
            <p:spPr bwMode="auto">
              <a:xfrm>
                <a:off x="2336" y="2614"/>
                <a:ext cx="136" cy="136"/>
              </a:xfrm>
              <a:prstGeom prst="rect">
                <a:avLst/>
              </a:prstGeom>
              <a:solidFill>
                <a:schemeClr val="accent1"/>
              </a:solidFill>
              <a:ln w="28575">
                <a:solidFill>
                  <a:schemeClr val="tx1"/>
                </a:solidFill>
                <a:miter lim="800000"/>
                <a:headEnd/>
                <a:tailEnd/>
              </a:ln>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endParaRPr lang="en-US" altLang="en-US"/>
              </a:p>
            </p:txBody>
          </p:sp>
        </p:grpSp>
        <p:sp>
          <p:nvSpPr>
            <p:cNvPr id="7249" name="Text Box 143"/>
            <p:cNvSpPr txBox="1">
              <a:spLocks noChangeArrowheads="1"/>
            </p:cNvSpPr>
            <p:nvPr/>
          </p:nvSpPr>
          <p:spPr bwMode="auto">
            <a:xfrm>
              <a:off x="1389" y="3349"/>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6.0</a:t>
              </a:r>
              <a:endParaRPr lang="en-US" altLang="en-US" sz="1200" b="1"/>
            </a:p>
          </p:txBody>
        </p:sp>
        <p:sp>
          <p:nvSpPr>
            <p:cNvPr id="7250" name="Text Box 144"/>
            <p:cNvSpPr txBox="1">
              <a:spLocks noChangeArrowheads="1"/>
            </p:cNvSpPr>
            <p:nvPr/>
          </p:nvSpPr>
          <p:spPr bwMode="auto">
            <a:xfrm>
              <a:off x="1421" y="3499"/>
              <a:ext cx="36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200" b="1"/>
                <a:t> 10.0</a:t>
              </a:r>
              <a:endParaRPr lang="en-US" altLang="en-US" sz="1200" b="1"/>
            </a:p>
          </p:txBody>
        </p:sp>
      </p:grpSp>
      <p:grpSp>
        <p:nvGrpSpPr>
          <p:cNvPr id="7200" name="Group 145"/>
          <p:cNvGrpSpPr>
            <a:grpSpLocks/>
          </p:cNvGrpSpPr>
          <p:nvPr/>
        </p:nvGrpSpPr>
        <p:grpSpPr bwMode="auto">
          <a:xfrm>
            <a:off x="5472113" y="3670301"/>
            <a:ext cx="144462" cy="982663"/>
            <a:chOff x="2471" y="2312"/>
            <a:chExt cx="91" cy="619"/>
          </a:xfrm>
        </p:grpSpPr>
        <p:sp>
          <p:nvSpPr>
            <p:cNvPr id="7245" name="Freeform 146"/>
            <p:cNvSpPr>
              <a:spLocks/>
            </p:cNvSpPr>
            <p:nvPr/>
          </p:nvSpPr>
          <p:spPr bwMode="auto">
            <a:xfrm>
              <a:off x="2472" y="2478"/>
              <a:ext cx="90" cy="453"/>
            </a:xfrm>
            <a:custGeom>
              <a:avLst/>
              <a:gdLst>
                <a:gd name="T0" fmla="*/ 0 w 90"/>
                <a:gd name="T1" fmla="*/ 0 h 453"/>
                <a:gd name="T2" fmla="*/ 90 w 90"/>
                <a:gd name="T3" fmla="*/ 226 h 453"/>
                <a:gd name="T4" fmla="*/ 0 w 90"/>
                <a:gd name="T5" fmla="*/ 453 h 453"/>
                <a:gd name="T6" fmla="*/ 0 60000 65536"/>
                <a:gd name="T7" fmla="*/ 0 60000 65536"/>
                <a:gd name="T8" fmla="*/ 0 60000 65536"/>
                <a:gd name="T9" fmla="*/ 0 w 90"/>
                <a:gd name="T10" fmla="*/ 0 h 453"/>
                <a:gd name="T11" fmla="*/ 90 w 90"/>
                <a:gd name="T12" fmla="*/ 453 h 453"/>
              </a:gdLst>
              <a:ahLst/>
              <a:cxnLst>
                <a:cxn ang="T6">
                  <a:pos x="T0" y="T1"/>
                </a:cxn>
                <a:cxn ang="T7">
                  <a:pos x="T2" y="T3"/>
                </a:cxn>
                <a:cxn ang="T8">
                  <a:pos x="T4" y="T5"/>
                </a:cxn>
              </a:cxnLst>
              <a:rect l="T9" t="T10" r="T11" b="T12"/>
              <a:pathLst>
                <a:path w="90" h="453">
                  <a:moveTo>
                    <a:pt x="0" y="0"/>
                  </a:moveTo>
                  <a:cubicBezTo>
                    <a:pt x="45" y="75"/>
                    <a:pt x="90" y="151"/>
                    <a:pt x="90" y="226"/>
                  </a:cubicBezTo>
                  <a:cubicBezTo>
                    <a:pt x="90" y="301"/>
                    <a:pt x="45" y="377"/>
                    <a:pt x="0" y="453"/>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246" name="Freeform 147"/>
            <p:cNvSpPr>
              <a:spLocks/>
            </p:cNvSpPr>
            <p:nvPr/>
          </p:nvSpPr>
          <p:spPr bwMode="auto">
            <a:xfrm>
              <a:off x="2471" y="2312"/>
              <a:ext cx="2" cy="286"/>
            </a:xfrm>
            <a:custGeom>
              <a:avLst/>
              <a:gdLst>
                <a:gd name="T0" fmla="*/ 0 w 2"/>
                <a:gd name="T1" fmla="*/ 0 h 286"/>
                <a:gd name="T2" fmla="*/ 2 w 2"/>
                <a:gd name="T3" fmla="*/ 286 h 286"/>
                <a:gd name="T4" fmla="*/ 0 60000 65536"/>
                <a:gd name="T5" fmla="*/ 0 60000 65536"/>
                <a:gd name="T6" fmla="*/ 0 w 2"/>
                <a:gd name="T7" fmla="*/ 0 h 286"/>
                <a:gd name="T8" fmla="*/ 2 w 2"/>
                <a:gd name="T9" fmla="*/ 286 h 286"/>
              </a:gdLst>
              <a:ahLst/>
              <a:cxnLst>
                <a:cxn ang="T4">
                  <a:pos x="T0" y="T1"/>
                </a:cxn>
                <a:cxn ang="T5">
                  <a:pos x="T2" y="T3"/>
                </a:cxn>
              </a:cxnLst>
              <a:rect l="T6" t="T7" r="T8" b="T9"/>
              <a:pathLst>
                <a:path w="2" h="286">
                  <a:moveTo>
                    <a:pt x="0" y="0"/>
                  </a:moveTo>
                  <a:lnTo>
                    <a:pt x="2" y="286"/>
                  </a:lnTo>
                </a:path>
              </a:pathLst>
            </a:custGeom>
            <a:noFill/>
            <a:ln w="9525">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GB"/>
            </a:p>
          </p:txBody>
        </p:sp>
      </p:grpSp>
      <p:grpSp>
        <p:nvGrpSpPr>
          <p:cNvPr id="7201" name="Group 148"/>
          <p:cNvGrpSpPr>
            <a:grpSpLocks/>
          </p:cNvGrpSpPr>
          <p:nvPr/>
        </p:nvGrpSpPr>
        <p:grpSpPr bwMode="auto">
          <a:xfrm>
            <a:off x="5434013" y="4391026"/>
            <a:ext cx="144462" cy="982663"/>
            <a:chOff x="2471" y="2312"/>
            <a:chExt cx="91" cy="619"/>
          </a:xfrm>
        </p:grpSpPr>
        <p:sp>
          <p:nvSpPr>
            <p:cNvPr id="7243" name="Freeform 149"/>
            <p:cNvSpPr>
              <a:spLocks/>
            </p:cNvSpPr>
            <p:nvPr/>
          </p:nvSpPr>
          <p:spPr bwMode="auto">
            <a:xfrm>
              <a:off x="2472" y="2478"/>
              <a:ext cx="90" cy="453"/>
            </a:xfrm>
            <a:custGeom>
              <a:avLst/>
              <a:gdLst>
                <a:gd name="T0" fmla="*/ 0 w 90"/>
                <a:gd name="T1" fmla="*/ 0 h 453"/>
                <a:gd name="T2" fmla="*/ 90 w 90"/>
                <a:gd name="T3" fmla="*/ 226 h 453"/>
                <a:gd name="T4" fmla="*/ 0 w 90"/>
                <a:gd name="T5" fmla="*/ 453 h 453"/>
                <a:gd name="T6" fmla="*/ 0 60000 65536"/>
                <a:gd name="T7" fmla="*/ 0 60000 65536"/>
                <a:gd name="T8" fmla="*/ 0 60000 65536"/>
                <a:gd name="T9" fmla="*/ 0 w 90"/>
                <a:gd name="T10" fmla="*/ 0 h 453"/>
                <a:gd name="T11" fmla="*/ 90 w 90"/>
                <a:gd name="T12" fmla="*/ 453 h 453"/>
              </a:gdLst>
              <a:ahLst/>
              <a:cxnLst>
                <a:cxn ang="T6">
                  <a:pos x="T0" y="T1"/>
                </a:cxn>
                <a:cxn ang="T7">
                  <a:pos x="T2" y="T3"/>
                </a:cxn>
                <a:cxn ang="T8">
                  <a:pos x="T4" y="T5"/>
                </a:cxn>
              </a:cxnLst>
              <a:rect l="T9" t="T10" r="T11" b="T12"/>
              <a:pathLst>
                <a:path w="90" h="453">
                  <a:moveTo>
                    <a:pt x="0" y="0"/>
                  </a:moveTo>
                  <a:cubicBezTo>
                    <a:pt x="45" y="75"/>
                    <a:pt x="90" y="151"/>
                    <a:pt x="90" y="226"/>
                  </a:cubicBezTo>
                  <a:cubicBezTo>
                    <a:pt x="90" y="301"/>
                    <a:pt x="45" y="377"/>
                    <a:pt x="0" y="453"/>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244" name="Freeform 150"/>
            <p:cNvSpPr>
              <a:spLocks/>
            </p:cNvSpPr>
            <p:nvPr/>
          </p:nvSpPr>
          <p:spPr bwMode="auto">
            <a:xfrm>
              <a:off x="2471" y="2312"/>
              <a:ext cx="2" cy="286"/>
            </a:xfrm>
            <a:custGeom>
              <a:avLst/>
              <a:gdLst>
                <a:gd name="T0" fmla="*/ 0 w 2"/>
                <a:gd name="T1" fmla="*/ 0 h 286"/>
                <a:gd name="T2" fmla="*/ 2 w 2"/>
                <a:gd name="T3" fmla="*/ 286 h 286"/>
                <a:gd name="T4" fmla="*/ 0 60000 65536"/>
                <a:gd name="T5" fmla="*/ 0 60000 65536"/>
                <a:gd name="T6" fmla="*/ 0 w 2"/>
                <a:gd name="T7" fmla="*/ 0 h 286"/>
                <a:gd name="T8" fmla="*/ 2 w 2"/>
                <a:gd name="T9" fmla="*/ 286 h 286"/>
              </a:gdLst>
              <a:ahLst/>
              <a:cxnLst>
                <a:cxn ang="T4">
                  <a:pos x="T0" y="T1"/>
                </a:cxn>
                <a:cxn ang="T5">
                  <a:pos x="T2" y="T3"/>
                </a:cxn>
              </a:cxnLst>
              <a:rect l="T6" t="T7" r="T8" b="T9"/>
              <a:pathLst>
                <a:path w="2" h="286">
                  <a:moveTo>
                    <a:pt x="0" y="0"/>
                  </a:moveTo>
                  <a:lnTo>
                    <a:pt x="2" y="286"/>
                  </a:lnTo>
                </a:path>
              </a:pathLst>
            </a:custGeom>
            <a:noFill/>
            <a:ln w="9525">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GB"/>
            </a:p>
          </p:txBody>
        </p:sp>
      </p:grpSp>
      <p:sp>
        <p:nvSpPr>
          <p:cNvPr id="7202" name="Line 151"/>
          <p:cNvSpPr>
            <a:spLocks noChangeShapeType="1"/>
          </p:cNvSpPr>
          <p:nvPr/>
        </p:nvSpPr>
        <p:spPr bwMode="auto">
          <a:xfrm>
            <a:off x="6888163" y="2060576"/>
            <a:ext cx="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7203" name="Line 152"/>
          <p:cNvSpPr>
            <a:spLocks noChangeShapeType="1"/>
          </p:cNvSpPr>
          <p:nvPr/>
        </p:nvSpPr>
        <p:spPr bwMode="auto">
          <a:xfrm>
            <a:off x="6888163" y="2852739"/>
            <a:ext cx="0"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7204" name="Line 153"/>
          <p:cNvSpPr>
            <a:spLocks noChangeShapeType="1"/>
          </p:cNvSpPr>
          <p:nvPr/>
        </p:nvSpPr>
        <p:spPr bwMode="auto">
          <a:xfrm>
            <a:off x="6888163" y="3787775"/>
            <a:ext cx="0" cy="4333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7205" name="Line 154"/>
          <p:cNvSpPr>
            <a:spLocks noChangeShapeType="1"/>
          </p:cNvSpPr>
          <p:nvPr/>
        </p:nvSpPr>
        <p:spPr bwMode="auto">
          <a:xfrm>
            <a:off x="6888163" y="5084763"/>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7206" name="Line 155"/>
          <p:cNvSpPr>
            <a:spLocks noChangeShapeType="1"/>
          </p:cNvSpPr>
          <p:nvPr/>
        </p:nvSpPr>
        <p:spPr bwMode="auto">
          <a:xfrm>
            <a:off x="6888163" y="5734050"/>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7207" name="Line 156"/>
          <p:cNvSpPr>
            <a:spLocks noChangeShapeType="1"/>
          </p:cNvSpPr>
          <p:nvPr/>
        </p:nvSpPr>
        <p:spPr bwMode="auto">
          <a:xfrm>
            <a:off x="8256588" y="6165850"/>
            <a:ext cx="1439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208" name="Line 157"/>
          <p:cNvSpPr>
            <a:spLocks noChangeShapeType="1"/>
          </p:cNvSpPr>
          <p:nvPr/>
        </p:nvSpPr>
        <p:spPr bwMode="auto">
          <a:xfrm flipV="1">
            <a:off x="9696450" y="3860800"/>
            <a:ext cx="0" cy="23050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7209" name="Line 158"/>
          <p:cNvSpPr>
            <a:spLocks noChangeShapeType="1"/>
          </p:cNvSpPr>
          <p:nvPr/>
        </p:nvSpPr>
        <p:spPr bwMode="auto">
          <a:xfrm flipV="1">
            <a:off x="9696450" y="2636839"/>
            <a:ext cx="0" cy="287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210" name="Line 159"/>
          <p:cNvSpPr>
            <a:spLocks noChangeShapeType="1"/>
          </p:cNvSpPr>
          <p:nvPr/>
        </p:nvSpPr>
        <p:spPr bwMode="auto">
          <a:xfrm flipH="1">
            <a:off x="8256588" y="2636838"/>
            <a:ext cx="14398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7211" name="Oval 162"/>
          <p:cNvSpPr>
            <a:spLocks noChangeArrowheads="1"/>
          </p:cNvSpPr>
          <p:nvPr/>
        </p:nvSpPr>
        <p:spPr bwMode="auto">
          <a:xfrm>
            <a:off x="9202738" y="1943894"/>
            <a:ext cx="431800" cy="431800"/>
          </a:xfrm>
          <a:prstGeom prst="ellipse">
            <a:avLst/>
          </a:prstGeom>
          <a:solidFill>
            <a:schemeClr val="bg1"/>
          </a:solidFill>
          <a:ln w="9525">
            <a:solidFill>
              <a:schemeClr val="tx1"/>
            </a:solidFill>
            <a:round/>
            <a:headEnd/>
            <a:tailEnd/>
          </a:ln>
        </p:spPr>
        <p:txBody>
          <a:bodyPr wrap="none" lIns="0" tIns="0" rIns="0" bIns="0"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sz="1600" b="1">
                <a:latin typeface="Times New Roman" pitchFamily="18" charset="0"/>
              </a:rPr>
              <a:t>h</a:t>
            </a:r>
            <a:r>
              <a:rPr lang="en-GB" altLang="en-US" sz="1600" b="1" baseline="-25000">
                <a:latin typeface="Times New Roman" pitchFamily="18" charset="0"/>
              </a:rPr>
              <a:t>4</a:t>
            </a:r>
            <a:endParaRPr lang="en-US" altLang="en-US" sz="1600" b="1" baseline="-25000">
              <a:latin typeface="Times New Roman" pitchFamily="18" charset="0"/>
            </a:endParaRPr>
          </a:p>
        </p:txBody>
      </p:sp>
      <p:sp>
        <p:nvSpPr>
          <p:cNvPr id="7212" name="Oval 163"/>
          <p:cNvSpPr>
            <a:spLocks noChangeArrowheads="1"/>
          </p:cNvSpPr>
          <p:nvPr/>
        </p:nvSpPr>
        <p:spPr bwMode="auto">
          <a:xfrm>
            <a:off x="9202738" y="1439069"/>
            <a:ext cx="431800" cy="431800"/>
          </a:xfrm>
          <a:prstGeom prst="ellipse">
            <a:avLst/>
          </a:prstGeom>
          <a:solidFill>
            <a:schemeClr val="bg1"/>
          </a:solidFill>
          <a:ln w="9525">
            <a:solidFill>
              <a:schemeClr val="tx1"/>
            </a:solidFill>
            <a:round/>
            <a:headEnd/>
            <a:tailEnd/>
          </a:ln>
        </p:spPr>
        <p:txBody>
          <a:bodyPr wrap="none" lIns="0" tIns="0" rIns="0" bIns="0"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sz="1600" b="1">
                <a:latin typeface="Times New Roman" pitchFamily="18" charset="0"/>
              </a:rPr>
              <a:t>h</a:t>
            </a:r>
            <a:r>
              <a:rPr lang="en-GB" altLang="en-US" sz="1600" b="1" baseline="-25000">
                <a:latin typeface="Times New Roman" pitchFamily="18" charset="0"/>
              </a:rPr>
              <a:t>1</a:t>
            </a:r>
            <a:endParaRPr lang="en-US" altLang="en-US" sz="1600" b="1" baseline="-25000">
              <a:latin typeface="Times New Roman" pitchFamily="18" charset="0"/>
            </a:endParaRPr>
          </a:p>
        </p:txBody>
      </p:sp>
      <p:grpSp>
        <p:nvGrpSpPr>
          <p:cNvPr id="27" name="Group 198"/>
          <p:cNvGrpSpPr>
            <a:grpSpLocks/>
          </p:cNvGrpSpPr>
          <p:nvPr/>
        </p:nvGrpSpPr>
        <p:grpSpPr bwMode="auto">
          <a:xfrm>
            <a:off x="3694114" y="1176338"/>
            <a:ext cx="314325" cy="931862"/>
            <a:chOff x="1367" y="741"/>
            <a:chExt cx="198" cy="587"/>
          </a:xfrm>
        </p:grpSpPr>
        <p:sp>
          <p:nvSpPr>
            <p:cNvPr id="7239" name="Text Box 165"/>
            <p:cNvSpPr txBox="1">
              <a:spLocks noChangeArrowheads="1"/>
            </p:cNvSpPr>
            <p:nvPr/>
          </p:nvSpPr>
          <p:spPr bwMode="auto">
            <a:xfrm>
              <a:off x="1367" y="741"/>
              <a:ext cx="19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4</a:t>
              </a:r>
              <a:endParaRPr lang="en-US" altLang="en-US" sz="1400" b="1" baseline="-25000"/>
            </a:p>
          </p:txBody>
        </p:sp>
        <p:sp>
          <p:nvSpPr>
            <p:cNvPr id="7240" name="Text Box 166"/>
            <p:cNvSpPr txBox="1">
              <a:spLocks noChangeArrowheads="1"/>
            </p:cNvSpPr>
            <p:nvPr/>
          </p:nvSpPr>
          <p:spPr bwMode="auto">
            <a:xfrm>
              <a:off x="1375" y="893"/>
              <a:ext cx="14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3</a:t>
              </a:r>
              <a:endParaRPr lang="en-US" altLang="en-US" sz="1400" b="1" baseline="-25000"/>
            </a:p>
          </p:txBody>
        </p:sp>
        <p:sp>
          <p:nvSpPr>
            <p:cNvPr id="7241" name="Text Box 167"/>
            <p:cNvSpPr txBox="1">
              <a:spLocks noChangeArrowheads="1"/>
            </p:cNvSpPr>
            <p:nvPr/>
          </p:nvSpPr>
          <p:spPr bwMode="auto">
            <a:xfrm>
              <a:off x="1383" y="1044"/>
              <a:ext cx="18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2</a:t>
              </a:r>
              <a:endParaRPr lang="en-US" altLang="en-US" sz="1400" b="1" baseline="-25000"/>
            </a:p>
          </p:txBody>
        </p:sp>
        <p:sp>
          <p:nvSpPr>
            <p:cNvPr id="7242" name="Text Box 168"/>
            <p:cNvSpPr txBox="1">
              <a:spLocks noChangeArrowheads="1"/>
            </p:cNvSpPr>
            <p:nvPr/>
          </p:nvSpPr>
          <p:spPr bwMode="auto">
            <a:xfrm>
              <a:off x="1383" y="1194"/>
              <a:ext cx="18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1</a:t>
              </a:r>
              <a:endParaRPr lang="en-US" altLang="en-US" sz="1400" b="1" baseline="-25000"/>
            </a:p>
          </p:txBody>
        </p:sp>
      </p:grpSp>
      <p:sp>
        <p:nvSpPr>
          <p:cNvPr id="7214" name="Oval 169"/>
          <p:cNvSpPr>
            <a:spLocks noChangeArrowheads="1"/>
          </p:cNvSpPr>
          <p:nvPr/>
        </p:nvSpPr>
        <p:spPr bwMode="auto">
          <a:xfrm>
            <a:off x="9707563" y="1439069"/>
            <a:ext cx="431800" cy="431800"/>
          </a:xfrm>
          <a:prstGeom prst="ellipse">
            <a:avLst/>
          </a:prstGeom>
          <a:solidFill>
            <a:schemeClr val="bg1"/>
          </a:solidFill>
          <a:ln w="9525">
            <a:solidFill>
              <a:schemeClr val="tx1"/>
            </a:solidFill>
            <a:round/>
            <a:headEnd/>
            <a:tailEnd/>
          </a:ln>
        </p:spPr>
        <p:txBody>
          <a:bodyPr wrap="none" lIns="0" tIns="0" rIns="0" bIns="0"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sz="1600" b="1">
                <a:latin typeface="Times New Roman" pitchFamily="18" charset="0"/>
              </a:rPr>
              <a:t>h</a:t>
            </a:r>
            <a:r>
              <a:rPr lang="en-GB" altLang="en-US" sz="1600" b="1" baseline="-25000">
                <a:latin typeface="Times New Roman" pitchFamily="18" charset="0"/>
              </a:rPr>
              <a:t>2</a:t>
            </a:r>
            <a:endParaRPr lang="en-US" altLang="en-US" sz="1600" b="1" baseline="-25000">
              <a:latin typeface="Times New Roman" pitchFamily="18" charset="0"/>
            </a:endParaRPr>
          </a:p>
        </p:txBody>
      </p:sp>
      <p:sp>
        <p:nvSpPr>
          <p:cNvPr id="7215" name="Oval 170"/>
          <p:cNvSpPr>
            <a:spLocks noChangeArrowheads="1"/>
          </p:cNvSpPr>
          <p:nvPr/>
        </p:nvSpPr>
        <p:spPr bwMode="auto">
          <a:xfrm>
            <a:off x="9707563" y="1943894"/>
            <a:ext cx="431800" cy="431800"/>
          </a:xfrm>
          <a:prstGeom prst="ellipse">
            <a:avLst/>
          </a:prstGeom>
          <a:solidFill>
            <a:schemeClr val="bg1"/>
          </a:solidFill>
          <a:ln w="9525">
            <a:solidFill>
              <a:schemeClr val="tx1"/>
            </a:solidFill>
            <a:round/>
            <a:headEnd/>
            <a:tailEnd/>
          </a:ln>
        </p:spPr>
        <p:txBody>
          <a:bodyPr wrap="none" lIns="0" tIns="0" rIns="0" bIns="0"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GB" altLang="en-US" sz="1600" b="1">
                <a:latin typeface="Times New Roman" pitchFamily="18" charset="0"/>
              </a:rPr>
              <a:t>h</a:t>
            </a:r>
            <a:r>
              <a:rPr lang="en-GB" altLang="en-US" sz="1600" b="1" baseline="-25000">
                <a:latin typeface="Times New Roman" pitchFamily="18" charset="0"/>
              </a:rPr>
              <a:t>3</a:t>
            </a:r>
            <a:endParaRPr lang="en-US" altLang="en-US" sz="1600" b="1" baseline="-25000">
              <a:latin typeface="Times New Roman" pitchFamily="18" charset="0"/>
            </a:endParaRPr>
          </a:p>
        </p:txBody>
      </p:sp>
      <p:sp>
        <p:nvSpPr>
          <p:cNvPr id="7217" name="Text Box 172"/>
          <p:cNvSpPr txBox="1">
            <a:spLocks noChangeArrowheads="1"/>
          </p:cNvSpPr>
          <p:nvPr/>
        </p:nvSpPr>
        <p:spPr bwMode="auto">
          <a:xfrm>
            <a:off x="8608220" y="672872"/>
            <a:ext cx="11890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dirty="0"/>
              <a:t>Meme options</a:t>
            </a:r>
            <a:endParaRPr lang="en-US" altLang="en-US" dirty="0"/>
          </a:p>
        </p:txBody>
      </p:sp>
      <p:grpSp>
        <p:nvGrpSpPr>
          <p:cNvPr id="28" name="Group 199"/>
          <p:cNvGrpSpPr>
            <a:grpSpLocks/>
          </p:cNvGrpSpPr>
          <p:nvPr/>
        </p:nvGrpSpPr>
        <p:grpSpPr bwMode="auto">
          <a:xfrm>
            <a:off x="3719514" y="2427288"/>
            <a:ext cx="288925" cy="1073150"/>
            <a:chOff x="1383" y="1529"/>
            <a:chExt cx="182" cy="676"/>
          </a:xfrm>
        </p:grpSpPr>
        <p:sp>
          <p:nvSpPr>
            <p:cNvPr id="7235" name="Text Box 173"/>
            <p:cNvSpPr txBox="1">
              <a:spLocks noChangeArrowheads="1"/>
            </p:cNvSpPr>
            <p:nvPr/>
          </p:nvSpPr>
          <p:spPr bwMode="auto">
            <a:xfrm>
              <a:off x="1383" y="1529"/>
              <a:ext cx="18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2</a:t>
              </a:r>
              <a:endParaRPr lang="en-US" altLang="en-US" sz="1400" b="1" baseline="-25000"/>
            </a:p>
          </p:txBody>
        </p:sp>
        <p:sp>
          <p:nvSpPr>
            <p:cNvPr id="7236" name="Text Box 174"/>
            <p:cNvSpPr txBox="1">
              <a:spLocks noChangeArrowheads="1"/>
            </p:cNvSpPr>
            <p:nvPr/>
          </p:nvSpPr>
          <p:spPr bwMode="auto">
            <a:xfrm>
              <a:off x="1383" y="1679"/>
              <a:ext cx="18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1</a:t>
              </a:r>
              <a:endParaRPr lang="en-US" altLang="en-US" sz="1400" b="1" baseline="-25000"/>
            </a:p>
          </p:txBody>
        </p:sp>
        <p:sp>
          <p:nvSpPr>
            <p:cNvPr id="7237" name="Text Box 175"/>
            <p:cNvSpPr txBox="1">
              <a:spLocks noChangeArrowheads="1"/>
            </p:cNvSpPr>
            <p:nvPr/>
          </p:nvSpPr>
          <p:spPr bwMode="auto">
            <a:xfrm>
              <a:off x="1383" y="1921"/>
              <a:ext cx="18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2</a:t>
              </a:r>
              <a:endParaRPr lang="en-US" altLang="en-US" sz="1400" b="1" baseline="-25000"/>
            </a:p>
          </p:txBody>
        </p:sp>
        <p:sp>
          <p:nvSpPr>
            <p:cNvPr id="7238" name="Text Box 176"/>
            <p:cNvSpPr txBox="1">
              <a:spLocks noChangeArrowheads="1"/>
            </p:cNvSpPr>
            <p:nvPr/>
          </p:nvSpPr>
          <p:spPr bwMode="auto">
            <a:xfrm>
              <a:off x="1383" y="2071"/>
              <a:ext cx="18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1</a:t>
              </a:r>
              <a:endParaRPr lang="en-US" altLang="en-US" sz="1400" b="1" baseline="-25000"/>
            </a:p>
          </p:txBody>
        </p:sp>
      </p:grpSp>
      <p:grpSp>
        <p:nvGrpSpPr>
          <p:cNvPr id="29" name="Group 201"/>
          <p:cNvGrpSpPr>
            <a:grpSpLocks/>
          </p:cNvGrpSpPr>
          <p:nvPr/>
        </p:nvGrpSpPr>
        <p:grpSpPr bwMode="auto">
          <a:xfrm>
            <a:off x="3719514" y="4392613"/>
            <a:ext cx="288925" cy="450850"/>
            <a:chOff x="1383" y="2767"/>
            <a:chExt cx="182" cy="284"/>
          </a:xfrm>
        </p:grpSpPr>
        <p:sp>
          <p:nvSpPr>
            <p:cNvPr id="7233" name="Text Box 181"/>
            <p:cNvSpPr txBox="1">
              <a:spLocks noChangeArrowheads="1"/>
            </p:cNvSpPr>
            <p:nvPr/>
          </p:nvSpPr>
          <p:spPr bwMode="auto">
            <a:xfrm>
              <a:off x="1383" y="2767"/>
              <a:ext cx="18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2</a:t>
              </a:r>
              <a:endParaRPr lang="en-US" altLang="en-US" sz="1400" b="1" baseline="-25000"/>
            </a:p>
          </p:txBody>
        </p:sp>
        <p:sp>
          <p:nvSpPr>
            <p:cNvPr id="7234" name="Text Box 182"/>
            <p:cNvSpPr txBox="1">
              <a:spLocks noChangeArrowheads="1"/>
            </p:cNvSpPr>
            <p:nvPr/>
          </p:nvSpPr>
          <p:spPr bwMode="auto">
            <a:xfrm>
              <a:off x="1383" y="2917"/>
              <a:ext cx="18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3</a:t>
              </a:r>
              <a:endParaRPr lang="en-US" altLang="en-US" sz="1400" b="1" baseline="-25000"/>
            </a:p>
          </p:txBody>
        </p:sp>
      </p:grpSp>
      <p:sp>
        <p:nvSpPr>
          <p:cNvPr id="80055" name="Text Box 183"/>
          <p:cNvSpPr txBox="1">
            <a:spLocks noChangeArrowheads="1"/>
          </p:cNvSpPr>
          <p:nvPr/>
        </p:nvSpPr>
        <p:spPr bwMode="auto">
          <a:xfrm>
            <a:off x="3648075" y="5283201"/>
            <a:ext cx="28733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2</a:t>
            </a:r>
            <a:endParaRPr lang="en-US" altLang="en-US" sz="1400" b="1" baseline="-25000"/>
          </a:p>
        </p:txBody>
      </p:sp>
      <p:sp>
        <p:nvSpPr>
          <p:cNvPr id="80056" name="Text Box 184"/>
          <p:cNvSpPr txBox="1">
            <a:spLocks noChangeArrowheads="1"/>
          </p:cNvSpPr>
          <p:nvPr/>
        </p:nvSpPr>
        <p:spPr bwMode="auto">
          <a:xfrm>
            <a:off x="3648075" y="5521326"/>
            <a:ext cx="28733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3</a:t>
            </a:r>
            <a:endParaRPr lang="en-US" altLang="en-US" sz="1400" b="1" baseline="-25000"/>
          </a:p>
        </p:txBody>
      </p:sp>
      <p:sp>
        <p:nvSpPr>
          <p:cNvPr id="80057" name="Line 185"/>
          <p:cNvSpPr>
            <a:spLocks noChangeShapeType="1"/>
          </p:cNvSpPr>
          <p:nvPr/>
        </p:nvSpPr>
        <p:spPr bwMode="auto">
          <a:xfrm>
            <a:off x="3792539" y="5373688"/>
            <a:ext cx="1428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80058" name="Line 186"/>
          <p:cNvSpPr>
            <a:spLocks noChangeShapeType="1"/>
          </p:cNvSpPr>
          <p:nvPr/>
        </p:nvSpPr>
        <p:spPr bwMode="auto">
          <a:xfrm>
            <a:off x="3792539" y="5614988"/>
            <a:ext cx="1428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80060" name="Text Box 188"/>
          <p:cNvSpPr txBox="1">
            <a:spLocks noChangeArrowheads="1"/>
          </p:cNvSpPr>
          <p:nvPr/>
        </p:nvSpPr>
        <p:spPr bwMode="auto">
          <a:xfrm>
            <a:off x="3706814" y="5876926"/>
            <a:ext cx="30162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2</a:t>
            </a:r>
            <a:endParaRPr lang="en-US" altLang="en-US" sz="1400" b="1" baseline="-25000"/>
          </a:p>
        </p:txBody>
      </p:sp>
      <p:sp>
        <p:nvSpPr>
          <p:cNvPr id="80061" name="Text Box 189"/>
          <p:cNvSpPr txBox="1">
            <a:spLocks noChangeArrowheads="1"/>
          </p:cNvSpPr>
          <p:nvPr/>
        </p:nvSpPr>
        <p:spPr bwMode="auto">
          <a:xfrm>
            <a:off x="3706814" y="6115051"/>
            <a:ext cx="30162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2</a:t>
            </a:r>
            <a:endParaRPr lang="en-US" altLang="en-US" sz="1400" b="1" baseline="-25000"/>
          </a:p>
        </p:txBody>
      </p:sp>
      <p:sp>
        <p:nvSpPr>
          <p:cNvPr id="80062" name="Text Box 190"/>
          <p:cNvSpPr txBox="1">
            <a:spLocks noChangeArrowheads="1"/>
          </p:cNvSpPr>
          <p:nvPr/>
        </p:nvSpPr>
        <p:spPr bwMode="auto">
          <a:xfrm>
            <a:off x="3719513" y="6316664"/>
            <a:ext cx="3603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1</a:t>
            </a:r>
            <a:endParaRPr lang="en-US" altLang="en-US" sz="1400" b="1" baseline="-25000"/>
          </a:p>
        </p:txBody>
      </p:sp>
      <p:sp>
        <p:nvSpPr>
          <p:cNvPr id="80063" name="Text Box 191"/>
          <p:cNvSpPr txBox="1">
            <a:spLocks noChangeArrowheads="1"/>
          </p:cNvSpPr>
          <p:nvPr/>
        </p:nvSpPr>
        <p:spPr bwMode="auto">
          <a:xfrm>
            <a:off x="3719514" y="6554789"/>
            <a:ext cx="28892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3</a:t>
            </a:r>
            <a:endParaRPr lang="en-US" altLang="en-US" sz="1400" b="1" baseline="-25000"/>
          </a:p>
        </p:txBody>
      </p:sp>
      <p:sp>
        <p:nvSpPr>
          <p:cNvPr id="7228" name="Text Box 193"/>
          <p:cNvSpPr txBox="1">
            <a:spLocks noChangeArrowheads="1"/>
          </p:cNvSpPr>
          <p:nvPr/>
        </p:nvSpPr>
        <p:spPr bwMode="auto">
          <a:xfrm>
            <a:off x="9264651" y="2636838"/>
            <a:ext cx="504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a:t>no</a:t>
            </a:r>
            <a:endParaRPr lang="en-US" altLang="en-US"/>
          </a:p>
        </p:txBody>
      </p:sp>
      <p:sp>
        <p:nvSpPr>
          <p:cNvPr id="7229" name="Line 194"/>
          <p:cNvSpPr>
            <a:spLocks noChangeShapeType="1"/>
          </p:cNvSpPr>
          <p:nvPr/>
        </p:nvSpPr>
        <p:spPr bwMode="auto">
          <a:xfrm>
            <a:off x="10488614" y="3382963"/>
            <a:ext cx="1793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7230" name="Text Box 195"/>
          <p:cNvSpPr txBox="1">
            <a:spLocks noChangeArrowheads="1"/>
          </p:cNvSpPr>
          <p:nvPr/>
        </p:nvSpPr>
        <p:spPr bwMode="auto">
          <a:xfrm>
            <a:off x="10201275" y="2924176"/>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a:t>yes</a:t>
            </a:r>
            <a:endParaRPr lang="en-US" altLang="en-US"/>
          </a:p>
        </p:txBody>
      </p:sp>
      <p:sp>
        <p:nvSpPr>
          <p:cNvPr id="80075" name="Text Box 203"/>
          <p:cNvSpPr txBox="1">
            <a:spLocks noChangeArrowheads="1"/>
          </p:cNvSpPr>
          <p:nvPr/>
        </p:nvSpPr>
        <p:spPr bwMode="auto">
          <a:xfrm>
            <a:off x="3719514" y="3644901"/>
            <a:ext cx="28892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2</a:t>
            </a:r>
            <a:endParaRPr lang="en-US" altLang="en-US" sz="1400" b="1" baseline="-25000"/>
          </a:p>
        </p:txBody>
      </p:sp>
      <p:sp>
        <p:nvSpPr>
          <p:cNvPr id="80076" name="Text Box 204"/>
          <p:cNvSpPr txBox="1">
            <a:spLocks noChangeArrowheads="1"/>
          </p:cNvSpPr>
          <p:nvPr/>
        </p:nvSpPr>
        <p:spPr bwMode="auto">
          <a:xfrm>
            <a:off x="3719514" y="3883026"/>
            <a:ext cx="28892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sz="1400" b="1"/>
              <a:t>h</a:t>
            </a:r>
            <a:r>
              <a:rPr lang="en-GB" altLang="en-US" sz="1400" b="1" baseline="-25000"/>
              <a:t>2</a:t>
            </a:r>
            <a:endParaRPr lang="en-US" altLang="en-US" sz="1400" b="1" baseline="-25000"/>
          </a:p>
        </p:txBody>
      </p:sp>
      <p:grpSp>
        <p:nvGrpSpPr>
          <p:cNvPr id="2" name="Group 1"/>
          <p:cNvGrpSpPr/>
          <p:nvPr/>
        </p:nvGrpSpPr>
        <p:grpSpPr>
          <a:xfrm>
            <a:off x="3765550" y="787401"/>
            <a:ext cx="1811338" cy="373063"/>
            <a:chOff x="2241550" y="787400"/>
            <a:chExt cx="1811338" cy="373063"/>
          </a:xfrm>
        </p:grpSpPr>
        <p:sp>
          <p:nvSpPr>
            <p:cNvPr id="224" name="Line 200"/>
            <p:cNvSpPr>
              <a:spLocks noChangeShapeType="1"/>
            </p:cNvSpPr>
            <p:nvPr/>
          </p:nvSpPr>
          <p:spPr bwMode="auto">
            <a:xfrm flipH="1">
              <a:off x="2241550" y="1016000"/>
              <a:ext cx="144463" cy="1444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25" name="Text Box 201"/>
            <p:cNvSpPr txBox="1">
              <a:spLocks noChangeArrowheads="1"/>
            </p:cNvSpPr>
            <p:nvPr/>
          </p:nvSpPr>
          <p:spPr bwMode="auto">
            <a:xfrm>
              <a:off x="2325688" y="787400"/>
              <a:ext cx="172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GB" altLang="en-US" dirty="0"/>
                <a:t>meme(</a:t>
              </a:r>
              <a:r>
                <a:rPr lang="en-GB" altLang="en-US" dirty="0" err="1"/>
                <a:t>plex</a:t>
              </a:r>
              <a:r>
                <a:rPr lang="en-GB" altLang="en-US" dirty="0"/>
                <a:t>)</a:t>
              </a:r>
              <a:endParaRPr lang="en-US" altLang="en-US" dirty="0"/>
            </a:p>
          </p:txBody>
        </p:sp>
      </p:grpSp>
      <p:sp>
        <p:nvSpPr>
          <p:cNvPr id="3" name="Rectangle 2">
            <a:extLst>
              <a:ext uri="{FF2B5EF4-FFF2-40B4-BE49-F238E27FC236}">
                <a16:creationId xmlns:a16="http://schemas.microsoft.com/office/drawing/2014/main" id="{72691A89-402F-2EEC-3381-640F29317BAE}"/>
              </a:ext>
            </a:extLst>
          </p:cNvPr>
          <p:cNvSpPr>
            <a:spLocks noGrp="1" noChangeArrowheads="1"/>
          </p:cNvSpPr>
          <p:nvPr>
            <p:ph type="title"/>
          </p:nvPr>
        </p:nvSpPr>
        <p:spPr>
          <a:xfrm>
            <a:off x="1066800" y="24948"/>
            <a:ext cx="10058400" cy="1295400"/>
          </a:xfrm>
        </p:spPr>
        <p:txBody>
          <a:bodyPr>
            <a:normAutofit fontScale="90000"/>
          </a:bodyPr>
          <a:lstStyle/>
          <a:p>
            <a:pPr eaLnBrk="1" hangingPunct="1">
              <a:defRPr/>
            </a:pPr>
            <a:r>
              <a:rPr lang="en-GB" sz="4000" dirty="0" err="1"/>
              <a:t>Multimeme</a:t>
            </a:r>
            <a:r>
              <a:rPr lang="en-GB" sz="4000" dirty="0"/>
              <a:t> Memetic Algorithms (MMAs)</a:t>
            </a:r>
            <a:br>
              <a:rPr lang="en-GB" sz="4000" dirty="0"/>
            </a:br>
            <a:endParaRPr lang="en-US" dirty="0"/>
          </a:p>
        </p:txBody>
      </p:sp>
    </p:spTree>
    <p:custDataLst>
      <p:tags r:id="rId1"/>
    </p:custDataLst>
    <p:extLst>
      <p:ext uri="{BB962C8B-B14F-4D97-AF65-F5344CB8AC3E}">
        <p14:creationId xmlns:p14="http://schemas.microsoft.com/office/powerpoint/2010/main" val="174023046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0" fill="hold" nodeType="clickEffect">
                                  <p:stCondLst>
                                    <p:cond delay="0"/>
                                  </p:stCondLst>
                                  <p:childTnLst>
                                    <p:set>
                                      <p:cBhvr>
                                        <p:cTn id="19" dur="1" fill="hold">
                                          <p:stCondLst>
                                            <p:cond delay="0"/>
                                          </p:stCondLst>
                                        </p:cTn>
                                        <p:tgtEl>
                                          <p:spTgt spid="28"/>
                                        </p:tgtEl>
                                        <p:attrNameLst>
                                          <p:attrName>style.visibility</p:attrName>
                                        </p:attrNameLst>
                                      </p:cBhvr>
                                      <p:to>
                                        <p:strVal val="visible"/>
                                      </p:to>
                                    </p:set>
                                    <p:anim calcmode="lin" valueType="num">
                                      <p:cBhvr>
                                        <p:cTn id="20" dur="500" fill="hold"/>
                                        <p:tgtEl>
                                          <p:spTgt spid="28"/>
                                        </p:tgtEl>
                                        <p:attrNameLst>
                                          <p:attrName>ppt_w</p:attrName>
                                        </p:attrNameLst>
                                      </p:cBhvr>
                                      <p:tavLst>
                                        <p:tav tm="0">
                                          <p:val>
                                            <p:fltVal val="0"/>
                                          </p:val>
                                        </p:tav>
                                        <p:tav tm="100000">
                                          <p:val>
                                            <p:strVal val="#ppt_w"/>
                                          </p:val>
                                        </p:tav>
                                      </p:tavLst>
                                    </p:anim>
                                    <p:anim calcmode="lin" valueType="num">
                                      <p:cBhvr>
                                        <p:cTn id="21" dur="500" fill="hold"/>
                                        <p:tgtEl>
                                          <p:spTgt spid="28"/>
                                        </p:tgtEl>
                                        <p:attrNameLst>
                                          <p:attrName>ppt_h</p:attrName>
                                        </p:attrNameLst>
                                      </p:cBhvr>
                                      <p:tavLst>
                                        <p:tav tm="0">
                                          <p:val>
                                            <p:fltVal val="0"/>
                                          </p:val>
                                        </p:tav>
                                        <p:tav tm="100000">
                                          <p:val>
                                            <p:strVal val="#ppt_h"/>
                                          </p:val>
                                        </p:tav>
                                      </p:tavLst>
                                    </p:anim>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0" fill="hold" grpId="0" nodeType="clickEffect">
                                  <p:stCondLst>
                                    <p:cond delay="0"/>
                                  </p:stCondLst>
                                  <p:childTnLst>
                                    <p:set>
                                      <p:cBhvr>
                                        <p:cTn id="26" dur="1" fill="hold">
                                          <p:stCondLst>
                                            <p:cond delay="0"/>
                                          </p:stCondLst>
                                        </p:cTn>
                                        <p:tgtEl>
                                          <p:spTgt spid="80075"/>
                                        </p:tgtEl>
                                        <p:attrNameLst>
                                          <p:attrName>style.visibility</p:attrName>
                                        </p:attrNameLst>
                                      </p:cBhvr>
                                      <p:to>
                                        <p:strVal val="visible"/>
                                      </p:to>
                                    </p:set>
                                    <p:anim calcmode="lin" valueType="num">
                                      <p:cBhvr>
                                        <p:cTn id="27" dur="500" fill="hold"/>
                                        <p:tgtEl>
                                          <p:spTgt spid="80075"/>
                                        </p:tgtEl>
                                        <p:attrNameLst>
                                          <p:attrName>ppt_w</p:attrName>
                                        </p:attrNameLst>
                                      </p:cBhvr>
                                      <p:tavLst>
                                        <p:tav tm="0">
                                          <p:val>
                                            <p:fltVal val="0"/>
                                          </p:val>
                                        </p:tav>
                                        <p:tav tm="100000">
                                          <p:val>
                                            <p:strVal val="#ppt_w"/>
                                          </p:val>
                                        </p:tav>
                                      </p:tavLst>
                                    </p:anim>
                                    <p:anim calcmode="lin" valueType="num">
                                      <p:cBhvr>
                                        <p:cTn id="28" dur="500" fill="hold"/>
                                        <p:tgtEl>
                                          <p:spTgt spid="80075"/>
                                        </p:tgtEl>
                                        <p:attrNameLst>
                                          <p:attrName>ppt_h</p:attrName>
                                        </p:attrNameLst>
                                      </p:cBhvr>
                                      <p:tavLst>
                                        <p:tav tm="0">
                                          <p:val>
                                            <p:fltVal val="0"/>
                                          </p:val>
                                        </p:tav>
                                        <p:tav tm="100000">
                                          <p:val>
                                            <p:strVal val="#ppt_h"/>
                                          </p:val>
                                        </p:tav>
                                      </p:tavLst>
                                    </p:anim>
                                    <p:animEffect transition="in" filter="fade">
                                      <p:cBhvr>
                                        <p:cTn id="29" dur="500"/>
                                        <p:tgtEl>
                                          <p:spTgt spid="80075"/>
                                        </p:tgtEl>
                                      </p:cBhvr>
                                    </p:animEffect>
                                  </p:childTnLst>
                                </p:cTn>
                              </p:par>
                              <p:par>
                                <p:cTn id="30" presetID="53" presetClass="entr" presetSubtype="0" fill="hold" grpId="0" nodeType="withEffect">
                                  <p:stCondLst>
                                    <p:cond delay="0"/>
                                  </p:stCondLst>
                                  <p:childTnLst>
                                    <p:set>
                                      <p:cBhvr>
                                        <p:cTn id="31" dur="1" fill="hold">
                                          <p:stCondLst>
                                            <p:cond delay="0"/>
                                          </p:stCondLst>
                                        </p:cTn>
                                        <p:tgtEl>
                                          <p:spTgt spid="80076"/>
                                        </p:tgtEl>
                                        <p:attrNameLst>
                                          <p:attrName>style.visibility</p:attrName>
                                        </p:attrNameLst>
                                      </p:cBhvr>
                                      <p:to>
                                        <p:strVal val="visible"/>
                                      </p:to>
                                    </p:set>
                                    <p:anim calcmode="lin" valueType="num">
                                      <p:cBhvr>
                                        <p:cTn id="32" dur="500" fill="hold"/>
                                        <p:tgtEl>
                                          <p:spTgt spid="80076"/>
                                        </p:tgtEl>
                                        <p:attrNameLst>
                                          <p:attrName>ppt_w</p:attrName>
                                        </p:attrNameLst>
                                      </p:cBhvr>
                                      <p:tavLst>
                                        <p:tav tm="0">
                                          <p:val>
                                            <p:fltVal val="0"/>
                                          </p:val>
                                        </p:tav>
                                        <p:tav tm="100000">
                                          <p:val>
                                            <p:strVal val="#ppt_w"/>
                                          </p:val>
                                        </p:tav>
                                      </p:tavLst>
                                    </p:anim>
                                    <p:anim calcmode="lin" valueType="num">
                                      <p:cBhvr>
                                        <p:cTn id="33" dur="500" fill="hold"/>
                                        <p:tgtEl>
                                          <p:spTgt spid="80076"/>
                                        </p:tgtEl>
                                        <p:attrNameLst>
                                          <p:attrName>ppt_h</p:attrName>
                                        </p:attrNameLst>
                                      </p:cBhvr>
                                      <p:tavLst>
                                        <p:tav tm="0">
                                          <p:val>
                                            <p:fltVal val="0"/>
                                          </p:val>
                                        </p:tav>
                                        <p:tav tm="100000">
                                          <p:val>
                                            <p:strVal val="#ppt_h"/>
                                          </p:val>
                                        </p:tav>
                                      </p:tavLst>
                                    </p:anim>
                                    <p:animEffect transition="in" filter="fade">
                                      <p:cBhvr>
                                        <p:cTn id="34" dur="500"/>
                                        <p:tgtEl>
                                          <p:spTgt spid="80076"/>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 calcmode="lin" valueType="num">
                                      <p:cBhvr>
                                        <p:cTn id="39" dur="500" fill="hold"/>
                                        <p:tgtEl>
                                          <p:spTgt spid="29"/>
                                        </p:tgtEl>
                                        <p:attrNameLst>
                                          <p:attrName>ppt_w</p:attrName>
                                        </p:attrNameLst>
                                      </p:cBhvr>
                                      <p:tavLst>
                                        <p:tav tm="0">
                                          <p:val>
                                            <p:fltVal val="0"/>
                                          </p:val>
                                        </p:tav>
                                        <p:tav tm="100000">
                                          <p:val>
                                            <p:strVal val="#ppt_w"/>
                                          </p:val>
                                        </p:tav>
                                      </p:tavLst>
                                    </p:anim>
                                    <p:anim calcmode="lin" valueType="num">
                                      <p:cBhvr>
                                        <p:cTn id="40" dur="500" fill="hold"/>
                                        <p:tgtEl>
                                          <p:spTgt spid="29"/>
                                        </p:tgtEl>
                                        <p:attrNameLst>
                                          <p:attrName>ppt_h</p:attrName>
                                        </p:attrNameLst>
                                      </p:cBhvr>
                                      <p:tavLst>
                                        <p:tav tm="0">
                                          <p:val>
                                            <p:fltVal val="0"/>
                                          </p:val>
                                        </p:tav>
                                        <p:tav tm="100000">
                                          <p:val>
                                            <p:strVal val="#ppt_h"/>
                                          </p:val>
                                        </p:tav>
                                      </p:tavLst>
                                    </p:anim>
                                    <p:animEffect transition="in" filter="fade">
                                      <p:cBhvr>
                                        <p:cTn id="41" dur="500"/>
                                        <p:tgtEl>
                                          <p:spTgt spid="29"/>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0" fill="hold" grpId="0" nodeType="clickEffect">
                                  <p:stCondLst>
                                    <p:cond delay="0"/>
                                  </p:stCondLst>
                                  <p:childTnLst>
                                    <p:set>
                                      <p:cBhvr>
                                        <p:cTn id="45" dur="1" fill="hold">
                                          <p:stCondLst>
                                            <p:cond delay="0"/>
                                          </p:stCondLst>
                                        </p:cTn>
                                        <p:tgtEl>
                                          <p:spTgt spid="80055"/>
                                        </p:tgtEl>
                                        <p:attrNameLst>
                                          <p:attrName>style.visibility</p:attrName>
                                        </p:attrNameLst>
                                      </p:cBhvr>
                                      <p:to>
                                        <p:strVal val="visible"/>
                                      </p:to>
                                    </p:set>
                                    <p:anim calcmode="lin" valueType="num">
                                      <p:cBhvr>
                                        <p:cTn id="46" dur="500" fill="hold"/>
                                        <p:tgtEl>
                                          <p:spTgt spid="80055"/>
                                        </p:tgtEl>
                                        <p:attrNameLst>
                                          <p:attrName>ppt_w</p:attrName>
                                        </p:attrNameLst>
                                      </p:cBhvr>
                                      <p:tavLst>
                                        <p:tav tm="0">
                                          <p:val>
                                            <p:fltVal val="0"/>
                                          </p:val>
                                        </p:tav>
                                        <p:tav tm="100000">
                                          <p:val>
                                            <p:strVal val="#ppt_w"/>
                                          </p:val>
                                        </p:tav>
                                      </p:tavLst>
                                    </p:anim>
                                    <p:anim calcmode="lin" valueType="num">
                                      <p:cBhvr>
                                        <p:cTn id="47" dur="500" fill="hold"/>
                                        <p:tgtEl>
                                          <p:spTgt spid="80055"/>
                                        </p:tgtEl>
                                        <p:attrNameLst>
                                          <p:attrName>ppt_h</p:attrName>
                                        </p:attrNameLst>
                                      </p:cBhvr>
                                      <p:tavLst>
                                        <p:tav tm="0">
                                          <p:val>
                                            <p:fltVal val="0"/>
                                          </p:val>
                                        </p:tav>
                                        <p:tav tm="100000">
                                          <p:val>
                                            <p:strVal val="#ppt_h"/>
                                          </p:val>
                                        </p:tav>
                                      </p:tavLst>
                                    </p:anim>
                                    <p:animEffect transition="in" filter="fade">
                                      <p:cBhvr>
                                        <p:cTn id="48" dur="500"/>
                                        <p:tgtEl>
                                          <p:spTgt spid="80055"/>
                                        </p:tgtEl>
                                      </p:cBhvr>
                                    </p:animEffect>
                                  </p:childTnLst>
                                </p:cTn>
                              </p:par>
                              <p:par>
                                <p:cTn id="49" presetID="53" presetClass="entr" presetSubtype="0" fill="hold" grpId="0" nodeType="withEffect">
                                  <p:stCondLst>
                                    <p:cond delay="0"/>
                                  </p:stCondLst>
                                  <p:childTnLst>
                                    <p:set>
                                      <p:cBhvr>
                                        <p:cTn id="50" dur="1" fill="hold">
                                          <p:stCondLst>
                                            <p:cond delay="0"/>
                                          </p:stCondLst>
                                        </p:cTn>
                                        <p:tgtEl>
                                          <p:spTgt spid="80056"/>
                                        </p:tgtEl>
                                        <p:attrNameLst>
                                          <p:attrName>style.visibility</p:attrName>
                                        </p:attrNameLst>
                                      </p:cBhvr>
                                      <p:to>
                                        <p:strVal val="visible"/>
                                      </p:to>
                                    </p:set>
                                    <p:anim calcmode="lin" valueType="num">
                                      <p:cBhvr>
                                        <p:cTn id="51" dur="500" fill="hold"/>
                                        <p:tgtEl>
                                          <p:spTgt spid="80056"/>
                                        </p:tgtEl>
                                        <p:attrNameLst>
                                          <p:attrName>ppt_w</p:attrName>
                                        </p:attrNameLst>
                                      </p:cBhvr>
                                      <p:tavLst>
                                        <p:tav tm="0">
                                          <p:val>
                                            <p:fltVal val="0"/>
                                          </p:val>
                                        </p:tav>
                                        <p:tav tm="100000">
                                          <p:val>
                                            <p:strVal val="#ppt_w"/>
                                          </p:val>
                                        </p:tav>
                                      </p:tavLst>
                                    </p:anim>
                                    <p:anim calcmode="lin" valueType="num">
                                      <p:cBhvr>
                                        <p:cTn id="52" dur="500" fill="hold"/>
                                        <p:tgtEl>
                                          <p:spTgt spid="80056"/>
                                        </p:tgtEl>
                                        <p:attrNameLst>
                                          <p:attrName>ppt_h</p:attrName>
                                        </p:attrNameLst>
                                      </p:cBhvr>
                                      <p:tavLst>
                                        <p:tav tm="0">
                                          <p:val>
                                            <p:fltVal val="0"/>
                                          </p:val>
                                        </p:tav>
                                        <p:tav tm="100000">
                                          <p:val>
                                            <p:strVal val="#ppt_h"/>
                                          </p:val>
                                        </p:tav>
                                      </p:tavLst>
                                    </p:anim>
                                    <p:animEffect transition="in" filter="fade">
                                      <p:cBhvr>
                                        <p:cTn id="53" dur="500"/>
                                        <p:tgtEl>
                                          <p:spTgt spid="80056"/>
                                        </p:tgtEl>
                                      </p:cBhvr>
                                    </p:animEffect>
                                  </p:childTnLst>
                                </p:cTn>
                              </p:par>
                              <p:par>
                                <p:cTn id="54" presetID="53" presetClass="entr" presetSubtype="0" fill="hold" grpId="0" nodeType="withEffect">
                                  <p:stCondLst>
                                    <p:cond delay="0"/>
                                  </p:stCondLst>
                                  <p:childTnLst>
                                    <p:set>
                                      <p:cBhvr>
                                        <p:cTn id="55" dur="1" fill="hold">
                                          <p:stCondLst>
                                            <p:cond delay="0"/>
                                          </p:stCondLst>
                                        </p:cTn>
                                        <p:tgtEl>
                                          <p:spTgt spid="80057"/>
                                        </p:tgtEl>
                                        <p:attrNameLst>
                                          <p:attrName>style.visibility</p:attrName>
                                        </p:attrNameLst>
                                      </p:cBhvr>
                                      <p:to>
                                        <p:strVal val="visible"/>
                                      </p:to>
                                    </p:set>
                                    <p:anim calcmode="lin" valueType="num">
                                      <p:cBhvr>
                                        <p:cTn id="56" dur="500" fill="hold"/>
                                        <p:tgtEl>
                                          <p:spTgt spid="80057"/>
                                        </p:tgtEl>
                                        <p:attrNameLst>
                                          <p:attrName>ppt_w</p:attrName>
                                        </p:attrNameLst>
                                      </p:cBhvr>
                                      <p:tavLst>
                                        <p:tav tm="0">
                                          <p:val>
                                            <p:fltVal val="0"/>
                                          </p:val>
                                        </p:tav>
                                        <p:tav tm="100000">
                                          <p:val>
                                            <p:strVal val="#ppt_w"/>
                                          </p:val>
                                        </p:tav>
                                      </p:tavLst>
                                    </p:anim>
                                    <p:anim calcmode="lin" valueType="num">
                                      <p:cBhvr>
                                        <p:cTn id="57" dur="500" fill="hold"/>
                                        <p:tgtEl>
                                          <p:spTgt spid="80057"/>
                                        </p:tgtEl>
                                        <p:attrNameLst>
                                          <p:attrName>ppt_h</p:attrName>
                                        </p:attrNameLst>
                                      </p:cBhvr>
                                      <p:tavLst>
                                        <p:tav tm="0">
                                          <p:val>
                                            <p:fltVal val="0"/>
                                          </p:val>
                                        </p:tav>
                                        <p:tav tm="100000">
                                          <p:val>
                                            <p:strVal val="#ppt_h"/>
                                          </p:val>
                                        </p:tav>
                                      </p:tavLst>
                                    </p:anim>
                                    <p:animEffect transition="in" filter="fade">
                                      <p:cBhvr>
                                        <p:cTn id="58" dur="500"/>
                                        <p:tgtEl>
                                          <p:spTgt spid="80057"/>
                                        </p:tgtEl>
                                      </p:cBhvr>
                                    </p:animEffect>
                                  </p:childTnLst>
                                </p:cTn>
                              </p:par>
                              <p:par>
                                <p:cTn id="59" presetID="53" presetClass="entr" presetSubtype="0" fill="hold" grpId="0" nodeType="withEffect">
                                  <p:stCondLst>
                                    <p:cond delay="0"/>
                                  </p:stCondLst>
                                  <p:childTnLst>
                                    <p:set>
                                      <p:cBhvr>
                                        <p:cTn id="60" dur="1" fill="hold">
                                          <p:stCondLst>
                                            <p:cond delay="0"/>
                                          </p:stCondLst>
                                        </p:cTn>
                                        <p:tgtEl>
                                          <p:spTgt spid="80058"/>
                                        </p:tgtEl>
                                        <p:attrNameLst>
                                          <p:attrName>style.visibility</p:attrName>
                                        </p:attrNameLst>
                                      </p:cBhvr>
                                      <p:to>
                                        <p:strVal val="visible"/>
                                      </p:to>
                                    </p:set>
                                    <p:anim calcmode="lin" valueType="num">
                                      <p:cBhvr>
                                        <p:cTn id="61" dur="500" fill="hold"/>
                                        <p:tgtEl>
                                          <p:spTgt spid="80058"/>
                                        </p:tgtEl>
                                        <p:attrNameLst>
                                          <p:attrName>ppt_w</p:attrName>
                                        </p:attrNameLst>
                                      </p:cBhvr>
                                      <p:tavLst>
                                        <p:tav tm="0">
                                          <p:val>
                                            <p:fltVal val="0"/>
                                          </p:val>
                                        </p:tav>
                                        <p:tav tm="100000">
                                          <p:val>
                                            <p:strVal val="#ppt_w"/>
                                          </p:val>
                                        </p:tav>
                                      </p:tavLst>
                                    </p:anim>
                                    <p:anim calcmode="lin" valueType="num">
                                      <p:cBhvr>
                                        <p:cTn id="62" dur="500" fill="hold"/>
                                        <p:tgtEl>
                                          <p:spTgt spid="80058"/>
                                        </p:tgtEl>
                                        <p:attrNameLst>
                                          <p:attrName>ppt_h</p:attrName>
                                        </p:attrNameLst>
                                      </p:cBhvr>
                                      <p:tavLst>
                                        <p:tav tm="0">
                                          <p:val>
                                            <p:fltVal val="0"/>
                                          </p:val>
                                        </p:tav>
                                        <p:tav tm="100000">
                                          <p:val>
                                            <p:strVal val="#ppt_h"/>
                                          </p:val>
                                        </p:tav>
                                      </p:tavLst>
                                    </p:anim>
                                    <p:animEffect transition="in" filter="fade">
                                      <p:cBhvr>
                                        <p:cTn id="63" dur="500"/>
                                        <p:tgtEl>
                                          <p:spTgt spid="80058"/>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0" fill="hold" grpId="0" nodeType="clickEffect">
                                  <p:stCondLst>
                                    <p:cond delay="0"/>
                                  </p:stCondLst>
                                  <p:childTnLst>
                                    <p:set>
                                      <p:cBhvr>
                                        <p:cTn id="67" dur="1" fill="hold">
                                          <p:stCondLst>
                                            <p:cond delay="0"/>
                                          </p:stCondLst>
                                        </p:cTn>
                                        <p:tgtEl>
                                          <p:spTgt spid="80060"/>
                                        </p:tgtEl>
                                        <p:attrNameLst>
                                          <p:attrName>style.visibility</p:attrName>
                                        </p:attrNameLst>
                                      </p:cBhvr>
                                      <p:to>
                                        <p:strVal val="visible"/>
                                      </p:to>
                                    </p:set>
                                    <p:anim calcmode="lin" valueType="num">
                                      <p:cBhvr>
                                        <p:cTn id="68" dur="500" fill="hold"/>
                                        <p:tgtEl>
                                          <p:spTgt spid="80060"/>
                                        </p:tgtEl>
                                        <p:attrNameLst>
                                          <p:attrName>ppt_w</p:attrName>
                                        </p:attrNameLst>
                                      </p:cBhvr>
                                      <p:tavLst>
                                        <p:tav tm="0">
                                          <p:val>
                                            <p:fltVal val="0"/>
                                          </p:val>
                                        </p:tav>
                                        <p:tav tm="100000">
                                          <p:val>
                                            <p:strVal val="#ppt_w"/>
                                          </p:val>
                                        </p:tav>
                                      </p:tavLst>
                                    </p:anim>
                                    <p:anim calcmode="lin" valueType="num">
                                      <p:cBhvr>
                                        <p:cTn id="69" dur="500" fill="hold"/>
                                        <p:tgtEl>
                                          <p:spTgt spid="80060"/>
                                        </p:tgtEl>
                                        <p:attrNameLst>
                                          <p:attrName>ppt_h</p:attrName>
                                        </p:attrNameLst>
                                      </p:cBhvr>
                                      <p:tavLst>
                                        <p:tav tm="0">
                                          <p:val>
                                            <p:fltVal val="0"/>
                                          </p:val>
                                        </p:tav>
                                        <p:tav tm="100000">
                                          <p:val>
                                            <p:strVal val="#ppt_h"/>
                                          </p:val>
                                        </p:tav>
                                      </p:tavLst>
                                    </p:anim>
                                    <p:animEffect transition="in" filter="fade">
                                      <p:cBhvr>
                                        <p:cTn id="70" dur="500"/>
                                        <p:tgtEl>
                                          <p:spTgt spid="80060"/>
                                        </p:tgtEl>
                                      </p:cBhvr>
                                    </p:animEffect>
                                  </p:childTnLst>
                                </p:cTn>
                              </p:par>
                              <p:par>
                                <p:cTn id="71" presetID="53" presetClass="entr" presetSubtype="0" fill="hold" grpId="0" nodeType="withEffect">
                                  <p:stCondLst>
                                    <p:cond delay="0"/>
                                  </p:stCondLst>
                                  <p:childTnLst>
                                    <p:set>
                                      <p:cBhvr>
                                        <p:cTn id="72" dur="1" fill="hold">
                                          <p:stCondLst>
                                            <p:cond delay="0"/>
                                          </p:stCondLst>
                                        </p:cTn>
                                        <p:tgtEl>
                                          <p:spTgt spid="80061"/>
                                        </p:tgtEl>
                                        <p:attrNameLst>
                                          <p:attrName>style.visibility</p:attrName>
                                        </p:attrNameLst>
                                      </p:cBhvr>
                                      <p:to>
                                        <p:strVal val="visible"/>
                                      </p:to>
                                    </p:set>
                                    <p:anim calcmode="lin" valueType="num">
                                      <p:cBhvr>
                                        <p:cTn id="73" dur="500" fill="hold"/>
                                        <p:tgtEl>
                                          <p:spTgt spid="80061"/>
                                        </p:tgtEl>
                                        <p:attrNameLst>
                                          <p:attrName>ppt_w</p:attrName>
                                        </p:attrNameLst>
                                      </p:cBhvr>
                                      <p:tavLst>
                                        <p:tav tm="0">
                                          <p:val>
                                            <p:fltVal val="0"/>
                                          </p:val>
                                        </p:tav>
                                        <p:tav tm="100000">
                                          <p:val>
                                            <p:strVal val="#ppt_w"/>
                                          </p:val>
                                        </p:tav>
                                      </p:tavLst>
                                    </p:anim>
                                    <p:anim calcmode="lin" valueType="num">
                                      <p:cBhvr>
                                        <p:cTn id="74" dur="500" fill="hold"/>
                                        <p:tgtEl>
                                          <p:spTgt spid="80061"/>
                                        </p:tgtEl>
                                        <p:attrNameLst>
                                          <p:attrName>ppt_h</p:attrName>
                                        </p:attrNameLst>
                                      </p:cBhvr>
                                      <p:tavLst>
                                        <p:tav tm="0">
                                          <p:val>
                                            <p:fltVal val="0"/>
                                          </p:val>
                                        </p:tav>
                                        <p:tav tm="100000">
                                          <p:val>
                                            <p:strVal val="#ppt_h"/>
                                          </p:val>
                                        </p:tav>
                                      </p:tavLst>
                                    </p:anim>
                                    <p:animEffect transition="in" filter="fade">
                                      <p:cBhvr>
                                        <p:cTn id="75" dur="500"/>
                                        <p:tgtEl>
                                          <p:spTgt spid="80061"/>
                                        </p:tgtEl>
                                      </p:cBhvr>
                                    </p:animEffect>
                                  </p:childTnLst>
                                </p:cTn>
                              </p:par>
                              <p:par>
                                <p:cTn id="76" presetID="53" presetClass="entr" presetSubtype="0" fill="hold" grpId="0" nodeType="withEffect">
                                  <p:stCondLst>
                                    <p:cond delay="0"/>
                                  </p:stCondLst>
                                  <p:childTnLst>
                                    <p:set>
                                      <p:cBhvr>
                                        <p:cTn id="77" dur="1" fill="hold">
                                          <p:stCondLst>
                                            <p:cond delay="0"/>
                                          </p:stCondLst>
                                        </p:cTn>
                                        <p:tgtEl>
                                          <p:spTgt spid="80062"/>
                                        </p:tgtEl>
                                        <p:attrNameLst>
                                          <p:attrName>style.visibility</p:attrName>
                                        </p:attrNameLst>
                                      </p:cBhvr>
                                      <p:to>
                                        <p:strVal val="visible"/>
                                      </p:to>
                                    </p:set>
                                    <p:anim calcmode="lin" valueType="num">
                                      <p:cBhvr>
                                        <p:cTn id="78" dur="500" fill="hold"/>
                                        <p:tgtEl>
                                          <p:spTgt spid="80062"/>
                                        </p:tgtEl>
                                        <p:attrNameLst>
                                          <p:attrName>ppt_w</p:attrName>
                                        </p:attrNameLst>
                                      </p:cBhvr>
                                      <p:tavLst>
                                        <p:tav tm="0">
                                          <p:val>
                                            <p:fltVal val="0"/>
                                          </p:val>
                                        </p:tav>
                                        <p:tav tm="100000">
                                          <p:val>
                                            <p:strVal val="#ppt_w"/>
                                          </p:val>
                                        </p:tav>
                                      </p:tavLst>
                                    </p:anim>
                                    <p:anim calcmode="lin" valueType="num">
                                      <p:cBhvr>
                                        <p:cTn id="79" dur="500" fill="hold"/>
                                        <p:tgtEl>
                                          <p:spTgt spid="80062"/>
                                        </p:tgtEl>
                                        <p:attrNameLst>
                                          <p:attrName>ppt_h</p:attrName>
                                        </p:attrNameLst>
                                      </p:cBhvr>
                                      <p:tavLst>
                                        <p:tav tm="0">
                                          <p:val>
                                            <p:fltVal val="0"/>
                                          </p:val>
                                        </p:tav>
                                        <p:tav tm="100000">
                                          <p:val>
                                            <p:strVal val="#ppt_h"/>
                                          </p:val>
                                        </p:tav>
                                      </p:tavLst>
                                    </p:anim>
                                    <p:animEffect transition="in" filter="fade">
                                      <p:cBhvr>
                                        <p:cTn id="80" dur="500"/>
                                        <p:tgtEl>
                                          <p:spTgt spid="80062"/>
                                        </p:tgtEl>
                                      </p:cBhvr>
                                    </p:animEffect>
                                  </p:childTnLst>
                                </p:cTn>
                              </p:par>
                              <p:par>
                                <p:cTn id="81" presetID="53" presetClass="entr" presetSubtype="0" fill="hold" grpId="0" nodeType="withEffect">
                                  <p:stCondLst>
                                    <p:cond delay="0"/>
                                  </p:stCondLst>
                                  <p:childTnLst>
                                    <p:set>
                                      <p:cBhvr>
                                        <p:cTn id="82" dur="1" fill="hold">
                                          <p:stCondLst>
                                            <p:cond delay="0"/>
                                          </p:stCondLst>
                                        </p:cTn>
                                        <p:tgtEl>
                                          <p:spTgt spid="80063"/>
                                        </p:tgtEl>
                                        <p:attrNameLst>
                                          <p:attrName>style.visibility</p:attrName>
                                        </p:attrNameLst>
                                      </p:cBhvr>
                                      <p:to>
                                        <p:strVal val="visible"/>
                                      </p:to>
                                    </p:set>
                                    <p:anim calcmode="lin" valueType="num">
                                      <p:cBhvr>
                                        <p:cTn id="83" dur="500" fill="hold"/>
                                        <p:tgtEl>
                                          <p:spTgt spid="80063"/>
                                        </p:tgtEl>
                                        <p:attrNameLst>
                                          <p:attrName>ppt_w</p:attrName>
                                        </p:attrNameLst>
                                      </p:cBhvr>
                                      <p:tavLst>
                                        <p:tav tm="0">
                                          <p:val>
                                            <p:fltVal val="0"/>
                                          </p:val>
                                        </p:tav>
                                        <p:tav tm="100000">
                                          <p:val>
                                            <p:strVal val="#ppt_w"/>
                                          </p:val>
                                        </p:tav>
                                      </p:tavLst>
                                    </p:anim>
                                    <p:anim calcmode="lin" valueType="num">
                                      <p:cBhvr>
                                        <p:cTn id="84" dur="500" fill="hold"/>
                                        <p:tgtEl>
                                          <p:spTgt spid="80063"/>
                                        </p:tgtEl>
                                        <p:attrNameLst>
                                          <p:attrName>ppt_h</p:attrName>
                                        </p:attrNameLst>
                                      </p:cBhvr>
                                      <p:tavLst>
                                        <p:tav tm="0">
                                          <p:val>
                                            <p:fltVal val="0"/>
                                          </p:val>
                                        </p:tav>
                                        <p:tav tm="100000">
                                          <p:val>
                                            <p:strVal val="#ppt_h"/>
                                          </p:val>
                                        </p:tav>
                                      </p:tavLst>
                                    </p:anim>
                                    <p:animEffect transition="in" filter="fade">
                                      <p:cBhvr>
                                        <p:cTn id="85" dur="500"/>
                                        <p:tgtEl>
                                          <p:spTgt spid="80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5" grpId="0"/>
      <p:bldP spid="80056" grpId="0"/>
      <p:bldP spid="80057" grpId="0" animBg="1"/>
      <p:bldP spid="80058" grpId="0" animBg="1"/>
      <p:bldP spid="80060" grpId="0"/>
      <p:bldP spid="80061" grpId="0"/>
      <p:bldP spid="80062" grpId="0"/>
      <p:bldP spid="80063" grpId="0"/>
      <p:bldP spid="80075" grpId="0"/>
      <p:bldP spid="8007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F2F42-1182-37EB-DB95-FDE0A568CAB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D48739C-7F44-40A6-15BD-5377D27513B8}"/>
              </a:ext>
            </a:extLst>
          </p:cNvPr>
          <p:cNvSpPr>
            <a:spLocks noGrp="1"/>
          </p:cNvSpPr>
          <p:nvPr>
            <p:ph type="ctrTitle"/>
          </p:nvPr>
        </p:nvSpPr>
        <p:spPr>
          <a:xfrm>
            <a:off x="427089" y="2013677"/>
            <a:ext cx="10466198" cy="874948"/>
          </a:xfrm>
        </p:spPr>
        <p:txBody>
          <a:bodyPr>
            <a:normAutofit fontScale="90000"/>
          </a:bodyPr>
          <a:lstStyle/>
          <a:p>
            <a:r>
              <a:rPr lang="en-GB" dirty="0"/>
              <a:t>Benchmark Function Optimisation - revisited</a:t>
            </a:r>
            <a:endParaRPr lang="en-GB" noProof="0" dirty="0"/>
          </a:p>
        </p:txBody>
      </p:sp>
      <p:sp>
        <p:nvSpPr>
          <p:cNvPr id="3" name="Subtitle 2">
            <a:extLst>
              <a:ext uri="{FF2B5EF4-FFF2-40B4-BE49-F238E27FC236}">
                <a16:creationId xmlns:a16="http://schemas.microsoft.com/office/drawing/2014/main" id="{45F4765A-46A9-9B95-4DE4-29412BA929F8}"/>
              </a:ext>
            </a:extLst>
          </p:cNvPr>
          <p:cNvSpPr>
            <a:spLocks noGrp="1"/>
          </p:cNvSpPr>
          <p:nvPr>
            <p:ph type="subTitle" idx="1"/>
          </p:nvPr>
        </p:nvSpPr>
        <p:spPr/>
        <p:txBody>
          <a:bodyPr>
            <a:normAutofit fontScale="70000" lnSpcReduction="20000"/>
          </a:bodyPr>
          <a:lstStyle/>
          <a:p>
            <a:r>
              <a:rPr lang="en-GB" dirty="0"/>
              <a:t>Ender </a:t>
            </a:r>
            <a:r>
              <a:rPr lang="en-GB" dirty="0" err="1"/>
              <a:t>Özcan</a:t>
            </a:r>
            <a:r>
              <a:rPr lang="en-GB" dirty="0"/>
              <a:t>, Burak </a:t>
            </a:r>
            <a:r>
              <a:rPr lang="en-GB" dirty="0" err="1"/>
              <a:t>Bilgin</a:t>
            </a:r>
            <a:r>
              <a:rPr lang="en-GB" dirty="0"/>
              <a:t>, Emin Erkan Korkmaz, A Comprehensive Analysis of Hyper-heuristics, Intelligent Data Analysis, 12:1, pp. 3-23, 2008. [</a:t>
            </a:r>
            <a:r>
              <a:rPr lang="en-GB" u="sng" dirty="0">
                <a:hlinkClick r:id="rId3"/>
              </a:rPr>
              <a:t>PDF</a:t>
            </a:r>
            <a:r>
              <a:rPr lang="en-GB" dirty="0"/>
              <a:t>]</a:t>
            </a:r>
          </a:p>
          <a:p>
            <a:endParaRPr lang="en-GB" dirty="0"/>
          </a:p>
        </p:txBody>
      </p:sp>
    </p:spTree>
    <p:extLst>
      <p:ext uri="{BB962C8B-B14F-4D97-AF65-F5344CB8AC3E}">
        <p14:creationId xmlns:p14="http://schemas.microsoft.com/office/powerpoint/2010/main" val="18232955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normAutofit fontScale="90000"/>
          </a:bodyPr>
          <a:lstStyle/>
          <a:p>
            <a:r>
              <a:rPr lang="tr-TR" altLang="en-US" sz="2800" dirty="0"/>
              <a:t>MMA Experiments</a:t>
            </a:r>
            <a:r>
              <a:rPr lang="en-GB" altLang="en-US" sz="2800" dirty="0"/>
              <a:t> for Benchmark Function Optimisation – Additional Settings </a:t>
            </a:r>
            <a:endParaRPr lang="en-US" altLang="en-US" sz="2800" dirty="0"/>
          </a:p>
        </p:txBody>
      </p:sp>
      <p:sp>
        <p:nvSpPr>
          <p:cNvPr id="92163" name="Rectangle 3"/>
          <p:cNvSpPr>
            <a:spLocks noGrp="1" noChangeArrowheads="1"/>
          </p:cNvSpPr>
          <p:nvPr>
            <p:ph type="body" idx="1"/>
          </p:nvPr>
        </p:nvSpPr>
        <p:spPr>
          <a:xfrm>
            <a:off x="425450" y="1997075"/>
            <a:ext cx="11341099" cy="4860925"/>
          </a:xfrm>
        </p:spPr>
        <p:txBody>
          <a:bodyPr/>
          <a:lstStyle/>
          <a:p>
            <a:r>
              <a:rPr lang="en-US" altLang="en-US" dirty="0"/>
              <a:t>IR rate is fixed as 0.20 </a:t>
            </a:r>
          </a:p>
          <a:p>
            <a:endParaRPr lang="en-US" altLang="en-US" dirty="0"/>
          </a:p>
          <a:p>
            <a:r>
              <a:rPr lang="en-US" altLang="en-US" dirty="0"/>
              <a:t>Two sets of experiments are performed</a:t>
            </a:r>
          </a:p>
          <a:p>
            <a:pPr marL="1452563" lvl="3" indent="-514350">
              <a:buFont typeface="+mj-lt"/>
              <a:buAutoNum type="arabicPeriod"/>
            </a:pPr>
            <a:r>
              <a:rPr lang="tr-TR" altLang="en-US" sz="2800" dirty="0"/>
              <a:t>A single </a:t>
            </a:r>
            <a:r>
              <a:rPr lang="tr-TR" altLang="en-US" sz="2800" i="1" dirty="0"/>
              <a:t>good</a:t>
            </a:r>
            <a:r>
              <a:rPr lang="tr-TR" altLang="en-US" sz="2800" dirty="0"/>
              <a:t> meme and two </a:t>
            </a:r>
            <a:r>
              <a:rPr lang="en-GB" altLang="en-US" sz="2800" i="1" dirty="0"/>
              <a:t>poor performing </a:t>
            </a:r>
            <a:r>
              <a:rPr lang="tr-TR" altLang="en-US" sz="2800" dirty="0"/>
              <a:t>memes are used to test the power of MMAs in identifying the </a:t>
            </a:r>
            <a:r>
              <a:rPr lang="tr-TR" altLang="en-US" sz="2800" i="1" dirty="0"/>
              <a:t>good</a:t>
            </a:r>
            <a:r>
              <a:rPr lang="tr-TR" altLang="en-US" sz="2800" dirty="0"/>
              <a:t> </a:t>
            </a:r>
            <a:r>
              <a:rPr lang="tr-TR" altLang="en-US" sz="2800" dirty="0" err="1"/>
              <a:t>ones</a:t>
            </a:r>
            <a:r>
              <a:rPr lang="tr-TR" altLang="en-US" sz="2800" dirty="0"/>
              <a:t>.</a:t>
            </a:r>
            <a:r>
              <a:rPr lang="en-GB" altLang="en-US" sz="2800" dirty="0"/>
              <a:t> </a:t>
            </a:r>
          </a:p>
          <a:p>
            <a:pPr marL="1452563" lvl="3" indent="-514350">
              <a:buFont typeface="+mj-lt"/>
              <a:buAutoNum type="arabicPeriod"/>
            </a:pPr>
            <a:r>
              <a:rPr lang="en-GB" altLang="en-US" sz="2800" dirty="0"/>
              <a:t>Memes GA, MA0, MA1, MA2 and MA3 </a:t>
            </a:r>
            <a:r>
              <a:rPr lang="tr-TR" altLang="en-US" sz="2800" dirty="0"/>
              <a:t>are used to observe whether MMA will provide some type of synergy between memes.</a:t>
            </a:r>
            <a:endParaRPr lang="en-US" altLang="en-US" sz="2800" dirty="0"/>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58</a:t>
            </a:fld>
            <a:endParaRPr lang="tr-TR" altLang="en-US"/>
          </a:p>
        </p:txBody>
      </p:sp>
    </p:spTree>
    <p:extLst>
      <p:ext uri="{BB962C8B-B14F-4D97-AF65-F5344CB8AC3E}">
        <p14:creationId xmlns:p14="http://schemas.microsoft.com/office/powerpoint/2010/main" val="23592276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D84C3-429D-CE74-438D-9F0A41C02D45}"/>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C910B1DE-ED04-5193-007F-81D09ABDA1ED}"/>
              </a:ext>
            </a:extLst>
          </p:cNvPr>
          <p:cNvPicPr>
            <a:picLocks noChangeAspect="1"/>
          </p:cNvPicPr>
          <p:nvPr/>
        </p:nvPicPr>
        <p:blipFill>
          <a:blip r:embed="rId3"/>
          <a:stretch>
            <a:fillRect/>
          </a:stretch>
        </p:blipFill>
        <p:spPr>
          <a:xfrm>
            <a:off x="8666035" y="219619"/>
            <a:ext cx="1033411" cy="1007774"/>
          </a:xfrm>
          <a:prstGeom prst="rect">
            <a:avLst/>
          </a:prstGeom>
        </p:spPr>
      </p:pic>
      <p:sp>
        <p:nvSpPr>
          <p:cNvPr id="48130" name="Rectangle 2">
            <a:extLst>
              <a:ext uri="{FF2B5EF4-FFF2-40B4-BE49-F238E27FC236}">
                <a16:creationId xmlns:a16="http://schemas.microsoft.com/office/drawing/2014/main" id="{2F6C6035-142C-F9E5-CA87-BE65DAF30731}"/>
              </a:ext>
            </a:extLst>
          </p:cNvPr>
          <p:cNvSpPr>
            <a:spLocks noGrp="1" noChangeArrowheads="1"/>
          </p:cNvSpPr>
          <p:nvPr>
            <p:ph type="title"/>
          </p:nvPr>
        </p:nvSpPr>
        <p:spPr/>
        <p:txBody>
          <a:bodyPr/>
          <a:lstStyle/>
          <a:p>
            <a:r>
              <a:rPr lang="en-US" altLang="en-US" dirty="0"/>
              <a:t>Results</a:t>
            </a:r>
          </a:p>
        </p:txBody>
      </p:sp>
      <p:pic>
        <p:nvPicPr>
          <p:cNvPr id="48133" name="Picture 5">
            <a:extLst>
              <a:ext uri="{FF2B5EF4-FFF2-40B4-BE49-F238E27FC236}">
                <a16:creationId xmlns:a16="http://schemas.microsoft.com/office/drawing/2014/main" id="{CCBF1C40-DE1E-F6A4-B7E8-966876E0618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29631" y="1456004"/>
            <a:ext cx="8424862" cy="4938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E87A8436-E3B9-0B0C-A498-71B14C716CF5}"/>
              </a:ext>
            </a:extLst>
          </p:cNvPr>
          <p:cNvSpPr>
            <a:spLocks noGrp="1"/>
          </p:cNvSpPr>
          <p:nvPr>
            <p:ph type="sldNum" sz="quarter" idx="12"/>
          </p:nvPr>
        </p:nvSpPr>
        <p:spPr>
          <a:xfrm>
            <a:off x="9537239" y="6117772"/>
            <a:ext cx="2133600" cy="457200"/>
          </a:xfrm>
        </p:spPr>
        <p:txBody>
          <a:bodyPr/>
          <a:lstStyle/>
          <a:p>
            <a:fld id="{BB72550B-508B-4D61-A817-90B00A29C4EF}" type="slidenum">
              <a:rPr lang="tr-TR" altLang="en-US" smtClean="0"/>
              <a:pPr/>
              <a:t>59</a:t>
            </a:fld>
            <a:endParaRPr lang="tr-TR" altLang="en-US" dirty="0"/>
          </a:p>
        </p:txBody>
      </p:sp>
      <p:sp>
        <p:nvSpPr>
          <p:cNvPr id="3" name="Rectangle 2">
            <a:extLst>
              <a:ext uri="{FF2B5EF4-FFF2-40B4-BE49-F238E27FC236}">
                <a16:creationId xmlns:a16="http://schemas.microsoft.com/office/drawing/2014/main" id="{3777EE20-226F-FC88-8A73-62A1167897B7}"/>
              </a:ext>
            </a:extLst>
          </p:cNvPr>
          <p:cNvSpPr/>
          <p:nvPr/>
        </p:nvSpPr>
        <p:spPr>
          <a:xfrm>
            <a:off x="4686064" y="1662735"/>
            <a:ext cx="928459" cy="369332"/>
          </a:xfrm>
          <a:prstGeom prst="rect">
            <a:avLst/>
          </a:prstGeom>
        </p:spPr>
        <p:txBody>
          <a:bodyPr wrap="square">
            <a:spAutoFit/>
          </a:bodyPr>
          <a:lstStyle/>
          <a:p>
            <a:r>
              <a:rPr lang="en-GB" b="0" dirty="0">
                <a:latin typeface="CMR9"/>
              </a:rPr>
              <a:t>Sphere</a:t>
            </a:r>
            <a:endParaRPr lang="en-GB" dirty="0"/>
          </a:p>
        </p:txBody>
      </p:sp>
      <p:sp>
        <p:nvSpPr>
          <p:cNvPr id="4" name="Rectangle 3">
            <a:extLst>
              <a:ext uri="{FF2B5EF4-FFF2-40B4-BE49-F238E27FC236}">
                <a16:creationId xmlns:a16="http://schemas.microsoft.com/office/drawing/2014/main" id="{1C9D97A8-01DC-128D-AD97-D13738ECC149}"/>
              </a:ext>
            </a:extLst>
          </p:cNvPr>
          <p:cNvSpPr/>
          <p:nvPr/>
        </p:nvSpPr>
        <p:spPr>
          <a:xfrm>
            <a:off x="8646503" y="1662735"/>
            <a:ext cx="1415772" cy="369332"/>
          </a:xfrm>
          <a:prstGeom prst="rect">
            <a:avLst/>
          </a:prstGeom>
        </p:spPr>
        <p:txBody>
          <a:bodyPr wrap="square">
            <a:spAutoFit/>
          </a:bodyPr>
          <a:lstStyle/>
          <a:p>
            <a:r>
              <a:rPr lang="en-GB" b="0" dirty="0" err="1">
                <a:latin typeface="CMR9"/>
              </a:rPr>
              <a:t>Rosenbrock</a:t>
            </a:r>
            <a:endParaRPr lang="en-GB" dirty="0"/>
          </a:p>
        </p:txBody>
      </p:sp>
      <p:sp>
        <p:nvSpPr>
          <p:cNvPr id="5" name="Rectangle 4">
            <a:extLst>
              <a:ext uri="{FF2B5EF4-FFF2-40B4-BE49-F238E27FC236}">
                <a16:creationId xmlns:a16="http://schemas.microsoft.com/office/drawing/2014/main" id="{EF41CAF2-65CD-0F6B-8A20-A69CCBFD33D8}"/>
              </a:ext>
            </a:extLst>
          </p:cNvPr>
          <p:cNvSpPr/>
          <p:nvPr/>
        </p:nvSpPr>
        <p:spPr>
          <a:xfrm>
            <a:off x="4818997" y="4120299"/>
            <a:ext cx="659155" cy="369332"/>
          </a:xfrm>
          <a:prstGeom prst="rect">
            <a:avLst/>
          </a:prstGeom>
        </p:spPr>
        <p:txBody>
          <a:bodyPr wrap="square">
            <a:spAutoFit/>
          </a:bodyPr>
          <a:lstStyle/>
          <a:p>
            <a:r>
              <a:rPr lang="en-GB" b="0" dirty="0">
                <a:latin typeface="CMR9"/>
              </a:rPr>
              <a:t>Step</a:t>
            </a:r>
            <a:endParaRPr lang="en-GB" dirty="0"/>
          </a:p>
        </p:txBody>
      </p:sp>
      <p:sp>
        <p:nvSpPr>
          <p:cNvPr id="6" name="Rectangle 5">
            <a:extLst>
              <a:ext uri="{FF2B5EF4-FFF2-40B4-BE49-F238E27FC236}">
                <a16:creationId xmlns:a16="http://schemas.microsoft.com/office/drawing/2014/main" id="{363DD9FF-5ED3-D290-57E7-1A589FBE4BAD}"/>
              </a:ext>
            </a:extLst>
          </p:cNvPr>
          <p:cNvSpPr/>
          <p:nvPr/>
        </p:nvSpPr>
        <p:spPr>
          <a:xfrm>
            <a:off x="8428203" y="4120299"/>
            <a:ext cx="2018501" cy="369332"/>
          </a:xfrm>
          <a:prstGeom prst="rect">
            <a:avLst/>
          </a:prstGeom>
        </p:spPr>
        <p:txBody>
          <a:bodyPr wrap="square">
            <a:spAutoFit/>
          </a:bodyPr>
          <a:lstStyle/>
          <a:p>
            <a:r>
              <a:rPr lang="en-GB" b="0" dirty="0">
                <a:latin typeface="CMR9"/>
              </a:rPr>
              <a:t>Quartic </a:t>
            </a:r>
            <a:r>
              <a:rPr lang="en-GB" b="0" i="1" dirty="0">
                <a:latin typeface="CMTI9"/>
              </a:rPr>
              <a:t>with noise</a:t>
            </a:r>
            <a:endParaRPr lang="en-GB" dirty="0"/>
          </a:p>
        </p:txBody>
      </p:sp>
      <p:sp>
        <p:nvSpPr>
          <p:cNvPr id="12" name="Rectangle 11">
            <a:extLst>
              <a:ext uri="{FF2B5EF4-FFF2-40B4-BE49-F238E27FC236}">
                <a16:creationId xmlns:a16="http://schemas.microsoft.com/office/drawing/2014/main" id="{9C7F2456-C9D1-533E-EEA7-DB7D8B72DB3B}"/>
              </a:ext>
            </a:extLst>
          </p:cNvPr>
          <p:cNvSpPr/>
          <p:nvPr/>
        </p:nvSpPr>
        <p:spPr>
          <a:xfrm>
            <a:off x="2958193" y="3925360"/>
            <a:ext cx="8496300" cy="246935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581ED703-5311-0ABD-6372-30B545F799D6}"/>
              </a:ext>
            </a:extLst>
          </p:cNvPr>
          <p:cNvSpPr/>
          <p:nvPr/>
        </p:nvSpPr>
        <p:spPr>
          <a:xfrm>
            <a:off x="7242062" y="219620"/>
            <a:ext cx="4183230" cy="372042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5" name="Group 14">
            <a:extLst>
              <a:ext uri="{FF2B5EF4-FFF2-40B4-BE49-F238E27FC236}">
                <a16:creationId xmlns:a16="http://schemas.microsoft.com/office/drawing/2014/main" id="{DB1F4BA7-8076-2018-A2EB-4331F2673CC8}"/>
              </a:ext>
            </a:extLst>
          </p:cNvPr>
          <p:cNvGrpSpPr/>
          <p:nvPr/>
        </p:nvGrpSpPr>
        <p:grpSpPr>
          <a:xfrm>
            <a:off x="4464369" y="445033"/>
            <a:ext cx="1295075" cy="1016057"/>
            <a:chOff x="1835696" y="2204864"/>
            <a:chExt cx="5039269" cy="4021807"/>
          </a:xfrm>
        </p:grpSpPr>
        <p:pic>
          <p:nvPicPr>
            <p:cNvPr id="18" name="Picture 2">
              <a:extLst>
                <a:ext uri="{FF2B5EF4-FFF2-40B4-BE49-F238E27FC236}">
                  <a16:creationId xmlns:a16="http://schemas.microsoft.com/office/drawing/2014/main" id="{BA4048EE-D282-C44C-A478-924C1C1E27BD}"/>
                </a:ext>
              </a:extLst>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1979712" y="2420888"/>
              <a:ext cx="4895253" cy="38057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Rectangle 18">
              <a:extLst>
                <a:ext uri="{FF2B5EF4-FFF2-40B4-BE49-F238E27FC236}">
                  <a16:creationId xmlns:a16="http://schemas.microsoft.com/office/drawing/2014/main" id="{132F085B-E84C-B0ED-90A7-7091EE6999AA}"/>
                </a:ext>
              </a:extLst>
            </p:cNvPr>
            <p:cNvSpPr/>
            <p:nvPr/>
          </p:nvSpPr>
          <p:spPr>
            <a:xfrm>
              <a:off x="5143872" y="2204864"/>
              <a:ext cx="1368152"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16BA4C0F-EE08-9AF4-C517-41300CCC806B}"/>
                </a:ext>
              </a:extLst>
            </p:cNvPr>
            <p:cNvSpPr/>
            <p:nvPr/>
          </p:nvSpPr>
          <p:spPr>
            <a:xfrm>
              <a:off x="1835696" y="2276872"/>
              <a:ext cx="1368152"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2" name="TextBox 21">
            <a:extLst>
              <a:ext uri="{FF2B5EF4-FFF2-40B4-BE49-F238E27FC236}">
                <a16:creationId xmlns:a16="http://schemas.microsoft.com/office/drawing/2014/main" id="{0A2136D9-A55A-073E-19AB-5D922353032C}"/>
              </a:ext>
            </a:extLst>
          </p:cNvPr>
          <p:cNvSpPr txBox="1"/>
          <p:nvPr/>
        </p:nvSpPr>
        <p:spPr>
          <a:xfrm>
            <a:off x="-380857" y="2635401"/>
            <a:ext cx="3122703" cy="2062103"/>
          </a:xfrm>
          <a:prstGeom prst="rect">
            <a:avLst/>
          </a:prstGeom>
          <a:noFill/>
        </p:spPr>
        <p:txBody>
          <a:bodyPr wrap="square">
            <a:spAutoFit/>
          </a:bodyPr>
          <a:lstStyle/>
          <a:p>
            <a:pPr lvl="1">
              <a:lnSpc>
                <a:spcPct val="80000"/>
              </a:lnSpc>
            </a:pPr>
            <a:r>
              <a:rPr lang="pl-PL" altLang="en-US" sz="1600" dirty="0"/>
              <a:t>GA: G</a:t>
            </a:r>
            <a:r>
              <a:rPr lang="en-GB" altLang="en-US" sz="1600" dirty="0" err="1"/>
              <a:t>enetic</a:t>
            </a:r>
            <a:r>
              <a:rPr lang="en-GB" altLang="en-US" sz="1600" dirty="0"/>
              <a:t> Algorithm </a:t>
            </a:r>
          </a:p>
          <a:p>
            <a:pPr lvl="1">
              <a:lnSpc>
                <a:spcPct val="80000"/>
              </a:lnSpc>
            </a:pPr>
            <a:r>
              <a:rPr lang="pl-PL" altLang="en-US" sz="1600" dirty="0"/>
              <a:t>MA0: MA with SDHC</a:t>
            </a:r>
          </a:p>
          <a:p>
            <a:pPr lvl="1">
              <a:lnSpc>
                <a:spcPct val="80000"/>
              </a:lnSpc>
            </a:pPr>
            <a:r>
              <a:rPr lang="pl-PL" altLang="en-US" sz="1600" dirty="0"/>
              <a:t>MA1: MA with NDHC</a:t>
            </a:r>
          </a:p>
          <a:p>
            <a:pPr lvl="1">
              <a:lnSpc>
                <a:spcPct val="80000"/>
              </a:lnSpc>
            </a:pPr>
            <a:r>
              <a:rPr lang="pl-PL" altLang="en-US" sz="1600" dirty="0"/>
              <a:t>MA2: MA with R</a:t>
            </a:r>
            <a:r>
              <a:rPr lang="en-GB" altLang="en-US" sz="1600" dirty="0"/>
              <a:t>M</a:t>
            </a:r>
            <a:r>
              <a:rPr lang="pl-PL" altLang="en-US" sz="1600" dirty="0"/>
              <a:t>HC</a:t>
            </a:r>
          </a:p>
          <a:p>
            <a:pPr lvl="1">
              <a:lnSpc>
                <a:spcPct val="80000"/>
              </a:lnSpc>
            </a:pPr>
            <a:r>
              <a:rPr lang="pl-PL" altLang="en-US" sz="1600" dirty="0"/>
              <a:t>MA3: MA with DBHC</a:t>
            </a:r>
            <a:endParaRPr lang="en-GB" altLang="en-US" sz="1600" dirty="0"/>
          </a:p>
          <a:p>
            <a:pPr lvl="1">
              <a:lnSpc>
                <a:spcPct val="80000"/>
              </a:lnSpc>
            </a:pPr>
            <a:r>
              <a:rPr lang="en-US" altLang="en-US" sz="1600" dirty="0"/>
              <a:t>Biased ones:</a:t>
            </a:r>
          </a:p>
          <a:p>
            <a:pPr lvl="1">
              <a:lnSpc>
                <a:spcPct val="80000"/>
              </a:lnSpc>
            </a:pPr>
            <a:r>
              <a:rPr lang="en-US" altLang="en-US" sz="1600" dirty="0"/>
              <a:t>MA4: SDHC - AND with 0</a:t>
            </a:r>
          </a:p>
          <a:p>
            <a:pPr lvl="1">
              <a:lnSpc>
                <a:spcPct val="80000"/>
              </a:lnSpc>
            </a:pPr>
            <a:r>
              <a:rPr lang="en-US" altLang="en-US" sz="1600" dirty="0"/>
              <a:t>MA5: SDHC - </a:t>
            </a:r>
            <a:r>
              <a:rPr lang="en-US" altLang="en-US" sz="1600" dirty="0">
                <a:sym typeface="Symbol" panose="05050102010706020507" pitchFamily="18" charset="2"/>
              </a:rPr>
              <a:t>OR with 1</a:t>
            </a:r>
          </a:p>
          <a:p>
            <a:pPr lvl="1">
              <a:lnSpc>
                <a:spcPct val="80000"/>
              </a:lnSpc>
            </a:pPr>
            <a:r>
              <a:rPr lang="en-US" altLang="en-US" sz="1600" dirty="0"/>
              <a:t>MA6: NDHC -</a:t>
            </a:r>
            <a:r>
              <a:rPr lang="en-US" altLang="en-US" sz="1600" dirty="0">
                <a:sym typeface="Symbol" panose="05050102010706020507" pitchFamily="18" charset="2"/>
              </a:rPr>
              <a:t>AND with 0</a:t>
            </a:r>
            <a:endParaRPr lang="en-US" altLang="en-US" sz="1600" dirty="0"/>
          </a:p>
          <a:p>
            <a:pPr lvl="1">
              <a:lnSpc>
                <a:spcPct val="80000"/>
              </a:lnSpc>
            </a:pPr>
            <a:r>
              <a:rPr lang="en-US" altLang="en-US" sz="1600" dirty="0">
                <a:sym typeface="Symbol" panose="05050102010706020507" pitchFamily="18" charset="2"/>
              </a:rPr>
              <a:t>MA7: </a:t>
            </a:r>
            <a:r>
              <a:rPr lang="en-US" altLang="en-US" sz="1600" dirty="0"/>
              <a:t>NDHC - </a:t>
            </a:r>
            <a:r>
              <a:rPr lang="en-US" altLang="en-US" sz="1600" dirty="0">
                <a:sym typeface="Symbol" panose="05050102010706020507" pitchFamily="18" charset="2"/>
              </a:rPr>
              <a:t>OR with 1</a:t>
            </a:r>
            <a:r>
              <a:rPr lang="tr-TR" altLang="en-US" sz="1600" dirty="0"/>
              <a:t> </a:t>
            </a:r>
            <a:endParaRPr lang="en-US" altLang="en-US" sz="1600" dirty="0"/>
          </a:p>
        </p:txBody>
      </p:sp>
    </p:spTree>
    <p:extLst>
      <p:ext uri="{BB962C8B-B14F-4D97-AF65-F5344CB8AC3E}">
        <p14:creationId xmlns:p14="http://schemas.microsoft.com/office/powerpoint/2010/main" val="1619666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normAutofit fontScale="90000"/>
          </a:bodyPr>
          <a:lstStyle/>
          <a:p>
            <a:r>
              <a:rPr lang="tr-TR" altLang="en-US" dirty="0"/>
              <a:t>MMA 1</a:t>
            </a:r>
            <a:r>
              <a:rPr lang="en-GB" altLang="en-US" dirty="0"/>
              <a:t>.</a:t>
            </a:r>
            <a:r>
              <a:rPr lang="tr-TR" altLang="en-US" dirty="0"/>
              <a:t>a</a:t>
            </a:r>
            <a:br>
              <a:rPr lang="en-GB" altLang="en-US" dirty="0"/>
            </a:br>
            <a:r>
              <a:rPr lang="tr-TR" altLang="en-US" dirty="0"/>
              <a:t> </a:t>
            </a:r>
            <a:endParaRPr lang="en-US" altLang="en-US" dirty="0"/>
          </a:p>
        </p:txBody>
      </p:sp>
      <p:pic>
        <p:nvPicPr>
          <p:cNvPr id="8602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51227" y="1479478"/>
            <a:ext cx="7127875" cy="474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6021" name="Text Box 5"/>
          <p:cNvSpPr txBox="1">
            <a:spLocks noChangeArrowheads="1"/>
          </p:cNvSpPr>
          <p:nvPr/>
        </p:nvSpPr>
        <p:spPr bwMode="auto">
          <a:xfrm>
            <a:off x="3522663" y="1481690"/>
            <a:ext cx="16562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dirty="0"/>
              <a:t>GA</a:t>
            </a:r>
            <a:r>
              <a:rPr lang="en-GB" altLang="en-US" b="0" dirty="0"/>
              <a:t> </a:t>
            </a:r>
            <a:r>
              <a:rPr lang="en-GB" altLang="en-US" sz="1600" b="0" dirty="0"/>
              <a:t>(</a:t>
            </a:r>
            <a:r>
              <a:rPr lang="en-GB" altLang="en-US" sz="1600" b="0" i="1" dirty="0"/>
              <a:t>observed</a:t>
            </a:r>
            <a:r>
              <a:rPr lang="en-GB" altLang="en-US" sz="1600" b="0" dirty="0"/>
              <a:t>)</a:t>
            </a:r>
            <a:endParaRPr lang="en-US" altLang="en-US" sz="1600" dirty="0"/>
          </a:p>
        </p:txBody>
      </p:sp>
      <p:sp>
        <p:nvSpPr>
          <p:cNvPr id="86022" name="Text Box 6"/>
          <p:cNvSpPr txBox="1">
            <a:spLocks noChangeArrowheads="1"/>
          </p:cNvSpPr>
          <p:nvPr/>
        </p:nvSpPr>
        <p:spPr bwMode="auto">
          <a:xfrm>
            <a:off x="7194551" y="1552503"/>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MA3</a:t>
            </a:r>
            <a:endParaRPr lang="en-US" altLang="en-US"/>
          </a:p>
        </p:txBody>
      </p:sp>
      <p:sp>
        <p:nvSpPr>
          <p:cNvPr id="86023" name="Text Box 7"/>
          <p:cNvSpPr txBox="1">
            <a:spLocks noChangeArrowheads="1"/>
          </p:cNvSpPr>
          <p:nvPr/>
        </p:nvSpPr>
        <p:spPr bwMode="auto">
          <a:xfrm>
            <a:off x="3522664" y="3928991"/>
            <a:ext cx="7921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MA0</a:t>
            </a:r>
            <a:endParaRPr lang="en-US" altLang="en-US"/>
          </a:p>
        </p:txBody>
      </p:sp>
      <p:sp>
        <p:nvSpPr>
          <p:cNvPr id="86024" name="Text Box 8"/>
          <p:cNvSpPr txBox="1">
            <a:spLocks noChangeArrowheads="1"/>
          </p:cNvSpPr>
          <p:nvPr/>
        </p:nvSpPr>
        <p:spPr bwMode="auto">
          <a:xfrm>
            <a:off x="7194551" y="3928991"/>
            <a:ext cx="7921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MA3</a:t>
            </a:r>
            <a:endParaRPr lang="en-US" altLang="en-US"/>
          </a:p>
        </p:txBody>
      </p:sp>
      <p:sp>
        <p:nvSpPr>
          <p:cNvPr id="2" name="TextBox 1"/>
          <p:cNvSpPr txBox="1"/>
          <p:nvPr/>
        </p:nvSpPr>
        <p:spPr>
          <a:xfrm>
            <a:off x="3913268" y="1145337"/>
            <a:ext cx="3156658" cy="369332"/>
          </a:xfrm>
          <a:prstGeom prst="rect">
            <a:avLst/>
          </a:prstGeom>
          <a:noFill/>
        </p:spPr>
        <p:txBody>
          <a:bodyPr wrap="square" rtlCol="0">
            <a:spAutoFit/>
          </a:bodyPr>
          <a:lstStyle/>
          <a:p>
            <a:r>
              <a:rPr lang="en-GB" i="1" dirty="0"/>
              <a:t>GA</a:t>
            </a:r>
            <a:r>
              <a:rPr lang="en-GB" b="0" dirty="0"/>
              <a:t>  </a:t>
            </a:r>
            <a:r>
              <a:rPr lang="en-GB" dirty="0"/>
              <a:t> </a:t>
            </a:r>
            <a:r>
              <a:rPr lang="en-GB" sz="1600" b="0" dirty="0"/>
              <a:t>(</a:t>
            </a:r>
            <a:r>
              <a:rPr lang="en-GB" sz="1600" b="0" i="1" dirty="0"/>
              <a:t>expected – good meme</a:t>
            </a:r>
            <a:r>
              <a:rPr lang="en-GB" sz="1600" b="0" dirty="0"/>
              <a:t>)</a:t>
            </a:r>
          </a:p>
        </p:txBody>
      </p:sp>
      <p:sp>
        <p:nvSpPr>
          <p:cNvPr id="10" name="TextBox 9"/>
          <p:cNvSpPr txBox="1"/>
          <p:nvPr/>
        </p:nvSpPr>
        <p:spPr>
          <a:xfrm>
            <a:off x="8563273" y="1145337"/>
            <a:ext cx="792088" cy="369332"/>
          </a:xfrm>
          <a:prstGeom prst="rect">
            <a:avLst/>
          </a:prstGeom>
          <a:noFill/>
        </p:spPr>
        <p:txBody>
          <a:bodyPr wrap="square" rtlCol="0">
            <a:spAutoFit/>
          </a:bodyPr>
          <a:lstStyle/>
          <a:p>
            <a:r>
              <a:rPr lang="en-GB" i="1" dirty="0"/>
              <a:t>MA3</a:t>
            </a:r>
          </a:p>
        </p:txBody>
      </p:sp>
      <p:sp>
        <p:nvSpPr>
          <p:cNvPr id="11" name="TextBox 10"/>
          <p:cNvSpPr txBox="1"/>
          <p:nvPr/>
        </p:nvSpPr>
        <p:spPr>
          <a:xfrm>
            <a:off x="4879529" y="6227690"/>
            <a:ext cx="792088" cy="369332"/>
          </a:xfrm>
          <a:prstGeom prst="rect">
            <a:avLst/>
          </a:prstGeom>
          <a:noFill/>
        </p:spPr>
        <p:txBody>
          <a:bodyPr wrap="square" rtlCol="0">
            <a:spAutoFit/>
          </a:bodyPr>
          <a:lstStyle/>
          <a:p>
            <a:r>
              <a:rPr lang="en-GB" i="1" dirty="0"/>
              <a:t>MA0</a:t>
            </a:r>
          </a:p>
        </p:txBody>
      </p:sp>
      <p:sp>
        <p:nvSpPr>
          <p:cNvPr id="12" name="TextBox 11"/>
          <p:cNvSpPr txBox="1"/>
          <p:nvPr/>
        </p:nvSpPr>
        <p:spPr>
          <a:xfrm>
            <a:off x="8779297" y="6227690"/>
            <a:ext cx="792088" cy="369332"/>
          </a:xfrm>
          <a:prstGeom prst="rect">
            <a:avLst/>
          </a:prstGeom>
          <a:noFill/>
        </p:spPr>
        <p:txBody>
          <a:bodyPr wrap="square" rtlCol="0">
            <a:spAutoFit/>
          </a:bodyPr>
          <a:lstStyle/>
          <a:p>
            <a:r>
              <a:rPr lang="en-GB" i="1" dirty="0"/>
              <a:t>MA3</a:t>
            </a:r>
          </a:p>
        </p:txBody>
      </p:sp>
      <p:sp>
        <p:nvSpPr>
          <p:cNvPr id="3" name="Slide Number Placeholder 2"/>
          <p:cNvSpPr>
            <a:spLocks noGrp="1"/>
          </p:cNvSpPr>
          <p:nvPr>
            <p:ph type="sldNum" sz="quarter" idx="12"/>
          </p:nvPr>
        </p:nvSpPr>
        <p:spPr/>
        <p:txBody>
          <a:bodyPr/>
          <a:lstStyle/>
          <a:p>
            <a:fld id="{BB72550B-508B-4D61-A817-90B00A29C4EF}" type="slidenum">
              <a:rPr lang="tr-TR" altLang="en-US" smtClean="0"/>
              <a:pPr/>
              <a:t>60</a:t>
            </a:fld>
            <a:endParaRPr lang="tr-TR" altLang="en-US" dirty="0"/>
          </a:p>
        </p:txBody>
      </p:sp>
      <p:cxnSp>
        <p:nvCxnSpPr>
          <p:cNvPr id="13" name="Straight Arrow Connector 12"/>
          <p:cNvCxnSpPr/>
          <p:nvPr/>
        </p:nvCxnSpPr>
        <p:spPr bwMode="auto">
          <a:xfrm>
            <a:off x="4267461" y="1803715"/>
            <a:ext cx="1224136" cy="64807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Straight Arrow Connector 4"/>
          <p:cNvCxnSpPr/>
          <p:nvPr/>
        </p:nvCxnSpPr>
        <p:spPr>
          <a:xfrm flipH="1">
            <a:off x="6619057" y="1047901"/>
            <a:ext cx="576064" cy="5760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988311" y="200846"/>
            <a:ext cx="2412480" cy="923330"/>
          </a:xfrm>
          <a:prstGeom prst="rect">
            <a:avLst/>
          </a:prstGeom>
          <a:noFill/>
        </p:spPr>
        <p:txBody>
          <a:bodyPr wrap="square" rtlCol="0">
            <a:spAutoFit/>
          </a:bodyPr>
          <a:lstStyle/>
          <a:p>
            <a:r>
              <a:rPr lang="en-GB" i="1" dirty="0"/>
              <a:t>Good meme (GA) followed by two poor performing memes</a:t>
            </a:r>
            <a:endParaRPr lang="en-GB" sz="1600" b="0" i="1" dirty="0"/>
          </a:p>
        </p:txBody>
      </p:sp>
      <p:sp>
        <p:nvSpPr>
          <p:cNvPr id="4" name="Rectangle 3">
            <a:extLst>
              <a:ext uri="{FF2B5EF4-FFF2-40B4-BE49-F238E27FC236}">
                <a16:creationId xmlns:a16="http://schemas.microsoft.com/office/drawing/2014/main" id="{B05D6BF6-A9A9-89D5-2439-BD5B8588F7B4}"/>
              </a:ext>
            </a:extLst>
          </p:cNvPr>
          <p:cNvSpPr/>
          <p:nvPr/>
        </p:nvSpPr>
        <p:spPr>
          <a:xfrm>
            <a:off x="3311003" y="3851630"/>
            <a:ext cx="7555434" cy="273136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310AC79-A6CB-2779-D2B5-31960BC90328}"/>
              </a:ext>
            </a:extLst>
          </p:cNvPr>
          <p:cNvSpPr/>
          <p:nvPr/>
        </p:nvSpPr>
        <p:spPr>
          <a:xfrm>
            <a:off x="7106356" y="1191019"/>
            <a:ext cx="3760081" cy="255131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1D457BD4-8EFE-4092-3C6B-7A0773A94D3B}"/>
              </a:ext>
            </a:extLst>
          </p:cNvPr>
          <p:cNvSpPr txBox="1"/>
          <p:nvPr/>
        </p:nvSpPr>
        <p:spPr>
          <a:xfrm>
            <a:off x="-380857" y="2635401"/>
            <a:ext cx="3122703" cy="2062103"/>
          </a:xfrm>
          <a:prstGeom prst="rect">
            <a:avLst/>
          </a:prstGeom>
          <a:noFill/>
        </p:spPr>
        <p:txBody>
          <a:bodyPr wrap="square">
            <a:spAutoFit/>
          </a:bodyPr>
          <a:lstStyle/>
          <a:p>
            <a:pPr lvl="1">
              <a:lnSpc>
                <a:spcPct val="80000"/>
              </a:lnSpc>
            </a:pPr>
            <a:r>
              <a:rPr lang="pl-PL" altLang="en-US" sz="1600" dirty="0"/>
              <a:t>GA: G</a:t>
            </a:r>
            <a:r>
              <a:rPr lang="en-GB" altLang="en-US" sz="1600" dirty="0" err="1"/>
              <a:t>enetic</a:t>
            </a:r>
            <a:r>
              <a:rPr lang="en-GB" altLang="en-US" sz="1600" dirty="0"/>
              <a:t> Algorithm </a:t>
            </a:r>
          </a:p>
          <a:p>
            <a:pPr lvl="1">
              <a:lnSpc>
                <a:spcPct val="80000"/>
              </a:lnSpc>
            </a:pPr>
            <a:r>
              <a:rPr lang="pl-PL" altLang="en-US" sz="1600" dirty="0"/>
              <a:t>MA0: MA with SDHC</a:t>
            </a:r>
          </a:p>
          <a:p>
            <a:pPr lvl="1">
              <a:lnSpc>
                <a:spcPct val="80000"/>
              </a:lnSpc>
            </a:pPr>
            <a:r>
              <a:rPr lang="pl-PL" altLang="en-US" sz="1600" dirty="0"/>
              <a:t>MA1: MA with NDHC</a:t>
            </a:r>
          </a:p>
          <a:p>
            <a:pPr lvl="1">
              <a:lnSpc>
                <a:spcPct val="80000"/>
              </a:lnSpc>
            </a:pPr>
            <a:r>
              <a:rPr lang="pl-PL" altLang="en-US" sz="1600" dirty="0"/>
              <a:t>MA2: MA with R</a:t>
            </a:r>
            <a:r>
              <a:rPr lang="en-GB" altLang="en-US" sz="1600" dirty="0"/>
              <a:t>M</a:t>
            </a:r>
            <a:r>
              <a:rPr lang="pl-PL" altLang="en-US" sz="1600" dirty="0"/>
              <a:t>HC</a:t>
            </a:r>
          </a:p>
          <a:p>
            <a:pPr lvl="1">
              <a:lnSpc>
                <a:spcPct val="80000"/>
              </a:lnSpc>
            </a:pPr>
            <a:r>
              <a:rPr lang="pl-PL" altLang="en-US" sz="1600" dirty="0"/>
              <a:t>MA3: MA with DBHC</a:t>
            </a:r>
            <a:endParaRPr lang="en-GB" altLang="en-US" sz="1600" dirty="0"/>
          </a:p>
          <a:p>
            <a:pPr lvl="1">
              <a:lnSpc>
                <a:spcPct val="80000"/>
              </a:lnSpc>
            </a:pPr>
            <a:r>
              <a:rPr lang="en-US" altLang="en-US" sz="1600" dirty="0"/>
              <a:t>Biased ones:</a:t>
            </a:r>
          </a:p>
          <a:p>
            <a:pPr lvl="1">
              <a:lnSpc>
                <a:spcPct val="80000"/>
              </a:lnSpc>
            </a:pPr>
            <a:r>
              <a:rPr lang="en-US" altLang="en-US" sz="1600" dirty="0"/>
              <a:t>MA4: SDHC - AND with 0</a:t>
            </a:r>
          </a:p>
          <a:p>
            <a:pPr lvl="1">
              <a:lnSpc>
                <a:spcPct val="80000"/>
              </a:lnSpc>
            </a:pPr>
            <a:r>
              <a:rPr lang="en-US" altLang="en-US" sz="1600" dirty="0"/>
              <a:t>MA5: SDHC - </a:t>
            </a:r>
            <a:r>
              <a:rPr lang="en-US" altLang="en-US" sz="1600" dirty="0">
                <a:sym typeface="Symbol" panose="05050102010706020507" pitchFamily="18" charset="2"/>
              </a:rPr>
              <a:t>OR with 1</a:t>
            </a:r>
          </a:p>
          <a:p>
            <a:pPr lvl="1">
              <a:lnSpc>
                <a:spcPct val="80000"/>
              </a:lnSpc>
            </a:pPr>
            <a:r>
              <a:rPr lang="en-US" altLang="en-US" sz="1600" dirty="0"/>
              <a:t>MA6: NDHC -</a:t>
            </a:r>
            <a:r>
              <a:rPr lang="en-US" altLang="en-US" sz="1600" dirty="0">
                <a:sym typeface="Symbol" panose="05050102010706020507" pitchFamily="18" charset="2"/>
              </a:rPr>
              <a:t>AND with 0</a:t>
            </a:r>
            <a:endParaRPr lang="en-US" altLang="en-US" sz="1600" dirty="0"/>
          </a:p>
          <a:p>
            <a:pPr lvl="1">
              <a:lnSpc>
                <a:spcPct val="80000"/>
              </a:lnSpc>
            </a:pPr>
            <a:r>
              <a:rPr lang="en-US" altLang="en-US" sz="1600" dirty="0">
                <a:sym typeface="Symbol" panose="05050102010706020507" pitchFamily="18" charset="2"/>
              </a:rPr>
              <a:t>MA7: </a:t>
            </a:r>
            <a:r>
              <a:rPr lang="en-US" altLang="en-US" sz="1600" dirty="0"/>
              <a:t>NDHC - </a:t>
            </a:r>
            <a:r>
              <a:rPr lang="en-US" altLang="en-US" sz="1600" dirty="0">
                <a:sym typeface="Symbol" panose="05050102010706020507" pitchFamily="18" charset="2"/>
              </a:rPr>
              <a:t>OR with 1</a:t>
            </a:r>
            <a:r>
              <a:rPr lang="tr-TR" altLang="en-US" sz="1600" dirty="0"/>
              <a:t> </a:t>
            </a:r>
            <a:endParaRPr lang="en-US" altLang="en-US" sz="1600" dirty="0"/>
          </a:p>
        </p:txBody>
      </p:sp>
    </p:spTree>
    <p:extLst>
      <p:ext uri="{BB962C8B-B14F-4D97-AF65-F5344CB8AC3E}">
        <p14:creationId xmlns:p14="http://schemas.microsoft.com/office/powerpoint/2010/main" val="3611656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normAutofit fontScale="90000"/>
          </a:bodyPr>
          <a:lstStyle/>
          <a:p>
            <a:r>
              <a:rPr lang="tr-TR" altLang="en-US" dirty="0"/>
              <a:t>MMA 1</a:t>
            </a:r>
            <a:r>
              <a:rPr lang="en-GB" altLang="en-US" dirty="0"/>
              <a:t>.</a:t>
            </a:r>
            <a:r>
              <a:rPr lang="tr-TR" altLang="en-US" dirty="0"/>
              <a:t>b</a:t>
            </a:r>
            <a:br>
              <a:rPr lang="en-GB" altLang="en-US" dirty="0"/>
            </a:br>
            <a:endParaRPr lang="en-US" altLang="en-US" dirty="0"/>
          </a:p>
        </p:txBody>
      </p:sp>
      <p:pic>
        <p:nvPicPr>
          <p:cNvPr id="87048"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65537" y="1257904"/>
            <a:ext cx="7200900" cy="4703762"/>
          </a:xfrm>
          <a:prstGeom prst="rect">
            <a:avLst/>
          </a:prstGeom>
          <a:noFill/>
          <a:extLst>
            <a:ext uri="{909E8E84-426E-40DD-AFC4-6F175D3DCCD1}">
              <a14:hiddenFill xmlns:a14="http://schemas.microsoft.com/office/drawing/2010/main">
                <a:solidFill>
                  <a:srgbClr val="FFFFFF"/>
                </a:solidFill>
              </a14:hiddenFill>
            </a:ext>
          </a:extLst>
        </p:spPr>
      </p:pic>
      <p:sp>
        <p:nvSpPr>
          <p:cNvPr id="87049" name="Text Box 9"/>
          <p:cNvSpPr txBox="1">
            <a:spLocks noChangeArrowheads="1"/>
          </p:cNvSpPr>
          <p:nvPr/>
        </p:nvSpPr>
        <p:spPr bwMode="auto">
          <a:xfrm>
            <a:off x="7408862" y="1330929"/>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MA1</a:t>
            </a:r>
            <a:endParaRPr lang="en-US" altLang="en-US"/>
          </a:p>
        </p:txBody>
      </p:sp>
      <p:sp>
        <p:nvSpPr>
          <p:cNvPr id="87050" name="Text Box 10"/>
          <p:cNvSpPr txBox="1">
            <a:spLocks noChangeArrowheads="1"/>
          </p:cNvSpPr>
          <p:nvPr/>
        </p:nvSpPr>
        <p:spPr bwMode="auto">
          <a:xfrm>
            <a:off x="3736975" y="1330929"/>
            <a:ext cx="7921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MA1</a:t>
            </a:r>
            <a:endParaRPr lang="en-US" altLang="en-US"/>
          </a:p>
        </p:txBody>
      </p:sp>
      <p:sp>
        <p:nvSpPr>
          <p:cNvPr id="87051" name="Text Box 11"/>
          <p:cNvSpPr txBox="1">
            <a:spLocks noChangeArrowheads="1"/>
          </p:cNvSpPr>
          <p:nvPr/>
        </p:nvSpPr>
        <p:spPr bwMode="auto">
          <a:xfrm>
            <a:off x="3736975" y="3634392"/>
            <a:ext cx="7921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MA1</a:t>
            </a:r>
            <a:endParaRPr lang="en-US" altLang="en-US"/>
          </a:p>
        </p:txBody>
      </p:sp>
      <p:sp>
        <p:nvSpPr>
          <p:cNvPr id="87052" name="Text Box 12"/>
          <p:cNvSpPr txBox="1">
            <a:spLocks noChangeArrowheads="1"/>
          </p:cNvSpPr>
          <p:nvPr/>
        </p:nvSpPr>
        <p:spPr bwMode="auto">
          <a:xfrm>
            <a:off x="7408862" y="3634392"/>
            <a:ext cx="7921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GA</a:t>
            </a:r>
            <a:endParaRPr lang="en-US" altLang="en-US"/>
          </a:p>
        </p:txBody>
      </p:sp>
      <p:sp>
        <p:nvSpPr>
          <p:cNvPr id="8" name="TextBox 7"/>
          <p:cNvSpPr txBox="1"/>
          <p:nvPr/>
        </p:nvSpPr>
        <p:spPr>
          <a:xfrm>
            <a:off x="5068961" y="961597"/>
            <a:ext cx="792088" cy="369332"/>
          </a:xfrm>
          <a:prstGeom prst="rect">
            <a:avLst/>
          </a:prstGeom>
          <a:noFill/>
        </p:spPr>
        <p:txBody>
          <a:bodyPr wrap="square" rtlCol="0">
            <a:spAutoFit/>
          </a:bodyPr>
          <a:lstStyle/>
          <a:p>
            <a:r>
              <a:rPr lang="en-GB" i="1" dirty="0"/>
              <a:t>MA1</a:t>
            </a:r>
          </a:p>
        </p:txBody>
      </p:sp>
      <p:sp>
        <p:nvSpPr>
          <p:cNvPr id="9" name="TextBox 8"/>
          <p:cNvSpPr txBox="1"/>
          <p:nvPr/>
        </p:nvSpPr>
        <p:spPr>
          <a:xfrm>
            <a:off x="8777584" y="923763"/>
            <a:ext cx="792088" cy="369332"/>
          </a:xfrm>
          <a:prstGeom prst="rect">
            <a:avLst/>
          </a:prstGeom>
          <a:noFill/>
        </p:spPr>
        <p:txBody>
          <a:bodyPr wrap="square" rtlCol="0">
            <a:spAutoFit/>
          </a:bodyPr>
          <a:lstStyle/>
          <a:p>
            <a:r>
              <a:rPr lang="en-GB" i="1" dirty="0"/>
              <a:t>MA1</a:t>
            </a:r>
          </a:p>
        </p:txBody>
      </p:sp>
      <p:sp>
        <p:nvSpPr>
          <p:cNvPr id="10" name="TextBox 9"/>
          <p:cNvSpPr txBox="1"/>
          <p:nvPr/>
        </p:nvSpPr>
        <p:spPr>
          <a:xfrm>
            <a:off x="5093840" y="6006116"/>
            <a:ext cx="792088" cy="369332"/>
          </a:xfrm>
          <a:prstGeom prst="rect">
            <a:avLst/>
          </a:prstGeom>
          <a:noFill/>
        </p:spPr>
        <p:txBody>
          <a:bodyPr wrap="square" rtlCol="0">
            <a:spAutoFit/>
          </a:bodyPr>
          <a:lstStyle/>
          <a:p>
            <a:r>
              <a:rPr lang="en-GB" i="1" dirty="0"/>
              <a:t>MA1</a:t>
            </a:r>
          </a:p>
        </p:txBody>
      </p:sp>
      <p:sp>
        <p:nvSpPr>
          <p:cNvPr id="11" name="TextBox 10"/>
          <p:cNvSpPr txBox="1"/>
          <p:nvPr/>
        </p:nvSpPr>
        <p:spPr>
          <a:xfrm>
            <a:off x="8993608" y="6006116"/>
            <a:ext cx="792088" cy="369332"/>
          </a:xfrm>
          <a:prstGeom prst="rect">
            <a:avLst/>
          </a:prstGeom>
          <a:noFill/>
        </p:spPr>
        <p:txBody>
          <a:bodyPr wrap="square" rtlCol="0">
            <a:spAutoFit/>
          </a:bodyPr>
          <a:lstStyle/>
          <a:p>
            <a:r>
              <a:rPr lang="en-GB" i="1" dirty="0"/>
              <a:t>GA</a:t>
            </a:r>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61</a:t>
            </a:fld>
            <a:endParaRPr lang="tr-TR" altLang="en-US" dirty="0"/>
          </a:p>
        </p:txBody>
      </p:sp>
      <p:sp>
        <p:nvSpPr>
          <p:cNvPr id="3" name="TextBox 2">
            <a:extLst>
              <a:ext uri="{FF2B5EF4-FFF2-40B4-BE49-F238E27FC236}">
                <a16:creationId xmlns:a16="http://schemas.microsoft.com/office/drawing/2014/main" id="{D94B8E5D-7A23-E667-860E-A2E4CA6D684C}"/>
              </a:ext>
            </a:extLst>
          </p:cNvPr>
          <p:cNvSpPr txBox="1"/>
          <p:nvPr/>
        </p:nvSpPr>
        <p:spPr>
          <a:xfrm>
            <a:off x="-380857" y="2635401"/>
            <a:ext cx="3122703" cy="2062103"/>
          </a:xfrm>
          <a:prstGeom prst="rect">
            <a:avLst/>
          </a:prstGeom>
          <a:noFill/>
        </p:spPr>
        <p:txBody>
          <a:bodyPr wrap="square">
            <a:spAutoFit/>
          </a:bodyPr>
          <a:lstStyle/>
          <a:p>
            <a:pPr lvl="1">
              <a:lnSpc>
                <a:spcPct val="80000"/>
              </a:lnSpc>
            </a:pPr>
            <a:r>
              <a:rPr lang="pl-PL" altLang="en-US" sz="1600" dirty="0"/>
              <a:t>GA: G</a:t>
            </a:r>
            <a:r>
              <a:rPr lang="en-GB" altLang="en-US" sz="1600" dirty="0" err="1"/>
              <a:t>enetic</a:t>
            </a:r>
            <a:r>
              <a:rPr lang="en-GB" altLang="en-US" sz="1600" dirty="0"/>
              <a:t> Algorithm </a:t>
            </a:r>
          </a:p>
          <a:p>
            <a:pPr lvl="1">
              <a:lnSpc>
                <a:spcPct val="80000"/>
              </a:lnSpc>
            </a:pPr>
            <a:r>
              <a:rPr lang="pl-PL" altLang="en-US" sz="1600" dirty="0"/>
              <a:t>MA0: MA with SDHC</a:t>
            </a:r>
          </a:p>
          <a:p>
            <a:pPr lvl="1">
              <a:lnSpc>
                <a:spcPct val="80000"/>
              </a:lnSpc>
            </a:pPr>
            <a:r>
              <a:rPr lang="pl-PL" altLang="en-US" sz="1600" dirty="0"/>
              <a:t>MA1: MA with NDHC</a:t>
            </a:r>
          </a:p>
          <a:p>
            <a:pPr lvl="1">
              <a:lnSpc>
                <a:spcPct val="80000"/>
              </a:lnSpc>
            </a:pPr>
            <a:r>
              <a:rPr lang="pl-PL" altLang="en-US" sz="1600" dirty="0"/>
              <a:t>MA2: MA with R</a:t>
            </a:r>
            <a:r>
              <a:rPr lang="en-GB" altLang="en-US" sz="1600" dirty="0"/>
              <a:t>M</a:t>
            </a:r>
            <a:r>
              <a:rPr lang="pl-PL" altLang="en-US" sz="1600" dirty="0"/>
              <a:t>HC</a:t>
            </a:r>
          </a:p>
          <a:p>
            <a:pPr lvl="1">
              <a:lnSpc>
                <a:spcPct val="80000"/>
              </a:lnSpc>
            </a:pPr>
            <a:r>
              <a:rPr lang="pl-PL" altLang="en-US" sz="1600" dirty="0"/>
              <a:t>MA3: MA with DBHC</a:t>
            </a:r>
            <a:endParaRPr lang="en-GB" altLang="en-US" sz="1600" dirty="0"/>
          </a:p>
          <a:p>
            <a:pPr lvl="1">
              <a:lnSpc>
                <a:spcPct val="80000"/>
              </a:lnSpc>
            </a:pPr>
            <a:r>
              <a:rPr lang="en-US" altLang="en-US" sz="1600" dirty="0"/>
              <a:t>Biased ones:</a:t>
            </a:r>
          </a:p>
          <a:p>
            <a:pPr lvl="1">
              <a:lnSpc>
                <a:spcPct val="80000"/>
              </a:lnSpc>
            </a:pPr>
            <a:r>
              <a:rPr lang="en-US" altLang="en-US" sz="1600" dirty="0"/>
              <a:t>MA4: SDHC - AND with 0</a:t>
            </a:r>
          </a:p>
          <a:p>
            <a:pPr lvl="1">
              <a:lnSpc>
                <a:spcPct val="80000"/>
              </a:lnSpc>
            </a:pPr>
            <a:r>
              <a:rPr lang="en-US" altLang="en-US" sz="1600" dirty="0"/>
              <a:t>MA5: SDHC - </a:t>
            </a:r>
            <a:r>
              <a:rPr lang="en-US" altLang="en-US" sz="1600" dirty="0">
                <a:sym typeface="Symbol" panose="05050102010706020507" pitchFamily="18" charset="2"/>
              </a:rPr>
              <a:t>OR with 1</a:t>
            </a:r>
          </a:p>
          <a:p>
            <a:pPr lvl="1">
              <a:lnSpc>
                <a:spcPct val="80000"/>
              </a:lnSpc>
            </a:pPr>
            <a:r>
              <a:rPr lang="en-US" altLang="en-US" sz="1600" dirty="0"/>
              <a:t>MA6: NDHC -</a:t>
            </a:r>
            <a:r>
              <a:rPr lang="en-US" altLang="en-US" sz="1600" dirty="0">
                <a:sym typeface="Symbol" panose="05050102010706020507" pitchFamily="18" charset="2"/>
              </a:rPr>
              <a:t>AND with 0</a:t>
            </a:r>
            <a:endParaRPr lang="en-US" altLang="en-US" sz="1600" dirty="0"/>
          </a:p>
          <a:p>
            <a:pPr lvl="1">
              <a:lnSpc>
                <a:spcPct val="80000"/>
              </a:lnSpc>
            </a:pPr>
            <a:r>
              <a:rPr lang="en-US" altLang="en-US" sz="1600" dirty="0">
                <a:sym typeface="Symbol" panose="05050102010706020507" pitchFamily="18" charset="2"/>
              </a:rPr>
              <a:t>MA7: </a:t>
            </a:r>
            <a:r>
              <a:rPr lang="en-US" altLang="en-US" sz="1600" dirty="0"/>
              <a:t>NDHC - </a:t>
            </a:r>
            <a:r>
              <a:rPr lang="en-US" altLang="en-US" sz="1600" dirty="0">
                <a:sym typeface="Symbol" panose="05050102010706020507" pitchFamily="18" charset="2"/>
              </a:rPr>
              <a:t>OR with 1</a:t>
            </a:r>
            <a:r>
              <a:rPr lang="tr-TR" altLang="en-US" sz="1600" dirty="0"/>
              <a:t> </a:t>
            </a:r>
            <a:endParaRPr lang="en-US" altLang="en-US" sz="1600" dirty="0"/>
          </a:p>
        </p:txBody>
      </p:sp>
    </p:spTree>
    <p:extLst>
      <p:ext uri="{BB962C8B-B14F-4D97-AF65-F5344CB8AC3E}">
        <p14:creationId xmlns:p14="http://schemas.microsoft.com/office/powerpoint/2010/main" val="20841359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fontScale="90000"/>
          </a:bodyPr>
          <a:lstStyle/>
          <a:p>
            <a:r>
              <a:rPr lang="tr-TR" altLang="en-US" dirty="0"/>
              <a:t>MMA 1</a:t>
            </a:r>
            <a:r>
              <a:rPr lang="en-GB" altLang="en-US" dirty="0"/>
              <a:t>.</a:t>
            </a:r>
            <a:r>
              <a:rPr lang="tr-TR" altLang="en-US" dirty="0"/>
              <a:t>c</a:t>
            </a:r>
            <a:br>
              <a:rPr lang="en-GB" altLang="en-US" dirty="0"/>
            </a:br>
            <a:endParaRPr lang="en-US" altLang="en-US" dirty="0"/>
          </a:p>
        </p:txBody>
      </p:sp>
      <p:pic>
        <p:nvPicPr>
          <p:cNvPr id="8806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3897" y="1234142"/>
            <a:ext cx="6913562" cy="4524375"/>
          </a:xfrm>
          <a:prstGeom prst="rect">
            <a:avLst/>
          </a:prstGeom>
          <a:noFill/>
          <a:extLst>
            <a:ext uri="{909E8E84-426E-40DD-AFC4-6F175D3DCCD1}">
              <a14:hiddenFill xmlns:a14="http://schemas.microsoft.com/office/drawing/2010/main">
                <a:solidFill>
                  <a:srgbClr val="FFFFFF"/>
                </a:solidFill>
              </a14:hiddenFill>
            </a:ext>
          </a:extLst>
        </p:spPr>
      </p:pic>
      <p:sp>
        <p:nvSpPr>
          <p:cNvPr id="88069" name="Text Box 5"/>
          <p:cNvSpPr txBox="1">
            <a:spLocks noChangeArrowheads="1"/>
          </p:cNvSpPr>
          <p:nvPr/>
        </p:nvSpPr>
        <p:spPr bwMode="auto">
          <a:xfrm>
            <a:off x="3886922" y="1307166"/>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MA3</a:t>
            </a:r>
            <a:endParaRPr lang="en-US" altLang="en-US"/>
          </a:p>
        </p:txBody>
      </p:sp>
      <p:sp>
        <p:nvSpPr>
          <p:cNvPr id="88070" name="Text Box 6"/>
          <p:cNvSpPr txBox="1">
            <a:spLocks noChangeArrowheads="1"/>
          </p:cNvSpPr>
          <p:nvPr/>
        </p:nvSpPr>
        <p:spPr bwMode="auto">
          <a:xfrm>
            <a:off x="7414347" y="1307166"/>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MA3</a:t>
            </a:r>
            <a:endParaRPr lang="en-US" altLang="en-US"/>
          </a:p>
        </p:txBody>
      </p:sp>
      <p:sp>
        <p:nvSpPr>
          <p:cNvPr id="88071" name="Text Box 7"/>
          <p:cNvSpPr txBox="1">
            <a:spLocks noChangeArrowheads="1"/>
          </p:cNvSpPr>
          <p:nvPr/>
        </p:nvSpPr>
        <p:spPr bwMode="auto">
          <a:xfrm>
            <a:off x="3886922" y="3539191"/>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MA0</a:t>
            </a:r>
            <a:endParaRPr lang="en-US" altLang="en-US"/>
          </a:p>
        </p:txBody>
      </p:sp>
      <p:sp>
        <p:nvSpPr>
          <p:cNvPr id="88072" name="Text Box 8"/>
          <p:cNvSpPr txBox="1">
            <a:spLocks noChangeArrowheads="1"/>
          </p:cNvSpPr>
          <p:nvPr/>
        </p:nvSpPr>
        <p:spPr bwMode="auto">
          <a:xfrm>
            <a:off x="7414347" y="3539191"/>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MA0</a:t>
            </a:r>
            <a:endParaRPr lang="en-US" altLang="en-US"/>
          </a:p>
        </p:txBody>
      </p:sp>
      <p:sp>
        <p:nvSpPr>
          <p:cNvPr id="8" name="TextBox 7"/>
          <p:cNvSpPr txBox="1"/>
          <p:nvPr/>
        </p:nvSpPr>
        <p:spPr>
          <a:xfrm>
            <a:off x="5074446" y="937834"/>
            <a:ext cx="792088" cy="369332"/>
          </a:xfrm>
          <a:prstGeom prst="rect">
            <a:avLst/>
          </a:prstGeom>
          <a:noFill/>
        </p:spPr>
        <p:txBody>
          <a:bodyPr wrap="square" rtlCol="0">
            <a:spAutoFit/>
          </a:bodyPr>
          <a:lstStyle/>
          <a:p>
            <a:r>
              <a:rPr lang="en-GB" i="1" dirty="0"/>
              <a:t>MA3</a:t>
            </a:r>
          </a:p>
        </p:txBody>
      </p:sp>
      <p:sp>
        <p:nvSpPr>
          <p:cNvPr id="9" name="TextBox 8"/>
          <p:cNvSpPr txBox="1"/>
          <p:nvPr/>
        </p:nvSpPr>
        <p:spPr>
          <a:xfrm>
            <a:off x="8783069" y="900000"/>
            <a:ext cx="792088" cy="369332"/>
          </a:xfrm>
          <a:prstGeom prst="rect">
            <a:avLst/>
          </a:prstGeom>
          <a:noFill/>
        </p:spPr>
        <p:txBody>
          <a:bodyPr wrap="square" rtlCol="0">
            <a:spAutoFit/>
          </a:bodyPr>
          <a:lstStyle/>
          <a:p>
            <a:r>
              <a:rPr lang="en-GB" i="1" dirty="0"/>
              <a:t>MA3</a:t>
            </a:r>
          </a:p>
        </p:txBody>
      </p:sp>
      <p:sp>
        <p:nvSpPr>
          <p:cNvPr id="10" name="TextBox 9"/>
          <p:cNvSpPr txBox="1"/>
          <p:nvPr/>
        </p:nvSpPr>
        <p:spPr>
          <a:xfrm>
            <a:off x="5099325" y="5982353"/>
            <a:ext cx="792088" cy="369332"/>
          </a:xfrm>
          <a:prstGeom prst="rect">
            <a:avLst/>
          </a:prstGeom>
          <a:noFill/>
        </p:spPr>
        <p:txBody>
          <a:bodyPr wrap="square" rtlCol="0">
            <a:spAutoFit/>
          </a:bodyPr>
          <a:lstStyle/>
          <a:p>
            <a:r>
              <a:rPr lang="en-GB" i="1" dirty="0"/>
              <a:t>MA0</a:t>
            </a:r>
          </a:p>
        </p:txBody>
      </p:sp>
      <p:sp>
        <p:nvSpPr>
          <p:cNvPr id="11" name="TextBox 10"/>
          <p:cNvSpPr txBox="1"/>
          <p:nvPr/>
        </p:nvSpPr>
        <p:spPr>
          <a:xfrm>
            <a:off x="8999093" y="5982353"/>
            <a:ext cx="792088" cy="369332"/>
          </a:xfrm>
          <a:prstGeom prst="rect">
            <a:avLst/>
          </a:prstGeom>
          <a:noFill/>
        </p:spPr>
        <p:txBody>
          <a:bodyPr wrap="square" rtlCol="0">
            <a:spAutoFit/>
          </a:bodyPr>
          <a:lstStyle/>
          <a:p>
            <a:r>
              <a:rPr lang="en-GB" i="1" dirty="0"/>
              <a:t>MA0</a:t>
            </a:r>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62</a:t>
            </a:fld>
            <a:endParaRPr lang="tr-TR" altLang="en-US" dirty="0"/>
          </a:p>
        </p:txBody>
      </p:sp>
      <p:sp>
        <p:nvSpPr>
          <p:cNvPr id="3" name="TextBox 2">
            <a:extLst>
              <a:ext uri="{FF2B5EF4-FFF2-40B4-BE49-F238E27FC236}">
                <a16:creationId xmlns:a16="http://schemas.microsoft.com/office/drawing/2014/main" id="{E540C08C-746F-C35F-010D-77224C122E30}"/>
              </a:ext>
            </a:extLst>
          </p:cNvPr>
          <p:cNvSpPr txBox="1"/>
          <p:nvPr/>
        </p:nvSpPr>
        <p:spPr>
          <a:xfrm>
            <a:off x="-380857" y="2635401"/>
            <a:ext cx="3122703" cy="2062103"/>
          </a:xfrm>
          <a:prstGeom prst="rect">
            <a:avLst/>
          </a:prstGeom>
          <a:noFill/>
        </p:spPr>
        <p:txBody>
          <a:bodyPr wrap="square">
            <a:spAutoFit/>
          </a:bodyPr>
          <a:lstStyle/>
          <a:p>
            <a:pPr lvl="1">
              <a:lnSpc>
                <a:spcPct val="80000"/>
              </a:lnSpc>
            </a:pPr>
            <a:r>
              <a:rPr lang="pl-PL" altLang="en-US" sz="1600" dirty="0"/>
              <a:t>GA: G</a:t>
            </a:r>
            <a:r>
              <a:rPr lang="en-GB" altLang="en-US" sz="1600" dirty="0" err="1"/>
              <a:t>enetic</a:t>
            </a:r>
            <a:r>
              <a:rPr lang="en-GB" altLang="en-US" sz="1600" dirty="0"/>
              <a:t> Algorithm </a:t>
            </a:r>
          </a:p>
          <a:p>
            <a:pPr lvl="1">
              <a:lnSpc>
                <a:spcPct val="80000"/>
              </a:lnSpc>
            </a:pPr>
            <a:r>
              <a:rPr lang="pl-PL" altLang="en-US" sz="1600" dirty="0"/>
              <a:t>MA0: MA with SDHC</a:t>
            </a:r>
          </a:p>
          <a:p>
            <a:pPr lvl="1">
              <a:lnSpc>
                <a:spcPct val="80000"/>
              </a:lnSpc>
            </a:pPr>
            <a:r>
              <a:rPr lang="pl-PL" altLang="en-US" sz="1600" dirty="0"/>
              <a:t>MA1: MA with NDHC</a:t>
            </a:r>
          </a:p>
          <a:p>
            <a:pPr lvl="1">
              <a:lnSpc>
                <a:spcPct val="80000"/>
              </a:lnSpc>
            </a:pPr>
            <a:r>
              <a:rPr lang="pl-PL" altLang="en-US" sz="1600" dirty="0"/>
              <a:t>MA2: MA with R</a:t>
            </a:r>
            <a:r>
              <a:rPr lang="en-GB" altLang="en-US" sz="1600" dirty="0"/>
              <a:t>M</a:t>
            </a:r>
            <a:r>
              <a:rPr lang="pl-PL" altLang="en-US" sz="1600" dirty="0"/>
              <a:t>HC</a:t>
            </a:r>
          </a:p>
          <a:p>
            <a:pPr lvl="1">
              <a:lnSpc>
                <a:spcPct val="80000"/>
              </a:lnSpc>
            </a:pPr>
            <a:r>
              <a:rPr lang="pl-PL" altLang="en-US" sz="1600" dirty="0"/>
              <a:t>MA3: MA with DBHC</a:t>
            </a:r>
            <a:endParaRPr lang="en-GB" altLang="en-US" sz="1600" dirty="0"/>
          </a:p>
          <a:p>
            <a:pPr lvl="1">
              <a:lnSpc>
                <a:spcPct val="80000"/>
              </a:lnSpc>
            </a:pPr>
            <a:r>
              <a:rPr lang="en-US" altLang="en-US" sz="1600" dirty="0"/>
              <a:t>Biased ones:</a:t>
            </a:r>
          </a:p>
          <a:p>
            <a:pPr lvl="1">
              <a:lnSpc>
                <a:spcPct val="80000"/>
              </a:lnSpc>
            </a:pPr>
            <a:r>
              <a:rPr lang="en-US" altLang="en-US" sz="1600" dirty="0"/>
              <a:t>MA4: SDHC - AND with 0</a:t>
            </a:r>
          </a:p>
          <a:p>
            <a:pPr lvl="1">
              <a:lnSpc>
                <a:spcPct val="80000"/>
              </a:lnSpc>
            </a:pPr>
            <a:r>
              <a:rPr lang="en-US" altLang="en-US" sz="1600" dirty="0"/>
              <a:t>MA5: SDHC - </a:t>
            </a:r>
            <a:r>
              <a:rPr lang="en-US" altLang="en-US" sz="1600" dirty="0">
                <a:sym typeface="Symbol" panose="05050102010706020507" pitchFamily="18" charset="2"/>
              </a:rPr>
              <a:t>OR with 1</a:t>
            </a:r>
          </a:p>
          <a:p>
            <a:pPr lvl="1">
              <a:lnSpc>
                <a:spcPct val="80000"/>
              </a:lnSpc>
            </a:pPr>
            <a:r>
              <a:rPr lang="en-US" altLang="en-US" sz="1600" dirty="0"/>
              <a:t>MA6: NDHC -</a:t>
            </a:r>
            <a:r>
              <a:rPr lang="en-US" altLang="en-US" sz="1600" dirty="0">
                <a:sym typeface="Symbol" panose="05050102010706020507" pitchFamily="18" charset="2"/>
              </a:rPr>
              <a:t>AND with 0</a:t>
            </a:r>
            <a:endParaRPr lang="en-US" altLang="en-US" sz="1600" dirty="0"/>
          </a:p>
          <a:p>
            <a:pPr lvl="1">
              <a:lnSpc>
                <a:spcPct val="80000"/>
              </a:lnSpc>
            </a:pPr>
            <a:r>
              <a:rPr lang="en-US" altLang="en-US" sz="1600" dirty="0">
                <a:sym typeface="Symbol" panose="05050102010706020507" pitchFamily="18" charset="2"/>
              </a:rPr>
              <a:t>MA7: </a:t>
            </a:r>
            <a:r>
              <a:rPr lang="en-US" altLang="en-US" sz="1600" dirty="0"/>
              <a:t>NDHC - </a:t>
            </a:r>
            <a:r>
              <a:rPr lang="en-US" altLang="en-US" sz="1600" dirty="0">
                <a:sym typeface="Symbol" panose="05050102010706020507" pitchFamily="18" charset="2"/>
              </a:rPr>
              <a:t>OR with 1</a:t>
            </a:r>
            <a:r>
              <a:rPr lang="tr-TR" altLang="en-US" sz="1600" dirty="0"/>
              <a:t> </a:t>
            </a:r>
            <a:endParaRPr lang="en-US" altLang="en-US" sz="1600" dirty="0"/>
          </a:p>
        </p:txBody>
      </p:sp>
    </p:spTree>
    <p:extLst>
      <p:ext uri="{BB962C8B-B14F-4D97-AF65-F5344CB8AC3E}">
        <p14:creationId xmlns:p14="http://schemas.microsoft.com/office/powerpoint/2010/main" val="12710087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p:txBody>
          <a:bodyPr/>
          <a:lstStyle/>
          <a:p>
            <a:fld id="{BDC58C2B-ED52-4709-9E5D-B09BCA114578}" type="slidenum">
              <a:rPr lang="en-US" altLang="en-US"/>
              <a:pPr/>
              <a:t>63</a:t>
            </a:fld>
            <a:endParaRPr lang="en-US" altLang="en-US"/>
          </a:p>
        </p:txBody>
      </p:sp>
      <p:sp>
        <p:nvSpPr>
          <p:cNvPr id="46082" name="Rectangle 2"/>
          <p:cNvSpPr>
            <a:spLocks noGrp="1" noChangeArrowheads="1"/>
          </p:cNvSpPr>
          <p:nvPr>
            <p:ph type="title"/>
          </p:nvPr>
        </p:nvSpPr>
        <p:spPr/>
        <p:txBody>
          <a:bodyPr>
            <a:normAutofit fontScale="90000"/>
          </a:bodyPr>
          <a:lstStyle/>
          <a:p>
            <a:r>
              <a:rPr lang="en-GB" altLang="en-US" dirty="0"/>
              <a:t>MMA 2 Experiments – Synergy Between Memes </a:t>
            </a:r>
            <a:endParaRPr lang="en-US" altLang="en-US" dirty="0"/>
          </a:p>
        </p:txBody>
      </p:sp>
      <p:pic>
        <p:nvPicPr>
          <p:cNvPr id="46387" name="Picture 30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90292" y="1620905"/>
            <a:ext cx="7548156" cy="4627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bwMode="auto">
          <a:xfrm>
            <a:off x="2351584" y="2204864"/>
            <a:ext cx="3384376" cy="504056"/>
          </a:xfrm>
          <a:prstGeom prst="rect">
            <a:avLst/>
          </a:prstGeom>
          <a:noFill/>
          <a:ln w="9525"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a:ln>
                <a:noFill/>
              </a:ln>
              <a:solidFill>
                <a:schemeClr val="tx1"/>
              </a:solidFill>
              <a:effectLst/>
              <a:latin typeface="Arial" charset="0"/>
            </a:endParaRPr>
          </a:p>
        </p:txBody>
      </p:sp>
      <p:sp>
        <p:nvSpPr>
          <p:cNvPr id="6" name="Rectangle 5"/>
          <p:cNvSpPr/>
          <p:nvPr/>
        </p:nvSpPr>
        <p:spPr bwMode="auto">
          <a:xfrm>
            <a:off x="2351584" y="3284984"/>
            <a:ext cx="3384376" cy="504056"/>
          </a:xfrm>
          <a:prstGeom prst="rect">
            <a:avLst/>
          </a:prstGeom>
          <a:noFill/>
          <a:ln w="9525"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a:ln>
                <a:noFill/>
              </a:ln>
              <a:solidFill>
                <a:schemeClr val="tx1"/>
              </a:solidFill>
              <a:effectLst/>
              <a:latin typeface="Arial" charset="0"/>
            </a:endParaRPr>
          </a:p>
        </p:txBody>
      </p:sp>
      <p:sp>
        <p:nvSpPr>
          <p:cNvPr id="7" name="Rectangle 6"/>
          <p:cNvSpPr/>
          <p:nvPr/>
        </p:nvSpPr>
        <p:spPr bwMode="auto">
          <a:xfrm>
            <a:off x="6023992" y="2780928"/>
            <a:ext cx="3384376" cy="504056"/>
          </a:xfrm>
          <a:prstGeom prst="rect">
            <a:avLst/>
          </a:prstGeom>
          <a:noFill/>
          <a:ln w="9525"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a:ln>
                <a:noFill/>
              </a:ln>
              <a:solidFill>
                <a:schemeClr val="tx1"/>
              </a:solidFill>
              <a:effectLst/>
              <a:latin typeface="Arial" charset="0"/>
            </a:endParaRPr>
          </a:p>
        </p:txBody>
      </p:sp>
      <p:sp>
        <p:nvSpPr>
          <p:cNvPr id="9" name="Rectangle 8"/>
          <p:cNvSpPr/>
          <p:nvPr/>
        </p:nvSpPr>
        <p:spPr bwMode="auto">
          <a:xfrm>
            <a:off x="6023992" y="3825139"/>
            <a:ext cx="3384376" cy="504056"/>
          </a:xfrm>
          <a:prstGeom prst="rect">
            <a:avLst/>
          </a:prstGeom>
          <a:noFill/>
          <a:ln w="9525"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a:ln>
                <a:noFill/>
              </a:ln>
              <a:solidFill>
                <a:schemeClr val="tx1"/>
              </a:solidFill>
              <a:effectLst/>
              <a:latin typeface="Arial" charset="0"/>
            </a:endParaRPr>
          </a:p>
        </p:txBody>
      </p:sp>
      <p:sp>
        <p:nvSpPr>
          <p:cNvPr id="3" name="TextBox 2"/>
          <p:cNvSpPr txBox="1"/>
          <p:nvPr/>
        </p:nvSpPr>
        <p:spPr>
          <a:xfrm>
            <a:off x="2063552" y="6021289"/>
            <a:ext cx="7632848" cy="646331"/>
          </a:xfrm>
          <a:prstGeom prst="rect">
            <a:avLst/>
          </a:prstGeom>
          <a:noFill/>
        </p:spPr>
        <p:txBody>
          <a:bodyPr wrap="square" rtlCol="0">
            <a:spAutoFit/>
          </a:bodyPr>
          <a:lstStyle/>
          <a:p>
            <a:r>
              <a:rPr lang="en-GB" b="0" dirty="0"/>
              <a:t>Second entry for each function indicates the best performing hill climbing under the generic MA framework where HC is applied after mutation</a:t>
            </a:r>
          </a:p>
        </p:txBody>
      </p:sp>
    </p:spTree>
    <p:extLst>
      <p:ext uri="{BB962C8B-B14F-4D97-AF65-F5344CB8AC3E}">
        <p14:creationId xmlns:p14="http://schemas.microsoft.com/office/powerpoint/2010/main" val="2165483864"/>
      </p:ext>
    </p:ext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normAutofit fontScale="90000"/>
          </a:bodyPr>
          <a:lstStyle/>
          <a:p>
            <a:r>
              <a:rPr lang="tr-TR" altLang="en-US" dirty="0"/>
              <a:t>MMA 2</a:t>
            </a:r>
            <a:r>
              <a:rPr lang="en-GB" altLang="en-US" dirty="0"/>
              <a:t>.</a:t>
            </a:r>
            <a:r>
              <a:rPr lang="tr-TR" altLang="en-US" dirty="0"/>
              <a:t>a</a:t>
            </a:r>
            <a:br>
              <a:rPr lang="en-GB" altLang="en-US" dirty="0"/>
            </a:br>
            <a:endParaRPr lang="en-US" altLang="en-US" dirty="0"/>
          </a:p>
        </p:txBody>
      </p:sp>
      <p:pic>
        <p:nvPicPr>
          <p:cNvPr id="89096"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17198" y="1479478"/>
            <a:ext cx="7129462" cy="4711700"/>
          </a:xfrm>
          <a:prstGeom prst="rect">
            <a:avLst/>
          </a:prstGeom>
          <a:noFill/>
          <a:extLst>
            <a:ext uri="{909E8E84-426E-40DD-AFC4-6F175D3DCCD1}">
              <a14:hiddenFill xmlns:a14="http://schemas.microsoft.com/office/drawing/2010/main">
                <a:solidFill>
                  <a:srgbClr val="FFFFFF"/>
                </a:solidFill>
              </a14:hiddenFill>
            </a:ext>
          </a:extLst>
        </p:spPr>
      </p:pic>
      <p:sp>
        <p:nvSpPr>
          <p:cNvPr id="89097" name="Text Box 9"/>
          <p:cNvSpPr txBox="1">
            <a:spLocks noChangeArrowheads="1"/>
          </p:cNvSpPr>
          <p:nvPr/>
        </p:nvSpPr>
        <p:spPr bwMode="auto">
          <a:xfrm>
            <a:off x="3990223" y="1552503"/>
            <a:ext cx="1871811"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dirty="0"/>
              <a:t>MA3</a:t>
            </a:r>
            <a:r>
              <a:rPr lang="en-GB" altLang="en-US" dirty="0"/>
              <a:t> </a:t>
            </a:r>
            <a:r>
              <a:rPr lang="en-GB" sz="1400" b="0" dirty="0"/>
              <a:t>(</a:t>
            </a:r>
            <a:r>
              <a:rPr lang="en-GB" sz="1400" b="0" i="1" dirty="0"/>
              <a:t>observed</a:t>
            </a:r>
            <a:r>
              <a:rPr lang="en-GB" sz="1400" b="0" dirty="0"/>
              <a:t>)</a:t>
            </a:r>
            <a:endParaRPr lang="en-GB" sz="1400" dirty="0"/>
          </a:p>
          <a:p>
            <a:pPr>
              <a:spcBef>
                <a:spcPct val="50000"/>
              </a:spcBef>
            </a:pPr>
            <a:endParaRPr lang="en-US" altLang="en-US" dirty="0"/>
          </a:p>
        </p:txBody>
      </p:sp>
      <p:sp>
        <p:nvSpPr>
          <p:cNvPr id="89098" name="Text Box 10"/>
          <p:cNvSpPr txBox="1">
            <a:spLocks noChangeArrowheads="1"/>
          </p:cNvSpPr>
          <p:nvPr/>
        </p:nvSpPr>
        <p:spPr bwMode="auto">
          <a:xfrm>
            <a:off x="7733548" y="1552503"/>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dirty="0"/>
              <a:t>MA</a:t>
            </a:r>
            <a:r>
              <a:rPr lang="en-GB" altLang="en-US" dirty="0"/>
              <a:t>0</a:t>
            </a:r>
            <a:endParaRPr lang="en-US" altLang="en-US" dirty="0"/>
          </a:p>
        </p:txBody>
      </p:sp>
      <p:sp>
        <p:nvSpPr>
          <p:cNvPr id="89099" name="Text Box 11"/>
          <p:cNvSpPr txBox="1">
            <a:spLocks noChangeArrowheads="1"/>
          </p:cNvSpPr>
          <p:nvPr/>
        </p:nvSpPr>
        <p:spPr bwMode="auto">
          <a:xfrm>
            <a:off x="3990223" y="3928991"/>
            <a:ext cx="7921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dirty="0"/>
              <a:t>MA</a:t>
            </a:r>
            <a:r>
              <a:rPr lang="en-GB" altLang="en-US" dirty="0"/>
              <a:t>1</a:t>
            </a:r>
            <a:endParaRPr lang="en-US" altLang="en-US" dirty="0"/>
          </a:p>
        </p:txBody>
      </p:sp>
      <p:sp>
        <p:nvSpPr>
          <p:cNvPr id="89100" name="Text Box 12"/>
          <p:cNvSpPr txBox="1">
            <a:spLocks noChangeArrowheads="1"/>
          </p:cNvSpPr>
          <p:nvPr/>
        </p:nvSpPr>
        <p:spPr bwMode="auto">
          <a:xfrm>
            <a:off x="7662111" y="3928991"/>
            <a:ext cx="7921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MA1</a:t>
            </a:r>
            <a:endParaRPr lang="en-US" altLang="en-US"/>
          </a:p>
        </p:txBody>
      </p:sp>
      <p:sp>
        <p:nvSpPr>
          <p:cNvPr id="8" name="TextBox 7"/>
          <p:cNvSpPr txBox="1"/>
          <p:nvPr/>
        </p:nvSpPr>
        <p:spPr>
          <a:xfrm>
            <a:off x="5177747" y="1183171"/>
            <a:ext cx="2124447" cy="369332"/>
          </a:xfrm>
          <a:prstGeom prst="rect">
            <a:avLst/>
          </a:prstGeom>
          <a:noFill/>
        </p:spPr>
        <p:txBody>
          <a:bodyPr wrap="square" rtlCol="0">
            <a:spAutoFit/>
          </a:bodyPr>
          <a:lstStyle/>
          <a:p>
            <a:r>
              <a:rPr lang="en-GB" i="1" dirty="0"/>
              <a:t>MA3</a:t>
            </a:r>
            <a:r>
              <a:rPr lang="en-GB" b="0" dirty="0"/>
              <a:t> </a:t>
            </a:r>
            <a:r>
              <a:rPr lang="en-GB" sz="1600" b="0" dirty="0"/>
              <a:t>(</a:t>
            </a:r>
            <a:r>
              <a:rPr lang="en-GB" sz="1600" b="0" i="1" dirty="0"/>
              <a:t>expected</a:t>
            </a:r>
            <a:r>
              <a:rPr lang="en-GB" sz="1600" b="0" dirty="0"/>
              <a:t>)</a:t>
            </a:r>
            <a:endParaRPr lang="en-GB" sz="1600" dirty="0"/>
          </a:p>
        </p:txBody>
      </p:sp>
      <p:sp>
        <p:nvSpPr>
          <p:cNvPr id="9" name="TextBox 8"/>
          <p:cNvSpPr txBox="1"/>
          <p:nvPr/>
        </p:nvSpPr>
        <p:spPr>
          <a:xfrm>
            <a:off x="8886370" y="1145337"/>
            <a:ext cx="792088" cy="369332"/>
          </a:xfrm>
          <a:prstGeom prst="rect">
            <a:avLst/>
          </a:prstGeom>
          <a:noFill/>
        </p:spPr>
        <p:txBody>
          <a:bodyPr wrap="square" rtlCol="0">
            <a:spAutoFit/>
          </a:bodyPr>
          <a:lstStyle/>
          <a:p>
            <a:r>
              <a:rPr lang="en-GB" i="1" dirty="0"/>
              <a:t>MA0</a:t>
            </a:r>
          </a:p>
        </p:txBody>
      </p:sp>
      <p:sp>
        <p:nvSpPr>
          <p:cNvPr id="10" name="TextBox 9"/>
          <p:cNvSpPr txBox="1"/>
          <p:nvPr/>
        </p:nvSpPr>
        <p:spPr>
          <a:xfrm>
            <a:off x="5202626" y="6227690"/>
            <a:ext cx="792088" cy="369332"/>
          </a:xfrm>
          <a:prstGeom prst="rect">
            <a:avLst/>
          </a:prstGeom>
          <a:noFill/>
        </p:spPr>
        <p:txBody>
          <a:bodyPr wrap="square" rtlCol="0">
            <a:spAutoFit/>
          </a:bodyPr>
          <a:lstStyle/>
          <a:p>
            <a:r>
              <a:rPr lang="en-GB" i="1" dirty="0"/>
              <a:t>MA3</a:t>
            </a:r>
          </a:p>
        </p:txBody>
      </p:sp>
      <p:sp>
        <p:nvSpPr>
          <p:cNvPr id="11" name="TextBox 10"/>
          <p:cNvSpPr txBox="1"/>
          <p:nvPr/>
        </p:nvSpPr>
        <p:spPr>
          <a:xfrm>
            <a:off x="9102394" y="6227690"/>
            <a:ext cx="792088" cy="369332"/>
          </a:xfrm>
          <a:prstGeom prst="rect">
            <a:avLst/>
          </a:prstGeom>
          <a:noFill/>
        </p:spPr>
        <p:txBody>
          <a:bodyPr wrap="square" rtlCol="0">
            <a:spAutoFit/>
          </a:bodyPr>
          <a:lstStyle/>
          <a:p>
            <a:r>
              <a:rPr lang="en-GB" i="1" dirty="0"/>
              <a:t>MA1</a:t>
            </a:r>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64</a:t>
            </a:fld>
            <a:endParaRPr lang="tr-TR" altLang="en-US" dirty="0"/>
          </a:p>
        </p:txBody>
      </p:sp>
      <p:cxnSp>
        <p:nvCxnSpPr>
          <p:cNvPr id="4" name="Straight Arrow Connector 3"/>
          <p:cNvCxnSpPr/>
          <p:nvPr/>
        </p:nvCxnSpPr>
        <p:spPr bwMode="auto">
          <a:xfrm>
            <a:off x="4565890" y="1839989"/>
            <a:ext cx="1224136" cy="64807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Arrow Connector 13"/>
          <p:cNvCxnSpPr/>
          <p:nvPr/>
        </p:nvCxnSpPr>
        <p:spPr>
          <a:xfrm flipH="1">
            <a:off x="6942154" y="1033612"/>
            <a:ext cx="576064" cy="5760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798181" y="545662"/>
            <a:ext cx="1782874" cy="646331"/>
          </a:xfrm>
          <a:prstGeom prst="rect">
            <a:avLst/>
          </a:prstGeom>
          <a:noFill/>
        </p:spPr>
        <p:txBody>
          <a:bodyPr wrap="square" rtlCol="0">
            <a:spAutoFit/>
          </a:bodyPr>
          <a:lstStyle/>
          <a:p>
            <a:r>
              <a:rPr lang="en-GB" i="1" dirty="0"/>
              <a:t>Memes are fixed</a:t>
            </a:r>
            <a:endParaRPr lang="en-GB" sz="1600" b="0" i="1" dirty="0"/>
          </a:p>
        </p:txBody>
      </p:sp>
      <p:sp>
        <p:nvSpPr>
          <p:cNvPr id="3" name="TextBox 2">
            <a:extLst>
              <a:ext uri="{FF2B5EF4-FFF2-40B4-BE49-F238E27FC236}">
                <a16:creationId xmlns:a16="http://schemas.microsoft.com/office/drawing/2014/main" id="{F1B89740-3E86-1AF2-5BC0-C587038458AF}"/>
              </a:ext>
            </a:extLst>
          </p:cNvPr>
          <p:cNvSpPr txBox="1"/>
          <p:nvPr/>
        </p:nvSpPr>
        <p:spPr>
          <a:xfrm>
            <a:off x="-380857" y="2635401"/>
            <a:ext cx="3122703" cy="2062103"/>
          </a:xfrm>
          <a:prstGeom prst="rect">
            <a:avLst/>
          </a:prstGeom>
          <a:noFill/>
        </p:spPr>
        <p:txBody>
          <a:bodyPr wrap="square">
            <a:spAutoFit/>
          </a:bodyPr>
          <a:lstStyle/>
          <a:p>
            <a:pPr lvl="1">
              <a:lnSpc>
                <a:spcPct val="80000"/>
              </a:lnSpc>
            </a:pPr>
            <a:r>
              <a:rPr lang="pl-PL" altLang="en-US" sz="1600" dirty="0"/>
              <a:t>GA: G</a:t>
            </a:r>
            <a:r>
              <a:rPr lang="en-GB" altLang="en-US" sz="1600" dirty="0" err="1"/>
              <a:t>enetic</a:t>
            </a:r>
            <a:r>
              <a:rPr lang="en-GB" altLang="en-US" sz="1600" dirty="0"/>
              <a:t> Algorithm </a:t>
            </a:r>
          </a:p>
          <a:p>
            <a:pPr lvl="1">
              <a:lnSpc>
                <a:spcPct val="80000"/>
              </a:lnSpc>
            </a:pPr>
            <a:r>
              <a:rPr lang="pl-PL" altLang="en-US" sz="1600" dirty="0"/>
              <a:t>MA0: MA with SDHC</a:t>
            </a:r>
          </a:p>
          <a:p>
            <a:pPr lvl="1">
              <a:lnSpc>
                <a:spcPct val="80000"/>
              </a:lnSpc>
            </a:pPr>
            <a:r>
              <a:rPr lang="pl-PL" altLang="en-US" sz="1600" dirty="0"/>
              <a:t>MA1: MA with NDHC</a:t>
            </a:r>
          </a:p>
          <a:p>
            <a:pPr lvl="1">
              <a:lnSpc>
                <a:spcPct val="80000"/>
              </a:lnSpc>
            </a:pPr>
            <a:r>
              <a:rPr lang="pl-PL" altLang="en-US" sz="1600" dirty="0"/>
              <a:t>MA2: MA with R</a:t>
            </a:r>
            <a:r>
              <a:rPr lang="en-GB" altLang="en-US" sz="1600" dirty="0"/>
              <a:t>M</a:t>
            </a:r>
            <a:r>
              <a:rPr lang="pl-PL" altLang="en-US" sz="1600" dirty="0"/>
              <a:t>HC</a:t>
            </a:r>
          </a:p>
          <a:p>
            <a:pPr lvl="1">
              <a:lnSpc>
                <a:spcPct val="80000"/>
              </a:lnSpc>
            </a:pPr>
            <a:r>
              <a:rPr lang="pl-PL" altLang="en-US" sz="1600" dirty="0"/>
              <a:t>MA3: MA with DBHC</a:t>
            </a:r>
            <a:endParaRPr lang="en-GB" altLang="en-US" sz="1600" dirty="0"/>
          </a:p>
          <a:p>
            <a:pPr lvl="1">
              <a:lnSpc>
                <a:spcPct val="80000"/>
              </a:lnSpc>
            </a:pPr>
            <a:r>
              <a:rPr lang="en-US" altLang="en-US" sz="1600" dirty="0"/>
              <a:t>Biased ones:</a:t>
            </a:r>
          </a:p>
          <a:p>
            <a:pPr lvl="1">
              <a:lnSpc>
                <a:spcPct val="80000"/>
              </a:lnSpc>
            </a:pPr>
            <a:r>
              <a:rPr lang="en-US" altLang="en-US" sz="1600" dirty="0"/>
              <a:t>MA4: SDHC - AND with 0</a:t>
            </a:r>
          </a:p>
          <a:p>
            <a:pPr lvl="1">
              <a:lnSpc>
                <a:spcPct val="80000"/>
              </a:lnSpc>
            </a:pPr>
            <a:r>
              <a:rPr lang="en-US" altLang="en-US" sz="1600" dirty="0"/>
              <a:t>MA5: SDHC - </a:t>
            </a:r>
            <a:r>
              <a:rPr lang="en-US" altLang="en-US" sz="1600" dirty="0">
                <a:sym typeface="Symbol" panose="05050102010706020507" pitchFamily="18" charset="2"/>
              </a:rPr>
              <a:t>OR with 1</a:t>
            </a:r>
          </a:p>
          <a:p>
            <a:pPr lvl="1">
              <a:lnSpc>
                <a:spcPct val="80000"/>
              </a:lnSpc>
            </a:pPr>
            <a:r>
              <a:rPr lang="en-US" altLang="en-US" sz="1600" dirty="0"/>
              <a:t>MA6: NDHC -</a:t>
            </a:r>
            <a:r>
              <a:rPr lang="en-US" altLang="en-US" sz="1600" dirty="0">
                <a:sym typeface="Symbol" panose="05050102010706020507" pitchFamily="18" charset="2"/>
              </a:rPr>
              <a:t>AND with 0</a:t>
            </a:r>
            <a:endParaRPr lang="en-US" altLang="en-US" sz="1600" dirty="0"/>
          </a:p>
          <a:p>
            <a:pPr lvl="1">
              <a:lnSpc>
                <a:spcPct val="80000"/>
              </a:lnSpc>
            </a:pPr>
            <a:r>
              <a:rPr lang="en-US" altLang="en-US" sz="1600" dirty="0">
                <a:sym typeface="Symbol" panose="05050102010706020507" pitchFamily="18" charset="2"/>
              </a:rPr>
              <a:t>MA7: </a:t>
            </a:r>
            <a:r>
              <a:rPr lang="en-US" altLang="en-US" sz="1600" dirty="0"/>
              <a:t>NDHC - </a:t>
            </a:r>
            <a:r>
              <a:rPr lang="en-US" altLang="en-US" sz="1600" dirty="0">
                <a:sym typeface="Symbol" panose="05050102010706020507" pitchFamily="18" charset="2"/>
              </a:rPr>
              <a:t>OR with 1</a:t>
            </a:r>
            <a:r>
              <a:rPr lang="tr-TR" altLang="en-US" sz="1600" dirty="0"/>
              <a:t> </a:t>
            </a:r>
            <a:endParaRPr lang="en-US" altLang="en-US" sz="1600" dirty="0"/>
          </a:p>
        </p:txBody>
      </p:sp>
    </p:spTree>
    <p:extLst>
      <p:ext uri="{BB962C8B-B14F-4D97-AF65-F5344CB8AC3E}">
        <p14:creationId xmlns:p14="http://schemas.microsoft.com/office/powerpoint/2010/main" val="1718473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normAutofit fontScale="90000"/>
          </a:bodyPr>
          <a:lstStyle/>
          <a:p>
            <a:r>
              <a:rPr lang="tr-TR" altLang="en-US" dirty="0"/>
              <a:t>MMA 2</a:t>
            </a:r>
            <a:r>
              <a:rPr lang="en-GB" altLang="en-US" dirty="0"/>
              <a:t>.</a:t>
            </a:r>
            <a:r>
              <a:rPr lang="tr-TR" altLang="en-US" dirty="0"/>
              <a:t>b</a:t>
            </a:r>
            <a:br>
              <a:rPr lang="en-GB" altLang="en-US" dirty="0"/>
            </a:br>
            <a:endParaRPr lang="en-US" altLang="en-US" dirty="0"/>
          </a:p>
        </p:txBody>
      </p:sp>
      <p:pic>
        <p:nvPicPr>
          <p:cNvPr id="9318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5140" y="1676072"/>
            <a:ext cx="7056438" cy="4673600"/>
          </a:xfrm>
          <a:prstGeom prst="rect">
            <a:avLst/>
          </a:prstGeom>
          <a:noFill/>
          <a:extLst>
            <a:ext uri="{909E8E84-426E-40DD-AFC4-6F175D3DCCD1}">
              <a14:hiddenFill xmlns:a14="http://schemas.microsoft.com/office/drawing/2010/main">
                <a:solidFill>
                  <a:srgbClr val="FFFFFF"/>
                </a:solidFill>
              </a14:hiddenFill>
            </a:ext>
          </a:extLst>
        </p:spPr>
      </p:pic>
      <p:sp>
        <p:nvSpPr>
          <p:cNvPr id="93189" name="Text Box 5"/>
          <p:cNvSpPr txBox="1">
            <a:spLocks noChangeArrowheads="1"/>
          </p:cNvSpPr>
          <p:nvPr/>
        </p:nvSpPr>
        <p:spPr bwMode="auto">
          <a:xfrm>
            <a:off x="7907028" y="1749097"/>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MA1</a:t>
            </a:r>
            <a:endParaRPr lang="en-US" altLang="en-US"/>
          </a:p>
        </p:txBody>
      </p:sp>
      <p:sp>
        <p:nvSpPr>
          <p:cNvPr id="93190" name="Text Box 6"/>
          <p:cNvSpPr txBox="1">
            <a:spLocks noChangeArrowheads="1"/>
          </p:cNvSpPr>
          <p:nvPr/>
        </p:nvSpPr>
        <p:spPr bwMode="auto">
          <a:xfrm>
            <a:off x="4306578" y="1749097"/>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dirty="0"/>
              <a:t>MA</a:t>
            </a:r>
            <a:r>
              <a:rPr lang="en-GB" altLang="en-US" dirty="0"/>
              <a:t>3</a:t>
            </a:r>
            <a:endParaRPr lang="en-US" altLang="en-US" dirty="0"/>
          </a:p>
        </p:txBody>
      </p:sp>
      <p:sp>
        <p:nvSpPr>
          <p:cNvPr id="93191" name="Text Box 7"/>
          <p:cNvSpPr txBox="1">
            <a:spLocks noChangeArrowheads="1"/>
          </p:cNvSpPr>
          <p:nvPr/>
        </p:nvSpPr>
        <p:spPr bwMode="auto">
          <a:xfrm>
            <a:off x="4306578" y="4125585"/>
            <a:ext cx="7921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dirty="0"/>
              <a:t>MA</a:t>
            </a:r>
            <a:r>
              <a:rPr lang="en-GB" altLang="en-US" dirty="0"/>
              <a:t>1</a:t>
            </a:r>
            <a:endParaRPr lang="en-US" altLang="en-US" dirty="0"/>
          </a:p>
        </p:txBody>
      </p:sp>
      <p:sp>
        <p:nvSpPr>
          <p:cNvPr id="93192" name="Text Box 8"/>
          <p:cNvSpPr txBox="1">
            <a:spLocks noChangeArrowheads="1"/>
          </p:cNvSpPr>
          <p:nvPr/>
        </p:nvSpPr>
        <p:spPr bwMode="auto">
          <a:xfrm>
            <a:off x="7980053" y="4125585"/>
            <a:ext cx="7921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MA3</a:t>
            </a:r>
            <a:endParaRPr lang="en-US" altLang="en-US"/>
          </a:p>
        </p:txBody>
      </p:sp>
      <p:sp>
        <p:nvSpPr>
          <p:cNvPr id="10" name="TextBox 9"/>
          <p:cNvSpPr txBox="1"/>
          <p:nvPr/>
        </p:nvSpPr>
        <p:spPr>
          <a:xfrm>
            <a:off x="5567127" y="1379765"/>
            <a:ext cx="792088" cy="369332"/>
          </a:xfrm>
          <a:prstGeom prst="rect">
            <a:avLst/>
          </a:prstGeom>
          <a:noFill/>
        </p:spPr>
        <p:txBody>
          <a:bodyPr wrap="square" rtlCol="0">
            <a:spAutoFit/>
          </a:bodyPr>
          <a:lstStyle/>
          <a:p>
            <a:r>
              <a:rPr lang="en-GB" i="1" dirty="0"/>
              <a:t>MA1</a:t>
            </a:r>
          </a:p>
        </p:txBody>
      </p:sp>
      <p:sp>
        <p:nvSpPr>
          <p:cNvPr id="11" name="TextBox 10"/>
          <p:cNvSpPr txBox="1"/>
          <p:nvPr/>
        </p:nvSpPr>
        <p:spPr>
          <a:xfrm>
            <a:off x="9275750" y="1341931"/>
            <a:ext cx="792088" cy="369332"/>
          </a:xfrm>
          <a:prstGeom prst="rect">
            <a:avLst/>
          </a:prstGeom>
          <a:noFill/>
        </p:spPr>
        <p:txBody>
          <a:bodyPr wrap="square" rtlCol="0">
            <a:spAutoFit/>
          </a:bodyPr>
          <a:lstStyle/>
          <a:p>
            <a:r>
              <a:rPr lang="en-GB" i="1" dirty="0"/>
              <a:t>MA1</a:t>
            </a:r>
          </a:p>
        </p:txBody>
      </p:sp>
      <p:sp>
        <p:nvSpPr>
          <p:cNvPr id="12" name="TextBox 11"/>
          <p:cNvSpPr txBox="1"/>
          <p:nvPr/>
        </p:nvSpPr>
        <p:spPr>
          <a:xfrm>
            <a:off x="5592006" y="6424284"/>
            <a:ext cx="792088" cy="369332"/>
          </a:xfrm>
          <a:prstGeom prst="rect">
            <a:avLst/>
          </a:prstGeom>
          <a:noFill/>
        </p:spPr>
        <p:txBody>
          <a:bodyPr wrap="square" rtlCol="0">
            <a:spAutoFit/>
          </a:bodyPr>
          <a:lstStyle/>
          <a:p>
            <a:r>
              <a:rPr lang="en-GB" i="1" dirty="0"/>
              <a:t>MA3</a:t>
            </a:r>
          </a:p>
        </p:txBody>
      </p:sp>
      <p:sp>
        <p:nvSpPr>
          <p:cNvPr id="13" name="TextBox 12"/>
          <p:cNvSpPr txBox="1"/>
          <p:nvPr/>
        </p:nvSpPr>
        <p:spPr>
          <a:xfrm>
            <a:off x="9491774" y="6424284"/>
            <a:ext cx="792088" cy="369332"/>
          </a:xfrm>
          <a:prstGeom prst="rect">
            <a:avLst/>
          </a:prstGeom>
          <a:noFill/>
        </p:spPr>
        <p:txBody>
          <a:bodyPr wrap="square" rtlCol="0">
            <a:spAutoFit/>
          </a:bodyPr>
          <a:lstStyle/>
          <a:p>
            <a:r>
              <a:rPr lang="en-GB" i="1" dirty="0"/>
              <a:t>MA3</a:t>
            </a:r>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65</a:t>
            </a:fld>
            <a:endParaRPr lang="tr-TR" altLang="en-US"/>
          </a:p>
        </p:txBody>
      </p:sp>
      <p:pic>
        <p:nvPicPr>
          <p:cNvPr id="14" name="Picture 13"/>
          <p:cNvPicPr>
            <a:picLocks noChangeAspect="1"/>
          </p:cNvPicPr>
          <p:nvPr/>
        </p:nvPicPr>
        <p:blipFill>
          <a:blip r:embed="rId4"/>
          <a:stretch>
            <a:fillRect/>
          </a:stretch>
        </p:blipFill>
        <p:spPr>
          <a:xfrm>
            <a:off x="7339548" y="295966"/>
            <a:ext cx="1792288" cy="947944"/>
          </a:xfrm>
          <a:prstGeom prst="rect">
            <a:avLst/>
          </a:prstGeom>
        </p:spPr>
      </p:pic>
      <p:sp>
        <p:nvSpPr>
          <p:cNvPr id="15" name="TextBox 14"/>
          <p:cNvSpPr txBox="1"/>
          <p:nvPr/>
        </p:nvSpPr>
        <p:spPr>
          <a:xfrm>
            <a:off x="7464152" y="404664"/>
            <a:ext cx="613048" cy="261610"/>
          </a:xfrm>
          <a:prstGeom prst="rect">
            <a:avLst/>
          </a:prstGeom>
          <a:noFill/>
        </p:spPr>
        <p:txBody>
          <a:bodyPr wrap="square" rtlCol="0">
            <a:spAutoFit/>
          </a:bodyPr>
          <a:lstStyle/>
          <a:p>
            <a:r>
              <a:rPr lang="en-GB" sz="1100" b="1" dirty="0"/>
              <a:t>F10</a:t>
            </a:r>
            <a:endParaRPr lang="en-GB" b="1" dirty="0"/>
          </a:p>
        </p:txBody>
      </p:sp>
      <p:pic>
        <p:nvPicPr>
          <p:cNvPr id="16" name="Picture 15"/>
          <p:cNvPicPr>
            <a:picLocks noChangeAspect="1"/>
          </p:cNvPicPr>
          <p:nvPr/>
        </p:nvPicPr>
        <p:blipFill>
          <a:blip r:embed="rId5"/>
          <a:stretch>
            <a:fillRect/>
          </a:stretch>
        </p:blipFill>
        <p:spPr>
          <a:xfrm>
            <a:off x="4529906" y="81709"/>
            <a:ext cx="2247794" cy="1376458"/>
          </a:xfrm>
          <a:prstGeom prst="rect">
            <a:avLst/>
          </a:prstGeom>
        </p:spPr>
      </p:pic>
      <p:sp>
        <p:nvSpPr>
          <p:cNvPr id="23" name="TextBox 22"/>
          <p:cNvSpPr txBox="1"/>
          <p:nvPr/>
        </p:nvSpPr>
        <p:spPr>
          <a:xfrm>
            <a:off x="6226478" y="508328"/>
            <a:ext cx="613048" cy="261610"/>
          </a:xfrm>
          <a:prstGeom prst="rect">
            <a:avLst/>
          </a:prstGeom>
          <a:noFill/>
        </p:spPr>
        <p:txBody>
          <a:bodyPr wrap="square" rtlCol="0">
            <a:spAutoFit/>
          </a:bodyPr>
          <a:lstStyle/>
          <a:p>
            <a:r>
              <a:rPr lang="en-GB" sz="1100" b="1" dirty="0"/>
              <a:t>F7</a:t>
            </a:r>
            <a:endParaRPr lang="en-GB" b="1" dirty="0"/>
          </a:p>
        </p:txBody>
      </p:sp>
      <p:sp>
        <p:nvSpPr>
          <p:cNvPr id="3" name="TextBox 2">
            <a:extLst>
              <a:ext uri="{FF2B5EF4-FFF2-40B4-BE49-F238E27FC236}">
                <a16:creationId xmlns:a16="http://schemas.microsoft.com/office/drawing/2014/main" id="{016A580C-04EE-3F97-8A6D-E11EBA4E5E29}"/>
              </a:ext>
            </a:extLst>
          </p:cNvPr>
          <p:cNvSpPr txBox="1"/>
          <p:nvPr/>
        </p:nvSpPr>
        <p:spPr>
          <a:xfrm>
            <a:off x="-380857" y="2635401"/>
            <a:ext cx="3122703" cy="2062103"/>
          </a:xfrm>
          <a:prstGeom prst="rect">
            <a:avLst/>
          </a:prstGeom>
          <a:noFill/>
        </p:spPr>
        <p:txBody>
          <a:bodyPr wrap="square">
            <a:spAutoFit/>
          </a:bodyPr>
          <a:lstStyle/>
          <a:p>
            <a:pPr lvl="1">
              <a:lnSpc>
                <a:spcPct val="80000"/>
              </a:lnSpc>
            </a:pPr>
            <a:r>
              <a:rPr lang="pl-PL" altLang="en-US" sz="1600" dirty="0"/>
              <a:t>GA: G</a:t>
            </a:r>
            <a:r>
              <a:rPr lang="en-GB" altLang="en-US" sz="1600" dirty="0" err="1"/>
              <a:t>enetic</a:t>
            </a:r>
            <a:r>
              <a:rPr lang="en-GB" altLang="en-US" sz="1600" dirty="0"/>
              <a:t> Algorithm </a:t>
            </a:r>
          </a:p>
          <a:p>
            <a:pPr lvl="1">
              <a:lnSpc>
                <a:spcPct val="80000"/>
              </a:lnSpc>
            </a:pPr>
            <a:r>
              <a:rPr lang="pl-PL" altLang="en-US" sz="1600" dirty="0"/>
              <a:t>MA0: MA with SDHC</a:t>
            </a:r>
          </a:p>
          <a:p>
            <a:pPr lvl="1">
              <a:lnSpc>
                <a:spcPct val="80000"/>
              </a:lnSpc>
            </a:pPr>
            <a:r>
              <a:rPr lang="pl-PL" altLang="en-US" sz="1600" dirty="0"/>
              <a:t>MA1: MA with NDHC</a:t>
            </a:r>
          </a:p>
          <a:p>
            <a:pPr lvl="1">
              <a:lnSpc>
                <a:spcPct val="80000"/>
              </a:lnSpc>
            </a:pPr>
            <a:r>
              <a:rPr lang="pl-PL" altLang="en-US" sz="1600" dirty="0"/>
              <a:t>MA2: MA with R</a:t>
            </a:r>
            <a:r>
              <a:rPr lang="en-GB" altLang="en-US" sz="1600" dirty="0"/>
              <a:t>M</a:t>
            </a:r>
            <a:r>
              <a:rPr lang="pl-PL" altLang="en-US" sz="1600" dirty="0"/>
              <a:t>HC</a:t>
            </a:r>
          </a:p>
          <a:p>
            <a:pPr lvl="1">
              <a:lnSpc>
                <a:spcPct val="80000"/>
              </a:lnSpc>
            </a:pPr>
            <a:r>
              <a:rPr lang="pl-PL" altLang="en-US" sz="1600" dirty="0"/>
              <a:t>MA3: MA with DBHC</a:t>
            </a:r>
            <a:endParaRPr lang="en-GB" altLang="en-US" sz="1600" dirty="0"/>
          </a:p>
          <a:p>
            <a:pPr lvl="1">
              <a:lnSpc>
                <a:spcPct val="80000"/>
              </a:lnSpc>
            </a:pPr>
            <a:r>
              <a:rPr lang="en-US" altLang="en-US" sz="1600" dirty="0"/>
              <a:t>Biased ones:</a:t>
            </a:r>
          </a:p>
          <a:p>
            <a:pPr lvl="1">
              <a:lnSpc>
                <a:spcPct val="80000"/>
              </a:lnSpc>
            </a:pPr>
            <a:r>
              <a:rPr lang="en-US" altLang="en-US" sz="1600" dirty="0"/>
              <a:t>MA4: SDHC - AND with 0</a:t>
            </a:r>
          </a:p>
          <a:p>
            <a:pPr lvl="1">
              <a:lnSpc>
                <a:spcPct val="80000"/>
              </a:lnSpc>
            </a:pPr>
            <a:r>
              <a:rPr lang="en-US" altLang="en-US" sz="1600" dirty="0"/>
              <a:t>MA5: SDHC - </a:t>
            </a:r>
            <a:r>
              <a:rPr lang="en-US" altLang="en-US" sz="1600" dirty="0">
                <a:sym typeface="Symbol" panose="05050102010706020507" pitchFamily="18" charset="2"/>
              </a:rPr>
              <a:t>OR with 1</a:t>
            </a:r>
          </a:p>
          <a:p>
            <a:pPr lvl="1">
              <a:lnSpc>
                <a:spcPct val="80000"/>
              </a:lnSpc>
            </a:pPr>
            <a:r>
              <a:rPr lang="en-US" altLang="en-US" sz="1600" dirty="0"/>
              <a:t>MA6: NDHC -</a:t>
            </a:r>
            <a:r>
              <a:rPr lang="en-US" altLang="en-US" sz="1600" dirty="0">
                <a:sym typeface="Symbol" panose="05050102010706020507" pitchFamily="18" charset="2"/>
              </a:rPr>
              <a:t>AND with 0</a:t>
            </a:r>
            <a:endParaRPr lang="en-US" altLang="en-US" sz="1600" dirty="0"/>
          </a:p>
          <a:p>
            <a:pPr lvl="1">
              <a:lnSpc>
                <a:spcPct val="80000"/>
              </a:lnSpc>
            </a:pPr>
            <a:r>
              <a:rPr lang="en-US" altLang="en-US" sz="1600" dirty="0">
                <a:sym typeface="Symbol" panose="05050102010706020507" pitchFamily="18" charset="2"/>
              </a:rPr>
              <a:t>MA7: </a:t>
            </a:r>
            <a:r>
              <a:rPr lang="en-US" altLang="en-US" sz="1600" dirty="0"/>
              <a:t>NDHC - </a:t>
            </a:r>
            <a:r>
              <a:rPr lang="en-US" altLang="en-US" sz="1600" dirty="0">
                <a:sym typeface="Symbol" panose="05050102010706020507" pitchFamily="18" charset="2"/>
              </a:rPr>
              <a:t>OR with 1</a:t>
            </a:r>
            <a:r>
              <a:rPr lang="tr-TR" altLang="en-US" sz="1600" dirty="0"/>
              <a:t> </a:t>
            </a:r>
            <a:endParaRPr lang="en-US" altLang="en-US" sz="1600" dirty="0"/>
          </a:p>
        </p:txBody>
      </p:sp>
    </p:spTree>
    <p:extLst>
      <p:ext uri="{BB962C8B-B14F-4D97-AF65-F5344CB8AC3E}">
        <p14:creationId xmlns:p14="http://schemas.microsoft.com/office/powerpoint/2010/main" val="24729586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normAutofit fontScale="90000"/>
          </a:bodyPr>
          <a:lstStyle/>
          <a:p>
            <a:r>
              <a:rPr lang="tr-TR" altLang="en-US" dirty="0"/>
              <a:t>MMA 2</a:t>
            </a:r>
            <a:r>
              <a:rPr lang="en-GB" altLang="en-US" dirty="0"/>
              <a:t>.</a:t>
            </a:r>
            <a:r>
              <a:rPr lang="tr-TR" altLang="en-US" dirty="0"/>
              <a:t>c</a:t>
            </a:r>
            <a:br>
              <a:rPr lang="en-GB" altLang="en-US" dirty="0"/>
            </a:br>
            <a:endParaRPr lang="en-US" altLang="en-US" dirty="0"/>
          </a:p>
        </p:txBody>
      </p:sp>
      <p:pic>
        <p:nvPicPr>
          <p:cNvPr id="9421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75272" y="1762088"/>
            <a:ext cx="7056437" cy="2346325"/>
          </a:xfrm>
          <a:prstGeom prst="rect">
            <a:avLst/>
          </a:prstGeom>
          <a:noFill/>
          <a:extLst>
            <a:ext uri="{909E8E84-426E-40DD-AFC4-6F175D3DCCD1}">
              <a14:hiddenFill xmlns:a14="http://schemas.microsoft.com/office/drawing/2010/main">
                <a:solidFill>
                  <a:srgbClr val="FFFFFF"/>
                </a:solidFill>
              </a14:hiddenFill>
            </a:ext>
          </a:extLst>
        </p:spPr>
      </p:pic>
      <p:sp>
        <p:nvSpPr>
          <p:cNvPr id="94213" name="Text Box 5"/>
          <p:cNvSpPr txBox="1">
            <a:spLocks noChangeArrowheads="1"/>
          </p:cNvSpPr>
          <p:nvPr/>
        </p:nvSpPr>
        <p:spPr bwMode="auto">
          <a:xfrm>
            <a:off x="6847159" y="1833525"/>
            <a:ext cx="7921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MA0</a:t>
            </a:r>
            <a:endParaRPr lang="en-US" altLang="en-US"/>
          </a:p>
        </p:txBody>
      </p:sp>
      <p:sp>
        <p:nvSpPr>
          <p:cNvPr id="94214" name="Text Box 6"/>
          <p:cNvSpPr txBox="1">
            <a:spLocks noChangeArrowheads="1"/>
          </p:cNvSpPr>
          <p:nvPr/>
        </p:nvSpPr>
        <p:spPr bwMode="auto">
          <a:xfrm>
            <a:off x="3246709" y="1833525"/>
            <a:ext cx="7921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tr-TR" altLang="en-US"/>
              <a:t>MA0</a:t>
            </a:r>
            <a:endParaRPr lang="en-US" altLang="en-US"/>
          </a:p>
        </p:txBody>
      </p:sp>
      <p:sp>
        <p:nvSpPr>
          <p:cNvPr id="6" name="TextBox 5"/>
          <p:cNvSpPr txBox="1"/>
          <p:nvPr/>
        </p:nvSpPr>
        <p:spPr>
          <a:xfrm>
            <a:off x="4362795" y="1176855"/>
            <a:ext cx="792088" cy="369332"/>
          </a:xfrm>
          <a:prstGeom prst="rect">
            <a:avLst/>
          </a:prstGeom>
          <a:noFill/>
        </p:spPr>
        <p:txBody>
          <a:bodyPr wrap="square" rtlCol="0">
            <a:spAutoFit/>
          </a:bodyPr>
          <a:lstStyle/>
          <a:p>
            <a:r>
              <a:rPr lang="en-GB" i="1" dirty="0"/>
              <a:t>MA0</a:t>
            </a:r>
          </a:p>
        </p:txBody>
      </p:sp>
      <p:sp>
        <p:nvSpPr>
          <p:cNvPr id="7" name="TextBox 6"/>
          <p:cNvSpPr txBox="1"/>
          <p:nvPr/>
        </p:nvSpPr>
        <p:spPr>
          <a:xfrm>
            <a:off x="8071418" y="1139021"/>
            <a:ext cx="792088" cy="369332"/>
          </a:xfrm>
          <a:prstGeom prst="rect">
            <a:avLst/>
          </a:prstGeom>
          <a:noFill/>
        </p:spPr>
        <p:txBody>
          <a:bodyPr wrap="square" rtlCol="0">
            <a:spAutoFit/>
          </a:bodyPr>
          <a:lstStyle/>
          <a:p>
            <a:r>
              <a:rPr lang="en-GB" i="1" dirty="0"/>
              <a:t>MA0</a:t>
            </a:r>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66</a:t>
            </a:fld>
            <a:endParaRPr lang="tr-TR" altLang="en-US"/>
          </a:p>
        </p:txBody>
      </p:sp>
      <p:sp>
        <p:nvSpPr>
          <p:cNvPr id="3" name="TextBox 2">
            <a:extLst>
              <a:ext uri="{FF2B5EF4-FFF2-40B4-BE49-F238E27FC236}">
                <a16:creationId xmlns:a16="http://schemas.microsoft.com/office/drawing/2014/main" id="{24403B52-1DE4-BB24-74CD-2189801A77C6}"/>
              </a:ext>
            </a:extLst>
          </p:cNvPr>
          <p:cNvSpPr txBox="1"/>
          <p:nvPr/>
        </p:nvSpPr>
        <p:spPr>
          <a:xfrm>
            <a:off x="-380857" y="2635401"/>
            <a:ext cx="3122703" cy="2062103"/>
          </a:xfrm>
          <a:prstGeom prst="rect">
            <a:avLst/>
          </a:prstGeom>
          <a:noFill/>
        </p:spPr>
        <p:txBody>
          <a:bodyPr wrap="square">
            <a:spAutoFit/>
          </a:bodyPr>
          <a:lstStyle/>
          <a:p>
            <a:pPr lvl="1">
              <a:lnSpc>
                <a:spcPct val="80000"/>
              </a:lnSpc>
            </a:pPr>
            <a:r>
              <a:rPr lang="pl-PL" altLang="en-US" sz="1600" dirty="0"/>
              <a:t>GA: G</a:t>
            </a:r>
            <a:r>
              <a:rPr lang="en-GB" altLang="en-US" sz="1600" dirty="0" err="1"/>
              <a:t>enetic</a:t>
            </a:r>
            <a:r>
              <a:rPr lang="en-GB" altLang="en-US" sz="1600" dirty="0"/>
              <a:t> Algorithm </a:t>
            </a:r>
          </a:p>
          <a:p>
            <a:pPr lvl="1">
              <a:lnSpc>
                <a:spcPct val="80000"/>
              </a:lnSpc>
            </a:pPr>
            <a:r>
              <a:rPr lang="pl-PL" altLang="en-US" sz="1600" dirty="0"/>
              <a:t>MA0: MA with SDHC</a:t>
            </a:r>
          </a:p>
          <a:p>
            <a:pPr lvl="1">
              <a:lnSpc>
                <a:spcPct val="80000"/>
              </a:lnSpc>
            </a:pPr>
            <a:r>
              <a:rPr lang="pl-PL" altLang="en-US" sz="1600" dirty="0"/>
              <a:t>MA1: MA with NDHC</a:t>
            </a:r>
          </a:p>
          <a:p>
            <a:pPr lvl="1">
              <a:lnSpc>
                <a:spcPct val="80000"/>
              </a:lnSpc>
            </a:pPr>
            <a:r>
              <a:rPr lang="pl-PL" altLang="en-US" sz="1600" dirty="0"/>
              <a:t>MA2: MA with R</a:t>
            </a:r>
            <a:r>
              <a:rPr lang="en-GB" altLang="en-US" sz="1600" dirty="0"/>
              <a:t>M</a:t>
            </a:r>
            <a:r>
              <a:rPr lang="pl-PL" altLang="en-US" sz="1600" dirty="0"/>
              <a:t>HC</a:t>
            </a:r>
          </a:p>
          <a:p>
            <a:pPr lvl="1">
              <a:lnSpc>
                <a:spcPct val="80000"/>
              </a:lnSpc>
            </a:pPr>
            <a:r>
              <a:rPr lang="pl-PL" altLang="en-US" sz="1600" dirty="0"/>
              <a:t>MA3: MA with DBHC</a:t>
            </a:r>
            <a:endParaRPr lang="en-GB" altLang="en-US" sz="1600" dirty="0"/>
          </a:p>
          <a:p>
            <a:pPr lvl="1">
              <a:lnSpc>
                <a:spcPct val="80000"/>
              </a:lnSpc>
            </a:pPr>
            <a:r>
              <a:rPr lang="en-US" altLang="en-US" sz="1600" dirty="0"/>
              <a:t>Biased ones:</a:t>
            </a:r>
          </a:p>
          <a:p>
            <a:pPr lvl="1">
              <a:lnSpc>
                <a:spcPct val="80000"/>
              </a:lnSpc>
            </a:pPr>
            <a:r>
              <a:rPr lang="en-US" altLang="en-US" sz="1600" dirty="0"/>
              <a:t>MA4: SDHC - AND with 0</a:t>
            </a:r>
          </a:p>
          <a:p>
            <a:pPr lvl="1">
              <a:lnSpc>
                <a:spcPct val="80000"/>
              </a:lnSpc>
            </a:pPr>
            <a:r>
              <a:rPr lang="en-US" altLang="en-US" sz="1600" dirty="0"/>
              <a:t>MA5: SDHC - </a:t>
            </a:r>
            <a:r>
              <a:rPr lang="en-US" altLang="en-US" sz="1600" dirty="0">
                <a:sym typeface="Symbol" panose="05050102010706020507" pitchFamily="18" charset="2"/>
              </a:rPr>
              <a:t>OR with 1</a:t>
            </a:r>
          </a:p>
          <a:p>
            <a:pPr lvl="1">
              <a:lnSpc>
                <a:spcPct val="80000"/>
              </a:lnSpc>
            </a:pPr>
            <a:r>
              <a:rPr lang="en-US" altLang="en-US" sz="1600" dirty="0"/>
              <a:t>MA6: NDHC -</a:t>
            </a:r>
            <a:r>
              <a:rPr lang="en-US" altLang="en-US" sz="1600" dirty="0">
                <a:sym typeface="Symbol" panose="05050102010706020507" pitchFamily="18" charset="2"/>
              </a:rPr>
              <a:t>AND with 0</a:t>
            </a:r>
            <a:endParaRPr lang="en-US" altLang="en-US" sz="1600" dirty="0"/>
          </a:p>
          <a:p>
            <a:pPr lvl="1">
              <a:lnSpc>
                <a:spcPct val="80000"/>
              </a:lnSpc>
            </a:pPr>
            <a:r>
              <a:rPr lang="en-US" altLang="en-US" sz="1600" dirty="0">
                <a:sym typeface="Symbol" panose="05050102010706020507" pitchFamily="18" charset="2"/>
              </a:rPr>
              <a:t>MA7: </a:t>
            </a:r>
            <a:r>
              <a:rPr lang="en-US" altLang="en-US" sz="1600" dirty="0"/>
              <a:t>NDHC - </a:t>
            </a:r>
            <a:r>
              <a:rPr lang="en-US" altLang="en-US" sz="1600" dirty="0">
                <a:sym typeface="Symbol" panose="05050102010706020507" pitchFamily="18" charset="2"/>
              </a:rPr>
              <a:t>OR with 1</a:t>
            </a:r>
            <a:r>
              <a:rPr lang="tr-TR" altLang="en-US" sz="1600" dirty="0"/>
              <a:t> </a:t>
            </a:r>
            <a:endParaRPr lang="en-US" altLang="en-US" sz="1600" dirty="0"/>
          </a:p>
        </p:txBody>
      </p:sp>
    </p:spTree>
    <p:extLst>
      <p:ext uri="{BB962C8B-B14F-4D97-AF65-F5344CB8AC3E}">
        <p14:creationId xmlns:p14="http://schemas.microsoft.com/office/powerpoint/2010/main" val="29248001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tr-TR" altLang="en-US" dirty="0"/>
              <a:t>Results</a:t>
            </a:r>
            <a:endParaRPr lang="en-US" altLang="en-US" dirty="0"/>
          </a:p>
        </p:txBody>
      </p:sp>
      <p:sp>
        <p:nvSpPr>
          <p:cNvPr id="95235" name="Rectangle 3"/>
          <p:cNvSpPr>
            <a:spLocks noGrp="1" noChangeArrowheads="1"/>
          </p:cNvSpPr>
          <p:nvPr>
            <p:ph idx="1"/>
          </p:nvPr>
        </p:nvSpPr>
        <p:spPr>
          <a:xfrm>
            <a:off x="258182" y="1838402"/>
            <a:ext cx="11341099" cy="3603393"/>
          </a:xfrm>
        </p:spPr>
        <p:txBody>
          <a:bodyPr/>
          <a:lstStyle/>
          <a:p>
            <a:r>
              <a:rPr lang="en-US" altLang="en-US" dirty="0"/>
              <a:t>Average evolutionary activity plots show that the </a:t>
            </a:r>
            <a:r>
              <a:rPr lang="en-US" altLang="en-US" dirty="0" err="1"/>
              <a:t>multimeme</a:t>
            </a:r>
            <a:r>
              <a:rPr lang="en-US" altLang="en-US" dirty="0"/>
              <a:t> approach successfully identifies useful memes. </a:t>
            </a:r>
          </a:p>
          <a:p>
            <a:pPr lvl="1"/>
            <a:r>
              <a:rPr lang="en-US" altLang="en-US" sz="2400" dirty="0"/>
              <a:t>Even if there are useless operators in the system</a:t>
            </a:r>
          </a:p>
          <a:p>
            <a:pPr lvl="1"/>
            <a:endParaRPr lang="tr-TR" altLang="en-US" sz="2400" dirty="0"/>
          </a:p>
          <a:p>
            <a:r>
              <a:rPr lang="en-US" altLang="en-US" dirty="0"/>
              <a:t>Any hill climber seems to attain the optimum fast for F1, F3 and F11 under any setting</a:t>
            </a:r>
          </a:p>
          <a:p>
            <a:endParaRPr lang="en-US" altLang="en-US" dirty="0"/>
          </a:p>
          <a:p>
            <a:r>
              <a:rPr lang="tr-TR" altLang="en-US" dirty="0"/>
              <a:t>I</a:t>
            </a:r>
            <a:r>
              <a:rPr lang="en-US" altLang="en-US" dirty="0"/>
              <a:t>n all runs full success is achieved for all cases. </a:t>
            </a:r>
            <a:endParaRPr lang="tr-TR" altLang="en-US" dirty="0"/>
          </a:p>
          <a:p>
            <a:endParaRPr lang="en-US" altLang="en-US" dirty="0"/>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67</a:t>
            </a:fld>
            <a:endParaRPr lang="tr-TR" altLang="en-US"/>
          </a:p>
        </p:txBody>
      </p:sp>
    </p:spTree>
    <p:extLst>
      <p:ext uri="{BB962C8B-B14F-4D97-AF65-F5344CB8AC3E}">
        <p14:creationId xmlns:p14="http://schemas.microsoft.com/office/powerpoint/2010/main" val="29926482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tr-TR" altLang="en-US" dirty="0"/>
              <a:t>Results </a:t>
            </a:r>
            <a:r>
              <a:rPr lang="en-US" altLang="en-US" dirty="0"/>
              <a:t>II</a:t>
            </a:r>
          </a:p>
        </p:txBody>
      </p:sp>
      <p:sp>
        <p:nvSpPr>
          <p:cNvPr id="96259" name="Rectangle 3"/>
          <p:cNvSpPr>
            <a:spLocks noGrp="1" noChangeArrowheads="1"/>
          </p:cNvSpPr>
          <p:nvPr>
            <p:ph idx="1"/>
          </p:nvPr>
        </p:nvSpPr>
        <p:spPr>
          <a:xfrm>
            <a:off x="425450" y="1894159"/>
            <a:ext cx="11341099" cy="4860925"/>
          </a:xfrm>
        </p:spPr>
        <p:txBody>
          <a:bodyPr/>
          <a:lstStyle/>
          <a:p>
            <a:pPr>
              <a:lnSpc>
                <a:spcPct val="80000"/>
              </a:lnSpc>
            </a:pPr>
            <a:r>
              <a:rPr lang="en-US" altLang="en-US" sz="2800" dirty="0"/>
              <a:t>MMA can identify the best meme or a meme that does not perform significantly better than the best meme for almost each benchmark function</a:t>
            </a:r>
          </a:p>
          <a:p>
            <a:pPr>
              <a:lnSpc>
                <a:spcPct val="80000"/>
              </a:lnSpc>
            </a:pPr>
            <a:endParaRPr lang="en-US" altLang="en-US" sz="2800" dirty="0"/>
          </a:p>
          <a:p>
            <a:pPr>
              <a:lnSpc>
                <a:spcPct val="80000"/>
              </a:lnSpc>
            </a:pPr>
            <a:r>
              <a:rPr lang="en-US" altLang="en-US" sz="2800" dirty="0"/>
              <a:t>Comparing the experimental results obtained using MMA and MA with the best meme for each benchmark function indicate that MA with the best meme is superior based on the average number of evaluations, except for F1, F3, F9 and F11</a:t>
            </a:r>
          </a:p>
          <a:p>
            <a:pPr lvl="1">
              <a:lnSpc>
                <a:spcPct val="80000"/>
              </a:lnSpc>
            </a:pPr>
            <a:r>
              <a:rPr lang="en-US" altLang="en-US" sz="2400" dirty="0"/>
              <a:t>Learning is time consuming hence there is a trade-off</a:t>
            </a:r>
            <a:endParaRPr lang="tr-TR" altLang="en-US" sz="2400" dirty="0"/>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68</a:t>
            </a:fld>
            <a:endParaRPr lang="tr-TR" altLang="en-US"/>
          </a:p>
        </p:txBody>
      </p:sp>
    </p:spTree>
    <p:extLst>
      <p:ext uri="{BB962C8B-B14F-4D97-AF65-F5344CB8AC3E}">
        <p14:creationId xmlns:p14="http://schemas.microsoft.com/office/powerpoint/2010/main" val="13070586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3D53D-0567-A2A7-0E37-097AC476401F}"/>
            </a:ext>
          </a:extLst>
        </p:cNvPr>
        <p:cNvGrpSpPr/>
        <p:nvPr/>
      </p:nvGrpSpPr>
      <p:grpSpPr>
        <a:xfrm>
          <a:off x="0" y="0"/>
          <a:ext cx="0" cy="0"/>
          <a:chOff x="0" y="0"/>
          <a:chExt cx="0" cy="0"/>
        </a:xfrm>
      </p:grpSpPr>
      <p:pic>
        <p:nvPicPr>
          <p:cNvPr id="4" name="Picture 3" descr="Picture shows a mixed group of graduates joyfully throwing their mortar boards into the air in front of the Trent Building. &#10;&#10;">
            <a:extLst>
              <a:ext uri="{FF2B5EF4-FFF2-40B4-BE49-F238E27FC236}">
                <a16:creationId xmlns:a16="http://schemas.microsoft.com/office/drawing/2014/main" id="{7B60B2EB-088D-F7A8-5C8E-C393F72D8C04}"/>
              </a:ext>
            </a:extLst>
          </p:cNvPr>
          <p:cNvPicPr>
            <a:picLocks noGrp="1" noRo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a:ext>
            </a:extLst>
          </a:blip>
          <a:srcRect/>
          <a:stretch/>
        </p:blipFill>
        <p:spPr>
          <a:xfrm>
            <a:off x="8096841" y="-7948"/>
            <a:ext cx="4103096" cy="6865948"/>
          </a:xfrm>
          <a:prstGeom prst="rect">
            <a:avLst/>
          </a:prstGeom>
        </p:spPr>
      </p:pic>
      <p:sp>
        <p:nvSpPr>
          <p:cNvPr id="3" name="TextBox">
            <a:extLst>
              <a:ext uri="{FF2B5EF4-FFF2-40B4-BE49-F238E27FC236}">
                <a16:creationId xmlns:a16="http://schemas.microsoft.com/office/drawing/2014/main" id="{9CC910F2-F51F-1EB0-B7EF-E22CA4769948}"/>
              </a:ext>
            </a:extLst>
          </p:cNvPr>
          <p:cNvSpPr txBox="1">
            <a:spLocks noGrp="1" noRot="1" noMove="1" noResize="1" noEditPoints="1" noAdjustHandles="1" noChangeArrowheads="1" noChangeShapeType="1"/>
          </p:cNvSpPr>
          <p:nvPr/>
        </p:nvSpPr>
        <p:spPr>
          <a:xfrm>
            <a:off x="885668" y="851291"/>
            <a:ext cx="6418983" cy="961802"/>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base"/>
            <a:br>
              <a:rPr lang="en-GB" b="0" i="0" u="none" strike="noStrike" noProof="0" dirty="0">
                <a:solidFill>
                  <a:schemeClr val="bg1"/>
                </a:solidFill>
                <a:effectLst/>
              </a:rPr>
            </a:br>
            <a:endParaRPr lang="en-GB" noProof="0" dirty="0">
              <a:solidFill>
                <a:schemeClr val="bg1"/>
              </a:solidFill>
              <a:cs typeface="Arial"/>
            </a:endParaRPr>
          </a:p>
          <a:p>
            <a:pPr marL="342900" indent="-342900">
              <a:spcBef>
                <a:spcPts val="300"/>
              </a:spcBef>
              <a:spcAft>
                <a:spcPts val="300"/>
              </a:spcAft>
              <a:buFont typeface="Wingdings" pitchFamily="2" charset="2"/>
              <a:buChar char="§"/>
            </a:pPr>
            <a:endParaRPr lang="en-GB" noProof="0" dirty="0">
              <a:solidFill>
                <a:schemeClr val="bg1"/>
              </a:solidFill>
              <a:cs typeface="Arial"/>
            </a:endParaRPr>
          </a:p>
        </p:txBody>
      </p:sp>
      <p:sp>
        <p:nvSpPr>
          <p:cNvPr id="5" name="TextBox 4">
            <a:extLst>
              <a:ext uri="{FF2B5EF4-FFF2-40B4-BE49-F238E27FC236}">
                <a16:creationId xmlns:a16="http://schemas.microsoft.com/office/drawing/2014/main" id="{9AA1934E-B70C-AD33-C7D6-C0C22206414C}"/>
              </a:ext>
            </a:extLst>
          </p:cNvPr>
          <p:cNvSpPr txBox="1"/>
          <p:nvPr/>
        </p:nvSpPr>
        <p:spPr>
          <a:xfrm>
            <a:off x="538068" y="2760452"/>
            <a:ext cx="5557932" cy="830997"/>
          </a:xfrm>
          <a:prstGeom prst="rect">
            <a:avLst/>
          </a:prstGeom>
          <a:noFill/>
        </p:spPr>
        <p:txBody>
          <a:bodyPr wrap="none" rtlCol="0">
            <a:spAutoFit/>
          </a:bodyPr>
          <a:lstStyle/>
          <a:p>
            <a:r>
              <a:rPr lang="en-GB" sz="4800" dirty="0">
                <a:solidFill>
                  <a:srgbClr val="FFFFFF"/>
                </a:solidFill>
              </a:rPr>
              <a:t>Overall Summary…</a:t>
            </a:r>
          </a:p>
        </p:txBody>
      </p:sp>
    </p:spTree>
    <p:extLst>
      <p:ext uri="{BB962C8B-B14F-4D97-AF65-F5344CB8AC3E}">
        <p14:creationId xmlns:p14="http://schemas.microsoft.com/office/powerpoint/2010/main" val="6079075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fontScale="90000"/>
          </a:bodyPr>
          <a:lstStyle/>
          <a:p>
            <a:r>
              <a:rPr lang="en-US" altLang="en-US" dirty="0"/>
              <a:t>Weaknesses of Evolutionary Algorithms</a:t>
            </a:r>
            <a:endParaRPr lang="tr-TR" altLang="en-US" dirty="0"/>
          </a:p>
        </p:txBody>
      </p:sp>
      <p:sp>
        <p:nvSpPr>
          <p:cNvPr id="197635" name="Rectangle 3"/>
          <p:cNvSpPr>
            <a:spLocks noGrp="1" noChangeArrowheads="1"/>
          </p:cNvSpPr>
          <p:nvPr>
            <p:ph idx="1"/>
          </p:nvPr>
        </p:nvSpPr>
        <p:spPr/>
        <p:txBody>
          <a:bodyPr/>
          <a:lstStyle/>
          <a:p>
            <a:r>
              <a:rPr lang="en-AU" altLang="en-US" sz="2400" dirty="0"/>
              <a:t>Limited theoretical and mathematical analyses – this is a growing field of study</a:t>
            </a:r>
          </a:p>
          <a:p>
            <a:pPr lvl="1"/>
            <a:r>
              <a:rPr lang="en-AU" altLang="en-US" sz="2000" dirty="0"/>
              <a:t>Schema theorem and building block hypothesis</a:t>
            </a:r>
          </a:p>
          <a:p>
            <a:pPr lvl="1"/>
            <a:r>
              <a:rPr lang="en-AU" altLang="en-US" sz="2000" dirty="0"/>
              <a:t>Markov chain analysis</a:t>
            </a:r>
          </a:p>
          <a:p>
            <a:pPr lvl="1"/>
            <a:r>
              <a:rPr lang="en-AU" altLang="en-US" sz="2000" dirty="0"/>
              <a:t>Chaos theory</a:t>
            </a:r>
          </a:p>
          <a:p>
            <a:pPr lvl="1"/>
            <a:r>
              <a:rPr lang="en-AU" altLang="en-US" sz="2000" dirty="0"/>
              <a:t>Martingale theory (for convergence analysis)</a:t>
            </a:r>
          </a:p>
          <a:p>
            <a:pPr lvl="1"/>
            <a:r>
              <a:rPr lang="en-AU" altLang="en-US" sz="2000" dirty="0"/>
              <a:t>Runtime analysis with respect various parameter settings (e.g., expected runtime analysis based on fitness levels/partitions, drift analysis)</a:t>
            </a:r>
          </a:p>
          <a:p>
            <a:pPr marL="258365" lvl="1" indent="0">
              <a:buNone/>
            </a:pPr>
            <a:r>
              <a:rPr lang="en-AU" sz="1800" dirty="0"/>
              <a:t>     </a:t>
            </a:r>
            <a:r>
              <a:rPr lang="it-IT" sz="1400" dirty="0"/>
              <a:t>Per Kristian Lehre and Pietro S. Oliveto, GECCO 2021, </a:t>
            </a:r>
            <a:r>
              <a:rPr lang="en-GB" sz="1400" dirty="0">
                <a:hlinkClick r:id="rId3"/>
              </a:rPr>
              <a:t>Runtime Analysis of Evolutionary Algorithms: Basic Introduction</a:t>
            </a:r>
            <a:endParaRPr lang="en-AU" altLang="en-US" sz="1800" dirty="0"/>
          </a:p>
          <a:p>
            <a:r>
              <a:rPr lang="en-AU" altLang="en-US" sz="2400" dirty="0"/>
              <a:t>Considered slow for online applications and for some large offline problems</a:t>
            </a:r>
          </a:p>
          <a:p>
            <a:pPr lvl="1"/>
            <a:r>
              <a:rPr lang="en-AU" altLang="en-US" sz="2000" dirty="0"/>
              <a:t>Speedy hardware </a:t>
            </a:r>
          </a:p>
          <a:p>
            <a:pPr lvl="1"/>
            <a:r>
              <a:rPr lang="en-AU" altLang="en-US" sz="2000" dirty="0"/>
              <a:t>Parallel/distributed processing</a:t>
            </a:r>
            <a:endParaRPr lang="tr-TR" altLang="en-US" sz="2000" dirty="0"/>
          </a:p>
        </p:txBody>
      </p:sp>
      <p:sp>
        <p:nvSpPr>
          <p:cNvPr id="2" name="Slide Number Placeholder 1"/>
          <p:cNvSpPr>
            <a:spLocks noGrp="1"/>
          </p:cNvSpPr>
          <p:nvPr>
            <p:ph type="sldNum" sz="quarter" idx="12"/>
          </p:nvPr>
        </p:nvSpPr>
        <p:spPr/>
        <p:txBody>
          <a:bodyPr/>
          <a:lstStyle/>
          <a:p>
            <a:fld id="{BB72550B-508B-4D61-A817-90B00A29C4EF}" type="slidenum">
              <a:rPr lang="tr-TR" altLang="en-US" smtClean="0"/>
              <a:pPr/>
              <a:t>70</a:t>
            </a:fld>
            <a:endParaRPr lang="tr-TR" altLang="en-US"/>
          </a:p>
        </p:txBody>
      </p:sp>
    </p:spTree>
    <p:custDataLst>
      <p:tags r:id="rId1"/>
    </p:custDataLst>
    <p:extLst>
      <p:ext uri="{BB962C8B-B14F-4D97-AF65-F5344CB8AC3E}">
        <p14:creationId xmlns:p14="http://schemas.microsoft.com/office/powerpoint/2010/main" val="842569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7635">
                                            <p:txEl>
                                              <p:pRg st="0" end="0"/>
                                            </p:txEl>
                                          </p:spTgt>
                                        </p:tgtEl>
                                        <p:attrNameLst>
                                          <p:attrName>style.visibility</p:attrName>
                                        </p:attrNameLst>
                                      </p:cBhvr>
                                      <p:to>
                                        <p:strVal val="visible"/>
                                      </p:to>
                                    </p:set>
                                    <p:anim calcmode="lin" valueType="num">
                                      <p:cBhvr>
                                        <p:cTn id="7" dur="500" fill="hold"/>
                                        <p:tgtEl>
                                          <p:spTgt spid="19763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9763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97635">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97635">
                                            <p:txEl>
                                              <p:pRg st="1" end="1"/>
                                            </p:txEl>
                                          </p:spTgt>
                                        </p:tgtEl>
                                        <p:attrNameLst>
                                          <p:attrName>style.visibility</p:attrName>
                                        </p:attrNameLst>
                                      </p:cBhvr>
                                      <p:to>
                                        <p:strVal val="visible"/>
                                      </p:to>
                                    </p:set>
                                    <p:anim calcmode="lin" valueType="num">
                                      <p:cBhvr>
                                        <p:cTn id="12" dur="500" fill="hold"/>
                                        <p:tgtEl>
                                          <p:spTgt spid="197635">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197635">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197635">
                                            <p:txEl>
                                              <p:pRg st="1" end="1"/>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197635">
                                            <p:txEl>
                                              <p:pRg st="2" end="2"/>
                                            </p:txEl>
                                          </p:spTgt>
                                        </p:tgtEl>
                                        <p:attrNameLst>
                                          <p:attrName>style.visibility</p:attrName>
                                        </p:attrNameLst>
                                      </p:cBhvr>
                                      <p:to>
                                        <p:strVal val="visible"/>
                                      </p:to>
                                    </p:set>
                                    <p:anim calcmode="lin" valueType="num">
                                      <p:cBhvr>
                                        <p:cTn id="17" dur="500" fill="hold"/>
                                        <p:tgtEl>
                                          <p:spTgt spid="197635">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197635">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197635">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197635">
                                            <p:txEl>
                                              <p:pRg st="3" end="3"/>
                                            </p:txEl>
                                          </p:spTgt>
                                        </p:tgtEl>
                                        <p:attrNameLst>
                                          <p:attrName>style.visibility</p:attrName>
                                        </p:attrNameLst>
                                      </p:cBhvr>
                                      <p:to>
                                        <p:strVal val="visible"/>
                                      </p:to>
                                    </p:set>
                                    <p:anim calcmode="lin" valueType="num">
                                      <p:cBhvr>
                                        <p:cTn id="22" dur="500" fill="hold"/>
                                        <p:tgtEl>
                                          <p:spTgt spid="197635">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197635">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197635">
                                            <p:txEl>
                                              <p:pRg st="3" end="3"/>
                                            </p:txEl>
                                          </p:spTgt>
                                        </p:tgtEl>
                                      </p:cBhvr>
                                    </p:animEffect>
                                  </p:childTnLst>
                                </p:cTn>
                              </p:par>
                              <p:par>
                                <p:cTn id="25" presetID="53" presetClass="entr" presetSubtype="16" fill="hold" nodeType="withEffect">
                                  <p:stCondLst>
                                    <p:cond delay="0"/>
                                  </p:stCondLst>
                                  <p:childTnLst>
                                    <p:set>
                                      <p:cBhvr>
                                        <p:cTn id="26" dur="1" fill="hold">
                                          <p:stCondLst>
                                            <p:cond delay="0"/>
                                          </p:stCondLst>
                                        </p:cTn>
                                        <p:tgtEl>
                                          <p:spTgt spid="197635">
                                            <p:txEl>
                                              <p:pRg st="4" end="4"/>
                                            </p:txEl>
                                          </p:spTgt>
                                        </p:tgtEl>
                                        <p:attrNameLst>
                                          <p:attrName>style.visibility</p:attrName>
                                        </p:attrNameLst>
                                      </p:cBhvr>
                                      <p:to>
                                        <p:strVal val="visible"/>
                                      </p:to>
                                    </p:set>
                                    <p:anim calcmode="lin" valueType="num">
                                      <p:cBhvr>
                                        <p:cTn id="27" dur="500" fill="hold"/>
                                        <p:tgtEl>
                                          <p:spTgt spid="197635">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197635">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197635">
                                            <p:txEl>
                                              <p:pRg st="4" end="4"/>
                                            </p:txEl>
                                          </p:spTgt>
                                        </p:tgtEl>
                                      </p:cBhvr>
                                    </p:animEffect>
                                  </p:childTnLst>
                                </p:cTn>
                              </p:par>
                              <p:par>
                                <p:cTn id="30" presetID="53" presetClass="entr" presetSubtype="16" fill="hold" nodeType="withEffect">
                                  <p:stCondLst>
                                    <p:cond delay="0"/>
                                  </p:stCondLst>
                                  <p:childTnLst>
                                    <p:set>
                                      <p:cBhvr>
                                        <p:cTn id="31" dur="1" fill="hold">
                                          <p:stCondLst>
                                            <p:cond delay="0"/>
                                          </p:stCondLst>
                                        </p:cTn>
                                        <p:tgtEl>
                                          <p:spTgt spid="197635">
                                            <p:txEl>
                                              <p:pRg st="5" end="5"/>
                                            </p:txEl>
                                          </p:spTgt>
                                        </p:tgtEl>
                                        <p:attrNameLst>
                                          <p:attrName>style.visibility</p:attrName>
                                        </p:attrNameLst>
                                      </p:cBhvr>
                                      <p:to>
                                        <p:strVal val="visible"/>
                                      </p:to>
                                    </p:set>
                                    <p:anim calcmode="lin" valueType="num">
                                      <p:cBhvr>
                                        <p:cTn id="32" dur="500" fill="hold"/>
                                        <p:tgtEl>
                                          <p:spTgt spid="197635">
                                            <p:txEl>
                                              <p:pRg st="5" end="5"/>
                                            </p:txEl>
                                          </p:spTgt>
                                        </p:tgtEl>
                                        <p:attrNameLst>
                                          <p:attrName>ppt_w</p:attrName>
                                        </p:attrNameLst>
                                      </p:cBhvr>
                                      <p:tavLst>
                                        <p:tav tm="0">
                                          <p:val>
                                            <p:fltVal val="0"/>
                                          </p:val>
                                        </p:tav>
                                        <p:tav tm="100000">
                                          <p:val>
                                            <p:strVal val="#ppt_w"/>
                                          </p:val>
                                        </p:tav>
                                      </p:tavLst>
                                    </p:anim>
                                    <p:anim calcmode="lin" valueType="num">
                                      <p:cBhvr>
                                        <p:cTn id="33" dur="500" fill="hold"/>
                                        <p:tgtEl>
                                          <p:spTgt spid="197635">
                                            <p:txEl>
                                              <p:pRg st="5" end="5"/>
                                            </p:txEl>
                                          </p:spTgt>
                                        </p:tgtEl>
                                        <p:attrNameLst>
                                          <p:attrName>ppt_h</p:attrName>
                                        </p:attrNameLst>
                                      </p:cBhvr>
                                      <p:tavLst>
                                        <p:tav tm="0">
                                          <p:val>
                                            <p:fltVal val="0"/>
                                          </p:val>
                                        </p:tav>
                                        <p:tav tm="100000">
                                          <p:val>
                                            <p:strVal val="#ppt_h"/>
                                          </p:val>
                                        </p:tav>
                                      </p:tavLst>
                                    </p:anim>
                                    <p:animEffect transition="in" filter="fade">
                                      <p:cBhvr>
                                        <p:cTn id="34" dur="500"/>
                                        <p:tgtEl>
                                          <p:spTgt spid="197635">
                                            <p:txEl>
                                              <p:pRg st="5" end="5"/>
                                            </p:txEl>
                                          </p:spTgt>
                                        </p:tgtEl>
                                      </p:cBhvr>
                                    </p:animEffect>
                                  </p:childTnLst>
                                </p:cTn>
                              </p:par>
                              <p:par>
                                <p:cTn id="35" presetID="53" presetClass="entr" presetSubtype="16" fill="hold" nodeType="withEffect">
                                  <p:stCondLst>
                                    <p:cond delay="0"/>
                                  </p:stCondLst>
                                  <p:childTnLst>
                                    <p:set>
                                      <p:cBhvr>
                                        <p:cTn id="36" dur="1" fill="hold">
                                          <p:stCondLst>
                                            <p:cond delay="0"/>
                                          </p:stCondLst>
                                        </p:cTn>
                                        <p:tgtEl>
                                          <p:spTgt spid="197635">
                                            <p:txEl>
                                              <p:pRg st="6" end="6"/>
                                            </p:txEl>
                                          </p:spTgt>
                                        </p:tgtEl>
                                        <p:attrNameLst>
                                          <p:attrName>style.visibility</p:attrName>
                                        </p:attrNameLst>
                                      </p:cBhvr>
                                      <p:to>
                                        <p:strVal val="visible"/>
                                      </p:to>
                                    </p:set>
                                    <p:anim calcmode="lin" valueType="num">
                                      <p:cBhvr>
                                        <p:cTn id="37" dur="500" fill="hold"/>
                                        <p:tgtEl>
                                          <p:spTgt spid="197635">
                                            <p:txEl>
                                              <p:pRg st="6" end="6"/>
                                            </p:txEl>
                                          </p:spTgt>
                                        </p:tgtEl>
                                        <p:attrNameLst>
                                          <p:attrName>ppt_w</p:attrName>
                                        </p:attrNameLst>
                                      </p:cBhvr>
                                      <p:tavLst>
                                        <p:tav tm="0">
                                          <p:val>
                                            <p:fltVal val="0"/>
                                          </p:val>
                                        </p:tav>
                                        <p:tav tm="100000">
                                          <p:val>
                                            <p:strVal val="#ppt_w"/>
                                          </p:val>
                                        </p:tav>
                                      </p:tavLst>
                                    </p:anim>
                                    <p:anim calcmode="lin" valueType="num">
                                      <p:cBhvr>
                                        <p:cTn id="38" dur="500" fill="hold"/>
                                        <p:tgtEl>
                                          <p:spTgt spid="197635">
                                            <p:txEl>
                                              <p:pRg st="6" end="6"/>
                                            </p:txEl>
                                          </p:spTgt>
                                        </p:tgtEl>
                                        <p:attrNameLst>
                                          <p:attrName>ppt_h</p:attrName>
                                        </p:attrNameLst>
                                      </p:cBhvr>
                                      <p:tavLst>
                                        <p:tav tm="0">
                                          <p:val>
                                            <p:fltVal val="0"/>
                                          </p:val>
                                        </p:tav>
                                        <p:tav tm="100000">
                                          <p:val>
                                            <p:strVal val="#ppt_h"/>
                                          </p:val>
                                        </p:tav>
                                      </p:tavLst>
                                    </p:anim>
                                    <p:animEffect transition="in" filter="fade">
                                      <p:cBhvr>
                                        <p:cTn id="39" dur="500"/>
                                        <p:tgtEl>
                                          <p:spTgt spid="197635">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197635">
                                            <p:txEl>
                                              <p:pRg st="7" end="7"/>
                                            </p:txEl>
                                          </p:spTgt>
                                        </p:tgtEl>
                                        <p:attrNameLst>
                                          <p:attrName>style.visibility</p:attrName>
                                        </p:attrNameLst>
                                      </p:cBhvr>
                                      <p:to>
                                        <p:strVal val="visible"/>
                                      </p:to>
                                    </p:set>
                                    <p:anim calcmode="lin" valueType="num">
                                      <p:cBhvr>
                                        <p:cTn id="44" dur="500" fill="hold"/>
                                        <p:tgtEl>
                                          <p:spTgt spid="197635">
                                            <p:txEl>
                                              <p:pRg st="7" end="7"/>
                                            </p:txEl>
                                          </p:spTgt>
                                        </p:tgtEl>
                                        <p:attrNameLst>
                                          <p:attrName>ppt_w</p:attrName>
                                        </p:attrNameLst>
                                      </p:cBhvr>
                                      <p:tavLst>
                                        <p:tav tm="0">
                                          <p:val>
                                            <p:fltVal val="0"/>
                                          </p:val>
                                        </p:tav>
                                        <p:tav tm="100000">
                                          <p:val>
                                            <p:strVal val="#ppt_w"/>
                                          </p:val>
                                        </p:tav>
                                      </p:tavLst>
                                    </p:anim>
                                    <p:anim calcmode="lin" valueType="num">
                                      <p:cBhvr>
                                        <p:cTn id="45" dur="500" fill="hold"/>
                                        <p:tgtEl>
                                          <p:spTgt spid="197635">
                                            <p:txEl>
                                              <p:pRg st="7" end="7"/>
                                            </p:txEl>
                                          </p:spTgt>
                                        </p:tgtEl>
                                        <p:attrNameLst>
                                          <p:attrName>ppt_h</p:attrName>
                                        </p:attrNameLst>
                                      </p:cBhvr>
                                      <p:tavLst>
                                        <p:tav tm="0">
                                          <p:val>
                                            <p:fltVal val="0"/>
                                          </p:val>
                                        </p:tav>
                                        <p:tav tm="100000">
                                          <p:val>
                                            <p:strVal val="#ppt_h"/>
                                          </p:val>
                                        </p:tav>
                                      </p:tavLst>
                                    </p:anim>
                                    <p:animEffect transition="in" filter="fade">
                                      <p:cBhvr>
                                        <p:cTn id="46" dur="500"/>
                                        <p:tgtEl>
                                          <p:spTgt spid="197635">
                                            <p:txEl>
                                              <p:pRg st="7" end="7"/>
                                            </p:txEl>
                                          </p:spTgt>
                                        </p:tgtEl>
                                      </p:cBhvr>
                                    </p:animEffect>
                                  </p:childTnLst>
                                </p:cTn>
                              </p:par>
                              <p:par>
                                <p:cTn id="47" presetID="53" presetClass="entr" presetSubtype="16" fill="hold" nodeType="withEffect">
                                  <p:stCondLst>
                                    <p:cond delay="0"/>
                                  </p:stCondLst>
                                  <p:childTnLst>
                                    <p:set>
                                      <p:cBhvr>
                                        <p:cTn id="48" dur="1" fill="hold">
                                          <p:stCondLst>
                                            <p:cond delay="0"/>
                                          </p:stCondLst>
                                        </p:cTn>
                                        <p:tgtEl>
                                          <p:spTgt spid="197635">
                                            <p:txEl>
                                              <p:pRg st="8" end="8"/>
                                            </p:txEl>
                                          </p:spTgt>
                                        </p:tgtEl>
                                        <p:attrNameLst>
                                          <p:attrName>style.visibility</p:attrName>
                                        </p:attrNameLst>
                                      </p:cBhvr>
                                      <p:to>
                                        <p:strVal val="visible"/>
                                      </p:to>
                                    </p:set>
                                    <p:anim calcmode="lin" valueType="num">
                                      <p:cBhvr>
                                        <p:cTn id="49" dur="500" fill="hold"/>
                                        <p:tgtEl>
                                          <p:spTgt spid="197635">
                                            <p:txEl>
                                              <p:pRg st="8" end="8"/>
                                            </p:txEl>
                                          </p:spTgt>
                                        </p:tgtEl>
                                        <p:attrNameLst>
                                          <p:attrName>ppt_w</p:attrName>
                                        </p:attrNameLst>
                                      </p:cBhvr>
                                      <p:tavLst>
                                        <p:tav tm="0">
                                          <p:val>
                                            <p:fltVal val="0"/>
                                          </p:val>
                                        </p:tav>
                                        <p:tav tm="100000">
                                          <p:val>
                                            <p:strVal val="#ppt_w"/>
                                          </p:val>
                                        </p:tav>
                                      </p:tavLst>
                                    </p:anim>
                                    <p:anim calcmode="lin" valueType="num">
                                      <p:cBhvr>
                                        <p:cTn id="50" dur="500" fill="hold"/>
                                        <p:tgtEl>
                                          <p:spTgt spid="197635">
                                            <p:txEl>
                                              <p:pRg st="8" end="8"/>
                                            </p:txEl>
                                          </p:spTgt>
                                        </p:tgtEl>
                                        <p:attrNameLst>
                                          <p:attrName>ppt_h</p:attrName>
                                        </p:attrNameLst>
                                      </p:cBhvr>
                                      <p:tavLst>
                                        <p:tav tm="0">
                                          <p:val>
                                            <p:fltVal val="0"/>
                                          </p:val>
                                        </p:tav>
                                        <p:tav tm="100000">
                                          <p:val>
                                            <p:strVal val="#ppt_h"/>
                                          </p:val>
                                        </p:tav>
                                      </p:tavLst>
                                    </p:anim>
                                    <p:animEffect transition="in" filter="fade">
                                      <p:cBhvr>
                                        <p:cTn id="51" dur="500"/>
                                        <p:tgtEl>
                                          <p:spTgt spid="197635">
                                            <p:txEl>
                                              <p:pRg st="8" end="8"/>
                                            </p:txEl>
                                          </p:spTgt>
                                        </p:tgtEl>
                                      </p:cBhvr>
                                    </p:animEffect>
                                  </p:childTnLst>
                                </p:cTn>
                              </p:par>
                              <p:par>
                                <p:cTn id="52" presetID="53" presetClass="entr" presetSubtype="16" fill="hold" nodeType="withEffect">
                                  <p:stCondLst>
                                    <p:cond delay="0"/>
                                  </p:stCondLst>
                                  <p:childTnLst>
                                    <p:set>
                                      <p:cBhvr>
                                        <p:cTn id="53" dur="1" fill="hold">
                                          <p:stCondLst>
                                            <p:cond delay="0"/>
                                          </p:stCondLst>
                                        </p:cTn>
                                        <p:tgtEl>
                                          <p:spTgt spid="197635">
                                            <p:txEl>
                                              <p:pRg st="9" end="9"/>
                                            </p:txEl>
                                          </p:spTgt>
                                        </p:tgtEl>
                                        <p:attrNameLst>
                                          <p:attrName>style.visibility</p:attrName>
                                        </p:attrNameLst>
                                      </p:cBhvr>
                                      <p:to>
                                        <p:strVal val="visible"/>
                                      </p:to>
                                    </p:set>
                                    <p:anim calcmode="lin" valueType="num">
                                      <p:cBhvr>
                                        <p:cTn id="54" dur="500" fill="hold"/>
                                        <p:tgtEl>
                                          <p:spTgt spid="197635">
                                            <p:txEl>
                                              <p:pRg st="9" end="9"/>
                                            </p:txEl>
                                          </p:spTgt>
                                        </p:tgtEl>
                                        <p:attrNameLst>
                                          <p:attrName>ppt_w</p:attrName>
                                        </p:attrNameLst>
                                      </p:cBhvr>
                                      <p:tavLst>
                                        <p:tav tm="0">
                                          <p:val>
                                            <p:fltVal val="0"/>
                                          </p:val>
                                        </p:tav>
                                        <p:tav tm="100000">
                                          <p:val>
                                            <p:strVal val="#ppt_w"/>
                                          </p:val>
                                        </p:tav>
                                      </p:tavLst>
                                    </p:anim>
                                    <p:anim calcmode="lin" valueType="num">
                                      <p:cBhvr>
                                        <p:cTn id="55" dur="500" fill="hold"/>
                                        <p:tgtEl>
                                          <p:spTgt spid="197635">
                                            <p:txEl>
                                              <p:pRg st="9" end="9"/>
                                            </p:txEl>
                                          </p:spTgt>
                                        </p:tgtEl>
                                        <p:attrNameLst>
                                          <p:attrName>ppt_h</p:attrName>
                                        </p:attrNameLst>
                                      </p:cBhvr>
                                      <p:tavLst>
                                        <p:tav tm="0">
                                          <p:val>
                                            <p:fltVal val="0"/>
                                          </p:val>
                                        </p:tav>
                                        <p:tav tm="100000">
                                          <p:val>
                                            <p:strVal val="#ppt_h"/>
                                          </p:val>
                                        </p:tav>
                                      </p:tavLst>
                                    </p:anim>
                                    <p:animEffect transition="in" filter="fade">
                                      <p:cBhvr>
                                        <p:cTn id="56" dur="500"/>
                                        <p:tgtEl>
                                          <p:spTgt spid="19763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Overall Summary</a:t>
            </a:r>
          </a:p>
        </p:txBody>
      </p:sp>
      <p:sp>
        <p:nvSpPr>
          <p:cNvPr id="3" name="Content Placeholder 2"/>
          <p:cNvSpPr>
            <a:spLocks noGrp="1"/>
          </p:cNvSpPr>
          <p:nvPr>
            <p:ph idx="1"/>
          </p:nvPr>
        </p:nvSpPr>
        <p:spPr>
          <a:xfrm>
            <a:off x="191758" y="1223169"/>
            <a:ext cx="11214847" cy="4411662"/>
          </a:xfrm>
        </p:spPr>
        <p:txBody>
          <a:bodyPr/>
          <a:lstStyle/>
          <a:p>
            <a:r>
              <a:rPr lang="en-GB" sz="2400" dirty="0"/>
              <a:t>Genetic Algorithms represent a subclass of nature inspired Evolutionary Computation Techniques</a:t>
            </a:r>
          </a:p>
          <a:p>
            <a:pPr lvl="1"/>
            <a:r>
              <a:rPr lang="en-GB" sz="2000" dirty="0"/>
              <a:t>GAs creates an initial population of individuals and performs the search by applying selection, crossover and mutation on individuals at each evolutionary cycle</a:t>
            </a:r>
          </a:p>
          <a:p>
            <a:pPr lvl="1"/>
            <a:r>
              <a:rPr lang="en-GB" sz="2000" dirty="0"/>
              <a:t>GA components including the parameter settings require careful tailoring to the problem in hand</a:t>
            </a:r>
          </a:p>
          <a:p>
            <a:r>
              <a:rPr lang="en-GB" sz="2400" dirty="0"/>
              <a:t>Memetic Algorithms hybridise GAs with Hill Climbing</a:t>
            </a:r>
          </a:p>
          <a:p>
            <a:r>
              <a:rPr lang="en-GB" sz="2400" dirty="0"/>
              <a:t>There is a variety of benchmark functions used for performance comparison of search algorithms</a:t>
            </a:r>
          </a:p>
          <a:p>
            <a:r>
              <a:rPr lang="en-GB" sz="2400" dirty="0"/>
              <a:t>In general, a memetic algorithm performs better than a genetic algorithm</a:t>
            </a:r>
          </a:p>
          <a:p>
            <a:r>
              <a:rPr lang="en-GB" sz="2400" dirty="0"/>
              <a:t>Choice of meme (operators and their settings) along with the encoding influence the performance of a memetic algorithm</a:t>
            </a:r>
            <a:endParaRPr lang="en-GB" sz="2800" dirty="0"/>
          </a:p>
          <a:p>
            <a:endParaRPr lang="en-GB" sz="2800" dirty="0"/>
          </a:p>
        </p:txBody>
      </p:sp>
      <p:sp>
        <p:nvSpPr>
          <p:cNvPr id="4" name="Slide Number Placeholder 3"/>
          <p:cNvSpPr>
            <a:spLocks noGrp="1"/>
          </p:cNvSpPr>
          <p:nvPr>
            <p:ph type="sldNum" sz="quarter" idx="12"/>
          </p:nvPr>
        </p:nvSpPr>
        <p:spPr/>
        <p:txBody>
          <a:bodyPr/>
          <a:lstStyle/>
          <a:p>
            <a:pPr>
              <a:defRPr/>
            </a:pPr>
            <a:fld id="{2F447EBC-305D-44C7-89E1-564E18FC1CD4}" type="slidenum">
              <a:rPr lang="en-GB" altLang="en-US" smtClean="0"/>
              <a:pPr>
                <a:defRPr/>
              </a:pPr>
              <a:t>71</a:t>
            </a:fld>
            <a:endParaRPr lang="en-GB" altLang="en-US"/>
          </a:p>
        </p:txBody>
      </p:sp>
    </p:spTree>
    <p:extLst>
      <p:ext uri="{BB962C8B-B14F-4D97-AF65-F5344CB8AC3E}">
        <p14:creationId xmlns:p14="http://schemas.microsoft.com/office/powerpoint/2010/main" val="35255998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Overall Summary (cont.)</a:t>
            </a:r>
          </a:p>
        </p:txBody>
      </p:sp>
      <p:sp>
        <p:nvSpPr>
          <p:cNvPr id="3" name="Content Placeholder 2"/>
          <p:cNvSpPr>
            <a:spLocks noGrp="1"/>
          </p:cNvSpPr>
          <p:nvPr>
            <p:ph idx="1"/>
          </p:nvPr>
        </p:nvSpPr>
        <p:spPr/>
        <p:txBody>
          <a:bodyPr/>
          <a:lstStyle/>
          <a:p>
            <a:r>
              <a:rPr lang="en-GB" sz="2400" dirty="0" err="1"/>
              <a:t>Multimeme</a:t>
            </a:r>
            <a:r>
              <a:rPr lang="en-GB" sz="2400" dirty="0"/>
              <a:t> Algorithm can indeed learn how to choose an operator and relevant settings through the evolutionary process (co-evolution)</a:t>
            </a:r>
          </a:p>
          <a:p>
            <a:pPr lvl="1"/>
            <a:r>
              <a:rPr lang="en-GB" sz="2000" dirty="0"/>
              <a:t>There is a trade-off as learning requires time and a memetic algorithm with a single setting could perform better</a:t>
            </a:r>
          </a:p>
          <a:p>
            <a:r>
              <a:rPr lang="en-GB" sz="2400" dirty="0"/>
              <a:t>If there is limited number of operators and settings MMA can be used. If the number of operators and settings are large then additional analyses and methods could be needed to reduce the number of options leading to an MMA with improved performance</a:t>
            </a:r>
          </a:p>
          <a:p>
            <a:r>
              <a:rPr lang="en-GB" sz="2400" dirty="0"/>
              <a:t>There is no single recipe for even choosing the set of memes while designing a memetic algorithm for solving a given problem.</a:t>
            </a:r>
          </a:p>
          <a:p>
            <a:r>
              <a:rPr lang="en-GB" sz="2400" dirty="0"/>
              <a:t>Synergy between memes/meme components could be possible </a:t>
            </a:r>
          </a:p>
        </p:txBody>
      </p:sp>
      <p:sp>
        <p:nvSpPr>
          <p:cNvPr id="4" name="Slide Number Placeholder 3"/>
          <p:cNvSpPr>
            <a:spLocks noGrp="1"/>
          </p:cNvSpPr>
          <p:nvPr>
            <p:ph type="sldNum" sz="quarter" idx="12"/>
          </p:nvPr>
        </p:nvSpPr>
        <p:spPr/>
        <p:txBody>
          <a:bodyPr/>
          <a:lstStyle/>
          <a:p>
            <a:fld id="{BB72550B-508B-4D61-A817-90B00A29C4EF}" type="slidenum">
              <a:rPr lang="tr-TR" altLang="en-US" smtClean="0"/>
              <a:pPr/>
              <a:t>72</a:t>
            </a:fld>
            <a:endParaRPr lang="tr-TR" altLang="en-US" dirty="0"/>
          </a:p>
        </p:txBody>
      </p:sp>
    </p:spTree>
    <p:custDataLst>
      <p:tags r:id="rId1"/>
    </p:custDataLst>
    <p:extLst>
      <p:ext uri="{BB962C8B-B14F-4D97-AF65-F5344CB8AC3E}">
        <p14:creationId xmlns:p14="http://schemas.microsoft.com/office/powerpoint/2010/main" val="222379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49739D50-DF92-94F8-59D6-93493193AB4F}"/>
              </a:ext>
            </a:extLst>
          </p:cNvPr>
          <p:cNvSpPr>
            <a:spLocks noGrp="1"/>
          </p:cNvSpPr>
          <p:nvPr>
            <p:ph type="ctrTitle"/>
          </p:nvPr>
        </p:nvSpPr>
        <p:spPr>
          <a:xfrm>
            <a:off x="968002" y="1885436"/>
            <a:ext cx="9269952" cy="1796732"/>
          </a:xfrm>
        </p:spPr>
        <p:txBody>
          <a:bodyPr>
            <a:noAutofit/>
          </a:bodyPr>
          <a:lstStyle/>
          <a:p>
            <a:r>
              <a:rPr lang="en-GB" noProof="0" dirty="0"/>
              <a:t>Thank you</a:t>
            </a:r>
            <a:br>
              <a:rPr lang="en-GB" noProof="0" dirty="0"/>
            </a:br>
            <a:r>
              <a:rPr lang="en-GB" sz="3200" b="0" noProof="0" dirty="0">
                <a:latin typeface="Arial" panose="020B0604020202020204" pitchFamily="34" charset="0"/>
                <a:cs typeface="Arial" panose="020B0604020202020204" pitchFamily="34" charset="0"/>
              </a:rPr>
              <a:t>Any questions?</a:t>
            </a:r>
          </a:p>
        </p:txBody>
      </p:sp>
    </p:spTree>
    <p:extLst>
      <p:ext uri="{BB962C8B-B14F-4D97-AF65-F5344CB8AC3E}">
        <p14:creationId xmlns:p14="http://schemas.microsoft.com/office/powerpoint/2010/main" val="40119665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0.2|10.1|19.5"/>
</p:tagLst>
</file>

<file path=ppt/tags/tag2.xml><?xml version="1.0" encoding="utf-8"?>
<p:tagLst xmlns:a="http://schemas.openxmlformats.org/drawingml/2006/main" xmlns:r="http://schemas.openxmlformats.org/officeDocument/2006/relationships" xmlns:p="http://schemas.openxmlformats.org/presentationml/2006/main">
  <p:tag name="TIMING" val="|22|19.8"/>
</p:tagLst>
</file>

<file path=ppt/tags/tag3.xml><?xml version="1.0" encoding="utf-8"?>
<p:tagLst xmlns:a="http://schemas.openxmlformats.org/drawingml/2006/main" xmlns:r="http://schemas.openxmlformats.org/officeDocument/2006/relationships" xmlns:p="http://schemas.openxmlformats.org/presentationml/2006/main">
  <p:tag name="TIMING" val="|42|15.8"/>
</p:tagLst>
</file>

<file path=ppt/tags/tag4.xml><?xml version="1.0" encoding="utf-8"?>
<p:tagLst xmlns:a="http://schemas.openxmlformats.org/drawingml/2006/main" xmlns:r="http://schemas.openxmlformats.org/officeDocument/2006/relationships" xmlns:p="http://schemas.openxmlformats.org/presentationml/2006/main">
  <p:tag name="TIMING" val="|6.9|10.9"/>
</p:tagLst>
</file>

<file path=ppt/tags/tag5.xml><?xml version="1.0" encoding="utf-8"?>
<p:tagLst xmlns:a="http://schemas.openxmlformats.org/drawingml/2006/main" xmlns:r="http://schemas.openxmlformats.org/officeDocument/2006/relationships" xmlns:p="http://schemas.openxmlformats.org/presentationml/2006/main">
  <p:tag name="TIMING" val="|7.8|10.5"/>
</p:tagLst>
</file>

<file path=ppt/tags/tag6.xml><?xml version="1.0" encoding="utf-8"?>
<p:tagLst xmlns:a="http://schemas.openxmlformats.org/drawingml/2006/main" xmlns:r="http://schemas.openxmlformats.org/officeDocument/2006/relationships" xmlns:p="http://schemas.openxmlformats.org/presentationml/2006/main">
  <p:tag name="TIMING" val="|4.2|3.4"/>
</p:tagLst>
</file>

<file path=ppt/tags/tag7.xml><?xml version="1.0" encoding="utf-8"?>
<p:tagLst xmlns:a="http://schemas.openxmlformats.org/drawingml/2006/main" xmlns:r="http://schemas.openxmlformats.org/officeDocument/2006/relationships" xmlns:p="http://schemas.openxmlformats.org/presentationml/2006/main">
  <p:tag name="TIMING" val="|7.8"/>
</p:tagLst>
</file>

<file path=ppt/tags/tag8.xml><?xml version="1.0" encoding="utf-8"?>
<p:tagLst xmlns:a="http://schemas.openxmlformats.org/drawingml/2006/main" xmlns:r="http://schemas.openxmlformats.org/officeDocument/2006/relationships" xmlns:p="http://schemas.openxmlformats.org/presentationml/2006/main">
  <p:tag name="TIMING" val="|21.7|14.7|4.7"/>
</p:tagLst>
</file>

<file path=ppt/tags/tag9.xml><?xml version="1.0" encoding="utf-8"?>
<p:tagLst xmlns:a="http://schemas.openxmlformats.org/drawingml/2006/main" xmlns:r="http://schemas.openxmlformats.org/officeDocument/2006/relationships" xmlns:p="http://schemas.openxmlformats.org/presentationml/2006/main">
  <p:tag name="TIMING" val="|40.8|56.1"/>
</p:tagLst>
</file>

<file path=ppt/tags/tag10.xml><?xml version="1.0" encoding="utf-8"?>
<p:tagLst xmlns:a="http://schemas.openxmlformats.org/drawingml/2006/main" xmlns:r="http://schemas.openxmlformats.org/officeDocument/2006/relationships" xmlns:p="http://schemas.openxmlformats.org/presentationml/2006/main">
  <p:tag name="TIMING" val="|85.1|2.4|2.9|7.2|8.1|12.4"/>
</p:tagLst>
</file>

<file path=ppt/tags/tag11.xml><?xml version="1.0" encoding="utf-8"?>
<p:tagLst xmlns:a="http://schemas.openxmlformats.org/drawingml/2006/main" xmlns:r="http://schemas.openxmlformats.org/officeDocument/2006/relationships" xmlns:p="http://schemas.openxmlformats.org/presentationml/2006/main">
  <p:tag name="TIMING" val="|1.7|52.8"/>
</p:tagLst>
</file>

<file path=ppt/tags/tag12.xml><?xml version="1.0" encoding="utf-8"?>
<p:tagLst xmlns:a="http://schemas.openxmlformats.org/drawingml/2006/main" xmlns:r="http://schemas.openxmlformats.org/officeDocument/2006/relationships" xmlns:p="http://schemas.openxmlformats.org/presentationml/2006/main">
  <p:tag name="TIMING" val="|25.2|2.6"/>
</p:tagLst>
</file>

<file path=ppt/tags/tag13.xml><?xml version="1.0" encoding="utf-8"?>
<p:tagLst xmlns:a="http://schemas.openxmlformats.org/drawingml/2006/main" xmlns:r="http://schemas.openxmlformats.org/officeDocument/2006/relationships" xmlns:p="http://schemas.openxmlformats.org/presentationml/2006/main">
  <p:tag name="TIMING" val="|18.8|19.8|36.3|32.5|55.7"/>
</p:tagLst>
</file>

<file path=ppt/tags/tag14.xml><?xml version="1.0" encoding="utf-8"?>
<p:tagLst xmlns:a="http://schemas.openxmlformats.org/drawingml/2006/main" xmlns:r="http://schemas.openxmlformats.org/officeDocument/2006/relationships" xmlns:p="http://schemas.openxmlformats.org/presentationml/2006/main">
  <p:tag name="TIMING" val="|35"/>
</p:tagLst>
</file>

<file path=ppt/tags/tag15.xml><?xml version="1.0" encoding="utf-8"?>
<p:tagLst xmlns:a="http://schemas.openxmlformats.org/drawingml/2006/main" xmlns:r="http://schemas.openxmlformats.org/officeDocument/2006/relationships" xmlns:p="http://schemas.openxmlformats.org/presentationml/2006/main">
  <p:tag name="TIMING" val="|48.9|49.6|16.4"/>
</p:tagLst>
</file>

<file path=ppt/tags/tag16.xml><?xml version="1.0" encoding="utf-8"?>
<p:tagLst xmlns:a="http://schemas.openxmlformats.org/drawingml/2006/main" xmlns:r="http://schemas.openxmlformats.org/officeDocument/2006/relationships" xmlns:p="http://schemas.openxmlformats.org/presentationml/2006/main">
  <p:tag name="TIMING" val="|0.9|34.1|37.7|52.3"/>
</p:tagLst>
</file>

<file path=ppt/tags/tag17.xml><?xml version="1.0" encoding="utf-8"?>
<p:tagLst xmlns:a="http://schemas.openxmlformats.org/drawingml/2006/main" xmlns:r="http://schemas.openxmlformats.org/officeDocument/2006/relationships" xmlns:p="http://schemas.openxmlformats.org/presentationml/2006/main">
  <p:tag name="TIMING" val="|1.1|3.4|9.6"/>
</p:tagLst>
</file>

<file path=ppt/tags/tag18.xml><?xml version="1.0" encoding="utf-8"?>
<p:tagLst xmlns:a="http://schemas.openxmlformats.org/drawingml/2006/main" xmlns:r="http://schemas.openxmlformats.org/officeDocument/2006/relationships" xmlns:p="http://schemas.openxmlformats.org/presentationml/2006/main">
  <p:tag name="TIMING" val="|26.4|7.8|11.8|8.1|3.8|8.1|3|16.9"/>
</p:tagLst>
</file>

<file path=ppt/tags/tag19.xml><?xml version="1.0" encoding="utf-8"?>
<p:tagLst xmlns:a="http://schemas.openxmlformats.org/drawingml/2006/main" xmlns:r="http://schemas.openxmlformats.org/officeDocument/2006/relationships" xmlns:p="http://schemas.openxmlformats.org/presentationml/2006/main">
  <p:tag name="TIMING" val="|11.3|24.7|5.9|28.3|8.6|76.7|9|12"/>
</p:tagLst>
</file>

<file path=ppt/tags/tag20.xml><?xml version="1.0" encoding="utf-8"?>
<p:tagLst xmlns:a="http://schemas.openxmlformats.org/drawingml/2006/main" xmlns:r="http://schemas.openxmlformats.org/officeDocument/2006/relationships" xmlns:p="http://schemas.openxmlformats.org/presentationml/2006/main">
  <p:tag name="TIMING" val="|0.9"/>
</p:tagLst>
</file>

<file path=ppt/tags/tag21.xml><?xml version="1.0" encoding="utf-8"?>
<p:tagLst xmlns:a="http://schemas.openxmlformats.org/drawingml/2006/main" xmlns:r="http://schemas.openxmlformats.org/officeDocument/2006/relationships" xmlns:p="http://schemas.openxmlformats.org/presentationml/2006/main">
  <p:tag name="TIMING" val="|16.7|0.8|3.1|11.5|4.3|68"/>
</p:tagLst>
</file>

<file path=ppt/tags/tag22.xml><?xml version="1.0" encoding="utf-8"?>
<p:tagLst xmlns:a="http://schemas.openxmlformats.org/drawingml/2006/main" xmlns:r="http://schemas.openxmlformats.org/officeDocument/2006/relationships" xmlns:p="http://schemas.openxmlformats.org/presentationml/2006/main">
  <p:tag name="TIMING" val="|27.4|14.6|12.2"/>
</p:tagLst>
</file>

<file path=ppt/tags/tag23.xml><?xml version="1.0" encoding="utf-8"?>
<p:tagLst xmlns:a="http://schemas.openxmlformats.org/drawingml/2006/main" xmlns:r="http://schemas.openxmlformats.org/officeDocument/2006/relationships" xmlns:p="http://schemas.openxmlformats.org/presentationml/2006/main">
  <p:tag name="TIMING" val="|15|9.1|28"/>
</p:tagLst>
</file>

<file path=ppt/tags/tag24.xml><?xml version="1.0" encoding="utf-8"?>
<p:tagLst xmlns:a="http://schemas.openxmlformats.org/drawingml/2006/main" xmlns:r="http://schemas.openxmlformats.org/officeDocument/2006/relationships" xmlns:p="http://schemas.openxmlformats.org/presentationml/2006/main">
  <p:tag name="TIMING" val="|3.2|13.8|27.6"/>
</p:tagLst>
</file>

<file path=ppt/tags/tag25.xml><?xml version="1.0" encoding="utf-8"?>
<p:tagLst xmlns:a="http://schemas.openxmlformats.org/drawingml/2006/main" xmlns:r="http://schemas.openxmlformats.org/officeDocument/2006/relationships" xmlns:p="http://schemas.openxmlformats.org/presentationml/2006/main">
  <p:tag name="TIMING" val="|52|48.4|40.2"/>
</p:tagLst>
</file>

<file path=ppt/tags/tag26.xml><?xml version="1.0" encoding="utf-8"?>
<p:tagLst xmlns:a="http://schemas.openxmlformats.org/drawingml/2006/main" xmlns:r="http://schemas.openxmlformats.org/officeDocument/2006/relationships" xmlns:p="http://schemas.openxmlformats.org/presentationml/2006/main">
  <p:tag name="TIMING" val="|48.8|6.9"/>
</p:tagLst>
</file>

<file path=ppt/tags/tag27.xml><?xml version="1.0" encoding="utf-8"?>
<p:tagLst xmlns:a="http://schemas.openxmlformats.org/drawingml/2006/main" xmlns:r="http://schemas.openxmlformats.org/officeDocument/2006/relationships" xmlns:p="http://schemas.openxmlformats.org/presentationml/2006/main">
  <p:tag name="TIMING" val="|53.9"/>
</p:tagLst>
</file>

<file path=ppt/tags/tag28.xml><?xml version="1.0" encoding="utf-8"?>
<p:tagLst xmlns:a="http://schemas.openxmlformats.org/drawingml/2006/main" xmlns:r="http://schemas.openxmlformats.org/officeDocument/2006/relationships" xmlns:p="http://schemas.openxmlformats.org/presentationml/2006/main">
  <p:tag name="TIMING" val="|16.3|20.6|19.3|27.5|40.2|19.3"/>
</p:tagLst>
</file>

<file path=ppt/tags/tag29.xml><?xml version="1.0" encoding="utf-8"?>
<p:tagLst xmlns:a="http://schemas.openxmlformats.org/drawingml/2006/main" xmlns:r="http://schemas.openxmlformats.org/officeDocument/2006/relationships" xmlns:p="http://schemas.openxmlformats.org/presentationml/2006/main">
  <p:tag name="TIMING" val="|67.3"/>
</p:tagLst>
</file>

<file path=ppt/tags/tag30.xml><?xml version="1.0" encoding="utf-8"?>
<p:tagLst xmlns:a="http://schemas.openxmlformats.org/drawingml/2006/main" xmlns:r="http://schemas.openxmlformats.org/officeDocument/2006/relationships" xmlns:p="http://schemas.openxmlformats.org/presentationml/2006/main">
  <p:tag name="TIMING" val="|14.2|10.3"/>
</p:tagLst>
</file>

<file path=ppt/theme/theme1.xml><?xml version="1.0" encoding="utf-8"?>
<a:theme xmlns:a="http://schemas.openxmlformats.org/drawingml/2006/main" name="Office Theme">
  <a:themeElements>
    <a:clrScheme name="Custom 9-Hyperlinkblue-CivicPurple">
      <a:dk1>
        <a:srgbClr val="10263B"/>
      </a:dk1>
      <a:lt1>
        <a:srgbClr val="FCFBF8"/>
      </a:lt1>
      <a:dk2>
        <a:srgbClr val="405161"/>
      </a:dk2>
      <a:lt2>
        <a:srgbClr val="F3F3F5"/>
      </a:lt2>
      <a:accent1>
        <a:srgbClr val="707D89"/>
      </a:accent1>
      <a:accent2>
        <a:srgbClr val="9FA8B1"/>
      </a:accent2>
      <a:accent3>
        <a:srgbClr val="005F36"/>
      </a:accent3>
      <a:accent4>
        <a:srgbClr val="92D400"/>
      </a:accent4>
      <a:accent5>
        <a:srgbClr val="37B3B0"/>
      </a:accent5>
      <a:accent6>
        <a:srgbClr val="009BC1"/>
      </a:accent6>
      <a:hlink>
        <a:srgbClr val="0061FF"/>
      </a:hlink>
      <a:folHlink>
        <a:srgbClr val="94579D"/>
      </a:folHlink>
    </a:clrScheme>
    <a:fontScheme name="Custom 2">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9a8d30e-3eb0-4167-b686-5fd4d1de55fa" xsi:nil="true"/>
    <lcf76f155ced4ddcb4097134ff3c332f xmlns="16640679-8aa6-4262-947d-54cfc3df5a39">
      <Terms xmlns="http://schemas.microsoft.com/office/infopath/2007/PartnerControls"/>
    </lcf76f155ced4ddcb4097134ff3c332f>
    <SharedWithUsers xmlns="c9a8d30e-3eb0-4167-b686-5fd4d1de55fa">
      <UserInfo>
        <DisplayName>Mirella Lechna</DisplayName>
        <AccountId>3210</AccountId>
        <AccountType/>
      </UserInfo>
      <UserInfo>
        <DisplayName>Katherine Auer (staff)</DisplayName>
        <AccountId>5187</AccountId>
        <AccountType/>
      </UserInfo>
      <UserInfo>
        <DisplayName>Claire Murphy (staff)</DisplayName>
        <AccountId>2938</AccountId>
        <AccountType/>
      </UserInfo>
      <UserInfo>
        <DisplayName>Julian Tenney (staff)</DisplayName>
        <AccountId>294</AccountId>
        <AccountType/>
      </UserInfo>
      <UserInfo>
        <DisplayName>Christopher Ward (staff)</DisplayName>
        <AccountId>43110</AccountId>
        <AccountType/>
      </UserInfo>
      <UserInfo>
        <DisplayName>Emma Darwin</DisplayName>
        <AccountId>66300</AccountId>
        <AccountType/>
      </UserInfo>
      <UserInfo>
        <DisplayName>info</DisplayName>
        <AccountId>66336</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4391EDCFC911F45A9DD8B1389DBAE73" ma:contentTypeVersion="21" ma:contentTypeDescription="Create a new document." ma:contentTypeScope="" ma:versionID="18cf16ec0aa6da56be582e2a7172ba75">
  <xsd:schema xmlns:xsd="http://www.w3.org/2001/XMLSchema" xmlns:xs="http://www.w3.org/2001/XMLSchema" xmlns:p="http://schemas.microsoft.com/office/2006/metadata/properties" xmlns:ns2="16640679-8aa6-4262-947d-54cfc3df5a39" xmlns:ns3="c9a8d30e-3eb0-4167-b686-5fd4d1de55fa" targetNamespace="http://schemas.microsoft.com/office/2006/metadata/properties" ma:root="true" ma:fieldsID="d124782be059d696050be41b9b0f868d" ns2:_="" ns3:_="">
    <xsd:import namespace="16640679-8aa6-4262-947d-54cfc3df5a39"/>
    <xsd:import namespace="c9a8d30e-3eb0-4167-b686-5fd4d1de55f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640679-8aa6-4262-947d-54cfc3df5a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76624216-d583-4636-a04d-17921d6eaf6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9a8d30e-3eb0-4167-b686-5fd4d1de55fa"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14155df0-2a5e-4291-af6d-612008b03141}" ma:internalName="TaxCatchAll" ma:showField="CatchAllData" ma:web="c9a8d30e-3eb0-4167-b686-5fd4d1de55f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524C8A-0B90-4F5E-9F57-26A31440D349}">
  <ds:schemaRefs>
    <ds:schemaRef ds:uri="http://schemas.openxmlformats.org/package/2006/metadata/core-properties"/>
    <ds:schemaRef ds:uri="http://purl.org/dc/elements/1.1/"/>
    <ds:schemaRef ds:uri="http://purl.org/dc/terms/"/>
    <ds:schemaRef ds:uri="http://schemas.microsoft.com/office/2006/metadata/properties"/>
    <ds:schemaRef ds:uri="http://schemas.microsoft.com/office/infopath/2007/PartnerControls"/>
    <ds:schemaRef ds:uri="http://schemas.microsoft.com/office/2006/documentManagement/types"/>
    <ds:schemaRef ds:uri="c9a8d30e-3eb0-4167-b686-5fd4d1de55fa"/>
    <ds:schemaRef ds:uri="16640679-8aa6-4262-947d-54cfc3df5a39"/>
    <ds:schemaRef ds:uri="http://www.w3.org/XML/1998/namespace"/>
    <ds:schemaRef ds:uri="http://purl.org/dc/dcmitype/"/>
  </ds:schemaRefs>
</ds:datastoreItem>
</file>

<file path=customXml/itemProps2.xml><?xml version="1.0" encoding="utf-8"?>
<ds:datastoreItem xmlns:ds="http://schemas.openxmlformats.org/officeDocument/2006/customXml" ds:itemID="{9971DD63-BD97-481A-9FAB-D6D5E8B66BDD}">
  <ds:schemaRefs>
    <ds:schemaRef ds:uri="16640679-8aa6-4262-947d-54cfc3df5a39"/>
    <ds:schemaRef ds:uri="c9a8d30e-3eb0-4167-b686-5fd4d1de55f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0B1A4FF-0ED2-4144-92C9-26E83AFB9BD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0</TotalTime>
  <Words>5669</Words>
  <Application>Microsoft Office PowerPoint</Application>
  <PresentationFormat>Widescreen</PresentationFormat>
  <Paragraphs>876</Paragraphs>
  <Slides>73</Slides>
  <Notes>35</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73</vt:i4>
      </vt:variant>
    </vt:vector>
  </HeadingPairs>
  <TitlesOfParts>
    <vt:vector size="87" baseType="lpstr">
      <vt:lpstr>Batang</vt:lpstr>
      <vt:lpstr>Arial</vt:lpstr>
      <vt:lpstr>Calibri</vt:lpstr>
      <vt:lpstr>Cambria Math</vt:lpstr>
      <vt:lpstr>CMR9</vt:lpstr>
      <vt:lpstr>CMTI9</vt:lpstr>
      <vt:lpstr>Courier New</vt:lpstr>
      <vt:lpstr>fkGroteskNeue</vt:lpstr>
      <vt:lpstr>Georgia</vt:lpstr>
      <vt:lpstr>Symbol</vt:lpstr>
      <vt:lpstr>Times New Roman</vt:lpstr>
      <vt:lpstr>Wingdings</vt:lpstr>
      <vt:lpstr>Office Theme</vt:lpstr>
      <vt:lpstr>Image</vt:lpstr>
      <vt:lpstr>Evolutionary Algorithms II</vt:lpstr>
      <vt:lpstr>Outline</vt:lpstr>
      <vt:lpstr>Learning Outcomes</vt:lpstr>
      <vt:lpstr>Questions</vt:lpstr>
      <vt:lpstr>Benchmark Functions</vt:lpstr>
      <vt:lpstr>Why to use benchmark (test) functions for optimisation</vt:lpstr>
      <vt:lpstr>Classification of benchmark (test) functions</vt:lpstr>
      <vt:lpstr>Example – unimodal function: Sphere function</vt:lpstr>
      <vt:lpstr>Delta Evaluation in Function Optimisation</vt:lpstr>
      <vt:lpstr>Example – unimodal function: Step function </vt:lpstr>
      <vt:lpstr>Example – multimodal function Rastrigin’s function </vt:lpstr>
      <vt:lpstr>Example – multimodal function Ackley’s function</vt:lpstr>
      <vt:lpstr>Example – Sphere Function Optimisation</vt:lpstr>
      <vt:lpstr>Sphere Function Optimisation – Representation I</vt:lpstr>
      <vt:lpstr>Sphere Function Optimisation – Representation II</vt:lpstr>
      <vt:lpstr>Sphere Function Optimisation –  Fitness Evaluation (Decoding)</vt:lpstr>
      <vt:lpstr>More on Function Optimization</vt:lpstr>
      <vt:lpstr>Case Studies</vt:lpstr>
      <vt:lpstr>Benchmark Function Optimisation</vt:lpstr>
      <vt:lpstr>Benchmark Function Optimisation</vt:lpstr>
      <vt:lpstr>Binary vs Gray Encoding</vt:lpstr>
      <vt:lpstr>Components of Evolutionary Algorithms and Settings</vt:lpstr>
      <vt:lpstr>Components of Evolutionary Algorithms and Settings II </vt:lpstr>
      <vt:lpstr>Termination and Performance Comparison Criteria</vt:lpstr>
      <vt:lpstr>Results</vt:lpstr>
      <vt:lpstr>Results II</vt:lpstr>
      <vt:lpstr>Results III</vt:lpstr>
      <vt:lpstr>Results IV</vt:lpstr>
      <vt:lpstr>Summary</vt:lpstr>
      <vt:lpstr>Travelling Salesman Problem</vt:lpstr>
      <vt:lpstr>Binary Representation for Encoding Permutation</vt:lpstr>
      <vt:lpstr>Example</vt:lpstr>
      <vt:lpstr>Generic Permutation based Genetic Operators</vt:lpstr>
      <vt:lpstr>Partially Mapped Crossover (PMX)</vt:lpstr>
      <vt:lpstr>PMX</vt:lpstr>
      <vt:lpstr>Order Crossover (OX)</vt:lpstr>
      <vt:lpstr>OX</vt:lpstr>
      <vt:lpstr>Cycle Crossover (CX)</vt:lpstr>
      <vt:lpstr>Cycle Crossover (CX)</vt:lpstr>
      <vt:lpstr>More Genetic Operators –  Crossover for TSP </vt:lpstr>
      <vt:lpstr>More Genetic Operators –  Mutation for TSP</vt:lpstr>
      <vt:lpstr>GA vs MA for Solving TSP Experiments – Components </vt:lpstr>
      <vt:lpstr>Experimental Data</vt:lpstr>
      <vt:lpstr>Results</vt:lpstr>
      <vt:lpstr>A Classification of  Memetic Algorithms</vt:lpstr>
      <vt:lpstr>Multimeme  Memetic Algorithms</vt:lpstr>
      <vt:lpstr>Self Adaptation for Genetic Operators</vt:lpstr>
      <vt:lpstr>Multimeme Memetic Algorithms</vt:lpstr>
      <vt:lpstr>Grammar for a Memeplex–  Compound of Memes</vt:lpstr>
      <vt:lpstr>Multimeme Memetic Algorithms – Features</vt:lpstr>
      <vt:lpstr>Examples – Implementation </vt:lpstr>
      <vt:lpstr>Inheriting Memetic Material – SIM </vt:lpstr>
      <vt:lpstr>Mutating Memes during Evolution</vt:lpstr>
      <vt:lpstr>Measure for Evaluating Meme Performance </vt:lpstr>
      <vt:lpstr>Memetic Algorithms (MAs) </vt:lpstr>
      <vt:lpstr>Multimeme Memetic Algorithms (MMAs) </vt:lpstr>
      <vt:lpstr>Benchmark Function Optimisation - revisited</vt:lpstr>
      <vt:lpstr>MMA Experiments for Benchmark Function Optimisation – Additional Settings </vt:lpstr>
      <vt:lpstr>Results</vt:lpstr>
      <vt:lpstr>MMA 1.a  </vt:lpstr>
      <vt:lpstr>MMA 1.b </vt:lpstr>
      <vt:lpstr>MMA 1.c </vt:lpstr>
      <vt:lpstr>MMA 2 Experiments – Synergy Between Memes </vt:lpstr>
      <vt:lpstr>MMA 2.a </vt:lpstr>
      <vt:lpstr>MMA 2.b </vt:lpstr>
      <vt:lpstr>MMA 2.c </vt:lpstr>
      <vt:lpstr>Results</vt:lpstr>
      <vt:lpstr>Results II</vt:lpstr>
      <vt:lpstr>PowerPoint Presentation</vt:lpstr>
      <vt:lpstr>Weaknesses of Evolutionary Algorithms</vt:lpstr>
      <vt:lpstr>Overall Summary</vt:lpstr>
      <vt:lpstr>Overall Summary (cont.)</vt:lpstr>
      <vt:lpstr>Thank you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University of Nottingham PowerPoint template</dc:title>
  <dc:creator/>
  <cp:revision>78</cp:revision>
  <dcterms:created xsi:type="dcterms:W3CDTF">2023-09-01T16:10:27Z</dcterms:created>
  <dcterms:modified xsi:type="dcterms:W3CDTF">2026-02-26T16:59:08Z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0x01010024391EDCFC911F45A9DD8B1389DBAE73</vt:lpwstr>
  </property>
  <property fmtid="{D5CDD505-2E9C-101B-9397-08002B2CF9AE}" pid="3" name="MediaServiceImageTags">
    <vt:lpwstr/>
  </property>
</Properties>
</file>