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73"/>
  </p:notesMasterIdLst>
  <p:sldIdLst>
    <p:sldId id="2146847023" r:id="rId5"/>
    <p:sldId id="2146847045" r:id="rId6"/>
    <p:sldId id="2146846963" r:id="rId7"/>
    <p:sldId id="2146846978" r:id="rId8"/>
    <p:sldId id="2146846863" r:id="rId9"/>
    <p:sldId id="2146846987" r:id="rId10"/>
    <p:sldId id="2146846984" r:id="rId11"/>
    <p:sldId id="2146846985" r:id="rId12"/>
    <p:sldId id="2146846986" r:id="rId13"/>
    <p:sldId id="2146846991" r:id="rId14"/>
    <p:sldId id="2146846988" r:id="rId15"/>
    <p:sldId id="2146846989" r:id="rId16"/>
    <p:sldId id="2146847025" r:id="rId17"/>
    <p:sldId id="2146846990" r:id="rId18"/>
    <p:sldId id="2146847026" r:id="rId19"/>
    <p:sldId id="2146846992" r:id="rId20"/>
    <p:sldId id="2146846993" r:id="rId21"/>
    <p:sldId id="2146847000" r:id="rId22"/>
    <p:sldId id="2146847027" r:id="rId23"/>
    <p:sldId id="2146846994" r:id="rId24"/>
    <p:sldId id="2146846995" r:id="rId25"/>
    <p:sldId id="2146847043" r:id="rId26"/>
    <p:sldId id="2146847044" r:id="rId27"/>
    <p:sldId id="2146847028" r:id="rId28"/>
    <p:sldId id="2146846996" r:id="rId29"/>
    <p:sldId id="2146846997" r:id="rId30"/>
    <p:sldId id="2146847049" r:id="rId31"/>
    <p:sldId id="2146846998" r:id="rId32"/>
    <p:sldId id="627" r:id="rId33"/>
    <p:sldId id="2146847008" r:id="rId34"/>
    <p:sldId id="2146846999" r:id="rId35"/>
    <p:sldId id="2146847001" r:id="rId36"/>
    <p:sldId id="2146847029" r:id="rId37"/>
    <p:sldId id="2146847002" r:id="rId38"/>
    <p:sldId id="2146847003" r:id="rId39"/>
    <p:sldId id="2146847004" r:id="rId40"/>
    <p:sldId id="2146847030" r:id="rId41"/>
    <p:sldId id="2146847005" r:id="rId42"/>
    <p:sldId id="2146847006" r:id="rId43"/>
    <p:sldId id="2146847009" r:id="rId44"/>
    <p:sldId id="2146847031" r:id="rId45"/>
    <p:sldId id="2146847007" r:id="rId46"/>
    <p:sldId id="2146847010" r:id="rId47"/>
    <p:sldId id="2146847011" r:id="rId48"/>
    <p:sldId id="2146847012" r:id="rId49"/>
    <p:sldId id="2146847013" r:id="rId50"/>
    <p:sldId id="2146847032" r:id="rId51"/>
    <p:sldId id="2146847014" r:id="rId52"/>
    <p:sldId id="2146847015" r:id="rId53"/>
    <p:sldId id="2146847016" r:id="rId54"/>
    <p:sldId id="2146847020" r:id="rId55"/>
    <p:sldId id="2146847017" r:id="rId56"/>
    <p:sldId id="2146847018" r:id="rId57"/>
    <p:sldId id="2146847046" r:id="rId58"/>
    <p:sldId id="2146847047" r:id="rId59"/>
    <p:sldId id="2146847019" r:id="rId60"/>
    <p:sldId id="2146847048" r:id="rId61"/>
    <p:sldId id="2146847022" r:id="rId62"/>
    <p:sldId id="2146847024" r:id="rId63"/>
    <p:sldId id="2146847033" r:id="rId64"/>
    <p:sldId id="2146847034" r:id="rId65"/>
    <p:sldId id="2146847035" r:id="rId66"/>
    <p:sldId id="2146847036" r:id="rId67"/>
    <p:sldId id="2146847037" r:id="rId68"/>
    <p:sldId id="2146847041" r:id="rId69"/>
    <p:sldId id="2146847038" r:id="rId70"/>
    <p:sldId id="2146847042" r:id="rId71"/>
    <p:sldId id="2146846910" r:id="rId72"/>
  </p:sldIdLst>
  <p:sldSz cx="12192000" cy="6858000"/>
  <p:notesSz cx="6858000" cy="9144000"/>
  <p:custDataLst>
    <p:tags r:id="rId7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6EF"/>
    <a:srgbClr val="FFF4F4"/>
    <a:srgbClr val="E10000"/>
    <a:srgbClr val="860000"/>
    <a:srgbClr val="10263B"/>
    <a:srgbClr val="DEB406"/>
    <a:srgbClr val="11273B"/>
    <a:srgbClr val="CFD4D8"/>
    <a:srgbClr val="9FA8B1"/>
    <a:srgbClr val="334A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ADC9C-5BEC-461D-A240-7719F87D2BBA}" v="104" dt="2026-02-24T15:32:07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08"/>
    <p:restoredTop sz="73197" autoAdjust="0"/>
  </p:normalViewPr>
  <p:slideViewPr>
    <p:cSldViewPr snapToGrid="0">
      <p:cViewPr varScale="1">
        <p:scale>
          <a:sx n="81" d="100"/>
          <a:sy n="81" d="100"/>
        </p:scale>
        <p:origin x="120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gs" Target="tags/tag1.xml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AB730-C678-F54E-B0F5-84D0A197249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208CF-6D31-B34E-9D95-EC615C533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B57B-AF67-3492-B2CC-8472A999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D6AD0-6135-6C52-F1EA-C41F4DFFA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30594-1492-BEDA-D0FE-9BF4B6BAF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B8E43-6E61-BEE7-7D5E-AC2281078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6AB3-A9BD-4406-8F16-5EEBC97D0BA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01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B2FB6-EC4A-83AB-4508-ABDFB44A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B52A5-31D7-A946-E3FF-6E3D2D63F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7FDF6-714E-EB5F-88BF-31BA1EF8E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46F55-692B-3338-0B02-F3DC83BE5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6AB3-A9BD-4406-8F16-5EEBC97D0BA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669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6AB3-A9BD-4406-8F16-5EEBC97D0BA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766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6AB3-A9BD-4406-8F16-5EEBC97D0BA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5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6AB3-A9BD-4406-8F16-5EEBC97D0BA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837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75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51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66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41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96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07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22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83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89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59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57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73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35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84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02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306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943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460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8848-E309-D7EB-2FEB-A0F245D4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91485-E0E4-45F7-6B1D-366849421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E4301-F1FF-7EED-948A-2F2D0FDED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80CEE-46F5-0AF2-9188-DF0013B08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6AB3-A9BD-4406-8F16-5EEBC97D0BA4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7772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6AB3-A9BD-4406-8F16-5EEBC97D0BA4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238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Nottingham logo">
            <a:extLst>
              <a:ext uri="{FF2B5EF4-FFF2-40B4-BE49-F238E27FC236}">
                <a16:creationId xmlns:a16="http://schemas.microsoft.com/office/drawing/2014/main" id="{9D85A3C1-D82A-B562-D697-12A7A834D4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14586" cy="900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6853EA-4853-ACD6-CC82-7D33A6FB25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450" y="2258844"/>
            <a:ext cx="9598564" cy="162083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/>
            </a:lvl1pPr>
          </a:lstStyle>
          <a:p>
            <a:r>
              <a:rPr lang="en-GB"/>
              <a:t>The title of your presentation goes here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30556-8831-6682-C9D7-CE486771B9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450" y="4244162"/>
            <a:ext cx="9598564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196E396-D43A-21AF-902E-40BD0AF6B4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5" name="Picture Placeholder 2" descr="Partner logo.&#10;">
            <a:extLst>
              <a:ext uri="{FF2B5EF4-FFF2-40B4-BE49-F238E27FC236}">
                <a16:creationId xmlns:a16="http://schemas.microsoft.com/office/drawing/2014/main" id="{A686251C-E48A-AA4A-6E4A-BC5C83A05A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156867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iversity of Nottingham logo">
            <a:extLst>
              <a:ext uri="{FF2B5EF4-FFF2-40B4-BE49-F238E27FC236}">
                <a16:creationId xmlns:a16="http://schemas.microsoft.com/office/drawing/2014/main" id="{15DABD73-1F59-7DE4-286D-42E72C4D32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6853EA-4853-ACD6-CC82-7D33A6FB25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450" y="2258844"/>
            <a:ext cx="9598564" cy="162083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The title of your presentation goes here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30556-8831-6682-C9D7-CE486771B9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450" y="4244162"/>
            <a:ext cx="9598564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1077D18-4A41-F2FC-BDBD-1952BE2667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4" name="Picture Placeholder 2" descr="Partner logo.">
            <a:extLst>
              <a:ext uri="{FF2B5EF4-FFF2-40B4-BE49-F238E27FC236}">
                <a16:creationId xmlns:a16="http://schemas.microsoft.com/office/drawing/2014/main" id="{CBC67323-FEAE-C279-D467-27C99A9CED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242189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research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wearing a VR headset and holding their hands up to represent research at the university">
            <a:extLst>
              <a:ext uri="{FF2B5EF4-FFF2-40B4-BE49-F238E27FC236}">
                <a16:creationId xmlns:a16="http://schemas.microsoft.com/office/drawing/2014/main" id="{88BA64FE-DCFE-E987-F49F-BD6E89D41E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93D777-56E9-B4C4-902D-3069A7237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rgbClr val="000000">
                  <a:alpha val="50000"/>
                </a:srgbClr>
              </a:gs>
              <a:gs pos="0">
                <a:srgbClr val="000000">
                  <a:alpha val="98824"/>
                </a:srgbClr>
              </a:gs>
              <a:gs pos="93000">
                <a:srgbClr val="10263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niversity of Nottingham logo">
            <a:extLst>
              <a:ext uri="{FF2B5EF4-FFF2-40B4-BE49-F238E27FC236}">
                <a16:creationId xmlns:a16="http://schemas.microsoft.com/office/drawing/2014/main" id="{B6936C8D-5139-3496-BA36-DA3B9A8D40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6D8DE2-D7AF-CBE9-C1E8-EFF240B064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F683EFB-0B47-EE2D-87FD-BFB068E2BC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233DC0-9F51-CF33-DAEF-5730C67424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3" name="Picture Placeholder 2" descr="Partner logo.">
            <a:extLst>
              <a:ext uri="{FF2B5EF4-FFF2-40B4-BE49-F238E27FC236}">
                <a16:creationId xmlns:a16="http://schemas.microsoft.com/office/drawing/2014/main" id="{AB9F89D2-B938-55F7-2390-59CE40180F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25270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oup of students walking outside at the Jubilee campus">
            <a:extLst>
              <a:ext uri="{FF2B5EF4-FFF2-40B4-BE49-F238E27FC236}">
                <a16:creationId xmlns:a16="http://schemas.microsoft.com/office/drawing/2014/main" id="{F3A6E300-C087-BDE0-B7B6-C71E0D2AF2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266575-181D-0C2D-D064-10CE7F267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rgbClr val="000000">
                  <a:alpha val="50000"/>
                </a:srgbClr>
              </a:gs>
              <a:gs pos="0">
                <a:srgbClr val="000000"/>
              </a:gs>
              <a:gs pos="93000">
                <a:srgbClr val="11273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iversity of Nottingham logo">
            <a:extLst>
              <a:ext uri="{FF2B5EF4-FFF2-40B4-BE49-F238E27FC236}">
                <a16:creationId xmlns:a16="http://schemas.microsoft.com/office/drawing/2014/main" id="{7DCA2C24-5EEB-AB5B-F13B-1437BFDCD4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28B6B83-73D3-39B9-342E-9B160749B2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D2952EF-E6DB-4C48-B20B-247CE28572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54BEC63-1276-D73F-6E8D-64F2FF3847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15" name="Picture Placeholder 2" descr="Partner logo.&#10;">
            <a:extLst>
              <a:ext uri="{FF2B5EF4-FFF2-40B4-BE49-F238E27FC236}">
                <a16:creationId xmlns:a16="http://schemas.microsoft.com/office/drawing/2014/main" id="{87051EF0-A3DE-6CC6-7FB7-69634DED9EC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069301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ecturer writing on a white board">
            <a:extLst>
              <a:ext uri="{FF2B5EF4-FFF2-40B4-BE49-F238E27FC236}">
                <a16:creationId xmlns:a16="http://schemas.microsoft.com/office/drawing/2014/main" id="{9D7E975D-7EAA-8A13-F793-C7ECAFA89B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3678E8-BAEC-EEB9-4524-7F5094060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chemeClr val="bg1">
                  <a:alpha val="36000"/>
                </a:schemeClr>
              </a:gs>
              <a:gs pos="0">
                <a:schemeClr val="bg1">
                  <a:alpha val="36000"/>
                </a:schemeClr>
              </a:gs>
              <a:gs pos="9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 descr="University of Nottingham logo">
            <a:extLst>
              <a:ext uri="{FF2B5EF4-FFF2-40B4-BE49-F238E27FC236}">
                <a16:creationId xmlns:a16="http://schemas.microsoft.com/office/drawing/2014/main" id="{3078B252-73A9-8E34-6C5E-BAD062758BCE}"/>
              </a:ext>
            </a:extLst>
          </p:cNvPr>
          <p:cNvGrpSpPr/>
          <p:nvPr userDrawn="1"/>
        </p:nvGrpSpPr>
        <p:grpSpPr>
          <a:xfrm>
            <a:off x="0" y="0"/>
            <a:ext cx="2414586" cy="900112"/>
            <a:chOff x="0" y="0"/>
            <a:chExt cx="2414586" cy="900112"/>
          </a:xfrm>
        </p:grpSpPr>
        <p:pic>
          <p:nvPicPr>
            <p:cNvPr id="2" name="Picture 1" descr="University of Nottingham logo">
              <a:extLst>
                <a:ext uri="{FF2B5EF4-FFF2-40B4-BE49-F238E27FC236}">
                  <a16:creationId xmlns:a16="http://schemas.microsoft.com/office/drawing/2014/main" id="{DAE6A334-8BAA-FF81-501D-901663A8A2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2414586" cy="900112"/>
            </a:xfrm>
            <a:prstGeom prst="rect">
              <a:avLst/>
            </a:prstGeom>
          </p:spPr>
        </p:pic>
        <p:pic>
          <p:nvPicPr>
            <p:cNvPr id="4" name="Picture 3" descr="University of Nottingham logo">
              <a:extLst>
                <a:ext uri="{FF2B5EF4-FFF2-40B4-BE49-F238E27FC236}">
                  <a16:creationId xmlns:a16="http://schemas.microsoft.com/office/drawing/2014/main" id="{99027B22-A8ED-5D91-EFD1-E3AC533D7C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00000" cy="900000"/>
            </a:xfrm>
            <a:prstGeom prst="rect">
              <a:avLst/>
            </a:prstGeom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DB6A4C14-B5C9-AA71-CA7D-1FE42F599BE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F8056D7-DE00-AEA8-6D9E-F000D561AD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3A581F9-D81B-A0D3-54C1-4A8DFB1730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10" name="Picture Placeholder 2" descr="Partner logo.&#10;">
            <a:extLst>
              <a:ext uri="{FF2B5EF4-FFF2-40B4-BE49-F238E27FC236}">
                <a16:creationId xmlns:a16="http://schemas.microsoft.com/office/drawing/2014/main" id="{C4FF0AC7-FEE7-726F-206C-31391A2086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124049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 picture of the Trent Building on a bright day">
            <a:extLst>
              <a:ext uri="{FF2B5EF4-FFF2-40B4-BE49-F238E27FC236}">
                <a16:creationId xmlns:a16="http://schemas.microsoft.com/office/drawing/2014/main" id="{6BD05CDF-6F3D-E5F3-AAAF-26A13E5C44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7EB532D-E8E1-8966-DC50-74E1AF744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chemeClr val="bg1">
                  <a:alpha val="36000"/>
                </a:schemeClr>
              </a:gs>
              <a:gs pos="0">
                <a:schemeClr val="bg1">
                  <a:alpha val="36000"/>
                </a:schemeClr>
              </a:gs>
              <a:gs pos="9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 descr="University of Nottingham logo">
            <a:extLst>
              <a:ext uri="{FF2B5EF4-FFF2-40B4-BE49-F238E27FC236}">
                <a16:creationId xmlns:a16="http://schemas.microsoft.com/office/drawing/2014/main" id="{2B2D1A39-0397-9271-C41D-BD0DDBC49432}"/>
              </a:ext>
            </a:extLst>
          </p:cNvPr>
          <p:cNvGrpSpPr/>
          <p:nvPr userDrawn="1"/>
        </p:nvGrpSpPr>
        <p:grpSpPr>
          <a:xfrm>
            <a:off x="0" y="0"/>
            <a:ext cx="2414586" cy="900112"/>
            <a:chOff x="0" y="0"/>
            <a:chExt cx="2414586" cy="900112"/>
          </a:xfrm>
        </p:grpSpPr>
        <p:pic>
          <p:nvPicPr>
            <p:cNvPr id="6" name="Picture 5" descr="University of Nottingham logo">
              <a:extLst>
                <a:ext uri="{FF2B5EF4-FFF2-40B4-BE49-F238E27FC236}">
                  <a16:creationId xmlns:a16="http://schemas.microsoft.com/office/drawing/2014/main" id="{B6936C8D-5139-3496-BA36-DA3B9A8D40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2414586" cy="900112"/>
            </a:xfrm>
            <a:prstGeom prst="rect">
              <a:avLst/>
            </a:prstGeom>
          </p:spPr>
        </p:pic>
        <p:pic>
          <p:nvPicPr>
            <p:cNvPr id="2" name="Picture 1" descr="University of Nottingham logo">
              <a:extLst>
                <a:ext uri="{FF2B5EF4-FFF2-40B4-BE49-F238E27FC236}">
                  <a16:creationId xmlns:a16="http://schemas.microsoft.com/office/drawing/2014/main" id="{5132A84A-F57F-6FA7-519F-93E0C35B7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00000" cy="900000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C1D7A32-2962-8D38-3872-0223C4B7CB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D72A9E-1EF8-9E50-2D9F-E2FBD578F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B8EA4E0-4AC7-76E6-62C9-CEEC9D8C2C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8" name="Picture Placeholder 2" descr="Partner logo.&#10;">
            <a:extLst>
              <a:ext uri="{FF2B5EF4-FFF2-40B4-BE49-F238E27FC236}">
                <a16:creationId xmlns:a16="http://schemas.microsoft.com/office/drawing/2014/main" id="{C5153F9A-EC43-77E6-376C-598AC060ADF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906975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Nottingham logo">
            <a:extLst>
              <a:ext uri="{FF2B5EF4-FFF2-40B4-BE49-F238E27FC236}">
                <a16:creationId xmlns:a16="http://schemas.microsoft.com/office/drawing/2014/main" id="{9D85A3C1-D82A-B562-D697-12A7A834D4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14586" cy="900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6853EA-4853-ACD6-CC82-7D33A6FB25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450" y="2258844"/>
            <a:ext cx="7793990" cy="1620837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latin typeface="Georgia" panose="02040502050405020303" pitchFamily="18" charset="0"/>
              </a:defRPr>
            </a:lvl1pPr>
          </a:lstStyle>
          <a:p>
            <a:r>
              <a:rPr lang="en-GB"/>
              <a:t>The title </a:t>
            </a:r>
            <a:br>
              <a:rPr lang="en-GB"/>
            </a:br>
            <a:r>
              <a:rPr lang="en-GB"/>
              <a:t>goes here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30556-8831-6682-C9D7-CE486771B9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450" y="4244162"/>
            <a:ext cx="7793990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add subtitle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196E396-D43A-21AF-902E-40BD0AF6B4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5" name="Picture Placeholder 2" descr="Partner logo.&#10;">
            <a:extLst>
              <a:ext uri="{FF2B5EF4-FFF2-40B4-BE49-F238E27FC236}">
                <a16:creationId xmlns:a16="http://schemas.microsoft.com/office/drawing/2014/main" id="{A686251C-E48A-AA4A-6E4A-BC5C83A05A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329628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h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of the China campus at sunset">
            <a:extLst>
              <a:ext uri="{FF2B5EF4-FFF2-40B4-BE49-F238E27FC236}">
                <a16:creationId xmlns:a16="http://schemas.microsoft.com/office/drawing/2014/main" id="{3362EB9C-5AAD-43BA-3FD9-74FC97B7F0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grpSp>
        <p:nvGrpSpPr>
          <p:cNvPr id="4" name="Group 3" descr="University of Nottingham logo">
            <a:extLst>
              <a:ext uri="{FF2B5EF4-FFF2-40B4-BE49-F238E27FC236}">
                <a16:creationId xmlns:a16="http://schemas.microsoft.com/office/drawing/2014/main" id="{64A855BE-1E23-08C7-2D4C-463A35683911}"/>
              </a:ext>
            </a:extLst>
          </p:cNvPr>
          <p:cNvGrpSpPr/>
          <p:nvPr userDrawn="1"/>
        </p:nvGrpSpPr>
        <p:grpSpPr>
          <a:xfrm>
            <a:off x="0" y="0"/>
            <a:ext cx="2414586" cy="900112"/>
            <a:chOff x="0" y="0"/>
            <a:chExt cx="2414586" cy="900112"/>
          </a:xfrm>
        </p:grpSpPr>
        <p:pic>
          <p:nvPicPr>
            <p:cNvPr id="6" name="Picture 5" descr="University of Nottingham logo">
              <a:extLst>
                <a:ext uri="{FF2B5EF4-FFF2-40B4-BE49-F238E27FC236}">
                  <a16:creationId xmlns:a16="http://schemas.microsoft.com/office/drawing/2014/main" id="{B6936C8D-5139-3496-BA36-DA3B9A8D40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2414586" cy="900112"/>
            </a:xfrm>
            <a:prstGeom prst="rect">
              <a:avLst/>
            </a:prstGeom>
          </p:spPr>
        </p:pic>
        <p:pic>
          <p:nvPicPr>
            <p:cNvPr id="2" name="Picture 1" descr="University of Nottingham logo">
              <a:extLst>
                <a:ext uri="{FF2B5EF4-FFF2-40B4-BE49-F238E27FC236}">
                  <a16:creationId xmlns:a16="http://schemas.microsoft.com/office/drawing/2014/main" id="{262AEAE6-DD60-DF47-23EC-66DCA2A258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00000" cy="900000"/>
            </a:xfrm>
            <a:prstGeom prst="rect">
              <a:avLst/>
            </a:prstGeom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C0D04B19-D275-4903-FB7C-59F4342B7B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4706116-848E-CFD6-3CFC-91CCB1945E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619C8FE-768C-3612-1440-9A6561A8B3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7" name="Picture Placeholder 2" descr="Partner logo.">
            <a:extLst>
              <a:ext uri="{FF2B5EF4-FFF2-40B4-BE49-F238E27FC236}">
                <a16:creationId xmlns:a16="http://schemas.microsoft.com/office/drawing/2014/main" id="{D36CBA7F-C2A7-43D6-A0CA-C9D42B551B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1706572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Malays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View of the Malaysia campus through the trees with a body of water in front of the building&#10;">
            <a:extLst>
              <a:ext uri="{FF2B5EF4-FFF2-40B4-BE49-F238E27FC236}">
                <a16:creationId xmlns:a16="http://schemas.microsoft.com/office/drawing/2014/main" id="{8A8D9DF8-CB1D-EAF2-E07B-89D7D22340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6A51CC-9C5E-8F0A-07A8-7AFF5C6C3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rgbClr val="000000">
                  <a:alpha val="50000"/>
                </a:srgbClr>
              </a:gs>
              <a:gs pos="0">
                <a:srgbClr val="000000"/>
              </a:gs>
              <a:gs pos="93000">
                <a:srgbClr val="11273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University of Nottingham logo">
            <a:extLst>
              <a:ext uri="{FF2B5EF4-FFF2-40B4-BE49-F238E27FC236}">
                <a16:creationId xmlns:a16="http://schemas.microsoft.com/office/drawing/2014/main" id="{E88CCC24-EB1E-6A4A-85E4-27558E4718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09FB2E1-0CA5-164F-BB88-A99DCC7931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CC4A3B0-71B3-4C2B-7CB1-FF680E1BD51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53B9A27-851E-55AB-119E-61C5C475DA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6" name="Picture Placeholder 2" descr="Partner logo.">
            <a:extLst>
              <a:ext uri="{FF2B5EF4-FFF2-40B4-BE49-F238E27FC236}">
                <a16:creationId xmlns:a16="http://schemas.microsoft.com/office/drawing/2014/main" id="{32116587-F663-143F-75BC-3014C842DB4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167706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tton_Boning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view of the Sutton Bonington campus on a bright day">
            <a:extLst>
              <a:ext uri="{FF2B5EF4-FFF2-40B4-BE49-F238E27FC236}">
                <a16:creationId xmlns:a16="http://schemas.microsoft.com/office/drawing/2014/main" id="{7B4A215F-5265-E937-A182-3ADB3161F9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789"/>
            <a:ext cx="12192000" cy="68647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60E3A8-D46A-44E5-62CB-ED130CE69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789"/>
            <a:ext cx="7986252" cy="6858000"/>
          </a:xfrm>
          <a:prstGeom prst="rect">
            <a:avLst/>
          </a:prstGeom>
          <a:gradFill>
            <a:gsLst>
              <a:gs pos="62000">
                <a:srgbClr val="000000">
                  <a:alpha val="50000"/>
                </a:srgbClr>
              </a:gs>
              <a:gs pos="0">
                <a:srgbClr val="000000"/>
              </a:gs>
              <a:gs pos="93000">
                <a:srgbClr val="11273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University of Nottingham logo">
            <a:extLst>
              <a:ext uri="{FF2B5EF4-FFF2-40B4-BE49-F238E27FC236}">
                <a16:creationId xmlns:a16="http://schemas.microsoft.com/office/drawing/2014/main" id="{085511E6-A05D-133B-58DE-91F1088AC7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933EC02-81D9-2D0A-2981-160986CA1B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7F47A76-C945-91CB-5549-433224A0BA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8B52A8B-C3B3-C40B-83CE-26F42289F7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8" name="Picture Placeholder 2" descr="Partner logo.">
            <a:extLst>
              <a:ext uri="{FF2B5EF4-FFF2-40B4-BE49-F238E27FC236}">
                <a16:creationId xmlns:a16="http://schemas.microsoft.com/office/drawing/2014/main" id="{144CEBF8-B4F3-8B7D-FC0E-DEE8182A20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932247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Jubil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view of the Jubilee campus with the buildings reflecting in the water.">
            <a:extLst>
              <a:ext uri="{FF2B5EF4-FFF2-40B4-BE49-F238E27FC236}">
                <a16:creationId xmlns:a16="http://schemas.microsoft.com/office/drawing/2014/main" id="{77FD8D84-1679-38C7-0289-DCCDBBF427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28E206-4F63-08F4-8670-D6D0CE43D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rgbClr val="000000">
                  <a:alpha val="50000"/>
                </a:srgbClr>
              </a:gs>
              <a:gs pos="0">
                <a:srgbClr val="000000"/>
              </a:gs>
              <a:gs pos="93000">
                <a:srgbClr val="11273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University of Nottingham logo">
            <a:extLst>
              <a:ext uri="{FF2B5EF4-FFF2-40B4-BE49-F238E27FC236}">
                <a16:creationId xmlns:a16="http://schemas.microsoft.com/office/drawing/2014/main" id="{085511E6-A05D-133B-58DE-91F1088AC7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933EC02-81D9-2D0A-2981-160986CA1B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7F47A76-C945-91CB-5549-433224A0BA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8B52A8B-C3B3-C40B-83CE-26F42289F7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8" name="Picture Placeholder 2" descr="Partner logo.">
            <a:extLst>
              <a:ext uri="{FF2B5EF4-FFF2-40B4-BE49-F238E27FC236}">
                <a16:creationId xmlns:a16="http://schemas.microsoft.com/office/drawing/2014/main" id="{144CEBF8-B4F3-8B7D-FC0E-DEE8182A20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888207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s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ky with the GSK Building, Jubilee Campus. This represents sustainability.">
            <a:extLst>
              <a:ext uri="{FF2B5EF4-FFF2-40B4-BE49-F238E27FC236}">
                <a16:creationId xmlns:a16="http://schemas.microsoft.com/office/drawing/2014/main" id="{8E0A4445-18E5-C130-2732-8D1767178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4" name="Group 3" descr="University of Nottingham logo">
            <a:extLst>
              <a:ext uri="{FF2B5EF4-FFF2-40B4-BE49-F238E27FC236}">
                <a16:creationId xmlns:a16="http://schemas.microsoft.com/office/drawing/2014/main" id="{B3F55132-FFB5-5664-C457-AAEEBC1C9461}"/>
              </a:ext>
            </a:extLst>
          </p:cNvPr>
          <p:cNvGrpSpPr/>
          <p:nvPr userDrawn="1"/>
        </p:nvGrpSpPr>
        <p:grpSpPr>
          <a:xfrm>
            <a:off x="0" y="0"/>
            <a:ext cx="2414586" cy="900112"/>
            <a:chOff x="0" y="0"/>
            <a:chExt cx="2414586" cy="900112"/>
          </a:xfrm>
        </p:grpSpPr>
        <p:pic>
          <p:nvPicPr>
            <p:cNvPr id="6" name="Picture 5" descr="University of Nottingham logo">
              <a:extLst>
                <a:ext uri="{FF2B5EF4-FFF2-40B4-BE49-F238E27FC236}">
                  <a16:creationId xmlns:a16="http://schemas.microsoft.com/office/drawing/2014/main" id="{B6936C8D-5139-3496-BA36-DA3B9A8D40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2414586" cy="900112"/>
            </a:xfrm>
            <a:prstGeom prst="rect">
              <a:avLst/>
            </a:prstGeom>
          </p:spPr>
        </p:pic>
        <p:pic>
          <p:nvPicPr>
            <p:cNvPr id="2" name="Picture 1" descr="University of Nottingham logo">
              <a:extLst>
                <a:ext uri="{FF2B5EF4-FFF2-40B4-BE49-F238E27FC236}">
                  <a16:creationId xmlns:a16="http://schemas.microsoft.com/office/drawing/2014/main" id="{E56D2AD0-5B66-68D3-EC24-8D74D025FE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00000" cy="900000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933EC02-81D9-2D0A-2981-160986CA1B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450" y="1526601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7F47A76-C945-91CB-5549-433224A0BA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450" y="3474734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8B52A8B-C3B3-C40B-83CE-26F42289F7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372" y="4594902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8" name="Picture Placeholder 2" descr="Partner logo.">
            <a:extLst>
              <a:ext uri="{FF2B5EF4-FFF2-40B4-BE49-F238E27FC236}">
                <a16:creationId xmlns:a16="http://schemas.microsoft.com/office/drawing/2014/main" id="{144CEBF8-B4F3-8B7D-FC0E-DEE8182A20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669076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research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lose up image of a solder iron and circuit board representing research and the university">
            <a:extLst>
              <a:ext uri="{FF2B5EF4-FFF2-40B4-BE49-F238E27FC236}">
                <a16:creationId xmlns:a16="http://schemas.microsoft.com/office/drawing/2014/main" id="{B2FCE108-38BB-55A0-EDF7-8C89407783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A88DF4C-B16B-F94B-4B24-CA9F60B9B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rgbClr val="000000">
                  <a:alpha val="50000"/>
                </a:srgbClr>
              </a:gs>
              <a:gs pos="0">
                <a:srgbClr val="000000"/>
              </a:gs>
              <a:gs pos="93000">
                <a:srgbClr val="11273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niversity of Nottingham logo">
            <a:extLst>
              <a:ext uri="{FF2B5EF4-FFF2-40B4-BE49-F238E27FC236}">
                <a16:creationId xmlns:a16="http://schemas.microsoft.com/office/drawing/2014/main" id="{B6936C8D-5139-3496-BA36-DA3B9A8D40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1954F94-8460-0421-7AB1-DA51CF9FF5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5D9DFDB-5A7C-D207-F19E-20F14279B0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E116F-B78E-E6CF-85BA-9F027A61F5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9" name="Picture Placeholder 2" descr="Partner logo.">
            <a:extLst>
              <a:ext uri="{FF2B5EF4-FFF2-40B4-BE49-F238E27FC236}">
                <a16:creationId xmlns:a16="http://schemas.microsoft.com/office/drawing/2014/main" id="{8B1269C2-F17F-E221-0E5A-FBA04F2F11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738334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research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image of a Petri dish representing research at the university.">
            <a:extLst>
              <a:ext uri="{FF2B5EF4-FFF2-40B4-BE49-F238E27FC236}">
                <a16:creationId xmlns:a16="http://schemas.microsoft.com/office/drawing/2014/main" id="{960DD3FF-75B1-18A9-9303-69E04FC310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6850A0-B8B9-FF66-3068-158E81F69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gradFill>
            <a:gsLst>
              <a:gs pos="68000">
                <a:schemeClr val="bg1">
                  <a:alpha val="77000"/>
                </a:schemeClr>
              </a:gs>
              <a:gs pos="0">
                <a:schemeClr val="bg1">
                  <a:alpha val="90000"/>
                </a:schemeClr>
              </a:gs>
              <a:gs pos="9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 descr="University of Nottingham logo">
            <a:extLst>
              <a:ext uri="{FF2B5EF4-FFF2-40B4-BE49-F238E27FC236}">
                <a16:creationId xmlns:a16="http://schemas.microsoft.com/office/drawing/2014/main" id="{FE1D6E92-5290-1C2E-0615-02172335E21D}"/>
              </a:ext>
            </a:extLst>
          </p:cNvPr>
          <p:cNvGrpSpPr/>
          <p:nvPr userDrawn="1"/>
        </p:nvGrpSpPr>
        <p:grpSpPr>
          <a:xfrm>
            <a:off x="0" y="0"/>
            <a:ext cx="2414586" cy="900112"/>
            <a:chOff x="0" y="0"/>
            <a:chExt cx="2414586" cy="900112"/>
          </a:xfrm>
        </p:grpSpPr>
        <p:pic>
          <p:nvPicPr>
            <p:cNvPr id="4" name="Picture 3" descr="University of Nottingham logo">
              <a:extLst>
                <a:ext uri="{FF2B5EF4-FFF2-40B4-BE49-F238E27FC236}">
                  <a16:creationId xmlns:a16="http://schemas.microsoft.com/office/drawing/2014/main" id="{5E91A821-D390-B9E9-1E6B-240DC4A254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2414586" cy="900112"/>
            </a:xfrm>
            <a:prstGeom prst="rect">
              <a:avLst/>
            </a:prstGeom>
          </p:spPr>
        </p:pic>
        <p:pic>
          <p:nvPicPr>
            <p:cNvPr id="2" name="Picture 1" descr="University of Nottingham logo">
              <a:extLst>
                <a:ext uri="{FF2B5EF4-FFF2-40B4-BE49-F238E27FC236}">
                  <a16:creationId xmlns:a16="http://schemas.microsoft.com/office/drawing/2014/main" id="{3751951F-6AEC-26B3-51D3-81A4705EA8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00000" cy="900000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51C3934D-A361-752E-306D-CABE6FAC90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E713FE3-C318-030C-E350-B79800091D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4A1B2BA-B0FF-65C8-752C-032EA5940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11" name="Picture Placeholder 2" descr="Partner logo.">
            <a:extLst>
              <a:ext uri="{FF2B5EF4-FFF2-40B4-BE49-F238E27FC236}">
                <a16:creationId xmlns:a16="http://schemas.microsoft.com/office/drawing/2014/main" id="{E868E9B4-6EE2-4451-F95E-40AABDC86B3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522596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knowledge_exch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oup of students with a lecturer in a classroom">
            <a:extLst>
              <a:ext uri="{FF2B5EF4-FFF2-40B4-BE49-F238E27FC236}">
                <a16:creationId xmlns:a16="http://schemas.microsoft.com/office/drawing/2014/main" id="{ACBFB2E8-6E89-BBAA-618E-AEFB63004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19D4243-D09B-4010-00ED-52DEA9510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chemeClr val="bg1">
                  <a:alpha val="60000"/>
                </a:schemeClr>
              </a:gs>
              <a:gs pos="0">
                <a:schemeClr val="bg1">
                  <a:alpha val="76000"/>
                </a:schemeClr>
              </a:gs>
              <a:gs pos="9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 descr="University of Nottingham logo">
            <a:extLst>
              <a:ext uri="{FF2B5EF4-FFF2-40B4-BE49-F238E27FC236}">
                <a16:creationId xmlns:a16="http://schemas.microsoft.com/office/drawing/2014/main" id="{99F41044-EE70-E9F2-8436-AFD161FB20CE}"/>
              </a:ext>
            </a:extLst>
          </p:cNvPr>
          <p:cNvGrpSpPr/>
          <p:nvPr userDrawn="1"/>
        </p:nvGrpSpPr>
        <p:grpSpPr>
          <a:xfrm>
            <a:off x="0" y="0"/>
            <a:ext cx="2414586" cy="900112"/>
            <a:chOff x="0" y="0"/>
            <a:chExt cx="2414586" cy="900112"/>
          </a:xfrm>
        </p:grpSpPr>
        <p:pic>
          <p:nvPicPr>
            <p:cNvPr id="4" name="Picture 3" descr="University of Nottingham logo">
              <a:extLst>
                <a:ext uri="{FF2B5EF4-FFF2-40B4-BE49-F238E27FC236}">
                  <a16:creationId xmlns:a16="http://schemas.microsoft.com/office/drawing/2014/main" id="{5E91A821-D390-B9E9-1E6B-240DC4A254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2414586" cy="900112"/>
            </a:xfrm>
            <a:prstGeom prst="rect">
              <a:avLst/>
            </a:prstGeom>
          </p:spPr>
        </p:pic>
        <p:pic>
          <p:nvPicPr>
            <p:cNvPr id="2" name="Picture 1" descr="University of Nottingham logo">
              <a:extLst>
                <a:ext uri="{FF2B5EF4-FFF2-40B4-BE49-F238E27FC236}">
                  <a16:creationId xmlns:a16="http://schemas.microsoft.com/office/drawing/2014/main" id="{DD42F20C-5448-89E8-1BAC-677437134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00000" cy="900000"/>
            </a:xfrm>
            <a:prstGeom prst="rect">
              <a:avLst/>
            </a:prstGeom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E739940D-65C5-FB7F-9FCE-1C2E3D92DC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6A391B4-D1A3-07B0-2040-B1E4DD0E15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E723E9-5220-358B-4CE9-424926AAE4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8" name="Picture Placeholder 2" descr="Partner logo.">
            <a:extLst>
              <a:ext uri="{FF2B5EF4-FFF2-40B4-BE49-F238E27FC236}">
                <a16:creationId xmlns:a16="http://schemas.microsoft.com/office/drawing/2014/main" id="{DAD97A24-4AE6-1670-120F-0B2EA99521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066223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faculty_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udent indoor looking at printed posters to represent the arts faculty at the university">
            <a:extLst>
              <a:ext uri="{FF2B5EF4-FFF2-40B4-BE49-F238E27FC236}">
                <a16:creationId xmlns:a16="http://schemas.microsoft.com/office/drawing/2014/main" id="{9C68E323-7A9A-640F-9BA6-836C099A90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BABB96-EBB8-3E88-4702-73479B334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rgbClr val="000000">
                  <a:alpha val="50000"/>
                </a:srgbClr>
              </a:gs>
              <a:gs pos="0">
                <a:srgbClr val="000000"/>
              </a:gs>
              <a:gs pos="93000">
                <a:srgbClr val="11273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iversity of Nottingham logo">
            <a:extLst>
              <a:ext uri="{FF2B5EF4-FFF2-40B4-BE49-F238E27FC236}">
                <a16:creationId xmlns:a16="http://schemas.microsoft.com/office/drawing/2014/main" id="{14686114-02E6-D92C-A5FC-B12555FEF7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739940D-65C5-FB7F-9FCE-1C2E3D92DC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6A391B4-D1A3-07B0-2040-B1E4DD0E15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E723E9-5220-358B-4CE9-424926AAE4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8" name="Picture Placeholder 2" descr="Partner logo.">
            <a:extLst>
              <a:ext uri="{FF2B5EF4-FFF2-40B4-BE49-F238E27FC236}">
                <a16:creationId xmlns:a16="http://schemas.microsoft.com/office/drawing/2014/main" id="{DAD97A24-4AE6-1670-120F-0B2EA99521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5953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faculty_social_sci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udent sitting in a library reading a book to represent social sciences faculty">
            <a:extLst>
              <a:ext uri="{FF2B5EF4-FFF2-40B4-BE49-F238E27FC236}">
                <a16:creationId xmlns:a16="http://schemas.microsoft.com/office/drawing/2014/main" id="{B565E0CA-EE73-59A5-7B15-8184F1AF3A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032" y="0"/>
            <a:ext cx="1219703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68267CD-D760-80CB-6ECD-FEC9C2891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62000">
                <a:schemeClr val="bg1">
                  <a:alpha val="60000"/>
                </a:schemeClr>
              </a:gs>
              <a:gs pos="0">
                <a:schemeClr val="bg1"/>
              </a:gs>
              <a:gs pos="9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 descr="The University of Nottingham logo.">
            <a:extLst>
              <a:ext uri="{FF2B5EF4-FFF2-40B4-BE49-F238E27FC236}">
                <a16:creationId xmlns:a16="http://schemas.microsoft.com/office/drawing/2014/main" id="{F5B6BDB7-93E8-A9D5-A974-108B82ACE397}"/>
              </a:ext>
            </a:extLst>
          </p:cNvPr>
          <p:cNvGrpSpPr/>
          <p:nvPr userDrawn="1"/>
        </p:nvGrpSpPr>
        <p:grpSpPr>
          <a:xfrm>
            <a:off x="0" y="0"/>
            <a:ext cx="2414586" cy="900112"/>
            <a:chOff x="0" y="0"/>
            <a:chExt cx="2414586" cy="900112"/>
          </a:xfrm>
        </p:grpSpPr>
        <p:pic>
          <p:nvPicPr>
            <p:cNvPr id="4" name="Picture 3" descr="University of Nottingham logo">
              <a:extLst>
                <a:ext uri="{FF2B5EF4-FFF2-40B4-BE49-F238E27FC236}">
                  <a16:creationId xmlns:a16="http://schemas.microsoft.com/office/drawing/2014/main" id="{5E91A821-D390-B9E9-1E6B-240DC4A254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2414586" cy="900112"/>
            </a:xfrm>
            <a:prstGeom prst="rect">
              <a:avLst/>
            </a:prstGeom>
          </p:spPr>
        </p:pic>
        <p:pic>
          <p:nvPicPr>
            <p:cNvPr id="2" name="Picture 1" descr="University of Nottingham logo">
              <a:extLst>
                <a:ext uri="{FF2B5EF4-FFF2-40B4-BE49-F238E27FC236}">
                  <a16:creationId xmlns:a16="http://schemas.microsoft.com/office/drawing/2014/main" id="{DD42F20C-5448-89E8-1BAC-677437134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00000" cy="900000"/>
            </a:xfrm>
            <a:prstGeom prst="rect">
              <a:avLst/>
            </a:prstGeom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E739940D-65C5-FB7F-9FCE-1C2E3D92DC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6A391B4-D1A3-07B0-2040-B1E4DD0E15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E723E9-5220-358B-4CE9-424926AAE4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8" name="Picture Placeholder 2" descr="Partner logo.">
            <a:extLst>
              <a:ext uri="{FF2B5EF4-FFF2-40B4-BE49-F238E27FC236}">
                <a16:creationId xmlns:a16="http://schemas.microsoft.com/office/drawing/2014/main" id="{DAD97A24-4AE6-1670-120F-0B2EA99521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166665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faculty_engine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person wearing goggles while operating machinery to represent the engineering faculty">
            <a:extLst>
              <a:ext uri="{FF2B5EF4-FFF2-40B4-BE49-F238E27FC236}">
                <a16:creationId xmlns:a16="http://schemas.microsoft.com/office/drawing/2014/main" id="{937042E3-1F94-D876-D855-C0086C1E1D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AC677D0-4A7D-B2D4-5884-B7CA0698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986252" cy="6858000"/>
          </a:xfrm>
          <a:prstGeom prst="rect">
            <a:avLst/>
          </a:prstGeom>
          <a:gradFill>
            <a:gsLst>
              <a:gs pos="52000">
                <a:schemeClr val="bg1">
                  <a:alpha val="60000"/>
                </a:schemeClr>
              </a:gs>
              <a:gs pos="0">
                <a:schemeClr val="bg1"/>
              </a:gs>
              <a:gs pos="77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 descr="University of Nottingham logo">
            <a:extLst>
              <a:ext uri="{FF2B5EF4-FFF2-40B4-BE49-F238E27FC236}">
                <a16:creationId xmlns:a16="http://schemas.microsoft.com/office/drawing/2014/main" id="{183F7270-4379-F8B2-5D8E-518A76505B08}"/>
              </a:ext>
            </a:extLst>
          </p:cNvPr>
          <p:cNvGrpSpPr/>
          <p:nvPr userDrawn="1"/>
        </p:nvGrpSpPr>
        <p:grpSpPr>
          <a:xfrm>
            <a:off x="0" y="0"/>
            <a:ext cx="2414586" cy="900112"/>
            <a:chOff x="0" y="0"/>
            <a:chExt cx="2414586" cy="900112"/>
          </a:xfrm>
        </p:grpSpPr>
        <p:pic>
          <p:nvPicPr>
            <p:cNvPr id="4" name="Picture 3" descr="University of Nottingham logo">
              <a:extLst>
                <a:ext uri="{FF2B5EF4-FFF2-40B4-BE49-F238E27FC236}">
                  <a16:creationId xmlns:a16="http://schemas.microsoft.com/office/drawing/2014/main" id="{5E91A821-D390-B9E9-1E6B-240DC4A254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2414586" cy="900112"/>
            </a:xfrm>
            <a:prstGeom prst="rect">
              <a:avLst/>
            </a:prstGeom>
          </p:spPr>
        </p:pic>
        <p:pic>
          <p:nvPicPr>
            <p:cNvPr id="2" name="Picture 1" descr="University of Nottingham logo&#10;">
              <a:extLst>
                <a:ext uri="{FF2B5EF4-FFF2-40B4-BE49-F238E27FC236}">
                  <a16:creationId xmlns:a16="http://schemas.microsoft.com/office/drawing/2014/main" id="{DD42F20C-5448-89E8-1BAC-677437134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900000" cy="900000"/>
            </a:xfrm>
            <a:prstGeom prst="rect">
              <a:avLst/>
            </a:prstGeom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E739940D-65C5-FB7F-9FCE-1C2E3D92DC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989" y="1817028"/>
            <a:ext cx="4679880" cy="19023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6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The title goes here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6A391B4-D1A3-07B0-2040-B1E4DD0E15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989" y="3947752"/>
            <a:ext cx="4679880" cy="8863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E723E9-5220-358B-4CE9-424926AAE4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" y="5207617"/>
            <a:ext cx="4679958" cy="36069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8" name="Picture Placeholder 2" descr="Partner logo.">
            <a:extLst>
              <a:ext uri="{FF2B5EF4-FFF2-40B4-BE49-F238E27FC236}">
                <a16:creationId xmlns:a16="http://schemas.microsoft.com/office/drawing/2014/main" id="{DAD97A24-4AE6-1670-120F-0B2EA99521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51739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625721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ue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Nottingham logo">
            <a:extLst>
              <a:ext uri="{FF2B5EF4-FFF2-40B4-BE49-F238E27FC236}">
                <a16:creationId xmlns:a16="http://schemas.microsoft.com/office/drawing/2014/main" id="{F1EA9D3F-EDF8-DEC2-BF2D-AE3CF2580B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22ABA4-3700-BF47-C5C3-AD2A7C00FB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528" y="1808163"/>
            <a:ext cx="9269952" cy="179673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presentation </a:t>
            </a:r>
            <a:br>
              <a:rPr lang="en-GB"/>
            </a:br>
            <a:r>
              <a:rPr lang="en-GB"/>
              <a:t>or section goes here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91764B8-A98D-B024-D18E-427B6AC849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528" y="3969375"/>
            <a:ext cx="9269952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B93E08E4-1BF9-8CA3-4C65-FF7B43AB22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989" y="5229240"/>
            <a:ext cx="4225925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10" name="Picture Placeholder 2" descr="Partner logo.">
            <a:extLst>
              <a:ext uri="{FF2B5EF4-FFF2-40B4-BE49-F238E27FC236}">
                <a16:creationId xmlns:a16="http://schemas.microsoft.com/office/drawing/2014/main" id="{320CE6D5-BD3C-E1D9-4759-3B4EA6BE4B3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57363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5C707-8C61-7BF9-EF26-9346A3915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6550" y="0"/>
            <a:ext cx="42545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57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ue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Nottingham logo">
            <a:extLst>
              <a:ext uri="{FF2B5EF4-FFF2-40B4-BE49-F238E27FC236}">
                <a16:creationId xmlns:a16="http://schemas.microsoft.com/office/drawing/2014/main" id="{F1EA9D3F-EDF8-DEC2-BF2D-AE3CF2580B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D2D73A5-D9F3-41EE-E7DB-D68266D900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528" y="1808163"/>
            <a:ext cx="9269952" cy="179673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presentation </a:t>
            </a:r>
            <a:br>
              <a:rPr lang="en-GB"/>
            </a:br>
            <a:r>
              <a:rPr lang="en-GB"/>
              <a:t>or section goes here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54708EE-9DCC-D954-B2AB-46FED4C0EA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528" y="3969375"/>
            <a:ext cx="9269952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033AEE-5A46-6AD6-1141-0D13DA32B8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989" y="5229240"/>
            <a:ext cx="4225925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11" name="Picture Placeholder 2" descr="Partner logo.">
            <a:extLst>
              <a:ext uri="{FF2B5EF4-FFF2-40B4-BE49-F238E27FC236}">
                <a16:creationId xmlns:a16="http://schemas.microsoft.com/office/drawing/2014/main" id="{236E9D49-337F-82A4-1332-A4CD0B82E4C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57363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5C707-8C61-7BF9-EF26-9346A3915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6550" y="0"/>
            <a:ext cx="425450" cy="685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7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ue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Nottingham logo">
            <a:extLst>
              <a:ext uri="{FF2B5EF4-FFF2-40B4-BE49-F238E27FC236}">
                <a16:creationId xmlns:a16="http://schemas.microsoft.com/office/drawing/2014/main" id="{F1EA9D3F-EDF8-DEC2-BF2D-AE3CF2580B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4F4275-3E4F-D80E-F9C8-47C67E6181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528" y="1808163"/>
            <a:ext cx="9269952" cy="179673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presentation </a:t>
            </a:r>
            <a:br>
              <a:rPr lang="en-GB"/>
            </a:br>
            <a:r>
              <a:rPr lang="en-GB"/>
              <a:t>or section goes here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D309B2-0B3C-7544-CF55-A9DA0836EA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528" y="3969375"/>
            <a:ext cx="9269952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3F9965-8A47-94FA-C04E-A27D2EA8D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989" y="5229240"/>
            <a:ext cx="4225925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11" name="Picture Placeholder 2" descr="Partner logo.">
            <a:extLst>
              <a:ext uri="{FF2B5EF4-FFF2-40B4-BE49-F238E27FC236}">
                <a16:creationId xmlns:a16="http://schemas.microsoft.com/office/drawing/2014/main" id="{17790C14-E84E-D22B-241E-70A189E4A88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57363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5C707-8C61-7BF9-EF26-9346A3915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6550" y="0"/>
            <a:ext cx="425450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04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ue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Nottingham logo">
            <a:extLst>
              <a:ext uri="{FF2B5EF4-FFF2-40B4-BE49-F238E27FC236}">
                <a16:creationId xmlns:a16="http://schemas.microsoft.com/office/drawing/2014/main" id="{F1EA9D3F-EDF8-DEC2-BF2D-AE3CF2580B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98903FF-2ED4-C86B-64A8-AC2ED1D199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528" y="1808163"/>
            <a:ext cx="9269952" cy="179673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presentation </a:t>
            </a:r>
            <a:br>
              <a:rPr lang="en-GB"/>
            </a:br>
            <a:r>
              <a:rPr lang="en-GB"/>
              <a:t>or section goes here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65196FB-C293-6637-2C20-F6F5A3B3F2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528" y="3969375"/>
            <a:ext cx="9269952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EF38FB-2DE7-E0FC-2BEF-2C1C30101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989" y="5229240"/>
            <a:ext cx="4225925" cy="36069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of presenter</a:t>
            </a:r>
            <a:endParaRPr lang="en-US"/>
          </a:p>
        </p:txBody>
      </p:sp>
      <p:sp>
        <p:nvSpPr>
          <p:cNvPr id="11" name="Picture Placeholder 2" descr="Partner logo.">
            <a:extLst>
              <a:ext uri="{FF2B5EF4-FFF2-40B4-BE49-F238E27FC236}">
                <a16:creationId xmlns:a16="http://schemas.microsoft.com/office/drawing/2014/main" id="{D29B8919-ECAB-740A-54B2-F6ADBF999E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57363" y="5499101"/>
            <a:ext cx="1800000" cy="900112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Insert a partner logo here or remove this box if not needed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5C707-8C61-7BF9-EF26-9346A3915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6550" y="0"/>
            <a:ext cx="42545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95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blue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iversity of Nottingham castle icon">
            <a:extLst>
              <a:ext uri="{FF2B5EF4-FFF2-40B4-BE49-F238E27FC236}">
                <a16:creationId xmlns:a16="http://schemas.microsoft.com/office/drawing/2014/main" id="{ABE46430-C869-FB5B-1543-5658FF4DB2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00113" cy="90011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22ABA4-3700-BF47-C5C3-AD2A7C00FB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089" y="1808163"/>
            <a:ext cx="9269952" cy="179673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Section title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91764B8-A98D-B024-D18E-427B6AC849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089" y="3969375"/>
            <a:ext cx="9269952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5C707-8C61-7BF9-EF26-9346A3915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6550" y="0"/>
            <a:ext cx="42545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69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blue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niversity of Nottingham castle icon">
            <a:extLst>
              <a:ext uri="{FF2B5EF4-FFF2-40B4-BE49-F238E27FC236}">
                <a16:creationId xmlns:a16="http://schemas.microsoft.com/office/drawing/2014/main" id="{0F4B7E7B-C184-0FD6-967A-1495A016AA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00113" cy="900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67CB6-25ED-5142-E060-0D1155D689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089" y="1808163"/>
            <a:ext cx="9269952" cy="179673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Section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D93F1-6799-698D-3691-2B55FC98EC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089" y="3969375"/>
            <a:ext cx="9269952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5C707-8C61-7BF9-EF26-9346A3915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6550" y="0"/>
            <a:ext cx="425450" cy="685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35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blue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niversity of Nottingham castle icon">
            <a:extLst>
              <a:ext uri="{FF2B5EF4-FFF2-40B4-BE49-F238E27FC236}">
                <a16:creationId xmlns:a16="http://schemas.microsoft.com/office/drawing/2014/main" id="{4674787E-5F7F-8AEF-E91C-2886513254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00113" cy="900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12E4A-B2A7-E044-D5F9-97AD9A7D5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089" y="1808163"/>
            <a:ext cx="9269952" cy="179673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Section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034DB-22D0-BF2A-EC1A-44865177D6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089" y="3969375"/>
            <a:ext cx="9269952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5C707-8C61-7BF9-EF26-9346A3915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6550" y="0"/>
            <a:ext cx="425450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6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blue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niversity of Nottingham castle icon">
            <a:extLst>
              <a:ext uri="{FF2B5EF4-FFF2-40B4-BE49-F238E27FC236}">
                <a16:creationId xmlns:a16="http://schemas.microsoft.com/office/drawing/2014/main" id="{EE74AC68-18AF-B6C5-ADFC-35E4DB4B92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00113" cy="900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1B7C56-46BC-877A-A8BB-101B90BFD2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089" y="1808163"/>
            <a:ext cx="9269952" cy="179673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6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Section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F8BB8-6D58-2478-03AA-191002128E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089" y="3969375"/>
            <a:ext cx="9269952" cy="720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Your subheading goes here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5C707-8C61-7BF9-EF26-9346A3915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6550" y="0"/>
            <a:ext cx="42545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96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D73FB3-9B19-99C1-3D3B-5F99A94D0E99}"/>
              </a:ext>
            </a:extLst>
          </p:cNvPr>
          <p:cNvSpPr/>
          <p:nvPr userDrawn="1"/>
        </p:nvSpPr>
        <p:spPr>
          <a:xfrm>
            <a:off x="-1315704" y="900000"/>
            <a:ext cx="1284984" cy="719250"/>
          </a:xfrm>
          <a:prstGeom prst="rect">
            <a:avLst/>
          </a:prstGeom>
          <a:solidFill>
            <a:srgbClr val="92D4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2FC18C2-35C0-6A2D-7CC1-B9CB79EDB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563" y="0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A4DB-7437-56B6-3837-AC3C5EEB0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1" y="1358900"/>
            <a:ext cx="11341100" cy="4860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49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9FCC3B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FBF756-7938-DF8A-6396-399256C9906D}"/>
              </a:ext>
            </a:extLst>
          </p:cNvPr>
          <p:cNvSpPr/>
          <p:nvPr userDrawn="1"/>
        </p:nvSpPr>
        <p:spPr>
          <a:xfrm>
            <a:off x="-1315704" y="9000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7C0ADF4-0D4B-B1BD-FF64-E8E537692D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563" y="0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1BA355-872A-DEBD-83F0-DEB26F40738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33472" y="1358900"/>
            <a:ext cx="11333076" cy="45036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Subheading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A4DB-7437-56B6-3837-AC3C5EEB0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2158669"/>
            <a:ext cx="11341100" cy="37779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26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9FCC3B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9B2B3E-7582-7286-13C3-D6FB10512B05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7E7DBA9-86CE-B2F4-C934-CC6EEA02C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521167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A4DB-7437-56B6-3837-AC3C5EEB09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2708904"/>
            <a:ext cx="5219518" cy="351092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FD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4756" y="458788"/>
            <a:ext cx="5211794" cy="5761037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1B6B00A-DA58-B7AA-2824-078C08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03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  <p15:guide id="4" orient="horz" pos="1876">
          <p15:clr>
            <a:srgbClr val="9FCC3B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alf_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181FBF-FF29-7EEB-B956-87316803BB80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4CF4F-FADD-27CF-D87D-D9D07A4A1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521167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87C9B7B-EA93-3AB0-06E0-7F98E483636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33473" y="2707856"/>
            <a:ext cx="5211677" cy="45036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Subheading goes here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EDEE7F-F97B-7B97-02BF-AF74423C78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3519012"/>
            <a:ext cx="5211677" cy="2700813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FD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4756" y="458788"/>
            <a:ext cx="5211794" cy="5761037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CB23B47-37ED-75C0-0F34-9D3C03F79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80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  <p15:guide id="4" orient="horz" pos="1876">
          <p15:clr>
            <a:srgbClr val="9FCC3B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alf_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358900"/>
            <a:ext cx="6096000" cy="5499100"/>
          </a:xfrm>
          <a:prstGeom prst="rect">
            <a:avLst/>
          </a:prstGeom>
          <a:solidFill>
            <a:srgbClr val="CFD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4E01E-D3F9-8614-6E3C-62268CBD2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13589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niversity of Nottingham castle icon">
            <a:extLst>
              <a:ext uri="{FF2B5EF4-FFF2-40B4-BE49-F238E27FC236}">
                <a16:creationId xmlns:a16="http://schemas.microsoft.com/office/drawing/2014/main" id="{D7395279-FD9F-F3B7-B55E-F407BE7B3E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00113" cy="900112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91BDDD1-ABB8-5513-0EBE-12EB29040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563" y="5386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A4DB-7437-56B6-3837-AC3C5EEB09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1817688"/>
            <a:ext cx="5219518" cy="4402138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4756" y="1812413"/>
            <a:ext cx="5211794" cy="440741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1B6B00A-DA58-B7AA-2824-078C08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63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alf_header_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358900"/>
            <a:ext cx="6096000" cy="5499100"/>
          </a:xfrm>
          <a:prstGeom prst="rect">
            <a:avLst/>
          </a:prstGeom>
          <a:solidFill>
            <a:srgbClr val="CFD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4E01E-D3F9-8614-6E3C-62268CBD2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13589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niversity of Nottingham castle icon">
            <a:extLst>
              <a:ext uri="{FF2B5EF4-FFF2-40B4-BE49-F238E27FC236}">
                <a16:creationId xmlns:a16="http://schemas.microsoft.com/office/drawing/2014/main" id="{D7395279-FD9F-F3B7-B55E-F407BE7B3E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00113" cy="900112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91BDDD1-ABB8-5513-0EBE-12EB29040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563" y="5386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116A886-E557-330B-11EE-42F5D3EE412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33473" y="1812413"/>
            <a:ext cx="5211677" cy="45036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Subheading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079674-2601-E1DB-B666-2D0B774D04F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3473" y="2623569"/>
            <a:ext cx="5211677" cy="3596255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4756" y="1812413"/>
            <a:ext cx="5211794" cy="440741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1B6B00A-DA58-B7AA-2824-078C08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73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3C1180-494D-3A45-3D53-7113F7295561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DDB14-B4F8-AF81-C172-8590ED48C9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7192876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E2F637-A3FE-B82F-49CB-F653C711B9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2" y="2708904"/>
            <a:ext cx="7192877" cy="351092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75613" y="0"/>
            <a:ext cx="4116387" cy="6858000"/>
          </a:xfrm>
          <a:prstGeom prst="rect">
            <a:avLst/>
          </a:prstGeom>
          <a:solidFill>
            <a:srgbClr val="CFD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6463" y="458788"/>
            <a:ext cx="3240087" cy="5761037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75EE26C-6F7A-8BE8-0244-7469236EB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14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04">
          <p15:clr>
            <a:srgbClr val="FBAE40"/>
          </p15:clr>
        </p15:guide>
        <p15:guide id="2" pos="5087">
          <p15:clr>
            <a:srgbClr val="FBAE40"/>
          </p15:clr>
        </p15:guide>
        <p15:guide id="3" pos="5371">
          <p15:clr>
            <a:srgbClr val="FBAE40"/>
          </p15:clr>
        </p15:guide>
        <p15:guide id="4" orient="horz" pos="1865">
          <p15:clr>
            <a:srgbClr val="9FCC3B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hird_N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3C1180-494D-3A45-3D53-7113F7295561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DDB14-B4F8-AF81-C172-8590ED48C9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7192876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E2F637-A3FE-B82F-49CB-F653C711B9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2" y="2708904"/>
            <a:ext cx="7192877" cy="351092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75613" y="0"/>
            <a:ext cx="4116387" cy="6858000"/>
          </a:xfrm>
          <a:prstGeom prst="rect">
            <a:avLst/>
          </a:prstGeom>
          <a:solidFill>
            <a:srgbClr val="11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6463" y="458788"/>
            <a:ext cx="3240087" cy="5761037"/>
          </a:xfrm>
          <a:prstGeom prst="rect">
            <a:avLst/>
          </a:prstGeom>
        </p:spPr>
        <p:txBody>
          <a:bodyPr bIns="0"/>
          <a:lstStyle>
            <a:lvl1pPr>
              <a:defRPr>
                <a:solidFill>
                  <a:srgbClr val="FAF6EF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75EE26C-6F7A-8BE8-0244-7469236EB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50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04">
          <p15:clr>
            <a:srgbClr val="FBAE40"/>
          </p15:clr>
        </p15:guide>
        <p15:guide id="2" pos="5087">
          <p15:clr>
            <a:srgbClr val="FBAE40"/>
          </p15:clr>
        </p15:guide>
        <p15:guide id="3" pos="5371">
          <p15:clr>
            <a:srgbClr val="FBAE40"/>
          </p15:clr>
        </p15:guide>
        <p15:guide id="4" orient="horz" pos="1865">
          <p15:clr>
            <a:srgbClr val="9FCC3B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hird_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BBED16-29E0-32E0-53EF-E6BDB0D777AB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E7D4E18-50DC-7E45-B2D8-00BB10340B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7192876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E56A981-CD9B-8BA7-562F-FBFBA872256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33473" y="2708904"/>
            <a:ext cx="7192877" cy="45036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Subheading goes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55CA27-D589-3763-3734-33D5177284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3520060"/>
            <a:ext cx="7192877" cy="2699765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75613" y="0"/>
            <a:ext cx="4116387" cy="6858000"/>
          </a:xfrm>
          <a:prstGeom prst="rect">
            <a:avLst/>
          </a:prstGeom>
          <a:solidFill>
            <a:srgbClr val="CFD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6463" y="458788"/>
            <a:ext cx="3240087" cy="5761037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46B96E7-E547-78AA-C543-83A207229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53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04">
          <p15:clr>
            <a:srgbClr val="FBAE40"/>
          </p15:clr>
        </p15:guide>
        <p15:guide id="2" pos="5087">
          <p15:clr>
            <a:srgbClr val="FBAE40"/>
          </p15:clr>
        </p15:guide>
        <p15:guide id="3" pos="5371">
          <p15:clr>
            <a:srgbClr val="FBAE40"/>
          </p15:clr>
        </p15:guide>
        <p15:guide id="4" orient="horz" pos="1876">
          <p15:clr>
            <a:srgbClr val="9FCC3B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hird_subtitle_N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BBED16-29E0-32E0-53EF-E6BDB0D777AB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E7D4E18-50DC-7E45-B2D8-00BB10340B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7192876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E56A981-CD9B-8BA7-562F-FBFBA872256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33473" y="2708904"/>
            <a:ext cx="7192877" cy="45036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Subheading goes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55CA27-D589-3763-3734-33D5177284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3520060"/>
            <a:ext cx="7192877" cy="2699765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75613" y="0"/>
            <a:ext cx="4116387" cy="6858000"/>
          </a:xfrm>
          <a:prstGeom prst="rect">
            <a:avLst/>
          </a:prstGeom>
          <a:solidFill>
            <a:srgbClr val="11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6463" y="440315"/>
            <a:ext cx="3240087" cy="5761037"/>
          </a:xfrm>
          <a:prstGeom prst="rect">
            <a:avLst/>
          </a:prstGeom>
        </p:spPr>
        <p:txBody>
          <a:bodyPr bIns="0"/>
          <a:lstStyle>
            <a:lvl1pPr>
              <a:defRPr>
                <a:solidFill>
                  <a:srgbClr val="FAF6EF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46B96E7-E547-78AA-C543-83A207229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339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04">
          <p15:clr>
            <a:srgbClr val="FBAE40"/>
          </p15:clr>
        </p15:guide>
        <p15:guide id="2" pos="5087">
          <p15:clr>
            <a:srgbClr val="FBAE40"/>
          </p15:clr>
        </p15:guide>
        <p15:guide id="3" pos="5371">
          <p15:clr>
            <a:srgbClr val="FBAE40"/>
          </p15:clr>
        </p15:guide>
        <p15:guide id="4" orient="horz" pos="1876">
          <p15:clr>
            <a:srgbClr val="9FCC3B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_column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AA1B0-C99D-5E34-36D6-FAE430BD23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563" y="5386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55204-F707-A2D7-9431-4397130C1DC7}"/>
              </a:ext>
            </a:extLst>
          </p:cNvPr>
          <p:cNvSpPr txBox="1"/>
          <p:nvPr userDrawn="1"/>
        </p:nvSpPr>
        <p:spPr>
          <a:xfrm>
            <a:off x="343005" y="1593063"/>
            <a:ext cx="14483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8000" b="1">
                <a:solidFill>
                  <a:srgbClr val="009BC1"/>
                </a:solidFill>
              </a:rPr>
              <a:t>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A4DB-7437-56B6-3837-AC3C5EEB09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5451" y="3159585"/>
            <a:ext cx="3345691" cy="27902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Your text goes here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B91C6-3DB9-F614-38EC-2285A437201C}"/>
              </a:ext>
            </a:extLst>
          </p:cNvPr>
          <p:cNvSpPr txBox="1"/>
          <p:nvPr userDrawn="1"/>
        </p:nvSpPr>
        <p:spPr>
          <a:xfrm>
            <a:off x="4294951" y="1593063"/>
            <a:ext cx="14483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8000" b="1">
                <a:solidFill>
                  <a:srgbClr val="009BC1"/>
                </a:solidFill>
              </a:rPr>
              <a:t>02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178B68-4973-59C0-D306-617FE8FC88C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385772" y="3159585"/>
            <a:ext cx="3345691" cy="27902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Your text goes here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C90D3A-884C-1A78-8C9D-522CF00F72B3}"/>
              </a:ext>
            </a:extLst>
          </p:cNvPr>
          <p:cNvSpPr txBox="1"/>
          <p:nvPr userDrawn="1"/>
        </p:nvSpPr>
        <p:spPr>
          <a:xfrm>
            <a:off x="8246897" y="1572882"/>
            <a:ext cx="14483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8000" b="1">
                <a:solidFill>
                  <a:srgbClr val="009BC1"/>
                </a:solidFill>
              </a:rPr>
              <a:t>03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88ED98-95EA-FDDD-D6DB-6552BA7D87B7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346300" y="3159585"/>
            <a:ext cx="3345691" cy="27902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Your text goes here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828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_column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A62D1B7-1580-A1C2-197B-0F085CE1F2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563" y="5386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B1A70D-F4F8-FBC6-92C6-09996629C5F8}"/>
              </a:ext>
            </a:extLst>
          </p:cNvPr>
          <p:cNvSpPr txBox="1"/>
          <p:nvPr userDrawn="1"/>
        </p:nvSpPr>
        <p:spPr>
          <a:xfrm>
            <a:off x="343005" y="1593063"/>
            <a:ext cx="14483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8000" b="1">
                <a:solidFill>
                  <a:srgbClr val="009BC1"/>
                </a:solidFill>
              </a:rPr>
              <a:t>04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A4DB-7437-56B6-3837-AC3C5EEB09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5451" y="3159585"/>
            <a:ext cx="3345691" cy="27902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Your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8888D-3FC8-5D56-A009-4CF75EA4CDC4}"/>
              </a:ext>
            </a:extLst>
          </p:cNvPr>
          <p:cNvSpPr txBox="1"/>
          <p:nvPr userDrawn="1"/>
        </p:nvSpPr>
        <p:spPr>
          <a:xfrm>
            <a:off x="4294951" y="1593063"/>
            <a:ext cx="14483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8000" b="1">
                <a:solidFill>
                  <a:srgbClr val="009BC1"/>
                </a:solidFill>
              </a:rPr>
              <a:t>05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178B68-4973-59C0-D306-617FE8FC88C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385772" y="3159585"/>
            <a:ext cx="3345691" cy="27902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Your text goes here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B0D2A-C2E3-F25D-53F4-CF13865C9109}"/>
              </a:ext>
            </a:extLst>
          </p:cNvPr>
          <p:cNvSpPr txBox="1"/>
          <p:nvPr userDrawn="1"/>
        </p:nvSpPr>
        <p:spPr>
          <a:xfrm>
            <a:off x="8246897" y="1572882"/>
            <a:ext cx="14483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8000" b="1">
                <a:solidFill>
                  <a:srgbClr val="009BC1"/>
                </a:solidFill>
              </a:rPr>
              <a:t>06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88ED98-95EA-FDDD-D6DB-6552BA7D87B7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346300" y="3159585"/>
            <a:ext cx="3345691" cy="27902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Your text goes here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713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alf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B74EC4-F077-7ACF-63E6-7A6072899E75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144ED2-A07C-2BEB-4CC6-8EE32AF09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521167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18B36-7136-2B46-5099-B25A0C21EF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2708904"/>
            <a:ext cx="5219518" cy="351092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4756" y="458788"/>
            <a:ext cx="5211794" cy="5761037"/>
          </a:xfrm>
          <a:prstGeom prst="rect">
            <a:avLst/>
          </a:prstGeom>
        </p:spPr>
        <p:txBody>
          <a:bodyPr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513B074-6D4D-5E65-E763-4CBE80D66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95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  <p15:guide id="4" orient="horz" pos="1876">
          <p15:clr>
            <a:srgbClr val="9FCC3B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alf_header_rever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8FCFD66-2782-25FD-4B6B-8E3FBA800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358900"/>
            <a:ext cx="6096000" cy="5499100"/>
          </a:xfrm>
          <a:prstGeom prst="rect">
            <a:avLst/>
          </a:prstGeom>
          <a:solidFill>
            <a:srgbClr val="CFD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91BDDD1-ABB8-5513-0EBE-12EB29040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563" y="5386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A4DB-7437-56B6-3837-AC3C5EEB09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1817688"/>
            <a:ext cx="5219518" cy="4402138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358900"/>
            <a:ext cx="6096000" cy="5499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EB655E7-91E1-1C07-7B06-2DA668B7F52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4756" y="1812413"/>
            <a:ext cx="5211794" cy="4407411"/>
          </a:xfrm>
          <a:prstGeom prst="rect">
            <a:avLst/>
          </a:prstGeom>
        </p:spPr>
        <p:txBody>
          <a:bodyPr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1B6B00A-DA58-B7AA-2824-078C08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83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grid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5E44EC-D851-12E4-A4FC-326A1D3A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521167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pic>
        <p:nvPicPr>
          <p:cNvPr id="27" name="Picture 26" descr="Image of the Trent Building through the trees">
            <a:extLst>
              <a:ext uri="{FF2B5EF4-FFF2-40B4-BE49-F238E27FC236}">
                <a16:creationId xmlns:a16="http://schemas.microsoft.com/office/drawing/2014/main" id="{9E54FF2A-2B74-5BA4-CF40-EC745ED38F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429000"/>
            <a:ext cx="3035299" cy="342900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DCCA7DA-43AB-3A07-EF33-FACF17E6C0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429000"/>
            <a:ext cx="3035300" cy="3429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AE549-3D8C-F8C5-5564-74DC0B0E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5592" y="3429000"/>
            <a:ext cx="3060408" cy="3429000"/>
          </a:xfrm>
          <a:prstGeom prst="rect">
            <a:avLst/>
          </a:prstGeom>
          <a:solidFill>
            <a:srgbClr val="66C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ED4FDFF-01CC-7D91-5FE8-76C56AA43E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35300" y="3429000"/>
            <a:ext cx="3060700" cy="3429000"/>
          </a:xfrm>
          <a:prstGeom prst="rect">
            <a:avLst/>
          </a:prstGeom>
        </p:spPr>
        <p:txBody>
          <a:bodyPr lIns="360000" tIns="360000" rIns="360000" bIns="900000"/>
          <a:lstStyle>
            <a:lvl1pPr marL="0" indent="0">
              <a:buNone/>
              <a:defRPr sz="2800" b="1"/>
            </a:lvl1pPr>
            <a:lvl2pPr marL="0" indent="0">
              <a:buNone/>
              <a:defRPr sz="2400"/>
            </a:lvl2pPr>
          </a:lstStyle>
          <a:p>
            <a:pPr lvl="0"/>
            <a:r>
              <a:rPr lang="en-GB"/>
              <a:t>Text box 1</a:t>
            </a:r>
          </a:p>
          <a:p>
            <a:pPr lvl="1"/>
            <a:r>
              <a:rPr lang="en-GB"/>
              <a:t>Text goes here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1FD6D-ACBB-795F-A648-16926841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3060408" cy="342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CF8E0CD1-94EB-05D7-D056-7768B00D42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950" y="0"/>
            <a:ext cx="3046458" cy="3429000"/>
          </a:xfrm>
          <a:prstGeom prst="rect">
            <a:avLst/>
          </a:prstGeom>
        </p:spPr>
        <p:txBody>
          <a:bodyPr lIns="360000" tIns="432000" rIns="360000" bIns="360000"/>
          <a:lstStyle>
            <a:lvl1pPr marL="0" indent="0">
              <a:buNone/>
              <a:defRPr sz="2800" b="1"/>
            </a:lvl1pPr>
            <a:lvl2pPr marL="0" indent="0">
              <a:buNone/>
              <a:defRPr sz="2400"/>
            </a:lvl2pPr>
          </a:lstStyle>
          <a:p>
            <a:pPr lvl="0"/>
            <a:r>
              <a:rPr lang="en-GB"/>
              <a:t>Text box 2</a:t>
            </a:r>
          </a:p>
          <a:p>
            <a:pPr lvl="1"/>
            <a:r>
              <a:rPr lang="en-GB"/>
              <a:t>Text goes here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767FC-B0EE-2180-5D56-1FD4F2E49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6408" y="0"/>
            <a:ext cx="3035592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D5F2ED6-EDF6-AE45-DB32-B0BFFD4C08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70358" y="0"/>
            <a:ext cx="3021642" cy="3429000"/>
          </a:xfrm>
          <a:prstGeom prst="rect">
            <a:avLst/>
          </a:prstGeom>
        </p:spPr>
        <p:txBody>
          <a:bodyPr lIns="360000" tIns="432000" rIns="360000" bIns="360000"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 sz="240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Text box 3</a:t>
            </a:r>
          </a:p>
          <a:p>
            <a:pPr lvl="1"/>
            <a:r>
              <a:rPr lang="en-GB"/>
              <a:t>Text goes here</a:t>
            </a:r>
            <a:endParaRPr lang="en-US"/>
          </a:p>
        </p:txBody>
      </p:sp>
      <p:pic>
        <p:nvPicPr>
          <p:cNvPr id="5" name="Picture 4" descr="Two students looking at a computer together.">
            <a:extLst>
              <a:ext uri="{FF2B5EF4-FFF2-40B4-BE49-F238E27FC236}">
                <a16:creationId xmlns:a16="http://schemas.microsoft.com/office/drawing/2014/main" id="{E088E9FE-9D2F-707D-553D-DD7D8D0BF5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5071" y="3429001"/>
            <a:ext cx="6116930" cy="3429000"/>
          </a:xfrm>
          <a:prstGeom prst="rect">
            <a:avLst/>
          </a:prstGeom>
        </p:spPr>
      </p:pic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5B60017-6E9F-37A8-BC85-B1B623D25C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09950" y="3429000"/>
            <a:ext cx="6082050" cy="3429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47ADA44-5ECF-D81F-2E99-B0A321C86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15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grid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BFA4EF-A742-5BA9-C34E-7BBDD53BD3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521167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AE549-3D8C-F8C5-5564-74DC0B0E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9000"/>
            <a:ext cx="6095998" cy="3429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13120BCC-8BEC-DF67-24F5-634A4A8C8B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473" y="3429000"/>
            <a:ext cx="5662527" cy="3429000"/>
          </a:xfrm>
          <a:prstGeom prst="rect">
            <a:avLst/>
          </a:prstGeom>
        </p:spPr>
        <p:txBody>
          <a:bodyPr lIns="0" tIns="360000" rIns="360000" bIns="900000"/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 marL="0" indent="0">
              <a:buNone/>
              <a:defRPr sz="24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Text box 1</a:t>
            </a:r>
          </a:p>
          <a:p>
            <a:pPr lvl="1"/>
            <a:r>
              <a:rPr lang="en-GB"/>
              <a:t>Text goes here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B0674E-8EA7-AED4-D11A-4B5776ED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CDB2B333-8E79-CCA2-11F6-ACE5708FCD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950" y="0"/>
            <a:ext cx="5656600" cy="3429000"/>
          </a:xfrm>
          <a:prstGeom prst="rect">
            <a:avLst/>
          </a:prstGeom>
        </p:spPr>
        <p:txBody>
          <a:bodyPr lIns="360000" tIns="432000" rIns="360000" bIns="360000"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0" indent="0">
              <a:buNone/>
              <a:defRPr sz="240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Text box 2</a:t>
            </a:r>
          </a:p>
          <a:p>
            <a:pPr lvl="1"/>
            <a:r>
              <a:rPr lang="en-GB"/>
              <a:t>Text goes here</a:t>
            </a:r>
            <a:endParaRPr lang="en-US"/>
          </a:p>
        </p:txBody>
      </p:sp>
      <p:pic>
        <p:nvPicPr>
          <p:cNvPr id="7" name="Picture 6" descr="A group of students sitting at a table discussing their notes">
            <a:extLst>
              <a:ext uri="{FF2B5EF4-FFF2-40B4-BE49-F238E27FC236}">
                <a16:creationId xmlns:a16="http://schemas.microsoft.com/office/drawing/2014/main" id="{277CEDCB-2DF9-43E7-3E2C-8D6555253C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9950" y="3429000"/>
            <a:ext cx="6082050" cy="3429000"/>
          </a:xfrm>
          <a:prstGeom prst="rect">
            <a:avLst/>
          </a:prstGeom>
        </p:spPr>
      </p:pic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212BCA2A-7A54-C6A7-06AA-26279F9F31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09950" y="3429000"/>
            <a:ext cx="6082050" cy="3429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DEC5A4-D2F7-DF4A-E9B6-9EEEB81A0D46}"/>
              </a:ext>
            </a:extLst>
          </p:cNvPr>
          <p:cNvSpPr txBox="1">
            <a:spLocks/>
          </p:cNvSpPr>
          <p:nvPr userDrawn="1"/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0EACED-CA5D-B048-836B-BF30EF0E914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174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alf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C39AFA-7D75-A7A1-4DAF-0ABAD9DF1B34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7E610-1FA4-7CBB-1A5C-327EEBFC45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521167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E3DEE5-A7EF-7B8E-B77B-FA9951B99A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2708904"/>
            <a:ext cx="5219518" cy="351092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pic>
        <p:nvPicPr>
          <p:cNvPr id="9" name="Picture 8" descr="Picture of a goose at the Jubilee campus surrounded by grass and yellow flowers.&#10;">
            <a:extLst>
              <a:ext uri="{FF2B5EF4-FFF2-40B4-BE49-F238E27FC236}">
                <a16:creationId xmlns:a16="http://schemas.microsoft.com/office/drawing/2014/main" id="{D44FE04A-D494-B805-4FFC-3E58CDD228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3840" y="0"/>
            <a:ext cx="6088160" cy="6858000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C3D460CB-C830-EC38-98D8-0FCA20D78F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CD0FB5E-1C0D-25FF-B88F-DE34AC42D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3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05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  <p15:guide id="4" orient="horz" pos="1876">
          <p15:clr>
            <a:srgbClr val="9FCC3B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hird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1D539C-2810-8838-FCB1-661F2CC4B5E5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230BE-0CFA-E6A8-3D27-DD65772DD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719287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75DF16-3906-148C-E1CC-C228D62951A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2" y="2708904"/>
            <a:ext cx="7192877" cy="351092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pic>
        <p:nvPicPr>
          <p:cNvPr id="4" name="Picture 3" descr="Student sitting at a table looking up in thought">
            <a:extLst>
              <a:ext uri="{FF2B5EF4-FFF2-40B4-BE49-F238E27FC236}">
                <a16:creationId xmlns:a16="http://schemas.microsoft.com/office/drawing/2014/main" id="{1CA42153-23F5-5B5B-930F-FC9F400FB5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79197" y="0"/>
            <a:ext cx="4112804" cy="685800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6FF842C-0A1C-5BFB-750B-CF8A5DCA72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0"/>
            <a:ext cx="41163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75EE26C-6F7A-8BE8-0244-7469236EB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37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04">
          <p15:clr>
            <a:srgbClr val="FBAE40"/>
          </p15:clr>
        </p15:guide>
        <p15:guide id="2" pos="5087">
          <p15:clr>
            <a:srgbClr val="FBAE40"/>
          </p15:clr>
        </p15:guide>
        <p15:guide id="3" pos="5371">
          <p15:clr>
            <a:srgbClr val="FBAE40"/>
          </p15:clr>
        </p15:guide>
        <p15:guide id="4" orient="horz" pos="1876">
          <p15:clr>
            <a:srgbClr val="9FCC3B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_figures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3D343D-58FF-90A8-CF12-B58A1EB3555B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4E089-8BEE-9B30-F0FF-FE3EA050F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521167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E3DEE5-A7EF-7B8E-B77B-FA9951B99A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2708904"/>
            <a:ext cx="5219518" cy="351092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172501-84CA-2832-09E3-09993272A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4264C15-FC9D-A249-9CBE-5788F74796D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546851" y="458787"/>
            <a:ext cx="5219700" cy="125344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sz="9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1 in 5</a:t>
            </a:r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CBF27F4D-00D6-8DC3-B716-37C42ED523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546851" y="2005609"/>
            <a:ext cx="5219699" cy="803563"/>
          </a:xfrm>
          <a:prstGeom prst="rect">
            <a:avLst/>
          </a:prstGeom>
        </p:spPr>
        <p:txBody>
          <a:bodyPr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09CE73-4B0C-AB83-FA25-0A89E08DE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429000"/>
            <a:ext cx="3060408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3F88302-7C4F-4C28-041C-8FC161F7E0C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546851" y="3876637"/>
            <a:ext cx="2249509" cy="1082568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sz="72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75%</a:t>
            </a:r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F696236F-C55D-63EF-E40F-86CAA3745B5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546851" y="5252587"/>
            <a:ext cx="2249509" cy="803563"/>
          </a:xfrm>
          <a:prstGeom prst="rect">
            <a:avLst/>
          </a:prstGeom>
        </p:spPr>
        <p:txBody>
          <a:bodyPr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7B29CE-90AB-9EAE-FE9F-A4E16C05F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6408" y="3429000"/>
            <a:ext cx="3035592" cy="3429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15B44D9F-3A2F-44F2-0CDF-18ED34B0DDE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606468" y="3876637"/>
            <a:ext cx="2249509" cy="1082568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sz="7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£2m</a:t>
            </a:r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7FB61D5-B7FA-990B-A16B-05A03FC0098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606468" y="5252587"/>
            <a:ext cx="2249509" cy="803563"/>
          </a:xfrm>
          <a:prstGeom prst="rect">
            <a:avLst/>
          </a:prstGeom>
        </p:spPr>
        <p:txBody>
          <a:bodyPr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CD0FB5E-1C0D-25FF-B88F-DE34AC42D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3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7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  <p15:guide id="4" orient="horz" pos="1876">
          <p15:clr>
            <a:srgbClr val="9FCC3B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_figures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AFB14D-FD03-B8EA-7C18-4C05CC9350BB}"/>
              </a:ext>
            </a:extLst>
          </p:cNvPr>
          <p:cNvSpPr/>
          <p:nvPr userDrawn="1"/>
        </p:nvSpPr>
        <p:spPr>
          <a:xfrm>
            <a:off x="-1315704" y="2258900"/>
            <a:ext cx="1284984" cy="719250"/>
          </a:xfrm>
          <a:prstGeom prst="rect">
            <a:avLst/>
          </a:prstGeom>
          <a:solidFill>
            <a:srgbClr val="D1E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334A00"/>
                </a:solidFill>
              </a:rPr>
              <a:t>Move your text box to this guide if your title goes over two lines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A4589-2070-6A43-66F9-67B8DA6A1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473" y="1358900"/>
            <a:ext cx="521167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E3DEE5-A7EF-7B8E-B77B-FA9951B99A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473" y="2708904"/>
            <a:ext cx="5219518" cy="3510921"/>
          </a:xfrm>
          <a:prstGeom prst="rect">
            <a:avLst/>
          </a:prstGeom>
        </p:spPr>
        <p:txBody>
          <a:bodyPr bIns="0"/>
          <a:lstStyle/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09CE73-4B0C-AB83-FA25-0A89E08DE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-2273"/>
            <a:ext cx="3060408" cy="342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3F88302-7C4F-4C28-041C-8FC161F7E0C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546851" y="445364"/>
            <a:ext cx="2249509" cy="1082568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sz="7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75%</a:t>
            </a:r>
            <a:endParaRPr lang="en-US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F696236F-C55D-63EF-E40F-86CAA3745B5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546851" y="1821314"/>
            <a:ext cx="2249509" cy="803563"/>
          </a:xfrm>
          <a:prstGeom prst="rect">
            <a:avLst/>
          </a:prstGeom>
        </p:spPr>
        <p:txBody>
          <a:bodyPr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7B29CE-90AB-9EAE-FE9F-A4E16C05F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6408" y="-2273"/>
            <a:ext cx="3035592" cy="342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15B44D9F-3A2F-44F2-0CDF-18ED34B0DDE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606468" y="445364"/>
            <a:ext cx="2249509" cy="1082568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sz="7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£2m</a:t>
            </a:r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7FB61D5-B7FA-990B-A16B-05A03FC0098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606468" y="1821314"/>
            <a:ext cx="2249509" cy="803563"/>
          </a:xfrm>
          <a:prstGeom prst="rect">
            <a:avLst/>
          </a:prstGeom>
        </p:spPr>
        <p:txBody>
          <a:bodyPr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172501-84CA-2832-09E3-09993272A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4062" y="3429000"/>
            <a:ext cx="6096000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4264C15-FC9D-A249-9CBE-5788F74796D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544913" y="3887787"/>
            <a:ext cx="5219700" cy="125344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sz="9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1 in 5</a:t>
            </a:r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CBF27F4D-00D6-8DC3-B716-37C42ED523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544913" y="5434609"/>
            <a:ext cx="5219699" cy="803563"/>
          </a:xfrm>
          <a:prstGeom prst="rect">
            <a:avLst/>
          </a:prstGeom>
        </p:spPr>
        <p:txBody>
          <a:bodyPr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CD0FB5E-1C0D-25FF-B88F-DE34AC42D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3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27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56">
          <p15:clr>
            <a:srgbClr val="FBAE40"/>
          </p15:clr>
        </p15:guide>
        <p15:guide id="2" pos="3840">
          <p15:clr>
            <a:srgbClr val="FBAE40"/>
          </p15:clr>
        </p15:guide>
        <p15:guide id="3" pos="4124">
          <p15:clr>
            <a:srgbClr val="FBAE40"/>
          </p15:clr>
        </p15:guide>
        <p15:guide id="4" orient="horz" pos="1876">
          <p15:clr>
            <a:srgbClr val="9FCC3B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 image of a person heating glass tubes in a workshop wearing safety gear">
            <a:extLst>
              <a:ext uri="{FF2B5EF4-FFF2-40B4-BE49-F238E27FC236}">
                <a16:creationId xmlns:a16="http://schemas.microsoft.com/office/drawing/2014/main" id="{B066E837-9D3C-251E-819F-79926122A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3773DA-86C6-B330-CF4F-A36E9B51F5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900113" cy="900112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B8D2C-97CD-1805-B625-00C5EC1505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078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D29242E-E9EF-E406-E157-D46F6BBDF4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563" y="0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39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University of Nottingham logo.">
            <a:extLst>
              <a:ext uri="{FF2B5EF4-FFF2-40B4-BE49-F238E27FC236}">
                <a16:creationId xmlns:a16="http://schemas.microsoft.com/office/drawing/2014/main" id="{09C51863-6EFE-20EA-B8AF-703D276164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00113" cy="900112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F74E32-2383-DB11-F16E-2B4CE60172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1628776"/>
            <a:ext cx="11341100" cy="3960512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1200"/>
              </a:spcBef>
              <a:buNone/>
              <a:defRPr b="0" i="0">
                <a:solidFill>
                  <a:schemeClr val="bg1"/>
                </a:solidFill>
                <a:latin typeface="+mj-lt"/>
              </a:defRPr>
            </a:lvl2pPr>
            <a:lvl3pPr>
              <a:defRPr b="1" i="0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>
              <a:defRPr b="1" i="0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>
              <a:defRPr b="1" i="0">
                <a:solidFill>
                  <a:schemeClr val="bg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“Your inspiring quote goes here.”</a:t>
            </a:r>
          </a:p>
          <a:p>
            <a:pPr lvl="1"/>
            <a:r>
              <a:rPr lang="en-US"/>
              <a:t>– Name of person, year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702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982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FAE1E0-DF47-D7BC-2E0F-0A302DD88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949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blank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FAE1E0-DF47-D7BC-2E0F-0A302DD88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255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University of Nottingham castle icon">
            <a:extLst>
              <a:ext uri="{FF2B5EF4-FFF2-40B4-BE49-F238E27FC236}">
                <a16:creationId xmlns:a16="http://schemas.microsoft.com/office/drawing/2014/main" id="{C5BFE164-6BFE-040B-E8AE-85C76B8EAD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00113" cy="90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549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versity of Nottingham Logo.">
            <a:extLst>
              <a:ext uri="{FF2B5EF4-FFF2-40B4-BE49-F238E27FC236}">
                <a16:creationId xmlns:a16="http://schemas.microsoft.com/office/drawing/2014/main" id="{4F1ADCAE-67D1-E4DF-B7A1-5951DE4C0D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6553" cy="900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A48EF3-956C-7FE0-B44A-55E4E8B574B2}"/>
              </a:ext>
            </a:extLst>
          </p:cNvPr>
          <p:cNvSpPr txBox="1"/>
          <p:nvPr userDrawn="1"/>
        </p:nvSpPr>
        <p:spPr>
          <a:xfrm>
            <a:off x="877173" y="2258844"/>
            <a:ext cx="6571467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0" b="1" i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30556-8831-6682-C9D7-CE486771B9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2474" y="3722240"/>
            <a:ext cx="9144000" cy="4266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Any questions?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48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University of Nottingham castle icon">
            <a:extLst>
              <a:ext uri="{FF2B5EF4-FFF2-40B4-BE49-F238E27FC236}">
                <a16:creationId xmlns:a16="http://schemas.microsoft.com/office/drawing/2014/main" id="{A0DB6D3F-5204-F4BF-012D-207A745E3A1B}"/>
              </a:ext>
            </a:extLst>
          </p:cNvPr>
          <p:cNvPicPr>
            <a:picLocks noChangeAspect="1"/>
          </p:cNvPicPr>
          <p:nvPr userDrawn="1"/>
        </p:nvPicPr>
        <p:blipFill>
          <a:blip r:embed="rId5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00000" cy="900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93A7D-3D18-13F0-94FC-7B0CB555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563" y="0"/>
            <a:ext cx="10440987" cy="900000"/>
          </a:xfrm>
          <a:prstGeom prst="rect">
            <a:avLst/>
          </a:prstGeom>
        </p:spPr>
        <p:txBody>
          <a:bodyPr vert="horz" lIns="0" tIns="180000" rIns="0" bIns="180000" rtlCol="0" anchor="t" anchorCtr="0">
            <a:normAutofit/>
          </a:bodyPr>
          <a:lstStyle/>
          <a:p>
            <a:r>
              <a:rPr lang="en-GB"/>
              <a:t>Your title goes here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EA77C-D93E-4080-9229-521D3E95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450" y="1358900"/>
            <a:ext cx="11341099" cy="48609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721D480-74CD-04ED-591D-8AF32751D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0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95" r:id="rId2"/>
    <p:sldLayoutId id="2147483668" r:id="rId3"/>
    <p:sldLayoutId id="2147483669" r:id="rId4"/>
    <p:sldLayoutId id="2147483670" r:id="rId5"/>
    <p:sldLayoutId id="2147483677" r:id="rId6"/>
    <p:sldLayoutId id="2147483714" r:id="rId7"/>
    <p:sldLayoutId id="2147483679" r:id="rId8"/>
    <p:sldLayoutId id="2147483680" r:id="rId9"/>
    <p:sldLayoutId id="2147483704" r:id="rId10"/>
    <p:sldLayoutId id="2147483705" r:id="rId11"/>
    <p:sldLayoutId id="2147483681" r:id="rId12"/>
    <p:sldLayoutId id="2147483682" r:id="rId13"/>
    <p:sldLayoutId id="2147483684" r:id="rId14"/>
    <p:sldLayoutId id="2147483683" r:id="rId15"/>
    <p:sldLayoutId id="2147483702" r:id="rId16"/>
    <p:sldLayoutId id="2147483701" r:id="rId17"/>
    <p:sldLayoutId id="2147483703" r:id="rId18"/>
    <p:sldLayoutId id="2147483671" r:id="rId19"/>
    <p:sldLayoutId id="2147483672" r:id="rId20"/>
    <p:sldLayoutId id="2147483673" r:id="rId21"/>
    <p:sldLayoutId id="2147483674" r:id="rId22"/>
    <p:sldLayoutId id="2147483697" r:id="rId23"/>
    <p:sldLayoutId id="2147483698" r:id="rId24"/>
    <p:sldLayoutId id="2147483699" r:id="rId25"/>
    <p:sldLayoutId id="2147483700" r:id="rId26"/>
    <p:sldLayoutId id="2147483660" r:id="rId27"/>
    <p:sldLayoutId id="2147483694" r:id="rId28"/>
    <p:sldLayoutId id="2147483650" r:id="rId29"/>
    <p:sldLayoutId id="2147483662" r:id="rId30"/>
    <p:sldLayoutId id="2147483709" r:id="rId31"/>
    <p:sldLayoutId id="2147483710" r:id="rId32"/>
    <p:sldLayoutId id="2147483675" r:id="rId33"/>
    <p:sldLayoutId id="2147483712" r:id="rId34"/>
    <p:sldLayoutId id="2147483676" r:id="rId35"/>
    <p:sldLayoutId id="2147483713" r:id="rId36"/>
    <p:sldLayoutId id="2147483687" r:id="rId37"/>
    <p:sldLayoutId id="2147483708" r:id="rId38"/>
    <p:sldLayoutId id="2147483665" r:id="rId39"/>
    <p:sldLayoutId id="2147483711" r:id="rId40"/>
    <p:sldLayoutId id="2147483666" r:id="rId41"/>
    <p:sldLayoutId id="2147483667" r:id="rId42"/>
    <p:sldLayoutId id="2147483663" r:id="rId43"/>
    <p:sldLayoutId id="2147483678" r:id="rId44"/>
    <p:sldLayoutId id="2147483689" r:id="rId45"/>
    <p:sldLayoutId id="2147483690" r:id="rId46"/>
    <p:sldLayoutId id="2147483688" r:id="rId47"/>
    <p:sldLayoutId id="2147483693" r:id="rId48"/>
    <p:sldLayoutId id="2147483686" r:id="rId49"/>
    <p:sldLayoutId id="2147483685" r:id="rId50"/>
    <p:sldLayoutId id="2147483706" r:id="rId51"/>
    <p:sldLayoutId id="2147483707" r:id="rId52"/>
    <p:sldLayoutId id="2147483696" r:id="rId53"/>
    <p:sldLayoutId id="2147483692" r:id="rId54"/>
  </p:sldLayoutIdLst>
  <p:hf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35">
          <p15:clr>
            <a:srgbClr val="5ACBF0"/>
          </p15:clr>
        </p15:guide>
        <p15:guide id="2" orient="horz" pos="289">
          <p15:clr>
            <a:srgbClr val="5ACBF0"/>
          </p15:clr>
        </p15:guide>
        <p15:guide id="3" pos="7412">
          <p15:clr>
            <a:srgbClr val="5ACBF0"/>
          </p15:clr>
        </p15:guide>
        <p15:guide id="4" orient="horz" pos="4031">
          <p15:clr>
            <a:srgbClr val="5ACBF0"/>
          </p15:clr>
        </p15:guide>
        <p15:guide id="5" pos="268">
          <p15:clr>
            <a:srgbClr val="5ACBF0"/>
          </p15:clr>
        </p15:guide>
        <p15:guide id="7" orient="horz" pos="856">
          <p15:clr>
            <a:srgbClr val="5ACBF0"/>
          </p15:clr>
        </p15:guide>
        <p15:guide id="9" pos="551">
          <p15:clr>
            <a:srgbClr val="5ACBF0"/>
          </p15:clr>
        </p15:guide>
        <p15:guide id="10" orient="horz" pos="572">
          <p15:clr>
            <a:srgbClr val="5ACBF0"/>
          </p15:clr>
        </p15:guide>
        <p15:guide id="11" orient="horz" pos="391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7" Type="http://schemas.openxmlformats.org/officeDocument/2006/relationships/image" Target="../media/image38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37.png"/><Relationship Id="rId5" Type="http://schemas.openxmlformats.org/officeDocument/2006/relationships/image" Target="../media/image360.png"/><Relationship Id="rId4" Type="http://schemas.openxmlformats.org/officeDocument/2006/relationships/image" Target="../media/image3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37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38.emf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image" Target="../media/image5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56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14CD7-4479-A8F5-4954-F8ECA105E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 descr="Background image shows the University of Nottingham Trent Building tower against a beautiful blue sky. ">
            <a:extLst>
              <a:ext uri="{FF2B5EF4-FFF2-40B4-BE49-F238E27FC236}">
                <a16:creationId xmlns:a16="http://schemas.microsoft.com/office/drawing/2014/main" id="{9ED510F1-E668-B041-3E53-31130524B6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978" y="2581160"/>
            <a:ext cx="6516415" cy="2671840"/>
          </a:xfrm>
        </p:spPr>
        <p:txBody>
          <a:bodyPr/>
          <a:lstStyle/>
          <a:p>
            <a:r>
              <a:rPr lang="en-GB" sz="5400" dirty="0"/>
              <a:t>Lecture 5 –  Evolutionary Algorithms I</a:t>
            </a:r>
            <a:endParaRPr lang="en-GB" sz="6500" noProof="0" dirty="0"/>
          </a:p>
        </p:txBody>
      </p:sp>
      <p:sp>
        <p:nvSpPr>
          <p:cNvPr id="3" name="Name of presenter">
            <a:extLst>
              <a:ext uri="{FF2B5EF4-FFF2-40B4-BE49-F238E27FC236}">
                <a16:creationId xmlns:a16="http://schemas.microsoft.com/office/drawing/2014/main" id="{C9D1D43A-A0F5-3C1B-45E2-71BCA35603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978" y="5452583"/>
            <a:ext cx="4679958" cy="36069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Prof Ender Ozcan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991A2F-6760-1AB3-B816-2AAE828A51F9}"/>
              </a:ext>
            </a:extLst>
          </p:cNvPr>
          <p:cNvSpPr txBox="1"/>
          <p:nvPr/>
        </p:nvSpPr>
        <p:spPr>
          <a:xfrm>
            <a:off x="578229" y="1404151"/>
            <a:ext cx="60950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latin typeface="Georgia"/>
              </a:rPr>
              <a:t>COMP2001/2011: Artificial Intelligence Methods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2223941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8707-0D3B-04DC-EF6C-34E64FD5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cture shows a mixed group of graduates joyfully throwing their mortar boards into the air in front of the Trent Building. &#10;&#10;">
            <a:extLst>
              <a:ext uri="{FF2B5EF4-FFF2-40B4-BE49-F238E27FC236}">
                <a16:creationId xmlns:a16="http://schemas.microsoft.com/office/drawing/2014/main" id="{63EC3E5D-0F3E-EEA9-06AD-E97CDA00EB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841" y="-7948"/>
            <a:ext cx="4103096" cy="6865948"/>
          </a:xfrm>
          <a:prstGeom prst="rect">
            <a:avLst/>
          </a:prstGeom>
        </p:spPr>
      </p:pic>
      <p:sp>
        <p:nvSpPr>
          <p:cNvPr id="3" name="TextBox">
            <a:extLst>
              <a:ext uri="{FF2B5EF4-FFF2-40B4-BE49-F238E27FC236}">
                <a16:creationId xmlns:a16="http://schemas.microsoft.com/office/drawing/2014/main" id="{42F8ED70-3B4C-A4F9-AC84-B5FAE9B18C6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5668" y="851291"/>
            <a:ext cx="6418983" cy="59323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br>
              <a:rPr lang="en-GB" sz="2200" b="0" i="0" u="none" strike="noStrike" noProof="0" dirty="0">
                <a:solidFill>
                  <a:schemeClr val="bg1"/>
                </a:solidFill>
                <a:effectLst/>
              </a:rPr>
            </a:br>
            <a:endParaRPr lang="en-GB" sz="2200" noProof="0" dirty="0">
              <a:solidFill>
                <a:schemeClr val="bg1"/>
              </a:solidFill>
              <a:cs typeface="Arial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200" noProof="0" dirty="0">
                <a:solidFill>
                  <a:schemeClr val="bg1"/>
                </a:solidFill>
                <a:cs typeface="Arial"/>
              </a:rPr>
              <a:t>Be able to identify population-based metaheuristics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200" noProof="0" dirty="0">
                <a:solidFill>
                  <a:schemeClr val="bg1"/>
                </a:solidFill>
                <a:cs typeface="Arial"/>
              </a:rPr>
              <a:t>Understand the underlying analogy for Evolutionary Algorithms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200" noProof="0" dirty="0">
                <a:solidFill>
                  <a:schemeClr val="bg1"/>
                </a:solidFill>
                <a:cs typeface="Arial"/>
              </a:rPr>
              <a:t>Be able to identify different types of Evolutionary Algorithms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200" noProof="0" dirty="0">
                <a:solidFill>
                  <a:schemeClr val="bg1"/>
                </a:solidFill>
                <a:cs typeface="Arial"/>
              </a:rPr>
              <a:t>Understand the basic components of Genetic Algorithms as well as Memetic Algorithms, including mutation, crossover, parent/mate selection, replacement, and how each operates – learning the jargon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200" noProof="0" dirty="0">
                <a:solidFill>
                  <a:schemeClr val="bg1"/>
                </a:solidFill>
                <a:cs typeface="Arial"/>
              </a:rPr>
              <a:t>Be able to design and apply a Genetic/Memetic Algorithm to an “unseen” problem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endParaRPr lang="en-GB" sz="2200" noProof="0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5E0C6-0837-0D47-E81A-76D89D1288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123950" y="109537"/>
            <a:ext cx="10440987" cy="900113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rgbClr val="FCFBF8"/>
                </a:solidFill>
                <a:latin typeface="Georgia"/>
              </a:rPr>
              <a:t>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292462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C71DE-3279-BE5C-8019-D3B225EC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cture shows a mixed group of graduates joyfully throwing their mortar boards into the air in front of the Trent Building. &#10;&#10;">
            <a:extLst>
              <a:ext uri="{FF2B5EF4-FFF2-40B4-BE49-F238E27FC236}">
                <a16:creationId xmlns:a16="http://schemas.microsoft.com/office/drawing/2014/main" id="{D102F17C-3F1F-2CBB-CF8B-7712A5DAF8C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841" y="-7948"/>
            <a:ext cx="4103096" cy="6865948"/>
          </a:xfrm>
          <a:prstGeom prst="rect">
            <a:avLst/>
          </a:prstGeom>
        </p:spPr>
      </p:pic>
      <p:sp>
        <p:nvSpPr>
          <p:cNvPr id="3" name="TextBox">
            <a:extLst>
              <a:ext uri="{FF2B5EF4-FFF2-40B4-BE49-F238E27FC236}">
                <a16:creationId xmlns:a16="http://schemas.microsoft.com/office/drawing/2014/main" id="{7B76A1F7-5B04-F969-5253-D5F3DB5F4B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5668" y="851291"/>
            <a:ext cx="6418983" cy="47166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br>
              <a:rPr lang="en-GB" sz="2400" b="0" i="0" u="none" strike="noStrike" noProof="0" dirty="0">
                <a:solidFill>
                  <a:schemeClr val="bg1"/>
                </a:solidFill>
                <a:effectLst/>
              </a:rPr>
            </a:br>
            <a:endParaRPr lang="en-GB" sz="2400" noProof="0" dirty="0">
              <a:solidFill>
                <a:schemeClr val="bg1"/>
              </a:solidFill>
              <a:cs typeface="Arial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800" noProof="0" dirty="0">
                <a:solidFill>
                  <a:schemeClr val="bg1"/>
                </a:solidFill>
                <a:cs typeface="Arial"/>
              </a:rPr>
              <a:t>Analogy of Evolution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endParaRPr lang="en-GB" sz="2800" noProof="0" dirty="0">
              <a:solidFill>
                <a:schemeClr val="bg1"/>
              </a:solidFill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800" noProof="0" dirty="0">
                <a:solidFill>
                  <a:schemeClr val="bg1"/>
                </a:solidFill>
              </a:rPr>
              <a:t>Evolutionary Algorithms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endParaRPr lang="en-GB" sz="2800" b="0" i="0" u="none" strike="noStrike" noProof="0" dirty="0">
              <a:solidFill>
                <a:schemeClr val="bg1"/>
              </a:solidFill>
              <a:effectLst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800" b="0" i="0" u="none" strike="noStrike" noProof="0" dirty="0">
                <a:solidFill>
                  <a:schemeClr val="bg1"/>
                </a:solidFill>
                <a:effectLst/>
              </a:rPr>
              <a:t>Genetic Algorithms (GAs) 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endParaRPr lang="en-GB" sz="2800" b="0" i="0" u="none" strike="noStrike" noProof="0" dirty="0">
              <a:solidFill>
                <a:schemeClr val="bg1"/>
              </a:solidFill>
              <a:effectLst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800" b="0" i="0" u="none" strike="noStrike" noProof="0" dirty="0">
                <a:solidFill>
                  <a:schemeClr val="bg1"/>
                </a:solidFill>
                <a:effectLst/>
              </a:rPr>
              <a:t>Memetic Algorithms</a:t>
            </a:r>
            <a:r>
              <a:rPr lang="en-GB" sz="2800" b="0" i="0" u="none" strike="noStrike" dirty="0">
                <a:solidFill>
                  <a:schemeClr val="bg1"/>
                </a:solidFill>
                <a:effectLst/>
                <a:cs typeface="Arial"/>
              </a:rPr>
              <a:t> (MAs)</a:t>
            </a:r>
            <a:br>
              <a:rPr lang="en-GB" sz="2400" noProof="0" dirty="0">
                <a:highlight>
                  <a:srgbClr val="F5F5F5"/>
                </a:highlight>
              </a:rPr>
            </a:br>
            <a:endParaRPr lang="en-GB" sz="2400" b="1" noProof="0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E8D1B-1D01-C25A-83EF-5184754DBE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123950" y="109537"/>
            <a:ext cx="10440987" cy="900113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rgbClr val="FCFBF8"/>
                </a:solidFill>
                <a:latin typeface="Georgia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78606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713A601-867D-6C02-64A2-13D68D364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089" y="2013677"/>
            <a:ext cx="10466198" cy="874948"/>
          </a:xfrm>
        </p:spPr>
        <p:txBody>
          <a:bodyPr>
            <a:normAutofit fontScale="90000"/>
          </a:bodyPr>
          <a:lstStyle/>
          <a:p>
            <a:r>
              <a:rPr lang="en-GB" dirty="0"/>
              <a:t>Evolutionary Algorithms</a:t>
            </a:r>
            <a:endParaRPr lang="en-GB" noProof="0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11A6A20-67C3-0913-1FE9-358838A363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Evolutionary is Revolutionary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495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594177E-663B-377C-72BA-F3BBBCA07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3" y="0"/>
            <a:ext cx="10440987" cy="900000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Evolutionary is Revolutionary</a:t>
            </a:r>
            <a:endParaRPr lang="en-GB" sz="3600" noProof="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667D4F46-5C24-8332-B01C-3759BE90DF3F}"/>
              </a:ext>
            </a:extLst>
          </p:cNvPr>
          <p:cNvSpPr txBox="1"/>
          <p:nvPr/>
        </p:nvSpPr>
        <p:spPr>
          <a:xfrm>
            <a:off x="267996" y="1075277"/>
            <a:ext cx="10814051" cy="55707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 dirty="0"/>
              <a:t>Nature as a Problem Solver: 4.55 Billion years of evolution can’t be wrong.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3600" dirty="0"/>
          </a:p>
          <a:p>
            <a:endParaRPr lang="en-US" alt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 dirty="0"/>
              <a:t>Beauty-of-nature argument: Complexity achieved in </a:t>
            </a:r>
            <a:r>
              <a:rPr lang="en-US" altLang="en-US" sz="3600" i="1" dirty="0"/>
              <a:t>short</a:t>
            </a:r>
            <a:r>
              <a:rPr lang="en-US" altLang="en-US" sz="3600" dirty="0"/>
              <a:t> time in nature.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 dirty="0"/>
              <a:t>Can we solve complex problems as quickly and reliably on a computer?</a:t>
            </a:r>
            <a:endParaRPr lang="tr-TR" altLang="en-US" sz="3600" dirty="0"/>
          </a:p>
          <a:p>
            <a:endParaRPr lang="en-GB" sz="3200" noProof="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4" name="Picture 2" descr="Image result">
            <a:extLst>
              <a:ext uri="{FF2B5EF4-FFF2-40B4-BE49-F238E27FC236}">
                <a16:creationId xmlns:a16="http://schemas.microsoft.com/office/drawing/2014/main" id="{9739B51F-B5D3-AAB3-95C8-33CE3DD9D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477" y="2489099"/>
            <a:ext cx="3240360" cy="114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ACB97E-B205-1A72-A440-524E24448C28}"/>
              </a:ext>
            </a:extLst>
          </p:cNvPr>
          <p:cNvSpPr/>
          <p:nvPr/>
        </p:nvSpPr>
        <p:spPr>
          <a:xfrm>
            <a:off x="5362513" y="2489098"/>
            <a:ext cx="541573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2060"/>
                </a:solidFill>
                <a:latin typeface="arial" panose="020B0604020202020204" pitchFamily="34" charset="0"/>
              </a:rPr>
              <a:t>Evolution: Gradual change in the inherited characteristics of a population of animals or plants over successive generations</a:t>
            </a:r>
            <a:endParaRPr lang="en-GB" sz="2000" dirty="0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43D630-EDDB-559F-C99F-909B029F1115}"/>
              </a:ext>
            </a:extLst>
          </p:cNvPr>
          <p:cNvSpPr txBox="1"/>
          <p:nvPr/>
        </p:nvSpPr>
        <p:spPr>
          <a:xfrm>
            <a:off x="267996" y="1075277"/>
            <a:ext cx="10814051" cy="55707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>
                    <a:alpha val="9758"/>
                  </a:schemeClr>
                </a:solidFill>
              </a:rPr>
              <a:t>Nature as a Problem Solver: 4.55 Billion years of evolution can’t be wrong.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schemeClr val="tx1">
                  <a:alpha val="9758"/>
                </a:schemeClr>
              </a:solidFill>
            </a:endParaRPr>
          </a:p>
          <a:p>
            <a:endParaRPr lang="en-US" altLang="en-US" sz="3600" dirty="0">
              <a:solidFill>
                <a:schemeClr val="tx1">
                  <a:alpha val="9758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3600" dirty="0">
              <a:solidFill>
                <a:schemeClr val="tx1">
                  <a:alpha val="9758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>
                    <a:alpha val="9758"/>
                  </a:schemeClr>
                </a:solidFill>
              </a:rPr>
              <a:t>Beauty-of-nature argument: Complexity achieved in </a:t>
            </a:r>
            <a:r>
              <a:rPr lang="en-US" altLang="en-US" sz="3600" i="1" dirty="0">
                <a:solidFill>
                  <a:schemeClr val="tx1">
                    <a:alpha val="9758"/>
                  </a:schemeClr>
                </a:solidFill>
              </a:rPr>
              <a:t>short</a:t>
            </a:r>
            <a:r>
              <a:rPr lang="en-US" altLang="en-US" sz="3600" dirty="0">
                <a:solidFill>
                  <a:schemeClr val="tx1">
                    <a:alpha val="9758"/>
                  </a:schemeClr>
                </a:solidFill>
              </a:rPr>
              <a:t> time in nature.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>
                    <a:alpha val="9758"/>
                  </a:schemeClr>
                </a:solidFill>
              </a:rPr>
              <a:t>Can we solve complex problems as quickly and reliably on a computer?</a:t>
            </a:r>
            <a:endParaRPr lang="tr-TR" altLang="en-US" sz="3600" dirty="0">
              <a:solidFill>
                <a:schemeClr val="tx1">
                  <a:alpha val="9758"/>
                </a:schemeClr>
              </a:solidFill>
            </a:endParaRPr>
          </a:p>
          <a:p>
            <a:endParaRPr lang="en-GB" sz="3200" noProof="0" dirty="0">
              <a:solidFill>
                <a:schemeClr val="bg1">
                  <a:alpha val="9758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080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FA508-9898-0110-7FC4-98F4829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Evolution at Work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23E0A5-679B-41A6-72C5-03B8FC87E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F663A-67F6-5461-65D5-411CF809B668}"/>
              </a:ext>
            </a:extLst>
          </p:cNvPr>
          <p:cNvSpPr txBox="1"/>
          <p:nvPr/>
        </p:nvSpPr>
        <p:spPr>
          <a:xfrm>
            <a:off x="342098" y="1202782"/>
            <a:ext cx="1079770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Heritable characteristics or heritable traits, e.g., the blood types are passed from one generation to the next via DNA (a molecule that encodes genetic information)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Change or genetic variation comes from: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Mutations: changes in the DNA sequence,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Crossover: reshuffling of genes through sexual reproduction and migration between populations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Evolution is driven by natural selection – survival of the fittest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Genetic variations that enhance survival and reproduction become and remain more common in successive generations of a population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7CDE8-D668-6FE1-8F73-E29BB9BAF29D}"/>
              </a:ext>
            </a:extLst>
          </p:cNvPr>
          <p:cNvSpPr txBox="1"/>
          <p:nvPr/>
        </p:nvSpPr>
        <p:spPr>
          <a:xfrm>
            <a:off x="337150" y="1202786"/>
            <a:ext cx="1079770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9253"/>
                  </a:schemeClr>
                </a:solidFill>
              </a:rPr>
              <a:t>Heritable characteristics or heritable traits, e.g., the blood types are passed from one generation to the next via DNA (a molecule that encodes genetic information)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>
                  <a:alpha val="9253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9253"/>
                  </a:schemeClr>
                </a:solidFill>
              </a:rPr>
              <a:t>Change or genetic variation comes from: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9253"/>
                  </a:schemeClr>
                </a:solidFill>
              </a:rPr>
              <a:t>Mutations: changes in the DNA sequence,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9253"/>
                  </a:schemeClr>
                </a:solidFill>
              </a:rPr>
              <a:t>Crossover: reshuffling of genes through sexual reproduction and migration between populations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>
                  <a:alpha val="9253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9253"/>
                  </a:schemeClr>
                </a:solidFill>
              </a:rPr>
              <a:t>Evolution is driven by natural selection – survival of the fittest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>
                  <a:alpha val="9253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9253"/>
                  </a:schemeClr>
                </a:solidFill>
              </a:rPr>
              <a:t>Genetic variations that enhance survival and reproduction become and remain more common in successive generations of a population</a:t>
            </a:r>
          </a:p>
        </p:txBody>
      </p:sp>
      <p:pic>
        <p:nvPicPr>
          <p:cNvPr id="1026" name="Picture 2" descr="Illustration of Variation in Blood Types in Human Biology">
            <a:extLst>
              <a:ext uri="{FF2B5EF4-FFF2-40B4-BE49-F238E27FC236}">
                <a16:creationId xmlns:a16="http://schemas.microsoft.com/office/drawing/2014/main" id="{73B96069-1015-3FBE-9469-895604CDF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2822" y="1950230"/>
            <a:ext cx="2969178" cy="295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04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387C-6D7D-50F1-CC93-4BF8F8E8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016" y="17975"/>
            <a:ext cx="10852150" cy="900000"/>
          </a:xfrm>
        </p:spPr>
        <p:txBody>
          <a:bodyPr>
            <a:normAutofit fontScale="90000"/>
          </a:bodyPr>
          <a:lstStyle/>
          <a:p>
            <a:r>
              <a:rPr lang="en-GB" dirty="0"/>
              <a:t>A famous example – peppered moth evolution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62D7EB-6114-301B-C20A-4407DE491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2" descr="Dirty air soot coming out of a factory chimney">
            <a:extLst>
              <a:ext uri="{FF2B5EF4-FFF2-40B4-BE49-F238E27FC236}">
                <a16:creationId xmlns:a16="http://schemas.microsoft.com/office/drawing/2014/main" id="{229D61A9-B65A-4469-7864-B254A5AFA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63" y="4050569"/>
            <a:ext cx="3082058" cy="205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lack and white peppered moth on a tree">
            <a:extLst>
              <a:ext uri="{FF2B5EF4-FFF2-40B4-BE49-F238E27FC236}">
                <a16:creationId xmlns:a16="http://schemas.microsoft.com/office/drawing/2014/main" id="{BC8E5AF5-F649-C55B-014A-01B6B66D5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563" y="1746312"/>
            <a:ext cx="3082058" cy="2232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0C642-21E1-0C0E-9E46-E5B95E44F122}"/>
              </a:ext>
            </a:extLst>
          </p:cNvPr>
          <p:cNvSpPr txBox="1"/>
          <p:nvPr/>
        </p:nvSpPr>
        <p:spPr>
          <a:xfrm>
            <a:off x="4703395" y="1784189"/>
            <a:ext cx="717055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Before the Industrial Revolution, the black peppered moth was rare.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The frequency of the dark allele was about 0.01%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The rapid industrialisation and rampant coal use coated the British trees in a layer of soot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By the mid-19th century, the number of dark-coloured moths had risen noticeably, and by 1895, the frequency was 98% in Manchester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EEFB2-7160-CC71-7AB7-086529686926}"/>
              </a:ext>
            </a:extLst>
          </p:cNvPr>
          <p:cNvSpPr txBox="1"/>
          <p:nvPr/>
        </p:nvSpPr>
        <p:spPr>
          <a:xfrm>
            <a:off x="1145016" y="917975"/>
            <a:ext cx="3775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white/black-bodied peppered moth 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C274D-2893-CD63-528B-F330CA161335}"/>
              </a:ext>
            </a:extLst>
          </p:cNvPr>
          <p:cNvSpPr txBox="1"/>
          <p:nvPr/>
        </p:nvSpPr>
        <p:spPr>
          <a:xfrm>
            <a:off x="4703395" y="1784189"/>
            <a:ext cx="717055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8813"/>
                  </a:schemeClr>
                </a:solidFill>
              </a:rPr>
              <a:t>Before the Industrial Revolution, the black peppered moth was rare.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8813"/>
                  </a:schemeClr>
                </a:solidFill>
              </a:rPr>
              <a:t>The frequency of the dark allele was about 0.01%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>
                  <a:alpha val="8813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8813"/>
                  </a:schemeClr>
                </a:solidFill>
              </a:rPr>
              <a:t>The rapid industrialisation and rampant coal use coated the British trees in a layer of soot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>
                  <a:alpha val="8813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8813"/>
                  </a:schemeClr>
                </a:solidFill>
              </a:rPr>
              <a:t>By the mid-19th century, the number of dark-coloured moths had risen noticeably, and by 1895, the frequency was 98% in Manchester</a:t>
            </a:r>
          </a:p>
          <a:p>
            <a:endParaRPr lang="en-GB" dirty="0">
              <a:solidFill>
                <a:schemeClr val="tx1">
                  <a:alpha val="8813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A682-BE3C-612D-7E0C-67C2FC7D0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Evolutionary Algorithms (EAs)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B7C0DF-66B7-6783-4FEA-6D3D228C5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A58A8-C595-9AF3-81D3-1F05CA965571}"/>
              </a:ext>
            </a:extLst>
          </p:cNvPr>
          <p:cNvSpPr txBox="1"/>
          <p:nvPr/>
        </p:nvSpPr>
        <p:spPr>
          <a:xfrm>
            <a:off x="0" y="900000"/>
            <a:ext cx="12192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EAs simulate natural evolution (Darwinian Evolution) of individual structures at the genetic level using the idea of </a:t>
            </a:r>
            <a:r>
              <a:rPr lang="en-GB" sz="2600" b="1" dirty="0"/>
              <a:t>survival of the fittest </a:t>
            </a:r>
            <a:r>
              <a:rPr lang="en-GB" sz="2600" dirty="0"/>
              <a:t>via processes of </a:t>
            </a:r>
            <a:r>
              <a:rPr lang="en-GB" sz="2600" b="1" dirty="0"/>
              <a:t>selection</a:t>
            </a:r>
            <a:r>
              <a:rPr lang="en-GB" sz="2600" dirty="0"/>
              <a:t>, </a:t>
            </a:r>
            <a:r>
              <a:rPr lang="en-GB" sz="2600" b="1" dirty="0"/>
              <a:t>mutation</a:t>
            </a:r>
            <a:r>
              <a:rPr lang="en-GB" sz="2600" dirty="0"/>
              <a:t>, and </a:t>
            </a:r>
            <a:r>
              <a:rPr lang="en-GB" sz="2600" b="1" dirty="0"/>
              <a:t>reproduction (recombination)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An </a:t>
            </a:r>
            <a:r>
              <a:rPr lang="en-GB" sz="2600" b="1" dirty="0"/>
              <a:t>individual (chromosome)</a:t>
            </a:r>
            <a:r>
              <a:rPr lang="en-GB" sz="2600" dirty="0"/>
              <a:t> represents a candidate solution for the problem at hand. (e.g., &lt;2 1 3 4&gt;)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A collection of individuals currently “alive”, called </a:t>
            </a:r>
            <a:r>
              <a:rPr lang="en-GB" sz="2600" b="1" dirty="0"/>
              <a:t>population</a:t>
            </a:r>
            <a:r>
              <a:rPr lang="en-GB" sz="2600" dirty="0"/>
              <a:t> (set of individuals/chromosomes) is evolved from one </a:t>
            </a:r>
            <a:r>
              <a:rPr lang="en-GB" sz="2600" b="1" dirty="0"/>
              <a:t>generation (iteration) </a:t>
            </a:r>
            <a:r>
              <a:rPr lang="en-GB" sz="2600" dirty="0"/>
              <a:t>to another depending on the </a:t>
            </a:r>
            <a:r>
              <a:rPr lang="en-GB" sz="2600" b="1" dirty="0"/>
              <a:t>fitness</a:t>
            </a:r>
            <a:r>
              <a:rPr lang="en-GB" sz="2600" dirty="0"/>
              <a:t> of individuals in a given environment, indicating how fit an individual is, (how close it is to the optimal solution) – objective value. (e.g., f(&lt;2 1 3 4&gt;)= 28 )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dirty="0"/>
              <a:t>Hope</a:t>
            </a:r>
            <a:r>
              <a:rPr lang="en-GB" sz="2600" dirty="0"/>
              <a:t>: Last generation will contain the best solution</a:t>
            </a:r>
          </a:p>
          <a:p>
            <a:endParaRPr lang="en-GB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FCE7E-49E7-56A1-DF51-2E5E26EF7BB4}"/>
              </a:ext>
            </a:extLst>
          </p:cNvPr>
          <p:cNvSpPr txBox="1"/>
          <p:nvPr/>
        </p:nvSpPr>
        <p:spPr>
          <a:xfrm>
            <a:off x="0" y="900000"/>
            <a:ext cx="12192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EAs simulate natural evolution (Darwinian Evolution) of individual structures at the genetic level using the idea of </a:t>
            </a:r>
            <a:r>
              <a:rPr lang="en-GB" sz="2600" b="1" dirty="0">
                <a:solidFill>
                  <a:schemeClr val="tx1">
                    <a:alpha val="8000"/>
                  </a:schemeClr>
                </a:solidFill>
              </a:rPr>
              <a:t>survival of the fittest </a:t>
            </a: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via processes of </a:t>
            </a:r>
            <a:r>
              <a:rPr lang="en-GB" sz="2600" b="1" dirty="0">
                <a:solidFill>
                  <a:schemeClr val="tx1">
                    <a:alpha val="8000"/>
                  </a:schemeClr>
                </a:solidFill>
              </a:rPr>
              <a:t>selection</a:t>
            </a: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, </a:t>
            </a:r>
            <a:r>
              <a:rPr lang="en-GB" sz="2600" b="1" dirty="0">
                <a:solidFill>
                  <a:schemeClr val="tx1">
                    <a:alpha val="8000"/>
                  </a:schemeClr>
                </a:solidFill>
              </a:rPr>
              <a:t>mutation</a:t>
            </a: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, and </a:t>
            </a:r>
            <a:r>
              <a:rPr lang="en-GB" sz="2600" b="1" dirty="0">
                <a:solidFill>
                  <a:schemeClr val="tx1">
                    <a:alpha val="8000"/>
                  </a:schemeClr>
                </a:solidFill>
              </a:rPr>
              <a:t>reproduction (recombination)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600" b="1" dirty="0">
              <a:solidFill>
                <a:schemeClr val="tx1">
                  <a:alpha val="8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An </a:t>
            </a:r>
            <a:r>
              <a:rPr lang="en-GB" sz="2600" b="1" dirty="0">
                <a:solidFill>
                  <a:schemeClr val="tx1">
                    <a:alpha val="8000"/>
                  </a:schemeClr>
                </a:solidFill>
              </a:rPr>
              <a:t>individual (chromosome)</a:t>
            </a: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 represents a candidate solution for the problem at hand. (e.g., &lt;2 1 3 4&gt;)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600" dirty="0">
              <a:solidFill>
                <a:schemeClr val="tx1">
                  <a:alpha val="8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A collection of individuals currently “alive”, called </a:t>
            </a:r>
            <a:r>
              <a:rPr lang="en-GB" sz="2600" b="1" dirty="0">
                <a:solidFill>
                  <a:schemeClr val="tx1">
                    <a:alpha val="8000"/>
                  </a:schemeClr>
                </a:solidFill>
              </a:rPr>
              <a:t>population</a:t>
            </a: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 (set of individuals/chromosomes) is evolved from one </a:t>
            </a:r>
            <a:r>
              <a:rPr lang="en-GB" sz="2600" b="1" dirty="0">
                <a:solidFill>
                  <a:schemeClr val="tx1">
                    <a:alpha val="8000"/>
                  </a:schemeClr>
                </a:solidFill>
              </a:rPr>
              <a:t>generation (iteration) </a:t>
            </a: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to another depending on the </a:t>
            </a:r>
            <a:r>
              <a:rPr lang="en-GB" sz="2600" b="1" dirty="0">
                <a:solidFill>
                  <a:schemeClr val="tx1">
                    <a:alpha val="8000"/>
                  </a:schemeClr>
                </a:solidFill>
              </a:rPr>
              <a:t>fitness</a:t>
            </a: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 of individuals in a given environment, indicating how fit an individual is, (how close it is to the optimal solution) – objective value. (e.g., f(&lt;2 1 3 4&gt;)= 28 )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600" dirty="0">
              <a:solidFill>
                <a:schemeClr val="tx1">
                  <a:alpha val="8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chemeClr val="tx1">
                    <a:alpha val="8000"/>
                  </a:schemeClr>
                </a:solidFill>
              </a:rPr>
              <a:t>Hope</a:t>
            </a:r>
            <a:r>
              <a:rPr lang="en-GB" sz="2600" dirty="0">
                <a:solidFill>
                  <a:schemeClr val="tx1">
                    <a:alpha val="8000"/>
                  </a:schemeClr>
                </a:solidFill>
              </a:rPr>
              <a:t>: Last generation will contain the best solution</a:t>
            </a:r>
          </a:p>
          <a:p>
            <a:endParaRPr lang="en-GB" sz="2600" dirty="0">
              <a:solidFill>
                <a:schemeClr val="tx1">
                  <a:alpha val="8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45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A8C9-9B91-156B-1BBC-A3D56AC6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Evolutionary Algorithms (EAs) II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F55EE-8CCF-4134-B143-9094E908E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39B6A1-E780-2E78-824B-90B6B03F1990}"/>
              </a:ext>
            </a:extLst>
          </p:cNvPr>
          <p:cNvSpPr txBox="1"/>
          <p:nvPr/>
        </p:nvSpPr>
        <p:spPr>
          <a:xfrm>
            <a:off x="237157" y="1164134"/>
            <a:ext cx="1152939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Genetic Algorithm</a:t>
            </a:r>
            <a:r>
              <a:rPr lang="en-GB" sz="2800" dirty="0"/>
              <a:t>s (evolves (bit) strings) </a:t>
            </a:r>
            <a:r>
              <a:rPr lang="en-GB" sz="2800" dirty="0">
                <a:sym typeface="Wingdings" pitchFamily="2" charset="2"/>
              </a:rPr>
              <a:t></a:t>
            </a:r>
            <a:r>
              <a:rPr lang="en-GB" sz="2800" dirty="0"/>
              <a:t> Nils </a:t>
            </a:r>
            <a:r>
              <a:rPr lang="en-GB" sz="2800" dirty="0" err="1"/>
              <a:t>Aall</a:t>
            </a:r>
            <a:r>
              <a:rPr lang="en-GB" sz="2800" dirty="0"/>
              <a:t> </a:t>
            </a:r>
            <a:r>
              <a:rPr lang="en-GB" sz="2800" dirty="0" err="1"/>
              <a:t>Barricelli</a:t>
            </a:r>
            <a:r>
              <a:rPr lang="en-GB" sz="2800" dirty="0"/>
              <a:t> 1954, Holland 1975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Memetic Algorithms </a:t>
            </a:r>
            <a:r>
              <a:rPr lang="en-GB" sz="2800" dirty="0">
                <a:sym typeface="Wingdings" pitchFamily="2" charset="2"/>
              </a:rPr>
              <a:t></a:t>
            </a:r>
            <a:r>
              <a:rPr lang="en-GB" sz="2800" dirty="0"/>
              <a:t> Moscato 1989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Evolutionary Programming </a:t>
            </a:r>
            <a:r>
              <a:rPr lang="en-GB" sz="2800" dirty="0"/>
              <a:t>(evolves parameters of a program with a fixed structure) </a:t>
            </a:r>
            <a:r>
              <a:rPr lang="en-GB" sz="2800" dirty="0">
                <a:sym typeface="Wingdings" pitchFamily="2" charset="2"/>
              </a:rPr>
              <a:t></a:t>
            </a:r>
            <a:r>
              <a:rPr lang="en-GB" sz="2800" dirty="0"/>
              <a:t> Fogel, Owens, Walsh 1966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Evolution Strategies </a:t>
            </a:r>
            <a:r>
              <a:rPr lang="en-GB" sz="2800" dirty="0"/>
              <a:t>(vectors of real numbers) </a:t>
            </a:r>
            <a:r>
              <a:rPr lang="en-GB" sz="2800" dirty="0">
                <a:sym typeface="Wingdings" pitchFamily="2" charset="2"/>
              </a:rPr>
              <a:t></a:t>
            </a:r>
            <a:r>
              <a:rPr lang="en-GB" sz="2800" dirty="0" err="1"/>
              <a:t>Rechenberg</a:t>
            </a:r>
            <a:r>
              <a:rPr lang="en-GB" sz="2800" dirty="0"/>
              <a:t> 1973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Genetic Programming </a:t>
            </a:r>
            <a:r>
              <a:rPr lang="en-GB" sz="2800" dirty="0"/>
              <a:t>(evolves computer programs in tree form) </a:t>
            </a:r>
            <a:r>
              <a:rPr lang="en-GB" sz="2800" dirty="0">
                <a:sym typeface="Wingdings" pitchFamily="2" charset="2"/>
              </a:rPr>
              <a:t></a:t>
            </a:r>
            <a:r>
              <a:rPr lang="en-GB" sz="2800" dirty="0"/>
              <a:t> Koza 1992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b="1" dirty="0"/>
              <a:t>Gene Expression Programming</a:t>
            </a:r>
            <a:r>
              <a:rPr lang="en-GB" sz="2800" dirty="0"/>
              <a:t> (computer programs of different sizes are encoded in linear chromosomes of fixed length)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b="1" dirty="0"/>
              <a:t>Grammatical Evolution </a:t>
            </a:r>
            <a:r>
              <a:rPr lang="en-GB" sz="2800" dirty="0"/>
              <a:t>(evolves solutions </a:t>
            </a:r>
            <a:r>
              <a:rPr lang="en-GB" sz="2800" dirty="0" err="1"/>
              <a:t>wrt</a:t>
            </a:r>
            <a:r>
              <a:rPr lang="en-GB" sz="2800" dirty="0"/>
              <a:t> a specified grammar) </a:t>
            </a:r>
            <a:r>
              <a:rPr lang="en-GB" sz="2800" dirty="0">
                <a:sym typeface="Wingdings" pitchFamily="2" charset="2"/>
              </a:rPr>
              <a:t> </a:t>
            </a:r>
            <a:r>
              <a:rPr lang="en-GB" sz="2800" dirty="0"/>
              <a:t>Ryan, Collins and O'Neill 1998</a:t>
            </a:r>
          </a:p>
          <a:p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49EE6-9CEC-27DA-95E2-988D6A52C787}"/>
              </a:ext>
            </a:extLst>
          </p:cNvPr>
          <p:cNvSpPr txBox="1"/>
          <p:nvPr/>
        </p:nvSpPr>
        <p:spPr>
          <a:xfrm>
            <a:off x="237157" y="1164134"/>
            <a:ext cx="1152939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tx1">
                    <a:alpha val="8048"/>
                  </a:schemeClr>
                </a:solidFill>
              </a:rPr>
              <a:t>Genetic Algorithm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s (evolves (bit) strings)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  <a:sym typeface="Wingdings" pitchFamily="2" charset="2"/>
              </a:rPr>
              <a:t>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 Nils </a:t>
            </a:r>
            <a:r>
              <a:rPr lang="en-GB" sz="2800" dirty="0" err="1">
                <a:solidFill>
                  <a:schemeClr val="tx1">
                    <a:alpha val="8048"/>
                  </a:schemeClr>
                </a:solidFill>
              </a:rPr>
              <a:t>Aall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 </a:t>
            </a:r>
            <a:r>
              <a:rPr lang="en-GB" sz="2800" dirty="0" err="1">
                <a:solidFill>
                  <a:schemeClr val="tx1">
                    <a:alpha val="8048"/>
                  </a:schemeClr>
                </a:solidFill>
              </a:rPr>
              <a:t>Barricelli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 1954, Holland 1975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Memetic Algorithms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  <a:sym typeface="Wingdings" pitchFamily="2" charset="2"/>
              </a:rPr>
              <a:t>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 Moscato 1989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tx1">
                    <a:alpha val="8048"/>
                  </a:schemeClr>
                </a:solidFill>
              </a:rPr>
              <a:t>Evolutionary Programming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(evolves parameters of a program with a fixed structure)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  <a:sym typeface="Wingdings" pitchFamily="2" charset="2"/>
              </a:rPr>
              <a:t>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 Fogel, Owens, Walsh 1966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tx1">
                    <a:alpha val="8048"/>
                  </a:schemeClr>
                </a:solidFill>
              </a:rPr>
              <a:t>Evolution Strategies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(vectors of real numbers)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  <a:sym typeface="Wingdings" pitchFamily="2" charset="2"/>
              </a:rPr>
              <a:t></a:t>
            </a:r>
            <a:r>
              <a:rPr lang="en-GB" sz="2800" dirty="0" err="1">
                <a:solidFill>
                  <a:schemeClr val="tx1">
                    <a:alpha val="8048"/>
                  </a:schemeClr>
                </a:solidFill>
              </a:rPr>
              <a:t>Rechenberg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 1973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tx1">
                    <a:alpha val="8048"/>
                  </a:schemeClr>
                </a:solidFill>
              </a:rPr>
              <a:t>Genetic Programming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(evolves computer programs in tree form)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  <a:sym typeface="Wingdings" pitchFamily="2" charset="2"/>
              </a:rPr>
              <a:t>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 Koza 1992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tx1">
                    <a:alpha val="8048"/>
                  </a:schemeClr>
                </a:solidFill>
              </a:rPr>
              <a:t>Gene Expression Programming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 (computer programs of different sizes are encoded in linear chromosomes of fixed length)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tx1">
                    <a:alpha val="8048"/>
                  </a:schemeClr>
                </a:solidFill>
              </a:rPr>
              <a:t>Grammatical Evolution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(evolves solutions </a:t>
            </a:r>
            <a:r>
              <a:rPr lang="en-GB" sz="2800" dirty="0" err="1">
                <a:solidFill>
                  <a:schemeClr val="tx1">
                    <a:alpha val="8048"/>
                  </a:schemeClr>
                </a:solidFill>
              </a:rPr>
              <a:t>wrt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 a specified grammar)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  <a:sym typeface="Wingdings" pitchFamily="2" charset="2"/>
              </a:rPr>
              <a:t> </a:t>
            </a:r>
            <a:r>
              <a:rPr lang="en-GB" sz="2800" dirty="0">
                <a:solidFill>
                  <a:schemeClr val="tx1">
                    <a:alpha val="8048"/>
                  </a:schemeClr>
                </a:solidFill>
              </a:rPr>
              <a:t>Ryan, Collins and O'Neill 1998</a:t>
            </a:r>
          </a:p>
          <a:p>
            <a:endParaRPr lang="en-GB" sz="2800" dirty="0">
              <a:solidFill>
                <a:schemeClr val="tx1">
                  <a:alpha val="8048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96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F057-FCEF-8035-26EF-688F2FA276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Genetic Algorithms (GAs)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A5741B-CD02-F1F7-E5EA-99C1E0BFC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065" y="3819824"/>
            <a:ext cx="4464497" cy="223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92162A-88DD-9302-33CD-9079D13C5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444" y="134968"/>
            <a:ext cx="1312325" cy="1917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BD7620-4E95-8903-8D6B-45012868D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335" y="134968"/>
            <a:ext cx="1278620" cy="1917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641318-F6E9-C48F-F80A-F8842C3E7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818" y="134968"/>
            <a:ext cx="1300060" cy="191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87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D17B8-B12B-EC94-547F-06018D07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136CDD-1FF0-A00D-9D72-9871BCB62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59186F-3757-96D3-4142-7A673360B561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4" y="1031818"/>
            <a:ext cx="10606286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 (mates)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04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E24B-A3FF-B302-E917-AC15307E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Basic Components of GAs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8F17F4-2323-30C5-ABF3-3104A6102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C7F8F4-EF55-D837-8291-6FBAF327A5D6}"/>
              </a:ext>
            </a:extLst>
          </p:cNvPr>
          <p:cNvSpPr txBox="1"/>
          <p:nvPr/>
        </p:nvSpPr>
        <p:spPr>
          <a:xfrm>
            <a:off x="270467" y="988917"/>
            <a:ext cx="113411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A genetic </a:t>
            </a:r>
            <a:r>
              <a:rPr lang="en-US" altLang="en-US" sz="2000" b="1" dirty="0"/>
              <a:t>representation (encoding)</a:t>
            </a:r>
            <a:r>
              <a:rPr lang="en-US" altLang="en-US" sz="2000" dirty="0"/>
              <a:t> for candidate solutions (individuals) to the problem at hand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An </a:t>
            </a:r>
            <a:r>
              <a:rPr lang="en-US" altLang="en-US" sz="2000" b="1" dirty="0" err="1"/>
              <a:t>initialisation</a:t>
            </a:r>
            <a:r>
              <a:rPr lang="en-US" altLang="en-US" sz="2000" dirty="0"/>
              <a:t> scheme to generate the first population (set) of candidate solutions (individuals) 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A </a:t>
            </a:r>
            <a:r>
              <a:rPr lang="en-US" altLang="en-US" sz="2000" b="1" dirty="0"/>
              <a:t>fitness (evaluation) function</a:t>
            </a:r>
            <a:r>
              <a:rPr lang="en-US" altLang="en-US" sz="2000" dirty="0"/>
              <a:t> that plays the role of the environment, rating the solutions in terms of their fitness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A scheme for </a:t>
            </a:r>
            <a:r>
              <a:rPr lang="en-US" altLang="en-US" sz="2000" b="1" dirty="0"/>
              <a:t>selecting mates (parents)</a:t>
            </a:r>
            <a:r>
              <a:rPr lang="en-US" altLang="en-US" sz="2000" dirty="0"/>
              <a:t> for recombination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/>
              <a:t>Crossover (recombination) </a:t>
            </a:r>
            <a:r>
              <a:rPr lang="en-US" altLang="en-US" sz="2000" dirty="0"/>
              <a:t>exchanges genetic material between mates producing </a:t>
            </a:r>
            <a:r>
              <a:rPr lang="en-US" altLang="en-US" sz="2000" b="1" dirty="0"/>
              <a:t>offspring</a:t>
            </a:r>
            <a:r>
              <a:rPr lang="en-US" altLang="en-US" sz="2000" dirty="0"/>
              <a:t> (</a:t>
            </a:r>
            <a:r>
              <a:rPr lang="en-US" altLang="en-US" sz="2000" b="1" dirty="0"/>
              <a:t>children</a:t>
            </a:r>
            <a:r>
              <a:rPr lang="en-US" altLang="en-US" sz="2000" dirty="0"/>
              <a:t>)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/>
              <a:t>Mutation </a:t>
            </a:r>
            <a:r>
              <a:rPr lang="en-US" altLang="en-US" sz="2000" dirty="0"/>
              <a:t>perturbs an individual creating a new one</a:t>
            </a:r>
            <a:endParaRPr lang="en-US" altLang="en-US" sz="2000" b="1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/>
              <a:t>Replacement strategy</a:t>
            </a:r>
            <a:r>
              <a:rPr lang="en-US" altLang="en-US" sz="2000" dirty="0"/>
              <a:t> to select the surviving individuals for the next generation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/>
              <a:t>Termination Criteria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Values for various parameters that GA uses (population size, probabilities of applying genetic  operators, </a:t>
            </a:r>
            <a:r>
              <a:rPr lang="en-US" altLang="en-US" sz="2000" dirty="0" err="1"/>
              <a:t>etc</a:t>
            </a:r>
            <a:r>
              <a:rPr lang="en-US" altLang="en-US" sz="2000" dirty="0"/>
              <a:t>)</a:t>
            </a:r>
            <a:endParaRPr lang="tr-T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04154-72FE-2BE8-FDD1-CB56A8EE1251}"/>
              </a:ext>
            </a:extLst>
          </p:cNvPr>
          <p:cNvSpPr txBox="1"/>
          <p:nvPr/>
        </p:nvSpPr>
        <p:spPr>
          <a:xfrm>
            <a:off x="270467" y="988917"/>
            <a:ext cx="113411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A genetic </a:t>
            </a:r>
            <a:r>
              <a:rPr lang="en-US" altLang="en-US" sz="2000" b="1" dirty="0">
                <a:solidFill>
                  <a:schemeClr val="tx1">
                    <a:alpha val="9295"/>
                  </a:schemeClr>
                </a:solidFill>
              </a:rPr>
              <a:t>representation (encoding)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 for candidate solutions (individuals) to the problem at hand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>
                  <a:alpha val="9295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An </a:t>
            </a:r>
            <a:r>
              <a:rPr lang="en-US" altLang="en-US" sz="2000" b="1" dirty="0" err="1">
                <a:solidFill>
                  <a:schemeClr val="tx1">
                    <a:alpha val="9295"/>
                  </a:schemeClr>
                </a:solidFill>
              </a:rPr>
              <a:t>initialisation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 scheme to generate the first population (set) of candidate solutions (individuals) 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>
                  <a:alpha val="9295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A </a:t>
            </a:r>
            <a:r>
              <a:rPr lang="en-US" altLang="en-US" sz="2000" b="1" dirty="0">
                <a:solidFill>
                  <a:schemeClr val="tx1">
                    <a:alpha val="9295"/>
                  </a:schemeClr>
                </a:solidFill>
              </a:rPr>
              <a:t>fitness (evaluation) function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 that plays the role of the environment, rating the solutions in terms of their fitness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>
                  <a:alpha val="9295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A scheme for </a:t>
            </a:r>
            <a:r>
              <a:rPr lang="en-US" altLang="en-US" sz="2000" b="1" dirty="0">
                <a:solidFill>
                  <a:schemeClr val="tx1">
                    <a:alpha val="9295"/>
                  </a:schemeClr>
                </a:solidFill>
              </a:rPr>
              <a:t>selecting mates (parents)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 for recombination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>
                  <a:alpha val="9295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>
                    <a:alpha val="9295"/>
                  </a:schemeClr>
                </a:solidFill>
              </a:rPr>
              <a:t>Crossover (recombination) 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exchanges genetic material between mates producing </a:t>
            </a:r>
            <a:r>
              <a:rPr lang="en-US" altLang="en-US" sz="2000" b="1" dirty="0">
                <a:solidFill>
                  <a:schemeClr val="tx1">
                    <a:alpha val="9295"/>
                  </a:schemeClr>
                </a:solidFill>
              </a:rPr>
              <a:t>offspring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 (</a:t>
            </a:r>
            <a:r>
              <a:rPr lang="en-US" altLang="en-US" sz="2000" b="1" dirty="0">
                <a:solidFill>
                  <a:schemeClr val="tx1">
                    <a:alpha val="9295"/>
                  </a:schemeClr>
                </a:solidFill>
              </a:rPr>
              <a:t>children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)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>
                  <a:alpha val="9295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>
                    <a:alpha val="9295"/>
                  </a:schemeClr>
                </a:solidFill>
              </a:rPr>
              <a:t>Mutation 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perturbs an individual creating a new one</a:t>
            </a:r>
            <a:endParaRPr lang="en-US" altLang="en-US" sz="2000" b="1" dirty="0">
              <a:solidFill>
                <a:schemeClr val="tx1">
                  <a:alpha val="9295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>
                  <a:alpha val="9295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>
                    <a:alpha val="9295"/>
                  </a:schemeClr>
                </a:solidFill>
              </a:rPr>
              <a:t>Replacement strategy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 to select the surviving individuals for the next generation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>
                  <a:alpha val="9295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>
                    <a:alpha val="9295"/>
                  </a:schemeClr>
                </a:solidFill>
              </a:rPr>
              <a:t>Termination Criteria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>
                  <a:alpha val="9295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Values for various parameters that GA uses (population size, probabilities of applying genetic  operators, </a:t>
            </a:r>
            <a:r>
              <a:rPr lang="en-US" altLang="en-US" sz="2000" dirty="0" err="1">
                <a:solidFill>
                  <a:schemeClr val="tx1">
                    <a:alpha val="9295"/>
                  </a:schemeClr>
                </a:solidFill>
              </a:rPr>
              <a:t>etc</a:t>
            </a:r>
            <a:r>
              <a:rPr lang="en-US" altLang="en-US" sz="2000" dirty="0">
                <a:solidFill>
                  <a:schemeClr val="tx1">
                    <a:alpha val="9295"/>
                  </a:schemeClr>
                </a:solidFill>
              </a:rPr>
              <a:t>)</a:t>
            </a:r>
            <a:endParaRPr lang="tr-TR" altLang="en-US" sz="2000" dirty="0">
              <a:solidFill>
                <a:schemeClr val="tx1">
                  <a:alpha val="929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66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9118-1A7C-388A-8B49-0CA3DA7F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54467-A8FC-EEAE-B29A-A0187FB86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3EF60-DC65-C833-216D-A962CEC76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4D01C4-9159-17D7-C14A-308D21B4B809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3" y="1031818"/>
            <a:ext cx="10719909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ounded Rectangle 4" descr="Rectangular box highlighting Representation">
            <a:extLst>
              <a:ext uri="{FF2B5EF4-FFF2-40B4-BE49-F238E27FC236}">
                <a16:creationId xmlns:a16="http://schemas.microsoft.com/office/drawing/2014/main" id="{948247F1-71F7-06AC-3D09-F8CC532494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13184" y="919454"/>
            <a:ext cx="2875156" cy="52023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36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EB13-D0B3-C146-D570-74A37AA46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GA Components: Representation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59E57-F4E4-2218-887C-CC6F842EE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224117"/>
            <a:ext cx="719890" cy="197810"/>
          </a:xfrm>
        </p:spPr>
        <p:txBody>
          <a:bodyPr/>
          <a:lstStyle/>
          <a:p>
            <a:fld id="{820EACED-CA5D-B048-836B-BF30EF0E914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17A83-CD9A-6703-14B1-8BD623003946}"/>
              </a:ext>
            </a:extLst>
          </p:cNvPr>
          <p:cNvSpPr txBox="1"/>
          <p:nvPr/>
        </p:nvSpPr>
        <p:spPr>
          <a:xfrm>
            <a:off x="423646" y="1133466"/>
            <a:ext cx="109829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>
                    <a:alpha val="8000"/>
                  </a:schemeClr>
                </a:solidFill>
              </a:rPr>
              <a:t>Haploid structure </a:t>
            </a: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is used: Each individual contains one chromosome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>
                  <a:alpha val="8000"/>
                </a:schemeClr>
              </a:solidFill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Each individual is evaluated and has an associated </a:t>
            </a:r>
            <a:r>
              <a:rPr lang="en-US" altLang="en-US" sz="2800" b="1" dirty="0">
                <a:solidFill>
                  <a:schemeClr val="tx1">
                    <a:alpha val="8000"/>
                  </a:schemeClr>
                </a:solidFill>
              </a:rPr>
              <a:t>fitness</a:t>
            </a: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 value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>
                  <a:alpha val="8000"/>
                </a:schemeClr>
              </a:solidFill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Chromosomes contain a fixed number of genes: </a:t>
            </a:r>
            <a:r>
              <a:rPr lang="en-US" altLang="en-US" sz="2800" b="1" dirty="0">
                <a:solidFill>
                  <a:schemeClr val="tx1">
                    <a:alpha val="8000"/>
                  </a:schemeClr>
                </a:solidFill>
              </a:rPr>
              <a:t>chromosome length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b="1" dirty="0">
              <a:solidFill>
                <a:schemeClr val="tx1">
                  <a:alpha val="8000"/>
                </a:schemeClr>
              </a:solidFill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Traditionally</a:t>
            </a:r>
            <a:r>
              <a:rPr lang="en-US" altLang="en-US" sz="2800" b="1" dirty="0">
                <a:solidFill>
                  <a:schemeClr val="tx1">
                    <a:alpha val="8000"/>
                  </a:schemeClr>
                </a:solidFill>
              </a:rPr>
              <a:t> binary encoding</a:t>
            </a: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 is used for each gene: </a:t>
            </a:r>
            <a:r>
              <a:rPr lang="en-US" altLang="en-US" sz="2800" b="1" dirty="0">
                <a:solidFill>
                  <a:schemeClr val="tx1">
                    <a:alpha val="8000"/>
                  </a:schemeClr>
                </a:solidFill>
              </a:rPr>
              <a:t>Allele</a:t>
            </a: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 value </a:t>
            </a: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  <a:sym typeface="Symbol" pitchFamily="18" charset="2"/>
              </a:rPr>
              <a:t> </a:t>
            </a: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{0,1}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>
                  <a:alpha val="8000"/>
                </a:schemeClr>
              </a:solidFill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A population contains a fixed number of individuals: </a:t>
            </a:r>
            <a:r>
              <a:rPr lang="en-US" altLang="en-US" sz="2800" b="1" dirty="0">
                <a:solidFill>
                  <a:schemeClr val="tx1">
                    <a:alpha val="8000"/>
                  </a:schemeClr>
                </a:solidFill>
              </a:rPr>
              <a:t>population size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b="1" dirty="0">
              <a:solidFill>
                <a:schemeClr val="tx1">
                  <a:alpha val="8000"/>
                </a:schemeClr>
              </a:solidFill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8000"/>
                  </a:schemeClr>
                </a:solidFill>
              </a:rPr>
              <a:t>Each iteration is referred to as </a:t>
            </a:r>
            <a:r>
              <a:rPr lang="en-US" altLang="en-US" sz="2800" b="1" dirty="0">
                <a:solidFill>
                  <a:schemeClr val="tx1">
                    <a:alpha val="8000"/>
                  </a:schemeClr>
                </a:solidFill>
              </a:rPr>
              <a:t>generation</a:t>
            </a:r>
            <a:endParaRPr lang="tr-TR" altLang="en-US" sz="2800" b="1" dirty="0">
              <a:solidFill>
                <a:schemeClr val="tx1">
                  <a:alpha val="8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0D0F3-71E0-060D-F637-31B89A0F72B6}"/>
              </a:ext>
            </a:extLst>
          </p:cNvPr>
          <p:cNvSpPr txBox="1"/>
          <p:nvPr/>
        </p:nvSpPr>
        <p:spPr>
          <a:xfrm>
            <a:off x="423645" y="1139493"/>
            <a:ext cx="109829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/>
              <a:t>Haploid structure </a:t>
            </a:r>
            <a:r>
              <a:rPr lang="en-US" altLang="en-US" sz="2800" dirty="0"/>
              <a:t>is used: Each individual contains one chromosome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Each individual is evaluated and has an associated </a:t>
            </a:r>
            <a:r>
              <a:rPr lang="en-US" altLang="en-US" sz="2800" b="1" dirty="0"/>
              <a:t>fitness</a:t>
            </a:r>
            <a:r>
              <a:rPr lang="en-US" altLang="en-US" sz="2800" dirty="0"/>
              <a:t> value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Chromosomes contain a fixed number of genes: </a:t>
            </a:r>
            <a:r>
              <a:rPr lang="en-US" altLang="en-US" sz="2800" b="1" dirty="0"/>
              <a:t>chromosome length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b="1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Traditionally</a:t>
            </a:r>
            <a:r>
              <a:rPr lang="en-US" altLang="en-US" sz="2800" b="1" dirty="0"/>
              <a:t> binary encoding</a:t>
            </a:r>
            <a:r>
              <a:rPr lang="en-US" altLang="en-US" sz="2800" dirty="0"/>
              <a:t> is used for each gene: </a:t>
            </a:r>
            <a:r>
              <a:rPr lang="en-US" altLang="en-US" sz="2800" b="1" dirty="0"/>
              <a:t>Allele</a:t>
            </a:r>
            <a:r>
              <a:rPr lang="en-US" altLang="en-US" sz="2800" dirty="0"/>
              <a:t> value </a:t>
            </a:r>
            <a:r>
              <a:rPr lang="en-US" altLang="en-US" sz="2800" dirty="0">
                <a:sym typeface="Symbol" pitchFamily="18" charset="2"/>
              </a:rPr>
              <a:t> </a:t>
            </a:r>
            <a:r>
              <a:rPr lang="en-US" altLang="en-US" sz="2800" dirty="0"/>
              <a:t>{0,1}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A population contains a fixed number of individuals: </a:t>
            </a:r>
            <a:r>
              <a:rPr lang="en-US" altLang="en-US" sz="2800" b="1" dirty="0"/>
              <a:t>population size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800" b="1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Each iteration is referred to as </a:t>
            </a:r>
            <a:r>
              <a:rPr lang="en-US" altLang="en-US" sz="2800" b="1" dirty="0"/>
              <a:t>generation</a:t>
            </a:r>
            <a:endParaRPr lang="tr-T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114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6780A-CFE6-550C-15FF-62C85F38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E700-249B-ADCC-7C2C-49A99A55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683079-EA24-5CD4-CA2C-623744F85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6DBF26-3C6F-2787-89D3-CA2F4BB08701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3" y="1031818"/>
            <a:ext cx="10698267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ounded Rectangle 4" descr="Rectangular box highlighting initial population generation in the pseudocode">
            <a:extLst>
              <a:ext uri="{FF2B5EF4-FFF2-40B4-BE49-F238E27FC236}">
                <a16:creationId xmlns:a16="http://schemas.microsoft.com/office/drawing/2014/main" id="{9FC388F7-2DF6-29CA-9771-96E221E4A1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70508" y="1839621"/>
            <a:ext cx="3387007" cy="44747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63E5-48F4-466C-7BE0-C8ADBC67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GA Components: </a:t>
            </a:r>
            <a:r>
              <a:rPr lang="en-US" altLang="en-US" dirty="0" err="1"/>
              <a:t>Initialisation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FEB38C-F215-E954-5B35-4304D30C1B4F}"/>
              </a:ext>
            </a:extLst>
          </p:cNvPr>
          <p:cNvSpPr txBox="1"/>
          <p:nvPr/>
        </p:nvSpPr>
        <p:spPr>
          <a:xfrm>
            <a:off x="282610" y="1259840"/>
            <a:ext cx="703072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Random Initialisation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Population size number of individuals are created randomly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Each gene at a locus of an individual is assigned an allele value 0 or 1 randomly, decided by flipping a coin (E.g., if the random value is &lt;0.5, then allele is assigned to 0, otherwise to 1).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E0894F-683D-28B2-FB54-66413319D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DD6BC-337B-E841-B1B4-85C5801E15BA}"/>
              </a:ext>
            </a:extLst>
          </p:cNvPr>
          <p:cNvSpPr txBox="1"/>
          <p:nvPr/>
        </p:nvSpPr>
        <p:spPr>
          <a:xfrm>
            <a:off x="284481" y="1259840"/>
            <a:ext cx="703072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alpha val="9243"/>
                  </a:schemeClr>
                </a:solidFill>
              </a:rPr>
              <a:t>Random Initialisation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1">
                  <a:alpha val="9243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alpha val="9243"/>
                  </a:schemeClr>
                </a:solidFill>
              </a:rPr>
              <a:t>Population size number of individuals are created randomly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1">
                  <a:alpha val="9243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alpha val="9243"/>
                  </a:schemeClr>
                </a:solidFill>
              </a:rPr>
              <a:t>Each gene at a locus of an individual is assigned an allele value 0 or 1 randomly, decided by flipping a coin (E.g., if the random value is &lt;0.5, then allele is assigned to 0, otherwise to 1).</a:t>
            </a:r>
          </a:p>
          <a:p>
            <a:endParaRPr lang="en-GB" dirty="0">
              <a:solidFill>
                <a:schemeClr val="tx1">
                  <a:alpha val="9243"/>
                </a:schemeClr>
              </a:solidFill>
            </a:endParaRPr>
          </a:p>
        </p:txBody>
      </p:sp>
      <p:sp>
        <p:nvSpPr>
          <p:cNvPr id="5" name="Text Box 24">
            <a:extLst>
              <a:ext uri="{FF2B5EF4-FFF2-40B4-BE49-F238E27FC236}">
                <a16:creationId xmlns:a16="http://schemas.microsoft.com/office/drawing/2014/main" id="{E4A8473B-F85E-20D0-DA56-CCAC64C02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368" y="2132013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Chromosome</a:t>
            </a:r>
            <a:r>
              <a:rPr lang="tr-TR" altLang="en-US" sz="2400" b="0" dirty="0">
                <a:latin typeface="Times New Roman" pitchFamily="18" charset="0"/>
              </a:rPr>
              <a:t> </a:t>
            </a:r>
            <a:r>
              <a:rPr lang="en-US" altLang="en-US" sz="2400" b="0" dirty="0">
                <a:latin typeface="Times New Roman" pitchFamily="18" charset="0"/>
              </a:rPr>
              <a:t>(individual)</a:t>
            </a:r>
          </a:p>
        </p:txBody>
      </p:sp>
      <p:grpSp>
        <p:nvGrpSpPr>
          <p:cNvPr id="6" name="Group 33">
            <a:extLst>
              <a:ext uri="{FF2B5EF4-FFF2-40B4-BE49-F238E27FC236}">
                <a16:creationId xmlns:a16="http://schemas.microsoft.com/office/drawing/2014/main" id="{605822ED-EC68-D378-AD66-46D58DAB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7593256" y="3429000"/>
            <a:ext cx="3916362" cy="2032000"/>
            <a:chOff x="3054" y="1613"/>
            <a:chExt cx="2467" cy="1280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F4ECC5AB-21C8-9B3E-AC5C-112B25DB1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1933"/>
              <a:ext cx="2460" cy="960"/>
              <a:chOff x="2112" y="1776"/>
              <a:chExt cx="2460" cy="960"/>
            </a:xfrm>
          </p:grpSpPr>
          <p:grpSp>
            <p:nvGrpSpPr>
              <p:cNvPr id="21" name="Group 5">
                <a:extLst>
                  <a:ext uri="{FF2B5EF4-FFF2-40B4-BE49-F238E27FC236}">
                    <a16:creationId xmlns:a16="http://schemas.microsoft.com/office/drawing/2014/main" id="{15EA173D-2CC8-4ADD-F4E3-A2CA63538C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2112"/>
                <a:ext cx="1440" cy="296"/>
                <a:chOff x="768" y="864"/>
                <a:chExt cx="1440" cy="296"/>
              </a:xfrm>
            </p:grpSpPr>
            <p:sp>
              <p:nvSpPr>
                <p:cNvPr id="29" name="Text Box 6">
                  <a:extLst>
                    <a:ext uri="{FF2B5EF4-FFF2-40B4-BE49-F238E27FC236}">
                      <a16:creationId xmlns:a16="http://schemas.microsoft.com/office/drawing/2014/main" id="{12006198-F913-4BC5-A12B-EC216E9E89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864"/>
                  <a:ext cx="288" cy="29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buClr>
                      <a:schemeClr val="tx2"/>
                    </a:buClr>
                    <a:buFont typeface="Wingdings" pitchFamily="2" charset="2"/>
                    <a:buNone/>
                  </a:pPr>
                  <a:r>
                    <a:rPr lang="en-US" altLang="en-US" sz="2400" b="0">
                      <a:latin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30" name="Text Box 7">
                  <a:extLst>
                    <a:ext uri="{FF2B5EF4-FFF2-40B4-BE49-F238E27FC236}">
                      <a16:creationId xmlns:a16="http://schemas.microsoft.com/office/drawing/2014/main" id="{F36C3D7F-DFD4-A064-D001-85DDB47BF3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6" y="864"/>
                  <a:ext cx="288" cy="29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buClr>
                      <a:schemeClr val="tx2"/>
                    </a:buClr>
                    <a:buFont typeface="Wingdings" pitchFamily="2" charset="2"/>
                    <a:buNone/>
                  </a:pPr>
                  <a:r>
                    <a:rPr lang="en-US" altLang="en-US" sz="2400" b="0">
                      <a:latin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31" name="Text Box 8">
                  <a:extLst>
                    <a:ext uri="{FF2B5EF4-FFF2-40B4-BE49-F238E27FC236}">
                      <a16:creationId xmlns:a16="http://schemas.microsoft.com/office/drawing/2014/main" id="{4412A674-0F42-9464-E8BC-BEF5FF9233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4" y="864"/>
                  <a:ext cx="288" cy="29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buClr>
                      <a:schemeClr val="tx2"/>
                    </a:buClr>
                    <a:buFont typeface="Wingdings" pitchFamily="2" charset="2"/>
                    <a:buNone/>
                  </a:pPr>
                  <a:r>
                    <a:rPr lang="en-US" altLang="en-US" sz="2400" b="0">
                      <a:latin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32" name="Text Box 9">
                  <a:extLst>
                    <a:ext uri="{FF2B5EF4-FFF2-40B4-BE49-F238E27FC236}">
                      <a16:creationId xmlns:a16="http://schemas.microsoft.com/office/drawing/2014/main" id="{47460653-3229-587E-F8CD-C05E3B8604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32" y="864"/>
                  <a:ext cx="288" cy="29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buClr>
                      <a:schemeClr val="tx2"/>
                    </a:buClr>
                    <a:buFont typeface="Wingdings" pitchFamily="2" charset="2"/>
                    <a:buNone/>
                  </a:pPr>
                  <a:r>
                    <a:rPr lang="en-US" altLang="en-US" sz="2400" b="0">
                      <a:latin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33" name="Text Box 10">
                  <a:extLst>
                    <a:ext uri="{FF2B5EF4-FFF2-40B4-BE49-F238E27FC236}">
                      <a16:creationId xmlns:a16="http://schemas.microsoft.com/office/drawing/2014/main" id="{CB7CF6E9-745D-B2C2-3854-2C1374CD35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0" y="864"/>
                  <a:ext cx="288" cy="29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buClr>
                      <a:schemeClr val="tx2"/>
                    </a:buClr>
                    <a:buFont typeface="Wingdings" pitchFamily="2" charset="2"/>
                    <a:buNone/>
                  </a:pPr>
                  <a:r>
                    <a:rPr lang="en-US" altLang="en-US" sz="2400" b="0">
                      <a:latin typeface="Times New Roman" pitchFamily="18" charset="0"/>
                    </a:rPr>
                    <a:t>5</a:t>
                  </a:r>
                </a:p>
              </p:txBody>
            </p:sp>
          </p:grpSp>
          <p:sp>
            <p:nvSpPr>
              <p:cNvPr id="22" name="Line 11">
                <a:extLst>
                  <a:ext uri="{FF2B5EF4-FFF2-40B4-BE49-F238E27FC236}">
                    <a16:creationId xmlns:a16="http://schemas.microsoft.com/office/drawing/2014/main" id="{91B46A7C-F6F2-A70B-990E-891A23301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77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3" name="Line 12">
                <a:extLst>
                  <a:ext uri="{FF2B5EF4-FFF2-40B4-BE49-F238E27FC236}">
                    <a16:creationId xmlns:a16="http://schemas.microsoft.com/office/drawing/2014/main" id="{AB0EBE9E-DF0C-F14E-B7B7-29DBF1D00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177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4" name="Line 13">
                <a:extLst>
                  <a:ext uri="{FF2B5EF4-FFF2-40B4-BE49-F238E27FC236}">
                    <a16:creationId xmlns:a16="http://schemas.microsoft.com/office/drawing/2014/main" id="{033BF59F-EC47-0883-69D3-43211112E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177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5" name="Line 14">
                <a:extLst>
                  <a:ext uri="{FF2B5EF4-FFF2-40B4-BE49-F238E27FC236}">
                    <a16:creationId xmlns:a16="http://schemas.microsoft.com/office/drawing/2014/main" id="{1A810A47-D47A-9883-2109-4E36420C0C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77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6" name="Line 15">
                <a:extLst>
                  <a:ext uri="{FF2B5EF4-FFF2-40B4-BE49-F238E27FC236}">
                    <a16:creationId xmlns:a16="http://schemas.microsoft.com/office/drawing/2014/main" id="{A607E3D8-E1A5-336B-9DA7-CFE5CD112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177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7" name="Line 16">
                <a:extLst>
                  <a:ext uri="{FF2B5EF4-FFF2-40B4-BE49-F238E27FC236}">
                    <a16:creationId xmlns:a16="http://schemas.microsoft.com/office/drawing/2014/main" id="{32D95B70-120D-4655-6F8A-FBC05A1AE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776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8" name="Text Box 17">
                <a:extLst>
                  <a:ext uri="{FF2B5EF4-FFF2-40B4-BE49-F238E27FC236}">
                    <a16:creationId xmlns:a16="http://schemas.microsoft.com/office/drawing/2014/main" id="{1169B729-7DA2-60EF-317C-C86B4F030B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2" y="2088"/>
                <a:ext cx="7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prstDash val="dash"/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locus</a:t>
                </a:r>
              </a:p>
            </p:txBody>
          </p:sp>
        </p:grpSp>
        <p:grpSp>
          <p:nvGrpSpPr>
            <p:cNvPr id="8" name="Group 18">
              <a:extLst>
                <a:ext uri="{FF2B5EF4-FFF2-40B4-BE49-F238E27FC236}">
                  <a16:creationId xmlns:a16="http://schemas.microsoft.com/office/drawing/2014/main" id="{09249C9A-963A-51ED-2BB1-09496FEE0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" y="1613"/>
              <a:ext cx="1440" cy="296"/>
              <a:chOff x="768" y="864"/>
              <a:chExt cx="1440" cy="296"/>
            </a:xfrm>
          </p:grpSpPr>
          <p:sp>
            <p:nvSpPr>
              <p:cNvPr id="16" name="Text Box 19">
                <a:extLst>
                  <a:ext uri="{FF2B5EF4-FFF2-40B4-BE49-F238E27FC236}">
                    <a16:creationId xmlns:a16="http://schemas.microsoft.com/office/drawing/2014/main" id="{48DE21D3-903D-2748-AF87-17FCC83437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864"/>
                <a:ext cx="288" cy="2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7" name="Text Box 20">
                <a:extLst>
                  <a:ext uri="{FF2B5EF4-FFF2-40B4-BE49-F238E27FC236}">
                    <a16:creationId xmlns:a16="http://schemas.microsoft.com/office/drawing/2014/main" id="{A849F9F4-E193-711B-25E2-B890E7F379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864"/>
                <a:ext cx="288" cy="2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97AAE6C9-5414-0EE2-3EB3-DE67B2CF72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864"/>
                <a:ext cx="288" cy="2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9" name="Text Box 22">
                <a:extLst>
                  <a:ext uri="{FF2B5EF4-FFF2-40B4-BE49-F238E27FC236}">
                    <a16:creationId xmlns:a16="http://schemas.microsoft.com/office/drawing/2014/main" id="{E862A6B5-2CB3-DA95-D89B-3C17125984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864"/>
                <a:ext cx="288" cy="2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B7DEBEEC-7DBA-9097-A7CB-04921FA7A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864"/>
                <a:ext cx="288" cy="2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9" name="Group 25">
              <a:extLst>
                <a:ext uri="{FF2B5EF4-FFF2-40B4-BE49-F238E27FC236}">
                  <a16:creationId xmlns:a16="http://schemas.microsoft.com/office/drawing/2014/main" id="{FF0CF5CB-834A-8AE7-B2AA-3808A407DA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" y="1613"/>
              <a:ext cx="1440" cy="306"/>
              <a:chOff x="768" y="864"/>
              <a:chExt cx="1440" cy="306"/>
            </a:xfrm>
          </p:grpSpPr>
          <p:sp>
            <p:nvSpPr>
              <p:cNvPr id="11" name="Text Box 26">
                <a:extLst>
                  <a:ext uri="{FF2B5EF4-FFF2-40B4-BE49-F238E27FC236}">
                    <a16:creationId xmlns:a16="http://schemas.microsoft.com/office/drawing/2014/main" id="{E718990F-00D3-7FE2-B7D3-1068929B73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864"/>
                <a:ext cx="288" cy="30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2" name="Text Box 27">
                <a:extLst>
                  <a:ext uri="{FF2B5EF4-FFF2-40B4-BE49-F238E27FC236}">
                    <a16:creationId xmlns:a16="http://schemas.microsoft.com/office/drawing/2014/main" id="{6EFCCAED-DF4D-3379-39DE-8B32ACC50B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864"/>
                <a:ext cx="288" cy="30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3" name="Text Box 28">
                <a:extLst>
                  <a:ext uri="{FF2B5EF4-FFF2-40B4-BE49-F238E27FC236}">
                    <a16:creationId xmlns:a16="http://schemas.microsoft.com/office/drawing/2014/main" id="{FBCCAACB-848F-55A1-1D57-F5A26706E6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864"/>
                <a:ext cx="288" cy="30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4" name="Text Box 29">
                <a:extLst>
                  <a:ext uri="{FF2B5EF4-FFF2-40B4-BE49-F238E27FC236}">
                    <a16:creationId xmlns:a16="http://schemas.microsoft.com/office/drawing/2014/main" id="{821956FE-5B38-087E-89F8-730B6607DD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864"/>
                <a:ext cx="288" cy="30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5" name="Text Box 30">
                <a:extLst>
                  <a:ext uri="{FF2B5EF4-FFF2-40B4-BE49-F238E27FC236}">
                    <a16:creationId xmlns:a16="http://schemas.microsoft.com/office/drawing/2014/main" id="{C7D6765A-15C4-44CF-422D-A2990ADF99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864"/>
                <a:ext cx="288" cy="30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10" name="Text Box 31">
              <a:extLst>
                <a:ext uri="{FF2B5EF4-FFF2-40B4-BE49-F238E27FC236}">
                  <a16:creationId xmlns:a16="http://schemas.microsoft.com/office/drawing/2014/main" id="{934C080D-6B70-3CB3-5973-B81811522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8" y="1613"/>
              <a:ext cx="288" cy="30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>
                  <a:solidFill>
                    <a:srgbClr val="000099"/>
                  </a:solidFill>
                  <a:latin typeface="Times New Roman" pitchFamily="18" charset="0"/>
                </a:rPr>
                <a:t>0</a:t>
              </a:r>
            </a:p>
          </p:txBody>
        </p:sp>
      </p:grpSp>
      <p:sp>
        <p:nvSpPr>
          <p:cNvPr id="34" name="Text Box 32">
            <a:extLst>
              <a:ext uri="{FF2B5EF4-FFF2-40B4-BE49-F238E27FC236}">
                <a16:creationId xmlns:a16="http://schemas.microsoft.com/office/drawing/2014/main" id="{144BB929-8FC3-4ACF-60AD-F050AE839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393" y="2708276"/>
            <a:ext cx="838200" cy="46166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>
                <a:solidFill>
                  <a:srgbClr val="000099"/>
                </a:solidFill>
                <a:latin typeface="Times New Roman" pitchFamily="18" charset="0"/>
              </a:rPr>
              <a:t>gene</a:t>
            </a:r>
          </a:p>
        </p:txBody>
      </p:sp>
    </p:spTree>
    <p:extLst>
      <p:ext uri="{BB962C8B-B14F-4D97-AF65-F5344CB8AC3E}">
        <p14:creationId xmlns:p14="http://schemas.microsoft.com/office/powerpoint/2010/main" val="161830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  <p:bldP spid="5" grpId="0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4850-5498-2E3F-3737-A091F29E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Example – MAX-SAT:  </a:t>
            </a:r>
            <a:r>
              <a:rPr lang="en-US" altLang="en-US" dirty="0" err="1"/>
              <a:t>Initialisation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64186-BF53-B30B-FA04-5D43FF2AA5DB}"/>
              </a:ext>
            </a:extLst>
          </p:cNvPr>
          <p:cNvSpPr txBox="1"/>
          <p:nvPr/>
        </p:nvSpPr>
        <p:spPr>
          <a:xfrm>
            <a:off x="5588000" y="2092960"/>
            <a:ext cx="64617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Assume population size is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The individual size/chromosome length is 6 (since we have 6 literals: </a:t>
            </a:r>
            <a:r>
              <a:rPr lang="en-GB" sz="2800" dirty="0" err="1"/>
              <a:t>abcdef</a:t>
            </a:r>
            <a:r>
              <a:rPr lang="en-GB" sz="2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So, create 4 individuals with 6 genes within their chromosomes, where each allele at  a locus is determined randomly (by throwing a random number in [0,1)).</a:t>
            </a:r>
          </a:p>
          <a:p>
            <a:endParaRPr lang="en-GB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EE8F2C-6979-462C-F914-65254AA0D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8AB614-CEDD-842B-FB69-24131C5FC101}"/>
                  </a:ext>
                </a:extLst>
              </p:cNvPr>
              <p:cNvSpPr txBox="1"/>
              <p:nvPr/>
            </p:nvSpPr>
            <p:spPr>
              <a:xfrm>
                <a:off x="2296160" y="1137920"/>
                <a:ext cx="62415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800" i="1" dirty="0">
                    <a:latin typeface="Cambria Math" panose="02040503050406030204" pitchFamily="18" charset="0"/>
                  </a:rPr>
                  <a:t> </a:t>
                </a:r>
                <a:r>
                  <a:rPr lang="en-GB" sz="1800" dirty="0">
                    <a:latin typeface="Cambria Math" panose="02040503050406030204" pitchFamily="18" charset="0"/>
                  </a:rPr>
                  <a:t>0                   1                   2                3                      4                5</a:t>
                </a:r>
                <a:endParaRPr lang="en-GB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8AB614-CEDD-842B-FB69-24131C5FC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160" y="1137920"/>
                <a:ext cx="6241517" cy="646331"/>
              </a:xfrm>
              <a:prstGeom prst="rect">
                <a:avLst/>
              </a:prstGeom>
              <a:blipFill>
                <a:blip r:embed="rId2"/>
                <a:stretch>
                  <a:fillRect t="-3846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39A20D8-A623-9710-80AD-D61348FFCDCF}"/>
              </a:ext>
            </a:extLst>
          </p:cNvPr>
          <p:cNvSpPr txBox="1"/>
          <p:nvPr/>
        </p:nvSpPr>
        <p:spPr>
          <a:xfrm>
            <a:off x="390213" y="2465777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1: &lt;0.98, 0.85, 0.13, 0.04, 0.47, 0.44&gt;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8DB89-BEF1-DCA3-A794-BF096C784987}"/>
              </a:ext>
            </a:extLst>
          </p:cNvPr>
          <p:cNvSpPr txBox="1"/>
          <p:nvPr/>
        </p:nvSpPr>
        <p:spPr>
          <a:xfrm>
            <a:off x="390213" y="3289757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3: &lt;0.21, 0.03, 0.72, 0.84, 0.19, 0.49&gt;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B159B-FB34-A8CB-535E-C952E41CBF28}"/>
              </a:ext>
            </a:extLst>
          </p:cNvPr>
          <p:cNvSpPr txBox="1"/>
          <p:nvPr/>
        </p:nvSpPr>
        <p:spPr>
          <a:xfrm>
            <a:off x="390213" y="2869612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2: &lt;0.09, 0.63, 0.22, 0.54, 0.07, 0.37&gt;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F8613-79BF-42A4-A23D-ABBC572B783C}"/>
              </a:ext>
            </a:extLst>
          </p:cNvPr>
          <p:cNvSpPr txBox="1"/>
          <p:nvPr/>
        </p:nvSpPr>
        <p:spPr>
          <a:xfrm>
            <a:off x="390213" y="3649797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4: &lt;0.61, 0.43, 0.87, 0.53, 0.97, 0.14&gt;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46084D-4E9E-DF84-8A26-54399D21D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488935" y="3976055"/>
            <a:ext cx="861719" cy="6213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56A780-A044-0EC0-B5D2-42815F86A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288430" y="3976057"/>
            <a:ext cx="347358" cy="621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BF8802-CDCB-66AF-972A-C336EB3F5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3018506" y="4015269"/>
            <a:ext cx="36758" cy="464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128D21-C5C9-ACEF-70C4-EAB43C2FF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478446" y="3966715"/>
            <a:ext cx="346627" cy="62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6847F8-D702-897A-9D6B-FBC29C5EF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830373" y="3958511"/>
            <a:ext cx="775089" cy="6335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AF4D40-4550-3E27-3FFE-1B6A69D4C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234965" y="3970337"/>
            <a:ext cx="1173944" cy="6943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B70C7D-B1A4-DCF0-1E5B-59AFD3CC938C}"/>
                  </a:ext>
                </a:extLst>
              </p:cNvPr>
              <p:cNvSpPr txBox="1"/>
              <p:nvPr/>
            </p:nvSpPr>
            <p:spPr>
              <a:xfrm>
                <a:off x="2285280" y="4487009"/>
                <a:ext cx="3863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B70C7D-B1A4-DCF0-1E5B-59AFD3CC9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280" y="4487009"/>
                <a:ext cx="3863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D13DB4-D84C-BFB5-3A6A-CFFECDB37B58}"/>
                  </a:ext>
                </a:extLst>
              </p:cNvPr>
              <p:cNvSpPr txBox="1"/>
              <p:nvPr/>
            </p:nvSpPr>
            <p:spPr>
              <a:xfrm>
                <a:off x="2489651" y="4491791"/>
                <a:ext cx="3863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D13DB4-D84C-BFB5-3A6A-CFFECDB37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651" y="4491791"/>
                <a:ext cx="3863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A38E91-8B4D-B5F7-671E-D58E700D96F0}"/>
                  </a:ext>
                </a:extLst>
              </p:cNvPr>
              <p:cNvSpPr txBox="1"/>
              <p:nvPr/>
            </p:nvSpPr>
            <p:spPr>
              <a:xfrm>
                <a:off x="2693219" y="4487880"/>
                <a:ext cx="3863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A38E91-8B4D-B5F7-671E-D58E700D9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219" y="4487880"/>
                <a:ext cx="3863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A126F4-D0D9-62BC-2F59-BB3AE425A360}"/>
                  </a:ext>
                </a:extLst>
              </p:cNvPr>
              <p:cNvSpPr txBox="1"/>
              <p:nvPr/>
            </p:nvSpPr>
            <p:spPr>
              <a:xfrm>
                <a:off x="3238024" y="4480058"/>
                <a:ext cx="3863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A126F4-D0D9-62BC-2F59-BB3AE425A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024" y="4480058"/>
                <a:ext cx="38632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958710F-D06A-534F-6213-81EDD7973612}"/>
                  </a:ext>
                </a:extLst>
              </p:cNvPr>
              <p:cNvSpPr txBox="1"/>
              <p:nvPr/>
            </p:nvSpPr>
            <p:spPr>
              <a:xfrm>
                <a:off x="3044860" y="4483969"/>
                <a:ext cx="3863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8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958710F-D06A-534F-6213-81EDD7973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860" y="4483969"/>
                <a:ext cx="38632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351F7A-A0DB-F4CF-9731-1347B084F5F1}"/>
                  </a:ext>
                </a:extLst>
              </p:cNvPr>
              <p:cNvSpPr txBox="1"/>
              <p:nvPr/>
            </p:nvSpPr>
            <p:spPr>
              <a:xfrm>
                <a:off x="2862099" y="4480058"/>
                <a:ext cx="3863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351F7A-A0DB-F4CF-9731-1347B084F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099" y="4480058"/>
                <a:ext cx="3863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75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7" grpId="0"/>
      <p:bldP spid="5" grpId="0"/>
      <p:bldP spid="20" grpId="0"/>
      <p:bldP spid="22" grpId="0"/>
      <p:bldP spid="23" grpId="0"/>
      <p:bldP spid="24" grpId="0"/>
      <p:bldP spid="25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1350-3EA6-653D-9E6C-F62051B71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A245-4D44-E79C-01CC-77D856D6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Example – MAX-SAT:  </a:t>
            </a:r>
            <a:r>
              <a:rPr lang="en-US" altLang="en-US" dirty="0" err="1"/>
              <a:t>Initialisation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95D31B-4A6C-4A9B-A54E-A36CBD81F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5FF7A2-4CAE-F7EA-97C7-8BCD7ACEB5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2296160" y="1137920"/>
                <a:ext cx="62415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800" i="1" dirty="0">
                    <a:latin typeface="Cambria Math" panose="02040503050406030204" pitchFamily="18" charset="0"/>
                  </a:rPr>
                  <a:t> </a:t>
                </a:r>
                <a:r>
                  <a:rPr lang="en-GB" sz="1800" dirty="0">
                    <a:latin typeface="Cambria Math" panose="02040503050406030204" pitchFamily="18" charset="0"/>
                  </a:rPr>
                  <a:t>0                   1                   2                3                      4                5</a:t>
                </a:r>
                <a:endParaRPr lang="en-GB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5FF7A2-4CAE-F7EA-97C7-8BCD7ACEB5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160" y="1137920"/>
                <a:ext cx="6241517" cy="646331"/>
              </a:xfrm>
              <a:prstGeom prst="rect">
                <a:avLst/>
              </a:prstGeom>
              <a:blipFill>
                <a:blip r:embed="rId2"/>
                <a:stretch>
                  <a:fillRect l="-98" t="-6604" b="-75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5906598-8536-1752-1206-F15DA4AF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88000" y="2092960"/>
            <a:ext cx="64617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Assume population size is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The individual size/chromosome length is 6 (since we have 6 literals: </a:t>
            </a:r>
            <a:r>
              <a:rPr lang="en-GB" sz="2800" dirty="0" err="1"/>
              <a:t>abcdef</a:t>
            </a:r>
            <a:r>
              <a:rPr lang="en-GB" sz="2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So, create 4 individuals with 6 genes within their chromosomes, where each allele at  a locus is determined randomly (by throwing a random number in [0,1)).</a:t>
            </a:r>
          </a:p>
          <a:p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6F4DA859-505A-4911-FEF2-706318514B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2756182"/>
                  </p:ext>
                </p:extLst>
              </p:nvPr>
            </p:nvGraphicFramePr>
            <p:xfrm>
              <a:off x="2491050" y="2873436"/>
              <a:ext cx="2495203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334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effectLst/>
                            </a:rPr>
                            <a:t>i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1" u="none" strike="noStrike" dirty="0">
                              <a:effectLst/>
                            </a:rPr>
                            <a:t>Chromosome</a:t>
                          </a:r>
                          <a:r>
                            <a:rPr lang="en-GB" sz="1600" b="1" u="none" strike="noStrike" baseline="0" dirty="0">
                              <a:effectLst/>
                            </a:rPr>
                            <a:t> </a:t>
                          </a:r>
                          <a:r>
                            <a:rPr lang="en-GB" sz="2400" b="1" u="none" strike="noStrike" dirty="0" err="1">
                              <a:effectLst/>
                            </a:rPr>
                            <a:t>abcdef</a:t>
                          </a:r>
                          <a:r>
                            <a:rPr lang="en-GB" sz="1400" b="1" u="none" strike="noStrike" dirty="0">
                              <a:effectLst/>
                            </a:rPr>
                            <a:t>  </a:t>
                          </a:r>
                          <a:r>
                            <a:rPr lang="en-GB" sz="100" b="1" u="none" strike="noStrike" dirty="0">
                              <a:effectLst/>
                            </a:rPr>
                            <a:t>.</a:t>
                          </a:r>
                          <a:r>
                            <a:rPr lang="en-GB" sz="1200" b="1" u="none" strike="noStrike" dirty="0">
                              <a:effectLst/>
                            </a:rPr>
                            <a:t> </a:t>
                          </a:r>
                          <a:endParaRPr lang="en-GB" sz="12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1: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  <m:r>
                                  <a:rPr lang="en-GB" sz="24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2: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010100 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3: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  <m:r>
                                  <a:rPr lang="en-GB" sz="24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4: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24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6F4DA859-505A-4911-FEF2-706318514B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2756182"/>
                  </p:ext>
                </p:extLst>
              </p:nvPr>
            </p:nvGraphicFramePr>
            <p:xfrm>
              <a:off x="2491050" y="2873436"/>
              <a:ext cx="2495203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334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78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effectLst/>
                            </a:rPr>
                            <a:t>i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1" u="none" strike="noStrike" dirty="0">
                              <a:effectLst/>
                            </a:rPr>
                            <a:t>Chromosome</a:t>
                          </a:r>
                          <a:r>
                            <a:rPr lang="en-GB" sz="1600" b="1" u="none" strike="noStrike" baseline="0" dirty="0">
                              <a:effectLst/>
                            </a:rPr>
                            <a:t> </a:t>
                          </a:r>
                          <a:r>
                            <a:rPr lang="en-GB" sz="2400" b="1" u="none" strike="noStrike" dirty="0" err="1">
                              <a:effectLst/>
                            </a:rPr>
                            <a:t>abcdef</a:t>
                          </a:r>
                          <a:r>
                            <a:rPr lang="en-GB" sz="1400" b="1" u="none" strike="noStrike" dirty="0">
                              <a:effectLst/>
                            </a:rPr>
                            <a:t>  </a:t>
                          </a:r>
                          <a:r>
                            <a:rPr lang="en-GB" sz="100" b="1" u="none" strike="noStrike" dirty="0">
                              <a:effectLst/>
                            </a:rPr>
                            <a:t>.</a:t>
                          </a:r>
                          <a:r>
                            <a:rPr lang="en-GB" sz="1200" b="1" u="none" strike="noStrike" dirty="0">
                              <a:effectLst/>
                            </a:rPr>
                            <a:t> </a:t>
                          </a:r>
                          <a:endParaRPr lang="en-GB" sz="12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1: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5493" t="-221311" r="-282" b="-3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2: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5493" t="-316129" r="-282" b="-24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3: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5493" t="-422951" r="-282" b="-147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4: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5493" t="-522951" r="-282" b="-47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9349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4B3E3-0909-702D-09EB-7D9F13A6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2F2E-2572-125F-EAD2-3B28B8ED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325AE7-B77C-84D5-4010-537CDCA70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BBD9A1-D6CC-137C-DF08-EBE04953B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>
          <a:xfrm>
            <a:off x="1113184" y="1031818"/>
            <a:ext cx="10606286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ounded Rectangle 4" descr="Rectangular box highlighting fitness evaluation stage in the pseudocode">
            <a:extLst>
              <a:ext uri="{FF2B5EF4-FFF2-40B4-BE49-F238E27FC236}">
                <a16:creationId xmlns:a16="http://schemas.microsoft.com/office/drawing/2014/main" id="{E0CCD97E-D57A-39D7-34CB-4BDE29747B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93550" y="2223776"/>
            <a:ext cx="1533759" cy="46500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39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D204-2969-0773-2428-F0CAD10E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GA Components – Fitness Calculation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8B9223-D7E3-8D8E-FE58-3166C1145B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76858-AF90-DE73-8198-70638656A8C9}"/>
              </a:ext>
            </a:extLst>
          </p:cNvPr>
          <p:cNvSpPr txBox="1"/>
          <p:nvPr/>
        </p:nvSpPr>
        <p:spPr>
          <a:xfrm>
            <a:off x="914400" y="1320800"/>
            <a:ext cx="1044098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chemeClr val="tx1">
                    <a:alpha val="10000"/>
                  </a:schemeClr>
                </a:solidFill>
              </a:rPr>
              <a:t>Fitness value</a:t>
            </a:r>
            <a:r>
              <a:rPr lang="en-US" altLang="en-US" sz="3200" dirty="0">
                <a:solidFill>
                  <a:schemeClr val="tx1">
                    <a:alpha val="10000"/>
                  </a:schemeClr>
                </a:solidFill>
              </a:rPr>
              <a:t> indicates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>
                    <a:alpha val="10000"/>
                  </a:schemeClr>
                </a:solidFill>
              </a:rPr>
              <a:t>how fit the individual is to survive and reproduce under the current conditions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>
                    <a:alpha val="10000"/>
                  </a:schemeClr>
                </a:solidFill>
              </a:rPr>
              <a:t>How much does the current solution meet the requirements of the objective function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chemeClr val="tx1">
                    <a:alpha val="10000"/>
                  </a:schemeClr>
                </a:solidFill>
              </a:rPr>
              <a:t>Fitness value</a:t>
            </a:r>
            <a:r>
              <a:rPr lang="en-US" altLang="en-US" sz="3200" dirty="0">
                <a:solidFill>
                  <a:schemeClr val="tx1">
                    <a:alpha val="10000"/>
                  </a:schemeClr>
                </a:solidFill>
              </a:rPr>
              <a:t> is obtained by applying the fitness function to the individual’s chromosome (candidate solution) – </a:t>
            </a:r>
            <a:r>
              <a:rPr lang="en-US" altLang="en-US" sz="3200" i="1" dirty="0">
                <a:solidFill>
                  <a:schemeClr val="tx1">
                    <a:alpha val="10000"/>
                  </a:schemeClr>
                </a:solidFill>
              </a:rPr>
              <a:t>genotype</a:t>
            </a:r>
            <a:r>
              <a:rPr lang="en-US" altLang="en-US" sz="3200" dirty="0">
                <a:solidFill>
                  <a:schemeClr val="tx1">
                    <a:alpha val="10000"/>
                  </a:schemeClr>
                </a:solidFill>
              </a:rPr>
              <a:t> (e.g., 101110) to </a:t>
            </a:r>
            <a:r>
              <a:rPr lang="en-US" altLang="en-US" sz="3200" i="1" dirty="0">
                <a:solidFill>
                  <a:schemeClr val="tx1">
                    <a:alpha val="10000"/>
                  </a:schemeClr>
                </a:solidFill>
              </a:rPr>
              <a:t>phenotype</a:t>
            </a:r>
            <a:r>
              <a:rPr lang="en-US" altLang="en-US" sz="3200" dirty="0">
                <a:solidFill>
                  <a:schemeClr val="tx1">
                    <a:alpha val="10000"/>
                  </a:schemeClr>
                </a:solidFill>
              </a:rPr>
              <a:t> (e.g., 1) mapping</a:t>
            </a:r>
            <a:endParaRPr lang="tr-TR" altLang="en-US" sz="3200" dirty="0">
              <a:solidFill>
                <a:schemeClr val="tx1">
                  <a:alpha val="10000"/>
                </a:schemeClr>
              </a:solidFill>
            </a:endParaRPr>
          </a:p>
          <a:p>
            <a:endParaRPr lang="en-GB" dirty="0">
              <a:solidFill>
                <a:schemeClr val="tx1">
                  <a:alpha val="1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9AE7E-7090-206F-479E-9BF18CD9A97B}"/>
              </a:ext>
            </a:extLst>
          </p:cNvPr>
          <p:cNvSpPr txBox="1"/>
          <p:nvPr/>
        </p:nvSpPr>
        <p:spPr>
          <a:xfrm>
            <a:off x="914399" y="1320800"/>
            <a:ext cx="1044098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/>
              <a:t>Fitness value</a:t>
            </a:r>
            <a:r>
              <a:rPr lang="en-US" altLang="en-US" sz="3200" dirty="0"/>
              <a:t> indicates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/>
              <a:t>how fit the individual is to survive and reproduce under the current conditions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/>
              <a:t>How much does the current solution meet the requirements of the objective function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/>
              <a:t>Fitness value</a:t>
            </a:r>
            <a:r>
              <a:rPr lang="en-US" altLang="en-US" sz="3200" dirty="0"/>
              <a:t> is obtained by applying the fitness function to the individual’s chromosome (candidate solution) – </a:t>
            </a:r>
            <a:r>
              <a:rPr lang="en-US" altLang="en-US" sz="3200" i="1" dirty="0"/>
              <a:t>genotype</a:t>
            </a:r>
            <a:r>
              <a:rPr lang="en-US" altLang="en-US" sz="3200" dirty="0"/>
              <a:t> (e.g., 101110) to </a:t>
            </a:r>
            <a:r>
              <a:rPr lang="en-US" altLang="en-US" sz="3200" i="1" dirty="0"/>
              <a:t>phenotype</a:t>
            </a:r>
            <a:r>
              <a:rPr lang="en-US" altLang="en-US" sz="3200" dirty="0"/>
              <a:t> (e.g., 1) mapping</a:t>
            </a:r>
            <a:endParaRPr lang="tr-TR" altLang="en-US" sz="3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226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B792-BAF4-B29E-1E52-A78381E3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Example – MAX-SAT: Fitness Calculation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F868D-8A57-4F1C-18C6-A64C3D33A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E310D3-CE4B-0FCE-7F13-8038CCD7817E}"/>
                  </a:ext>
                </a:extLst>
              </p:cNvPr>
              <p:cNvSpPr/>
              <p:nvPr/>
            </p:nvSpPr>
            <p:spPr>
              <a:xfrm>
                <a:off x="1507128" y="1529143"/>
                <a:ext cx="747057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i="1" dirty="0">
                    <a:latin typeface="Cambria Math" panose="02040503050406030204" pitchFamily="18" charset="0"/>
                  </a:rPr>
                  <a:t>            </a:t>
                </a:r>
                <a:r>
                  <a:rPr lang="en-GB" sz="2000" dirty="0">
                    <a:latin typeface="Cambria Math" panose="02040503050406030204" pitchFamily="18" charset="0"/>
                  </a:rPr>
                  <a:t>0                   1                   2                3                      4                5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E310D3-CE4B-0FCE-7F13-8038CCD781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128" y="1529143"/>
                <a:ext cx="7470576" cy="707886"/>
              </a:xfrm>
              <a:prstGeom prst="rect">
                <a:avLst/>
              </a:prstGeom>
              <a:blipFill>
                <a:blip r:embed="rId2"/>
                <a:stretch>
                  <a:fillRect t="-5263" b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EFACD5F-88E3-2BB4-2FCC-535A6ED6D6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6972864"/>
                  </p:ext>
                </p:extLst>
              </p:nvPr>
            </p:nvGraphicFramePr>
            <p:xfrm>
              <a:off x="2567608" y="2924944"/>
              <a:ext cx="2232248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60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 err="1">
                              <a:effectLst/>
                            </a:rPr>
                            <a:t>i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1" u="none" strike="noStrike" dirty="0">
                              <a:effectLst/>
                            </a:rPr>
                            <a:t>Chromosome</a:t>
                          </a:r>
                          <a:r>
                            <a:rPr lang="en-GB" sz="1600" b="1" u="none" strike="noStrike" dirty="0">
                              <a:effectLst/>
                            </a:rPr>
                            <a:t>     </a:t>
                          </a:r>
                          <a:r>
                            <a:rPr lang="en-GB" sz="2400" b="1" u="none" strike="noStrike" dirty="0" err="1">
                              <a:effectLst/>
                            </a:rPr>
                            <a:t>abcdef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1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2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EFACD5F-88E3-2BB4-2FCC-535A6ED6D6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6972864"/>
                  </p:ext>
                </p:extLst>
              </p:nvPr>
            </p:nvGraphicFramePr>
            <p:xfrm>
              <a:off x="2567608" y="2924944"/>
              <a:ext cx="2232248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60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78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 err="1">
                              <a:effectLst/>
                            </a:rPr>
                            <a:t>i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1" u="none" strike="noStrike" dirty="0">
                              <a:effectLst/>
                            </a:rPr>
                            <a:t>Chromosome</a:t>
                          </a:r>
                          <a:r>
                            <a:rPr lang="en-GB" sz="1600" b="1" u="none" strike="noStrike" dirty="0">
                              <a:effectLst/>
                            </a:rPr>
                            <a:t>     </a:t>
                          </a:r>
                          <a:r>
                            <a:rPr lang="en-GB" sz="2400" b="1" u="none" strike="noStrike" dirty="0" err="1">
                              <a:effectLst/>
                            </a:rPr>
                            <a:t>abcdef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1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222951" r="-295" b="-3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2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322951" r="-295" b="-2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416129" r="-295" b="-14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524590" r="-295" b="-47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161259-A46D-41FD-EF02-C51C4DC11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877887"/>
              </p:ext>
            </p:extLst>
          </p:nvPr>
        </p:nvGraphicFramePr>
        <p:xfrm>
          <a:off x="4821362" y="2913550"/>
          <a:ext cx="3218855" cy="222631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778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u="none" strike="noStrike" dirty="0">
                          <a:solidFill>
                            <a:srgbClr val="860000"/>
                          </a:solidFill>
                          <a:effectLst/>
                        </a:rPr>
                        <a:t>Unsatisfied clauses</a:t>
                      </a:r>
                      <a:endParaRPr lang="en-GB" sz="2400" b="1" i="0" u="none" strike="noStrike" dirty="0">
                        <a:solidFill>
                          <a:srgbClr val="86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u="none" strike="noStrike" dirty="0">
                          <a:effectLst/>
                        </a:rPr>
                        <a:t>Fitness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155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4D77-E3EB-8823-1C76-48CC2D8E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2A0A-53AB-802C-5DF6-5C1A18895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Example – MAX-SAT: Fitness Calculation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F4CFA-5817-ADCB-B825-44EEBAAEE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9C41958-4D39-0536-E817-30303708288F}"/>
                  </a:ext>
                </a:extLst>
              </p:cNvPr>
              <p:cNvSpPr/>
              <p:nvPr/>
            </p:nvSpPr>
            <p:spPr>
              <a:xfrm>
                <a:off x="1507128" y="1529143"/>
                <a:ext cx="747057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i="1" dirty="0">
                    <a:latin typeface="Cambria Math" panose="02040503050406030204" pitchFamily="18" charset="0"/>
                  </a:rPr>
                  <a:t>            </a:t>
                </a:r>
                <a:r>
                  <a:rPr lang="en-GB" sz="2000" dirty="0">
                    <a:latin typeface="Cambria Math" panose="02040503050406030204" pitchFamily="18" charset="0"/>
                  </a:rPr>
                  <a:t>0                   1                   2                3                      4                5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E310D3-CE4B-0FCE-7F13-8038CCD781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128" y="1529143"/>
                <a:ext cx="7470576" cy="707886"/>
              </a:xfrm>
              <a:prstGeom prst="rect">
                <a:avLst/>
              </a:prstGeom>
              <a:blipFill>
                <a:blip r:embed="rId2"/>
                <a:stretch>
                  <a:fillRect t="-5263" b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6D4C34E-AB8A-63E3-E405-FC387ACC11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218325"/>
                  </p:ext>
                </p:extLst>
              </p:nvPr>
            </p:nvGraphicFramePr>
            <p:xfrm>
              <a:off x="2567608" y="2924944"/>
              <a:ext cx="2232248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60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 err="1">
                              <a:effectLst/>
                            </a:rPr>
                            <a:t>i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1" u="none" strike="noStrike" dirty="0">
                              <a:effectLst/>
                            </a:rPr>
                            <a:t>Chromosome</a:t>
                          </a:r>
                          <a:r>
                            <a:rPr lang="en-GB" sz="1600" b="1" u="none" strike="noStrike" dirty="0">
                              <a:effectLst/>
                            </a:rPr>
                            <a:t>     </a:t>
                          </a:r>
                          <a:r>
                            <a:rPr lang="en-GB" sz="2400" b="1" u="none" strike="noStrike" dirty="0" err="1">
                              <a:effectLst/>
                            </a:rPr>
                            <a:t>abcdef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1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2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6D4C34E-AB8A-63E3-E405-FC387ACC11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218325"/>
                  </p:ext>
                </p:extLst>
              </p:nvPr>
            </p:nvGraphicFramePr>
            <p:xfrm>
              <a:off x="2567608" y="2924944"/>
              <a:ext cx="2232248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60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78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 err="1">
                              <a:effectLst/>
                            </a:rPr>
                            <a:t>i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1" u="none" strike="noStrike" dirty="0">
                              <a:effectLst/>
                            </a:rPr>
                            <a:t>Chromosome</a:t>
                          </a:r>
                          <a:r>
                            <a:rPr lang="en-GB" sz="1600" b="1" u="none" strike="noStrike" dirty="0">
                              <a:effectLst/>
                            </a:rPr>
                            <a:t>     </a:t>
                          </a:r>
                          <a:r>
                            <a:rPr lang="en-GB" sz="2400" b="1" u="none" strike="noStrike" dirty="0" err="1">
                              <a:effectLst/>
                            </a:rPr>
                            <a:t>abcdef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1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222951" r="-295" b="-3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2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322951" r="-295" b="-2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416129" r="-295" b="-14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524590" r="-295" b="-47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C1F8689-9443-3054-80B3-5D93838675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0579343"/>
                  </p:ext>
                </p:extLst>
              </p:nvPr>
            </p:nvGraphicFramePr>
            <p:xfrm>
              <a:off x="4821362" y="2913550"/>
              <a:ext cx="3218855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786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Unsatisfied clauses</a:t>
                          </a:r>
                          <a:endParaRPr lang="en-GB" sz="24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effectLst/>
                            </a:rPr>
                            <a:t>Fitness</a:t>
                          </a:r>
                          <a:endParaRPr lang="en-GB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2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24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24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C1F8689-9443-3054-80B3-5D93838675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0579343"/>
                  </p:ext>
                </p:extLst>
              </p:nvPr>
            </p:nvGraphicFramePr>
            <p:xfrm>
              <a:off x="4821362" y="2913550"/>
              <a:ext cx="3218855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786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78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Unsatisfied clauses</a:t>
                          </a:r>
                          <a:endParaRPr lang="en-GB" sz="24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effectLst/>
                            </a:rPr>
                            <a:t>Fitness</a:t>
                          </a:r>
                          <a:endParaRPr lang="en-GB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t="-222951" r="-8150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48341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D157-A707-AACD-D06D-83E7A2E1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9DBE-C062-83A2-0D19-BB9C81E7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Example – MAX-SAT: Fitness Calculation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1F595B-E3D5-A7B6-996F-D3E8278DA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98FC6F0-BC7C-5BC1-A368-77F9E6363D2E}"/>
                  </a:ext>
                </a:extLst>
              </p:cNvPr>
              <p:cNvSpPr/>
              <p:nvPr/>
            </p:nvSpPr>
            <p:spPr>
              <a:xfrm>
                <a:off x="1507128" y="1529143"/>
                <a:ext cx="747057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i="1" dirty="0">
                    <a:latin typeface="Cambria Math" panose="02040503050406030204" pitchFamily="18" charset="0"/>
                  </a:rPr>
                  <a:t>            </a:t>
                </a:r>
                <a:r>
                  <a:rPr lang="en-GB" sz="2000" dirty="0">
                    <a:latin typeface="Cambria Math" panose="02040503050406030204" pitchFamily="18" charset="0"/>
                  </a:rPr>
                  <a:t>0                   1                   2                3                      4                5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98FC6F0-BC7C-5BC1-A368-77F9E6363D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128" y="1529143"/>
                <a:ext cx="7470576" cy="707886"/>
              </a:xfrm>
              <a:prstGeom prst="rect">
                <a:avLst/>
              </a:prstGeom>
              <a:blipFill>
                <a:blip r:embed="rId2"/>
                <a:stretch>
                  <a:fillRect t="-5263" b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46184FF-B920-47A3-5188-368CC4943C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770475"/>
                  </p:ext>
                </p:extLst>
              </p:nvPr>
            </p:nvGraphicFramePr>
            <p:xfrm>
              <a:off x="2567608" y="2924944"/>
              <a:ext cx="2232248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60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 err="1">
                              <a:effectLst/>
                            </a:rPr>
                            <a:t>i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1" u="none" strike="noStrike" dirty="0">
                              <a:effectLst/>
                            </a:rPr>
                            <a:t>Chromosome</a:t>
                          </a:r>
                          <a:r>
                            <a:rPr lang="en-GB" sz="1600" b="1" u="none" strike="noStrike" dirty="0">
                              <a:effectLst/>
                            </a:rPr>
                            <a:t>     </a:t>
                          </a:r>
                          <a:r>
                            <a:rPr lang="en-GB" sz="2400" b="1" u="none" strike="noStrike" dirty="0" err="1">
                              <a:effectLst/>
                            </a:rPr>
                            <a:t>abcdef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1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2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24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46184FF-B920-47A3-5188-368CC4943C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770475"/>
                  </p:ext>
                </p:extLst>
              </p:nvPr>
            </p:nvGraphicFramePr>
            <p:xfrm>
              <a:off x="2567608" y="2924944"/>
              <a:ext cx="2232248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60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78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 err="1">
                              <a:effectLst/>
                            </a:rPr>
                            <a:t>i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1" u="none" strike="noStrike" dirty="0">
                              <a:effectLst/>
                            </a:rPr>
                            <a:t>Chromosome</a:t>
                          </a:r>
                          <a:r>
                            <a:rPr lang="en-GB" sz="1600" b="1" u="none" strike="noStrike" dirty="0">
                              <a:effectLst/>
                            </a:rPr>
                            <a:t>     </a:t>
                          </a:r>
                          <a:r>
                            <a:rPr lang="en-GB" sz="2400" b="1" u="none" strike="noStrike" dirty="0" err="1">
                              <a:effectLst/>
                            </a:rPr>
                            <a:t>abcdef</a:t>
                          </a:r>
                          <a:endParaRPr lang="en-GB" sz="24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1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222951" r="-295" b="-3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>
                              <a:effectLst/>
                            </a:rPr>
                            <a:t>2</a:t>
                          </a:r>
                          <a:endParaRPr lang="en-GB" sz="2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322951" r="-295" b="-249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u="none" strike="noStrike" dirty="0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416129" r="-295" b="-14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24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8555" t="-524590" r="-295" b="-47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B072B18-591A-BC07-B723-92DCBF41F2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6996194"/>
                  </p:ext>
                </p:extLst>
              </p:nvPr>
            </p:nvGraphicFramePr>
            <p:xfrm>
              <a:off x="4821362" y="2913550"/>
              <a:ext cx="3218855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786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Unsatisfied clauses</a:t>
                          </a:r>
                          <a:endParaRPr lang="en-GB" sz="24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effectLst/>
                            </a:rPr>
                            <a:t>Fitness</a:t>
                          </a:r>
                          <a:endParaRPr lang="en-GB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2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24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24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2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24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24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 dirty="0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24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24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 dirty="0">
                              <a:effectLst/>
                            </a:rPr>
                            <a:t>2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4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 dirty="0">
                              <a:effectLst/>
                            </a:rPr>
                            <a:t>1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B072B18-591A-BC07-B723-92DCBF41F2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6996194"/>
                  </p:ext>
                </p:extLst>
              </p:nvPr>
            </p:nvGraphicFramePr>
            <p:xfrm>
              <a:off x="4821362" y="2913550"/>
              <a:ext cx="3218855" cy="22263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786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787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Unsatisfied clauses</a:t>
                          </a:r>
                          <a:endParaRPr lang="en-GB" sz="24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b="1" u="none" strike="noStrike" dirty="0">
                              <a:effectLst/>
                            </a:rPr>
                            <a:t>Fitness</a:t>
                          </a:r>
                          <a:endParaRPr lang="en-GB" sz="2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t="-222951" r="-81507" b="-3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t="-322951" r="-81507" b="-2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 dirty="0">
                              <a:effectLst/>
                            </a:rPr>
                            <a:t>3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t="-416129" r="-81507" b="-1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 dirty="0">
                              <a:effectLst/>
                            </a:rPr>
                            <a:t>2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2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t="-524590" r="-81507" b="-47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2400" u="none" strike="noStrike" dirty="0">
                              <a:effectLst/>
                            </a:rPr>
                            <a:t>1</a:t>
                          </a:r>
                          <a:endParaRPr lang="en-GB" sz="2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9797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A867A-DA7A-6DCD-5F82-9A529166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74D04-AB81-1A8E-1B87-72497BCD9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DC7E1D-BDBC-9F59-6E35-60ABA941D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50AC6A-9963-BCCC-D8BF-EF7E397943DD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3" y="1031818"/>
            <a:ext cx="10584643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ounded Rectangle 4" descr="Rectangular box highlighting fitness reproduction, that is parent selection stage in the pseudocode">
            <a:extLst>
              <a:ext uri="{FF2B5EF4-FFF2-40B4-BE49-F238E27FC236}">
                <a16:creationId xmlns:a16="http://schemas.microsoft.com/office/drawing/2014/main" id="{9A244BFE-10CC-9989-BEFA-01186A76F0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24554" y="3429000"/>
            <a:ext cx="2267063" cy="52023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21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DA5D-31BC-470B-6C3B-8A981181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GA Components – Reproduction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4BEB4F-24D1-B8AA-7919-2FB4EFE91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FFA1A-1310-1B87-B206-95592E6EA589}"/>
              </a:ext>
            </a:extLst>
          </p:cNvPr>
          <p:cNvSpPr txBox="1"/>
          <p:nvPr/>
        </p:nvSpPr>
        <p:spPr>
          <a:xfrm>
            <a:off x="494765" y="1095060"/>
            <a:ext cx="1091184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>
                    <a:alpha val="8000"/>
                  </a:schemeClr>
                </a:solidFill>
              </a:rPr>
              <a:t>Reproduction (Mate Selection) consists of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altLang="en-US" sz="2800" b="1" dirty="0">
                <a:solidFill>
                  <a:schemeClr val="bg2">
                    <a:lumMod val="10000"/>
                    <a:alpha val="8000"/>
                  </a:schemeClr>
                </a:solidFill>
              </a:rPr>
              <a:t>selecting</a:t>
            </a:r>
            <a:r>
              <a:rPr lang="en-AU" altLang="en-US" sz="2800" dirty="0">
                <a:solidFill>
                  <a:srgbClr val="FF0000">
                    <a:alpha val="8000"/>
                  </a:srgbClr>
                </a:solidFill>
              </a:rPr>
              <a:t> </a:t>
            </a:r>
            <a:r>
              <a:rPr lang="en-AU" altLang="en-US" sz="2800" b="1" dirty="0">
                <a:solidFill>
                  <a:schemeClr val="tx1">
                    <a:alpha val="8000"/>
                  </a:schemeClr>
                </a:solidFill>
              </a:rPr>
              <a:t>individuals</a:t>
            </a:r>
            <a:r>
              <a:rPr lang="en-AU" altLang="en-US" sz="2800" dirty="0">
                <a:solidFill>
                  <a:schemeClr val="tx1">
                    <a:alpha val="8000"/>
                  </a:schemeClr>
                </a:solidFill>
              </a:rPr>
              <a:t>: apply selection pressure considering the fitness of individuals in the population </a:t>
            </a:r>
            <a:r>
              <a:rPr lang="en-AU" altLang="en-US" sz="2800" dirty="0">
                <a:solidFill>
                  <a:schemeClr val="tx1">
                    <a:alpha val="8000"/>
                  </a:schemeClr>
                </a:solidFill>
                <a:sym typeface="Symbol" pitchFamily="18" charset="2"/>
              </a:rPr>
              <a:t> e.g., </a:t>
            </a:r>
            <a:r>
              <a:rPr lang="en-AU" altLang="en-US" sz="2800" b="1" i="1" dirty="0">
                <a:solidFill>
                  <a:schemeClr val="tx1">
                    <a:alpha val="8000"/>
                  </a:schemeClr>
                </a:solidFill>
                <a:sym typeface="Symbol" pitchFamily="18" charset="2"/>
              </a:rPr>
              <a:t>roulette wheel selection, tournament selection, </a:t>
            </a:r>
            <a:r>
              <a:rPr lang="en-GB" altLang="en-US" sz="2800" b="1" dirty="0">
                <a:solidFill>
                  <a:schemeClr val="tx1">
                    <a:alpha val="8000"/>
                  </a:schemeClr>
                </a:solidFill>
                <a:sym typeface="Symbol" pitchFamily="18" charset="2"/>
              </a:rPr>
              <a:t>r</a:t>
            </a:r>
            <a:r>
              <a:rPr lang="en-GB" sz="2800" b="1" dirty="0">
                <a:solidFill>
                  <a:schemeClr val="tx1">
                    <a:alpha val="8000"/>
                  </a:schemeClr>
                </a:solidFill>
              </a:rPr>
              <a:t>ank selection, truncation selection, Boltzmann selection, etc.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alpha val="8000"/>
                  </a:schemeClr>
                </a:solidFill>
              </a:rPr>
              <a:t>Selection pressure means that individuals with better fitness have a higher chance of being selected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1">
                  <a:alpha val="8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tx1">
                    <a:alpha val="8000"/>
                  </a:schemeClr>
                </a:solidFill>
                <a:sym typeface="Symbol" pitchFamily="18" charset="2"/>
              </a:rPr>
              <a:t>usually </a:t>
            </a:r>
            <a:r>
              <a:rPr lang="en-GB" altLang="en-US" sz="2800" b="1" dirty="0">
                <a:solidFill>
                  <a:schemeClr val="tx1">
                    <a:alpha val="8000"/>
                  </a:schemeClr>
                </a:solidFill>
                <a:sym typeface="Symbol" pitchFamily="18" charset="2"/>
              </a:rPr>
              <a:t>2</a:t>
            </a:r>
            <a:r>
              <a:rPr lang="en-GB" altLang="en-US" sz="2800" dirty="0">
                <a:solidFill>
                  <a:schemeClr val="tx1">
                    <a:alpha val="8000"/>
                  </a:schemeClr>
                </a:solidFill>
                <a:sym typeface="Symbol" pitchFamily="18" charset="2"/>
              </a:rPr>
              <a:t> </a:t>
            </a:r>
            <a:r>
              <a:rPr lang="en-GB" altLang="en-US" sz="2800" i="1" dirty="0">
                <a:solidFill>
                  <a:schemeClr val="tx1">
                    <a:alpha val="8000"/>
                  </a:schemeClr>
                </a:solidFill>
                <a:sym typeface="Symbol" pitchFamily="18" charset="2"/>
              </a:rPr>
              <a:t>parents</a:t>
            </a:r>
            <a:r>
              <a:rPr lang="en-GB" altLang="en-US" sz="2800" dirty="0">
                <a:solidFill>
                  <a:schemeClr val="tx1">
                    <a:alpha val="8000"/>
                  </a:schemeClr>
                </a:solidFill>
                <a:sym typeface="Symbol" pitchFamily="18" charset="2"/>
              </a:rPr>
              <a:t> (individuals/candidate solutions) are selected using the same method, which will go under the crossover operation</a:t>
            </a:r>
            <a:endParaRPr lang="en-AU" altLang="en-US" sz="2800" i="1" dirty="0">
              <a:solidFill>
                <a:schemeClr val="tx1">
                  <a:alpha val="8000"/>
                </a:schemeClr>
              </a:solidFill>
              <a:sym typeface="Symbol" pitchFamily="18" charset="2"/>
            </a:endParaRPr>
          </a:p>
          <a:p>
            <a:endParaRPr lang="en-GB" dirty="0">
              <a:solidFill>
                <a:schemeClr val="tx1">
                  <a:alpha val="8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5493D9-E3FD-4DB0-83C9-EF6CDA790AB9}"/>
              </a:ext>
            </a:extLst>
          </p:cNvPr>
          <p:cNvSpPr txBox="1"/>
          <p:nvPr/>
        </p:nvSpPr>
        <p:spPr>
          <a:xfrm>
            <a:off x="494765" y="1095059"/>
            <a:ext cx="1091184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altLang="en-US" sz="2800" dirty="0"/>
              <a:t>Reproduction (Mate Selection) consists of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altLang="en-US" sz="2800" b="1" dirty="0">
                <a:solidFill>
                  <a:schemeClr val="bg2">
                    <a:lumMod val="10000"/>
                  </a:schemeClr>
                </a:solidFill>
              </a:rPr>
              <a:t>selecting</a:t>
            </a:r>
            <a:r>
              <a:rPr lang="en-AU" altLang="en-US" sz="2800" dirty="0">
                <a:solidFill>
                  <a:srgbClr val="FF0000"/>
                </a:solidFill>
              </a:rPr>
              <a:t> </a:t>
            </a:r>
            <a:r>
              <a:rPr lang="en-AU" altLang="en-US" sz="2800" b="1" dirty="0"/>
              <a:t>individuals</a:t>
            </a:r>
            <a:r>
              <a:rPr lang="en-AU" altLang="en-US" sz="2800" dirty="0"/>
              <a:t>: apply selection pressure considering the fitness of individuals in the population </a:t>
            </a:r>
            <a:r>
              <a:rPr lang="en-AU" altLang="en-US" sz="2800" dirty="0">
                <a:sym typeface="Symbol" pitchFamily="18" charset="2"/>
              </a:rPr>
              <a:t> e.g., </a:t>
            </a:r>
            <a:r>
              <a:rPr lang="en-AU" altLang="en-US" sz="2800" b="1" i="1" dirty="0">
                <a:sym typeface="Symbol" pitchFamily="18" charset="2"/>
              </a:rPr>
              <a:t>roulette wheel selection, tournament selection, </a:t>
            </a:r>
            <a:r>
              <a:rPr lang="en-GB" altLang="en-US" sz="2800" b="1" dirty="0">
                <a:sym typeface="Symbol" pitchFamily="18" charset="2"/>
              </a:rPr>
              <a:t>r</a:t>
            </a:r>
            <a:r>
              <a:rPr lang="en-GB" sz="2800" b="1" dirty="0"/>
              <a:t>ank selection, truncation selection, Boltzmann selection, etc</a:t>
            </a:r>
            <a:r>
              <a:rPr lang="en-GB" sz="2800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800" dirty="0"/>
              <a:t>Selection pressure means that individuals with better fitness have a higher chance of being selected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2800" dirty="0">
                <a:sym typeface="Symbol" pitchFamily="18" charset="2"/>
              </a:rPr>
              <a:t>usually </a:t>
            </a:r>
            <a:r>
              <a:rPr lang="en-GB" altLang="en-US" sz="2800" b="1" dirty="0">
                <a:sym typeface="Symbol" pitchFamily="18" charset="2"/>
              </a:rPr>
              <a:t>2</a:t>
            </a:r>
            <a:r>
              <a:rPr lang="en-GB" altLang="en-US" sz="2800" dirty="0">
                <a:sym typeface="Symbol" pitchFamily="18" charset="2"/>
              </a:rPr>
              <a:t> </a:t>
            </a:r>
            <a:r>
              <a:rPr lang="en-GB" altLang="en-US" sz="2800" i="1" dirty="0">
                <a:sym typeface="Symbol" pitchFamily="18" charset="2"/>
              </a:rPr>
              <a:t>parents</a:t>
            </a:r>
            <a:r>
              <a:rPr lang="en-GB" altLang="en-US" sz="2800" dirty="0">
                <a:sym typeface="Symbol" pitchFamily="18" charset="2"/>
              </a:rPr>
              <a:t> (individuals/candidate solutions) are selected using the same method, which will go under the crossover operation</a:t>
            </a:r>
            <a:endParaRPr lang="en-AU" altLang="en-US" sz="2800" i="1" dirty="0">
              <a:sym typeface="Symbol" pitchFamily="18" charset="2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805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E148-7B7D-8D46-5327-2229830E1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Fitness Proportionate Selection – </a:t>
            </a:r>
            <a:br>
              <a:rPr lang="en-US" altLang="en-US" sz="4000" dirty="0"/>
            </a:br>
            <a:r>
              <a:rPr lang="en-US" altLang="en-US" sz="4000" dirty="0"/>
              <a:t>R</a:t>
            </a:r>
            <a:r>
              <a:rPr lang="tr-TR" altLang="en-US" sz="4000" dirty="0" err="1"/>
              <a:t>oulette</a:t>
            </a:r>
            <a:r>
              <a:rPr lang="tr-TR" altLang="en-US" sz="4000" dirty="0"/>
              <a:t> </a:t>
            </a:r>
            <a:r>
              <a:rPr lang="en-US" altLang="en-US" sz="4000" dirty="0"/>
              <a:t>W</a:t>
            </a:r>
            <a:r>
              <a:rPr lang="tr-TR" altLang="en-US" sz="4000" dirty="0" err="1"/>
              <a:t>heel</a:t>
            </a:r>
            <a:r>
              <a:rPr lang="tr-TR" altLang="en-US" sz="4000" dirty="0"/>
              <a:t> </a:t>
            </a:r>
            <a:r>
              <a:rPr lang="en-US" altLang="en-US" sz="4000" dirty="0"/>
              <a:t>S</a:t>
            </a:r>
            <a:r>
              <a:rPr lang="tr-TR" altLang="en-US" sz="4000" dirty="0" err="1"/>
              <a:t>election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548538-1C2F-EAC6-7DA1-6822758EA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29FB9-78EE-8963-29A7-5FD000DB4530}"/>
              </a:ext>
            </a:extLst>
          </p:cNvPr>
          <p:cNvSpPr txBox="1"/>
          <p:nvPr/>
        </p:nvSpPr>
        <p:spPr>
          <a:xfrm>
            <a:off x="568960" y="1524000"/>
            <a:ext cx="10993119" cy="22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alpha val="10000"/>
                  </a:schemeClr>
                </a:solidFill>
              </a:rPr>
              <a:t>F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itness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level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is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used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to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associate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a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probability</a:t>
            </a:r>
            <a:r>
              <a:rPr lang="en-GB" altLang="en-US" sz="2400" dirty="0">
                <a:solidFill>
                  <a:schemeClr val="tx1">
                    <a:alpha val="10000"/>
                  </a:schemeClr>
                </a:solidFill>
              </a:rPr>
              <a:t> (</a:t>
            </a:r>
            <a:r>
              <a:rPr lang="en-GB" altLang="en-US" sz="2400" i="1" dirty="0" err="1">
                <a:solidFill>
                  <a:schemeClr val="tx1">
                    <a:alpha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</a:t>
            </a:r>
            <a:r>
              <a:rPr lang="en-GB" altLang="en-US" sz="2400" i="1" baseline="-25000" dirty="0" err="1">
                <a:solidFill>
                  <a:schemeClr val="tx1">
                    <a:alpha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2400" dirty="0">
                <a:solidFill>
                  <a:schemeClr val="tx1">
                    <a:alpha val="10000"/>
                  </a:schemeClr>
                </a:solidFill>
              </a:rPr>
              <a:t>)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of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selection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with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each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individual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10000"/>
                  </a:schemeClr>
                </a:solidFill>
              </a:rPr>
              <a:t>chromosome</a:t>
            </a:r>
            <a:r>
              <a:rPr lang="tr-TR" altLang="en-US" sz="2400" dirty="0">
                <a:solidFill>
                  <a:schemeClr val="tx1">
                    <a:alpha val="10000"/>
                  </a:schemeClr>
                </a:solidFill>
              </a:rPr>
              <a:t> </a:t>
            </a:r>
            <a:r>
              <a:rPr lang="en-GB" altLang="en-US" sz="2400" dirty="0">
                <a:solidFill>
                  <a:schemeClr val="tx1">
                    <a:alpha val="10000"/>
                  </a:schemeClr>
                </a:solidFill>
              </a:rPr>
              <a:t> (</a:t>
            </a:r>
            <a:r>
              <a:rPr lang="en-GB" altLang="en-US" sz="2400" i="1" dirty="0" err="1">
                <a:solidFill>
                  <a:schemeClr val="tx1">
                    <a:alpha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2400" dirty="0">
                <a:solidFill>
                  <a:schemeClr val="tx1">
                    <a:alpha val="10000"/>
                  </a:schemeClr>
                </a:solidFill>
              </a:rPr>
              <a:t>)</a:t>
            </a:r>
            <a:endParaRPr lang="en-US" altLang="en-US" sz="2400" dirty="0">
              <a:solidFill>
                <a:schemeClr val="tx1">
                  <a:alpha val="10000"/>
                </a:schemeClr>
              </a:solidFill>
            </a:endParaRP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alpha val="10000"/>
                  </a:schemeClr>
                </a:solidFill>
              </a:rPr>
              <a:t>While candidate solutions with a higher fitness will be less likely to be eliminated, there is still a chance that they may be (</a:t>
            </a:r>
            <a:r>
              <a:rPr lang="en-US" altLang="en-US" sz="2400" dirty="0" err="1">
                <a:solidFill>
                  <a:schemeClr val="tx1">
                    <a:alpha val="10000"/>
                  </a:schemeClr>
                </a:solidFill>
              </a:rPr>
              <a:t>maximisation</a:t>
            </a:r>
            <a:r>
              <a:rPr lang="en-US" altLang="en-US" sz="2400" dirty="0">
                <a:solidFill>
                  <a:schemeClr val="tx1">
                    <a:alpha val="10000"/>
                  </a:schemeClr>
                </a:solidFill>
              </a:rPr>
              <a:t> problem)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alpha val="10000"/>
                  </a:schemeClr>
                </a:solidFill>
              </a:rPr>
              <a:t>Expected number of representatives of each individual in the pool is proportional to its fitness (</a:t>
            </a:r>
            <a:r>
              <a:rPr lang="en-US" altLang="en-US" sz="2400" dirty="0" err="1">
                <a:solidFill>
                  <a:schemeClr val="tx1">
                    <a:alpha val="10000"/>
                  </a:schemeClr>
                </a:solidFill>
              </a:rPr>
              <a:t>maximisation</a:t>
            </a:r>
            <a:r>
              <a:rPr lang="en-US" altLang="en-US" sz="2400" dirty="0">
                <a:solidFill>
                  <a:schemeClr val="tx1">
                    <a:alpha val="10000"/>
                  </a:schemeClr>
                </a:solidFill>
              </a:rPr>
              <a:t> problem)</a:t>
            </a:r>
            <a:endParaRPr lang="tr-TR" altLang="en-US" sz="2400" dirty="0">
              <a:solidFill>
                <a:schemeClr val="tx1">
                  <a:alpha val="10000"/>
                </a:schemeClr>
              </a:solidFill>
            </a:endParaRPr>
          </a:p>
          <a:p>
            <a:endParaRPr lang="en-GB" sz="2400" dirty="0">
              <a:solidFill>
                <a:schemeClr val="tx1">
                  <a:alpha val="10000"/>
                </a:schemeClr>
              </a:solidFill>
            </a:endParaRPr>
          </a:p>
        </p:txBody>
      </p:sp>
      <p:grpSp>
        <p:nvGrpSpPr>
          <p:cNvPr id="8" name="Group 17" descr="rhoulette wheel">
            <a:extLst>
              <a:ext uri="{FF2B5EF4-FFF2-40B4-BE49-F238E27FC236}">
                <a16:creationId xmlns:a16="http://schemas.microsoft.com/office/drawing/2014/main" id="{CF606DFD-1371-9CAB-C5F6-BAD8B47ECF5A}"/>
              </a:ext>
            </a:extLst>
          </p:cNvPr>
          <p:cNvGrpSpPr>
            <a:grpSpLocks/>
          </p:cNvGrpSpPr>
          <p:nvPr/>
        </p:nvGrpSpPr>
        <p:grpSpPr bwMode="auto">
          <a:xfrm>
            <a:off x="9097347" y="3818360"/>
            <a:ext cx="2303462" cy="2520950"/>
            <a:chOff x="4105" y="2160"/>
            <a:chExt cx="1451" cy="1588"/>
          </a:xfrm>
        </p:grpSpPr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288D1499-F9E7-3306-C98C-E248C8F9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160"/>
              <a:ext cx="1451" cy="1588"/>
            </a:xfrm>
            <a:prstGeom prst="flowChartSummingJunction">
              <a:avLst/>
            </a:prstGeom>
            <a:solidFill>
              <a:schemeClr val="bg1"/>
            </a:solidFill>
            <a:ln w="28575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A9914A1-A0C8-7980-847E-2063D9F55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" y="2768"/>
              <a:ext cx="703" cy="182"/>
            </a:xfrm>
            <a:custGeom>
              <a:avLst/>
              <a:gdLst>
                <a:gd name="T0" fmla="*/ 0 w 703"/>
                <a:gd name="T1" fmla="*/ 0 h 182"/>
                <a:gd name="T2" fmla="*/ 703 w 703"/>
                <a:gd name="T3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03" h="182">
                  <a:moveTo>
                    <a:pt x="0" y="0"/>
                  </a:moveTo>
                  <a:lnTo>
                    <a:pt x="703" y="182"/>
                  </a:lnTo>
                </a:path>
              </a:pathLst>
            </a:custGeom>
            <a:noFill/>
            <a:ln w="19050" cmpd="sng">
              <a:solidFill>
                <a:schemeClr val="tx2">
                  <a:lumMod val="60000"/>
                  <a:lumOff val="40000"/>
                </a:schemeClr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79A7026-E8E9-E163-42EE-F5AFE7077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2262"/>
              <a:ext cx="373" cy="667"/>
            </a:xfrm>
            <a:custGeom>
              <a:avLst/>
              <a:gdLst>
                <a:gd name="T0" fmla="*/ 0 w 373"/>
                <a:gd name="T1" fmla="*/ 0 h 667"/>
                <a:gd name="T2" fmla="*/ 373 w 373"/>
                <a:gd name="T3" fmla="*/ 667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67">
                  <a:moveTo>
                    <a:pt x="0" y="0"/>
                  </a:moveTo>
                  <a:lnTo>
                    <a:pt x="373" y="667"/>
                  </a:lnTo>
                </a:path>
              </a:pathLst>
            </a:custGeom>
            <a:noFill/>
            <a:ln w="19050" cmpd="sng">
              <a:solidFill>
                <a:schemeClr val="tx2">
                  <a:lumMod val="60000"/>
                  <a:lumOff val="40000"/>
                </a:schemeClr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D293DCBD-3826-74F6-D415-6CC4DDC7C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3" y="2750"/>
              <a:ext cx="0" cy="272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20D8F4A4-8998-1D4D-560D-D5AEB4F78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2931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dirty="0"/>
                <a:t>A</a:t>
              </a:r>
              <a:endParaRPr lang="tr-TR" altLang="en-US" b="0" dirty="0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4D5756F4-25C0-3260-1124-0BA27DF26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252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dirty="0"/>
                <a:t>B</a:t>
              </a:r>
              <a:endParaRPr lang="tr-TR" altLang="en-US" b="0" dirty="0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02C05B57-2887-240E-69A3-8ED114C16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3385"/>
              <a:ext cx="7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/>
                <a:t>pop.size</a:t>
              </a:r>
              <a:endParaRPr lang="tr-TR" altLang="en-US" b="0"/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6A92A928-70D3-7CD5-50DD-8B3785D8C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229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dirty="0"/>
                <a:t>D</a:t>
              </a:r>
              <a:endParaRPr lang="tr-TR" altLang="en-US" b="0" dirty="0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24E3AC2F-4499-D11B-16A7-FC6022D49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2341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dirty="0"/>
                <a:t>C</a:t>
              </a:r>
              <a:endParaRPr lang="tr-TR" altLang="en-US" b="0" dirty="0"/>
            </a:p>
          </p:txBody>
        </p:sp>
      </p:grpSp>
      <p:sp>
        <p:nvSpPr>
          <p:cNvPr id="18" name="AutoShape 19">
            <a:extLst>
              <a:ext uri="{FF2B5EF4-FFF2-40B4-BE49-F238E27FC236}">
                <a16:creationId xmlns:a16="http://schemas.microsoft.com/office/drawing/2014/main" id="{BDAA7684-626D-24A1-1D17-343D47A1A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209" y="5229648"/>
            <a:ext cx="1150938" cy="358775"/>
          </a:xfrm>
          <a:prstGeom prst="rtTriangle">
            <a:avLst/>
          </a:prstGeom>
          <a:solidFill>
            <a:srgbClr val="00206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pic>
        <p:nvPicPr>
          <p:cNvPr id="19" name="Picture 61">
            <a:extLst>
              <a:ext uri="{FF2B5EF4-FFF2-40B4-BE49-F238E27FC236}">
                <a16:creationId xmlns:a16="http://schemas.microsoft.com/office/drawing/2014/main" id="{D44D06EF-D476-2C10-D892-3365854C5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954" y="4933988"/>
            <a:ext cx="5336559" cy="170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 descr="for a maximisation problem, probablity of choosing the ith individual is equal to its fitness divided by the total fitness of all individuals in the population">
            <a:extLst>
              <a:ext uri="{FF2B5EF4-FFF2-40B4-BE49-F238E27FC236}">
                <a16:creationId xmlns:a16="http://schemas.microsoft.com/office/drawing/2014/main" id="{1F673A3E-CFC3-DEFC-DD81-C9BE5B842B23}"/>
              </a:ext>
            </a:extLst>
          </p:cNvPr>
          <p:cNvGrpSpPr/>
          <p:nvPr/>
        </p:nvGrpSpPr>
        <p:grpSpPr>
          <a:xfrm>
            <a:off x="741246" y="3695015"/>
            <a:ext cx="7621679" cy="1242111"/>
            <a:chOff x="741246" y="3695015"/>
            <a:chExt cx="7621679" cy="1242111"/>
          </a:xfrm>
        </p:grpSpPr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30878554-3CA6-34B2-B2A9-1307D41F3E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1197976"/>
                </p:ext>
              </p:extLst>
            </p:nvPr>
          </p:nvGraphicFramePr>
          <p:xfrm>
            <a:off x="3026366" y="3695015"/>
            <a:ext cx="5336559" cy="1242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400120" imgH="558720" progId="Equation.3">
                    <p:embed/>
                  </p:oleObj>
                </mc:Choice>
                <mc:Fallback>
                  <p:oleObj name="Equation" r:id="rId3" imgW="2400120" imgH="558720" progId="Equation.3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30878554-3CA6-34B2-B2A9-1307D41F3E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6366" y="3695015"/>
                          <a:ext cx="5336559" cy="1242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E31CC8-5B3A-E5C0-2E1B-23AD4CEF9CD1}"/>
                </a:ext>
              </a:extLst>
            </p:cNvPr>
            <p:cNvSpPr txBox="1"/>
            <p:nvPr/>
          </p:nvSpPr>
          <p:spPr>
            <a:xfrm>
              <a:off x="741246" y="3790212"/>
              <a:ext cx="24097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maximisation problem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7716480-CB69-501C-DF0E-487B2B05F3AD}"/>
              </a:ext>
            </a:extLst>
          </p:cNvPr>
          <p:cNvSpPr txBox="1"/>
          <p:nvPr/>
        </p:nvSpPr>
        <p:spPr>
          <a:xfrm>
            <a:off x="568959" y="1528767"/>
            <a:ext cx="10993119" cy="22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F</a:t>
            </a:r>
            <a:r>
              <a:rPr lang="tr-TR" altLang="en-US" sz="2400" dirty="0" err="1"/>
              <a:t>itness</a:t>
            </a:r>
            <a:r>
              <a:rPr lang="tr-TR" altLang="en-US" sz="2400" dirty="0"/>
              <a:t> </a:t>
            </a:r>
            <a:r>
              <a:rPr lang="tr-TR" altLang="en-US" sz="2400" dirty="0" err="1"/>
              <a:t>level</a:t>
            </a:r>
            <a:r>
              <a:rPr lang="tr-TR" altLang="en-US" sz="2400" dirty="0"/>
              <a:t> is </a:t>
            </a:r>
            <a:r>
              <a:rPr lang="tr-TR" altLang="en-US" sz="2400" dirty="0" err="1"/>
              <a:t>used</a:t>
            </a:r>
            <a:r>
              <a:rPr lang="tr-TR" altLang="en-US" sz="2400" dirty="0"/>
              <a:t> </a:t>
            </a:r>
            <a:r>
              <a:rPr lang="tr-TR" altLang="en-US" sz="2400" dirty="0" err="1"/>
              <a:t>to</a:t>
            </a:r>
            <a:r>
              <a:rPr lang="tr-TR" altLang="en-US" sz="2400" dirty="0"/>
              <a:t> </a:t>
            </a:r>
            <a:r>
              <a:rPr lang="tr-TR" altLang="en-US" sz="2400" dirty="0" err="1"/>
              <a:t>associate</a:t>
            </a:r>
            <a:r>
              <a:rPr lang="tr-TR" altLang="en-US" sz="2400" dirty="0"/>
              <a:t> a </a:t>
            </a:r>
            <a:r>
              <a:rPr lang="tr-TR" altLang="en-US" sz="2400" dirty="0" err="1"/>
              <a:t>probability</a:t>
            </a:r>
            <a:r>
              <a:rPr lang="en-GB" altLang="en-US" sz="2400" dirty="0"/>
              <a:t> (</a:t>
            </a:r>
            <a:r>
              <a:rPr lang="en-GB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</a:t>
            </a:r>
            <a:r>
              <a:rPr lang="en-GB" alt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2400" dirty="0"/>
              <a:t>)</a:t>
            </a:r>
            <a:r>
              <a:rPr lang="tr-TR" altLang="en-US" sz="2400" dirty="0"/>
              <a:t> of </a:t>
            </a:r>
            <a:r>
              <a:rPr lang="tr-TR" altLang="en-US" sz="2400" dirty="0" err="1"/>
              <a:t>selection</a:t>
            </a:r>
            <a:r>
              <a:rPr lang="tr-TR" altLang="en-US" sz="2400" dirty="0"/>
              <a:t> </a:t>
            </a:r>
            <a:r>
              <a:rPr lang="tr-TR" altLang="en-US" sz="2400" dirty="0" err="1"/>
              <a:t>with</a:t>
            </a:r>
            <a:r>
              <a:rPr lang="tr-TR" altLang="en-US" sz="2400" dirty="0"/>
              <a:t> </a:t>
            </a:r>
            <a:r>
              <a:rPr lang="tr-TR" altLang="en-US" sz="2400" dirty="0" err="1"/>
              <a:t>each</a:t>
            </a:r>
            <a:r>
              <a:rPr lang="tr-TR" altLang="en-US" sz="2400" dirty="0"/>
              <a:t> </a:t>
            </a:r>
            <a:r>
              <a:rPr lang="tr-TR" altLang="en-US" sz="2400" dirty="0" err="1"/>
              <a:t>individual</a:t>
            </a:r>
            <a:r>
              <a:rPr lang="tr-TR" altLang="en-US" sz="2400" dirty="0"/>
              <a:t> </a:t>
            </a:r>
            <a:r>
              <a:rPr lang="tr-TR" altLang="en-US" sz="2400" dirty="0" err="1"/>
              <a:t>chromosome</a:t>
            </a:r>
            <a:r>
              <a:rPr lang="tr-TR" altLang="en-US" sz="2400" dirty="0"/>
              <a:t> </a:t>
            </a:r>
            <a:r>
              <a:rPr lang="en-GB" altLang="en-US" sz="2400" dirty="0"/>
              <a:t> (</a:t>
            </a:r>
            <a:r>
              <a:rPr lang="en-GB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2400" dirty="0"/>
              <a:t>)</a:t>
            </a:r>
            <a:endParaRPr lang="en-US" altLang="en-US" sz="24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While candidate solutions with a higher fitness will be less likely to be eliminated, there is still a chance that they may be (</a:t>
            </a:r>
            <a:r>
              <a:rPr lang="en-US" altLang="en-US" sz="2400" dirty="0" err="1"/>
              <a:t>maximisation</a:t>
            </a:r>
            <a:r>
              <a:rPr lang="en-US" altLang="en-US" sz="2400" dirty="0"/>
              <a:t> problem)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Expected number of representatives of each individual in the pool is proportional to its fitness (</a:t>
            </a:r>
            <a:r>
              <a:rPr lang="en-US" altLang="en-US" sz="2400" dirty="0" err="1"/>
              <a:t>maximisation</a:t>
            </a:r>
            <a:r>
              <a:rPr lang="en-US" altLang="en-US" sz="2400" dirty="0"/>
              <a:t> problem)</a:t>
            </a:r>
            <a:endParaRPr lang="tr-TR" altLang="en-US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2047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D87F-8047-CE3A-436F-F0753DEF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E0538403-C866-0A5C-6A9F-C457DB50AEC4}"/>
              </a:ext>
            </a:extLst>
          </p:cNvPr>
          <p:cNvSpPr txBox="1"/>
          <p:nvPr/>
        </p:nvSpPr>
        <p:spPr>
          <a:xfrm>
            <a:off x="568958" y="1528767"/>
            <a:ext cx="1099311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AF6EF"/>
                </a:solidFill>
              </a:rPr>
              <a:t>If you are dealing with a minimisation problem (where a lower score, like </a:t>
            </a:r>
            <a:r>
              <a:rPr lang="en-GB" sz="2400" b="1" dirty="0">
                <a:solidFill>
                  <a:srgbClr val="FAF6EF"/>
                </a:solidFill>
              </a:rPr>
              <a:t>error</a:t>
            </a:r>
            <a:r>
              <a:rPr lang="en-GB" sz="2400" dirty="0">
                <a:solidFill>
                  <a:srgbClr val="FAF6EF"/>
                </a:solidFill>
              </a:rPr>
              <a:t> or </a:t>
            </a:r>
            <a:r>
              <a:rPr lang="en-GB" sz="2400" b="1" dirty="0">
                <a:solidFill>
                  <a:srgbClr val="FAF6EF"/>
                </a:solidFill>
              </a:rPr>
              <a:t>cost</a:t>
            </a:r>
            <a:r>
              <a:rPr lang="en-GB" sz="2400" dirty="0">
                <a:solidFill>
                  <a:srgbClr val="FAF6EF"/>
                </a:solidFill>
              </a:rPr>
              <a:t>, is better), the standard formula fails, so the values should be transformed: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AF6EF"/>
                </a:solidFill>
              </a:rPr>
              <a:t>Subtraction Method (Windowing): </a:t>
            </a:r>
            <a:r>
              <a:rPr lang="en-GB" sz="2400" i="1" dirty="0">
                <a:solidFill>
                  <a:srgbClr val="FAF6EF"/>
                </a:solidFill>
              </a:rPr>
              <a:t>fitness</a:t>
            </a:r>
            <a:r>
              <a:rPr lang="en-GB" sz="2400" i="1" baseline="-25000" dirty="0">
                <a:solidFill>
                  <a:srgbClr val="FAF6EF"/>
                </a:solidFill>
              </a:rPr>
              <a:t>i</a:t>
            </a:r>
            <a:r>
              <a:rPr lang="en-GB" sz="2400" dirty="0">
                <a:solidFill>
                  <a:srgbClr val="FAF6EF"/>
                </a:solidFill>
              </a:rPr>
              <a:t>  = </a:t>
            </a:r>
            <a:r>
              <a:rPr lang="en-GB" sz="2400" i="1" dirty="0" err="1">
                <a:solidFill>
                  <a:srgbClr val="FAF6EF"/>
                </a:solidFill>
              </a:rPr>
              <a:t>cost</a:t>
            </a:r>
            <a:r>
              <a:rPr lang="en-GB" sz="2400" i="1" baseline="-25000" dirty="0" err="1">
                <a:solidFill>
                  <a:srgbClr val="FAF6EF"/>
                </a:solidFill>
              </a:rPr>
              <a:t>max</a:t>
            </a:r>
            <a:r>
              <a:rPr lang="en-GB" sz="2400" dirty="0">
                <a:solidFill>
                  <a:srgbClr val="FAF6EF"/>
                </a:solidFill>
              </a:rPr>
              <a:t>  </a:t>
            </a:r>
            <a:r>
              <a:rPr lang="en-GB" sz="2400" dirty="0">
                <a:solidFill>
                  <a:srgbClr val="FAF6EF"/>
                </a:solidFill>
                <a:sym typeface="Symbol" panose="05050102010706020507" pitchFamily="18" charset="2"/>
              </a:rPr>
              <a:t> </a:t>
            </a:r>
            <a:r>
              <a:rPr lang="en-GB" sz="2400" i="1" dirty="0">
                <a:solidFill>
                  <a:srgbClr val="FAF6EF"/>
                </a:solidFill>
                <a:sym typeface="Symbol" panose="05050102010706020507" pitchFamily="18" charset="2"/>
              </a:rPr>
              <a:t> </a:t>
            </a:r>
            <a:r>
              <a:rPr lang="en-GB" sz="2400" i="1" dirty="0" err="1">
                <a:solidFill>
                  <a:srgbClr val="FAF6EF"/>
                </a:solidFill>
              </a:rPr>
              <a:t>cost</a:t>
            </a:r>
            <a:r>
              <a:rPr lang="en-GB" sz="2400" i="1" baseline="-25000" dirty="0" err="1">
                <a:solidFill>
                  <a:srgbClr val="FAF6EF"/>
                </a:solidFill>
              </a:rPr>
              <a:t>i</a:t>
            </a:r>
            <a:r>
              <a:rPr lang="en-GB" sz="2400" dirty="0">
                <a:solidFill>
                  <a:srgbClr val="FAF6EF"/>
                </a:solidFill>
              </a:rPr>
              <a:t>  + </a:t>
            </a:r>
            <a:r>
              <a:rPr lang="en-GB" sz="2400" dirty="0">
                <a:solidFill>
                  <a:srgbClr val="FAF6EF"/>
                </a:solidFill>
                <a:sym typeface="Symbol" panose="05050102010706020507" pitchFamily="18" charset="2"/>
              </a:rPr>
              <a:t> </a:t>
            </a:r>
            <a:endParaRPr lang="en-GB" sz="2400" i="1" baseline="-25000" dirty="0">
              <a:solidFill>
                <a:srgbClr val="FAF6E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AF6EF"/>
                </a:solidFill>
              </a:rPr>
              <a:t>Reciprocal Method (Inversion):</a:t>
            </a:r>
            <a:r>
              <a:rPr lang="en-GB" sz="2400" i="1" dirty="0">
                <a:solidFill>
                  <a:srgbClr val="FAF6EF"/>
                </a:solidFill>
              </a:rPr>
              <a:t> fitness</a:t>
            </a:r>
            <a:r>
              <a:rPr lang="en-GB" sz="2400" i="1" baseline="-25000" dirty="0">
                <a:solidFill>
                  <a:srgbClr val="FAF6EF"/>
                </a:solidFill>
              </a:rPr>
              <a:t>i</a:t>
            </a:r>
            <a:r>
              <a:rPr lang="en-GB" sz="2400" dirty="0">
                <a:solidFill>
                  <a:srgbClr val="FAF6EF"/>
                </a:solidFill>
              </a:rPr>
              <a:t>  = 1/(</a:t>
            </a:r>
            <a:r>
              <a:rPr lang="en-GB" sz="2400" i="1" dirty="0" err="1">
                <a:solidFill>
                  <a:srgbClr val="FAF6EF"/>
                </a:solidFill>
              </a:rPr>
              <a:t>cost</a:t>
            </a:r>
            <a:r>
              <a:rPr lang="en-GB" sz="2400" i="1" baseline="-25000" dirty="0" err="1">
                <a:solidFill>
                  <a:srgbClr val="FAF6EF"/>
                </a:solidFill>
              </a:rPr>
              <a:t>i</a:t>
            </a:r>
            <a:r>
              <a:rPr lang="en-GB" sz="2400" dirty="0">
                <a:solidFill>
                  <a:srgbClr val="FAF6EF"/>
                </a:solidFill>
              </a:rPr>
              <a:t> + </a:t>
            </a:r>
            <a:r>
              <a:rPr lang="en-GB" sz="2400" dirty="0">
                <a:solidFill>
                  <a:srgbClr val="FAF6EF"/>
                </a:solidFill>
                <a:sym typeface="Symbol" panose="05050102010706020507" pitchFamily="18" charset="2"/>
              </a:rPr>
              <a:t>)</a:t>
            </a:r>
            <a:endParaRPr lang="en-GB" sz="2400" dirty="0">
              <a:solidFill>
                <a:srgbClr val="FAF6E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AF6EF"/>
                </a:solidFill>
              </a:rPr>
              <a:t>Ranking (Rank-based) Method: Instead of using the raw values, you simply sort the population from best (lowest cost) to worst (highest cost)</a:t>
            </a:r>
          </a:p>
          <a:p>
            <a:r>
              <a:rPr lang="en-GB" sz="2400" dirty="0">
                <a:solidFill>
                  <a:srgbClr val="FAF6EF"/>
                </a:solidFill>
              </a:rPr>
              <a:t>	</a:t>
            </a:r>
            <a:r>
              <a:rPr lang="en-GB" sz="2400" b="1" u="sng" dirty="0">
                <a:solidFill>
                  <a:srgbClr val="FAF6EF"/>
                </a:solidFill>
              </a:rPr>
              <a:t>Rank</a:t>
            </a:r>
            <a:r>
              <a:rPr lang="en-GB" sz="2400" dirty="0">
                <a:solidFill>
                  <a:srgbClr val="FAF6EF"/>
                </a:solidFill>
              </a:rPr>
              <a:t>		</a:t>
            </a:r>
            <a:r>
              <a:rPr lang="en-GB" sz="2400" b="1" u="sng" dirty="0">
                <a:solidFill>
                  <a:srgbClr val="FAF6EF"/>
                </a:solidFill>
              </a:rPr>
              <a:t>Cost (minimising)</a:t>
            </a:r>
            <a:r>
              <a:rPr lang="en-GB" sz="2400" dirty="0">
                <a:solidFill>
                  <a:srgbClr val="FAF6EF"/>
                </a:solidFill>
              </a:rPr>
              <a:t>		</a:t>
            </a:r>
            <a:r>
              <a:rPr lang="en-GB" sz="2400" b="1" u="sng" dirty="0">
                <a:solidFill>
                  <a:srgbClr val="FAF6EF"/>
                </a:solidFill>
              </a:rPr>
              <a:t>Assigned Fitness</a:t>
            </a:r>
          </a:p>
          <a:p>
            <a:r>
              <a:rPr lang="en-GB" sz="2400" dirty="0">
                <a:solidFill>
                  <a:srgbClr val="FAF6EF"/>
                </a:solidFill>
              </a:rPr>
              <a:t>	1		0.081 (best)				20</a:t>
            </a:r>
          </a:p>
          <a:p>
            <a:r>
              <a:rPr lang="en-GB" sz="2400" dirty="0">
                <a:solidFill>
                  <a:srgbClr val="FAF6EF"/>
                </a:solidFill>
              </a:rPr>
              <a:t>	2		3.095					19</a:t>
            </a:r>
          </a:p>
          <a:p>
            <a:r>
              <a:rPr lang="en-GB" sz="2400" dirty="0">
                <a:solidFill>
                  <a:srgbClr val="FAF6EF"/>
                </a:solidFill>
              </a:rPr>
              <a:t>	…		…					…</a:t>
            </a:r>
          </a:p>
          <a:p>
            <a:r>
              <a:rPr lang="en-GB" sz="2400" dirty="0">
                <a:solidFill>
                  <a:srgbClr val="FAF6EF"/>
                </a:solidFill>
              </a:rPr>
              <a:t>	20		123.1	(worst)			1		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AF6E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E165-28BA-AEE5-B775-0CE0EA8B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R</a:t>
            </a:r>
            <a:r>
              <a:rPr lang="tr-TR" altLang="en-US" sz="4000" dirty="0" err="1"/>
              <a:t>oulette</a:t>
            </a:r>
            <a:r>
              <a:rPr lang="tr-TR" altLang="en-US" sz="4000" dirty="0"/>
              <a:t> </a:t>
            </a:r>
            <a:r>
              <a:rPr lang="en-US" altLang="en-US" sz="4000" dirty="0"/>
              <a:t>W</a:t>
            </a:r>
            <a:r>
              <a:rPr lang="tr-TR" altLang="en-US" sz="4000" dirty="0" err="1"/>
              <a:t>heel</a:t>
            </a:r>
            <a:r>
              <a:rPr lang="tr-TR" altLang="en-US" sz="4000" dirty="0"/>
              <a:t> </a:t>
            </a:r>
            <a:r>
              <a:rPr lang="en-US" altLang="en-US" sz="4000" dirty="0"/>
              <a:t>S</a:t>
            </a:r>
            <a:r>
              <a:rPr lang="tr-TR" altLang="en-US" sz="4000" dirty="0"/>
              <a:t>election</a:t>
            </a:r>
            <a:r>
              <a:rPr lang="en-GB" altLang="en-US" dirty="0"/>
              <a:t> – </a:t>
            </a:r>
            <a:br>
              <a:rPr lang="en-GB" altLang="en-US" dirty="0"/>
            </a:br>
            <a:r>
              <a:rPr lang="en-GB" altLang="en-US" sz="4000" dirty="0"/>
              <a:t>Minimisation Problem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D02BF-B43C-7DCC-E955-4757B91D0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12BDE-5ACA-7F16-01CC-1E65AF2E5179}"/>
              </a:ext>
            </a:extLst>
          </p:cNvPr>
          <p:cNvSpPr txBox="1"/>
          <p:nvPr/>
        </p:nvSpPr>
        <p:spPr>
          <a:xfrm>
            <a:off x="568959" y="1528767"/>
            <a:ext cx="1099311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If you are dealing with a minimisation problem (where a lower score, like </a:t>
            </a:r>
            <a:r>
              <a:rPr lang="en-GB" sz="2400" b="1" dirty="0"/>
              <a:t>error</a:t>
            </a:r>
            <a:r>
              <a:rPr lang="en-GB" sz="2400" dirty="0"/>
              <a:t> or </a:t>
            </a:r>
            <a:r>
              <a:rPr lang="en-GB" sz="2400" b="1" dirty="0"/>
              <a:t>cost</a:t>
            </a:r>
            <a:r>
              <a:rPr lang="en-GB" sz="2400" dirty="0"/>
              <a:t>, is better), the standard formula fails, so the values should be transformed. 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GB" sz="2400" dirty="0"/>
              <a:t>Subtraction Method (Windowing): </a:t>
            </a:r>
            <a:r>
              <a:rPr lang="en-GB" sz="2400" i="1" dirty="0"/>
              <a:t>fitness</a:t>
            </a:r>
            <a:r>
              <a:rPr lang="en-GB" sz="2400" i="1" baseline="-25000" dirty="0"/>
              <a:t>i</a:t>
            </a:r>
            <a:r>
              <a:rPr lang="en-GB" sz="2400" dirty="0"/>
              <a:t>  = </a:t>
            </a:r>
            <a:r>
              <a:rPr lang="en-GB" sz="2400" i="1" dirty="0" err="1"/>
              <a:t>cost</a:t>
            </a:r>
            <a:r>
              <a:rPr lang="en-GB" sz="2400" i="1" baseline="-25000" dirty="0" err="1"/>
              <a:t>max</a:t>
            </a:r>
            <a:r>
              <a:rPr lang="en-GB" sz="2400" dirty="0"/>
              <a:t>  </a:t>
            </a:r>
            <a:r>
              <a:rPr lang="en-GB" sz="2400" dirty="0">
                <a:sym typeface="Symbol" panose="05050102010706020507" pitchFamily="18" charset="2"/>
              </a:rPr>
              <a:t> </a:t>
            </a:r>
            <a:r>
              <a:rPr lang="en-GB" sz="2400" i="1" dirty="0">
                <a:sym typeface="Symbol" panose="05050102010706020507" pitchFamily="18" charset="2"/>
              </a:rPr>
              <a:t> </a:t>
            </a:r>
            <a:r>
              <a:rPr lang="en-GB" sz="2400" i="1" dirty="0" err="1"/>
              <a:t>cost</a:t>
            </a:r>
            <a:r>
              <a:rPr lang="en-GB" sz="2400" i="1" baseline="-25000" dirty="0" err="1"/>
              <a:t>i</a:t>
            </a:r>
            <a:r>
              <a:rPr lang="en-GB" sz="2400" dirty="0"/>
              <a:t>  + </a:t>
            </a:r>
            <a:r>
              <a:rPr lang="en-GB" sz="2400" dirty="0">
                <a:sym typeface="Symbol" panose="05050102010706020507" pitchFamily="18" charset="2"/>
              </a:rPr>
              <a:t> </a:t>
            </a:r>
            <a:endParaRPr lang="en-GB" sz="2400" i="1" baseline="-25000" dirty="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GB" sz="2400" dirty="0"/>
              <a:t>Reciprocal Method (Inversion):</a:t>
            </a:r>
            <a:r>
              <a:rPr lang="en-GB" sz="2400" i="1" dirty="0"/>
              <a:t> fitness</a:t>
            </a:r>
            <a:r>
              <a:rPr lang="en-GB" sz="2400" i="1" baseline="-25000" dirty="0"/>
              <a:t>i</a:t>
            </a:r>
            <a:r>
              <a:rPr lang="en-GB" sz="2400" dirty="0"/>
              <a:t>  = 1/(</a:t>
            </a:r>
            <a:r>
              <a:rPr lang="en-GB" sz="2400" i="1" dirty="0" err="1"/>
              <a:t>cost</a:t>
            </a:r>
            <a:r>
              <a:rPr lang="en-GB" sz="2400" i="1" baseline="-25000" dirty="0" err="1"/>
              <a:t>i</a:t>
            </a:r>
            <a:r>
              <a:rPr lang="en-GB" sz="2400" dirty="0"/>
              <a:t> + </a:t>
            </a:r>
            <a:r>
              <a:rPr lang="en-GB" sz="2400" dirty="0">
                <a:sym typeface="Symbol" panose="05050102010706020507" pitchFamily="18" charset="2"/>
              </a:rPr>
              <a:t>)</a:t>
            </a:r>
            <a:endParaRPr lang="en-GB" sz="2400" dirty="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en-GB" sz="2400" dirty="0"/>
              <a:t>Ranking (Rank-based) Method: Instead of using the raw values, you simply sort the population from best (lowest cost) to worst (highest cost)</a:t>
            </a:r>
          </a:p>
          <a:p>
            <a:r>
              <a:rPr lang="en-GB" sz="2400" dirty="0"/>
              <a:t>	</a:t>
            </a:r>
            <a:r>
              <a:rPr lang="en-GB" sz="2400" b="1" u="sng" dirty="0"/>
              <a:t>Rank</a:t>
            </a:r>
            <a:r>
              <a:rPr lang="en-GB" sz="2400" dirty="0"/>
              <a:t>		</a:t>
            </a:r>
            <a:r>
              <a:rPr lang="en-GB" sz="2400" b="1" u="sng" dirty="0"/>
              <a:t>Cost (minimising)</a:t>
            </a:r>
            <a:r>
              <a:rPr lang="en-GB" sz="2400" dirty="0"/>
              <a:t>		</a:t>
            </a:r>
            <a:r>
              <a:rPr lang="en-GB" sz="2400" b="1" u="sng" dirty="0"/>
              <a:t>Assigned Fitness</a:t>
            </a:r>
          </a:p>
          <a:p>
            <a:r>
              <a:rPr lang="en-GB" sz="2400" dirty="0"/>
              <a:t>	1		0.081 (best)				20</a:t>
            </a:r>
          </a:p>
          <a:p>
            <a:r>
              <a:rPr lang="en-GB" sz="2400" dirty="0"/>
              <a:t>	2		3.095					19</a:t>
            </a:r>
          </a:p>
          <a:p>
            <a:r>
              <a:rPr lang="en-GB" sz="2400" dirty="0"/>
              <a:t>	…		…					…</a:t>
            </a:r>
          </a:p>
          <a:p>
            <a:r>
              <a:rPr lang="en-GB" sz="2400" dirty="0"/>
              <a:t>	20		123.1	(worst)			1		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7414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91D6-5988-9ECA-CFE9-D6AD1A12A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Example: MAX-SAT –  </a:t>
            </a:r>
            <a:br>
              <a:rPr lang="en-GB" dirty="0"/>
            </a:br>
            <a:r>
              <a:rPr lang="en-US" altLang="en-US" sz="4000" dirty="0"/>
              <a:t>R</a:t>
            </a:r>
            <a:r>
              <a:rPr lang="tr-TR" altLang="en-US" sz="4000" dirty="0" err="1"/>
              <a:t>oulette</a:t>
            </a:r>
            <a:r>
              <a:rPr lang="tr-TR" altLang="en-US" sz="4000" dirty="0"/>
              <a:t> </a:t>
            </a:r>
            <a:r>
              <a:rPr lang="en-US" altLang="en-US" sz="4000" dirty="0"/>
              <a:t>W</a:t>
            </a:r>
            <a:r>
              <a:rPr lang="tr-TR" altLang="en-US" sz="4000" dirty="0" err="1"/>
              <a:t>heel</a:t>
            </a:r>
            <a:r>
              <a:rPr lang="tr-TR" altLang="en-US" sz="4000" dirty="0"/>
              <a:t> </a:t>
            </a:r>
            <a:r>
              <a:rPr lang="en-US" altLang="en-US" sz="4000" dirty="0"/>
              <a:t>S</a:t>
            </a:r>
            <a:r>
              <a:rPr lang="tr-TR" altLang="en-US" sz="4000" dirty="0" err="1"/>
              <a:t>election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59CA47-3479-8962-21D5-6C5E7E511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0CF028-A776-15CA-7A5C-E6080280EC9A}"/>
                  </a:ext>
                </a:extLst>
              </p:cNvPr>
              <p:cNvSpPr/>
              <p:nvPr/>
            </p:nvSpPr>
            <p:spPr>
              <a:xfrm>
                <a:off x="2063552" y="1544693"/>
                <a:ext cx="66064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i="1" dirty="0">
                    <a:latin typeface="Cambria Math" panose="02040503050406030204" pitchFamily="18" charset="0"/>
                  </a:rPr>
                  <a:t>          </a:t>
                </a:r>
                <a:r>
                  <a:rPr lang="en-GB" dirty="0">
                    <a:latin typeface="Cambria Math" panose="02040503050406030204" pitchFamily="18" charset="0"/>
                  </a:rPr>
                  <a:t>0                   1                 2                    3                  4                 5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0CF028-A776-15CA-7A5C-E6080280E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1544693"/>
                <a:ext cx="6606480" cy="646331"/>
              </a:xfrm>
              <a:prstGeom prst="rect">
                <a:avLst/>
              </a:prstGeom>
              <a:blipFill>
                <a:blip r:embed="rId3"/>
                <a:stretch>
                  <a:fillRect t="-3846" b="-9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A05557-EDC6-380B-6059-DF3A2C7B0E73}"/>
              </a:ext>
            </a:extLst>
          </p:cNvPr>
          <p:cNvSpPr txBox="1">
            <a:spLocks/>
          </p:cNvSpPr>
          <p:nvPr/>
        </p:nvSpPr>
        <p:spPr>
          <a:xfrm>
            <a:off x="6645055" y="2417590"/>
            <a:ext cx="4402832" cy="36380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Rotate the wheel</a:t>
            </a:r>
          </a:p>
          <a:p>
            <a:pPr lvl="1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FF648A6-C7B6-6689-64B0-C0B428EFF4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3778857"/>
                  </p:ext>
                </p:extLst>
              </p:nvPr>
            </p:nvGraphicFramePr>
            <p:xfrm>
              <a:off x="1458375" y="2372433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 (sat. cl.)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 (</a:t>
                          </a:r>
                          <a:r>
                            <a:rPr lang="en-GB" sz="1600" u="sng" strike="noStrike" dirty="0">
                              <a:effectLst/>
                            </a:rPr>
                            <a:t>3</a:t>
                          </a:r>
                          <a:r>
                            <a:rPr lang="en-GB" sz="1600" u="none" strike="noStrike" dirty="0">
                              <a:effectLst/>
                            </a:rPr>
                            <a:t>)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 (</a:t>
                          </a:r>
                          <a:r>
                            <a:rPr lang="en-GB" sz="1600" u="sng" strike="noStrike" dirty="0">
                              <a:effectLst/>
                            </a:rPr>
                            <a:t>3</a:t>
                          </a:r>
                          <a:r>
                            <a:rPr lang="en-GB" sz="1600" u="none" strike="noStrike" dirty="0">
                              <a:effectLst/>
                            </a:rPr>
                            <a:t>)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2 (</a:t>
                          </a:r>
                          <a:r>
                            <a:rPr lang="en-GB" sz="1600" u="sng" strike="noStrike" dirty="0">
                              <a:effectLst/>
                            </a:rPr>
                            <a:t>4</a:t>
                          </a:r>
                          <a:r>
                            <a:rPr lang="en-GB" sz="1600" u="none" strike="noStrike" dirty="0">
                              <a:effectLst/>
                            </a:rPr>
                            <a:t>)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1 (</a:t>
                          </a:r>
                          <a:r>
                            <a:rPr lang="en-GB" sz="1600" u="sng" strike="noStrike" dirty="0">
                              <a:effectLst/>
                            </a:rPr>
                            <a:t>5</a:t>
                          </a:r>
                          <a:r>
                            <a:rPr lang="en-GB" sz="1600" u="none" strike="noStrike" dirty="0">
                              <a:effectLst/>
                            </a:rPr>
                            <a:t>)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FF648A6-C7B6-6689-64B0-C0B428EFF4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3778857"/>
                  </p:ext>
                </p:extLst>
              </p:nvPr>
            </p:nvGraphicFramePr>
            <p:xfrm>
              <a:off x="1458375" y="2372433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 (sat. cl.)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219512" r="-114000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 (</a:t>
                          </a:r>
                          <a:r>
                            <a:rPr lang="en-GB" sz="1600" u="sng" strike="noStrike" dirty="0">
                              <a:effectLst/>
                            </a:rPr>
                            <a:t>3</a:t>
                          </a:r>
                          <a:r>
                            <a:rPr lang="en-GB" sz="1600" u="none" strike="noStrike" dirty="0">
                              <a:effectLst/>
                            </a:rPr>
                            <a:t>)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311905" r="-114000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 (</a:t>
                          </a:r>
                          <a:r>
                            <a:rPr lang="en-GB" sz="1600" u="sng" strike="noStrike" dirty="0">
                              <a:effectLst/>
                            </a:rPr>
                            <a:t>3</a:t>
                          </a:r>
                          <a:r>
                            <a:rPr lang="en-GB" sz="1600" u="none" strike="noStrike" dirty="0">
                              <a:effectLst/>
                            </a:rPr>
                            <a:t>)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421951" r="-114000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2 (</a:t>
                          </a:r>
                          <a:r>
                            <a:rPr lang="en-GB" sz="1600" u="sng" strike="noStrike" dirty="0">
                              <a:effectLst/>
                            </a:rPr>
                            <a:t>4</a:t>
                          </a:r>
                          <a:r>
                            <a:rPr lang="en-GB" sz="1600" u="none" strike="noStrike" dirty="0">
                              <a:effectLst/>
                            </a:rPr>
                            <a:t>)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521951" r="-114000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1 (</a:t>
                          </a:r>
                          <a:r>
                            <a:rPr lang="en-GB" sz="1600" u="sng" strike="noStrike" dirty="0">
                              <a:effectLst/>
                            </a:rPr>
                            <a:t>5</a:t>
                          </a:r>
                          <a:r>
                            <a:rPr lang="en-GB" sz="1600" u="none" strike="noStrike" dirty="0">
                              <a:effectLst/>
                            </a:rPr>
                            <a:t>)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F606C8-DEC9-6D85-B186-72428EC9A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290136"/>
              </p:ext>
            </p:extLst>
          </p:nvPr>
        </p:nvGraphicFramePr>
        <p:xfrm>
          <a:off x="4921908" y="2362936"/>
          <a:ext cx="581025" cy="1504816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</a:rPr>
                        <a:t>prob</a:t>
                      </a:r>
                      <a:r>
                        <a:rPr lang="en-GB" sz="1600" b="1" u="none" strike="noStrike" baseline="-25000" dirty="0" err="1">
                          <a:effectLst/>
                        </a:rPr>
                        <a:t>i</a:t>
                      </a:r>
                      <a:endParaRPr lang="en-GB" sz="1600" b="1" i="1" u="none" strike="noStrike" baseline="-25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C5120E9-E647-611D-27A1-31462E1719B9}"/>
              </a:ext>
            </a:extLst>
          </p:cNvPr>
          <p:cNvSpPr txBox="1"/>
          <p:nvPr/>
        </p:nvSpPr>
        <p:spPr>
          <a:xfrm>
            <a:off x="3975722" y="3875104"/>
            <a:ext cx="118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total:(15)</a:t>
            </a:r>
          </a:p>
        </p:txBody>
      </p:sp>
      <p:grpSp>
        <p:nvGrpSpPr>
          <p:cNvPr id="11" name="Group 10" descr="This is a decorative rhoulette wheel with 4 parts with part 1 and part 2: 20%, part 3: 27% and part 4:33%, and selection point indicating part 4.">
            <a:extLst>
              <a:ext uri="{FF2B5EF4-FFF2-40B4-BE49-F238E27FC236}">
                <a16:creationId xmlns:a16="http://schemas.microsoft.com/office/drawing/2014/main" id="{EA540F5A-2AA2-075F-B14E-F8C55D156226}"/>
              </a:ext>
            </a:extLst>
          </p:cNvPr>
          <p:cNvGrpSpPr/>
          <p:nvPr/>
        </p:nvGrpSpPr>
        <p:grpSpPr>
          <a:xfrm>
            <a:off x="6295186" y="2946622"/>
            <a:ext cx="3897707" cy="2366685"/>
            <a:chOff x="4658890" y="3150547"/>
            <a:chExt cx="3897707" cy="236668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A9B3417-2F9F-B991-CEE0-133220920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3819" y="3200876"/>
              <a:ext cx="3862778" cy="2316356"/>
            </a:xfrm>
            <a:prstGeom prst="rect">
              <a:avLst/>
            </a:prstGeom>
          </p:spPr>
        </p:pic>
        <p:sp>
          <p:nvSpPr>
            <p:cNvPr id="13" name="Isosceles Triangle 11">
              <a:extLst>
                <a:ext uri="{FF2B5EF4-FFF2-40B4-BE49-F238E27FC236}">
                  <a16:creationId xmlns:a16="http://schemas.microsoft.com/office/drawing/2014/main" id="{BD86731A-136E-BFD4-4316-2D56799ABBC5}"/>
                </a:ext>
              </a:extLst>
            </p:cNvPr>
            <p:cNvSpPr/>
            <p:nvPr/>
          </p:nvSpPr>
          <p:spPr>
            <a:xfrm rot="5400000">
              <a:off x="5425554" y="4291538"/>
              <a:ext cx="508000" cy="34290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GB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31D9FE-E53A-2C4A-6F74-C3E85E5F9174}"/>
                </a:ext>
              </a:extLst>
            </p:cNvPr>
            <p:cNvSpPr txBox="1"/>
            <p:nvPr/>
          </p:nvSpPr>
          <p:spPr>
            <a:xfrm>
              <a:off x="4658890" y="4201378"/>
              <a:ext cx="936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Selection point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4F31482-76B8-754B-D51F-62BD3740708D}"/>
                </a:ext>
              </a:extLst>
            </p:cNvPr>
            <p:cNvSpPr txBox="1"/>
            <p:nvPr/>
          </p:nvSpPr>
          <p:spPr>
            <a:xfrm>
              <a:off x="6041902" y="3881579"/>
              <a:ext cx="288032" cy="3693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4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2C7B60B-E144-AFBF-975D-DE1608DE9986}"/>
                </a:ext>
              </a:extLst>
            </p:cNvPr>
            <p:cNvSpPr txBox="1"/>
            <p:nvPr/>
          </p:nvSpPr>
          <p:spPr>
            <a:xfrm>
              <a:off x="6772545" y="3719998"/>
              <a:ext cx="288032" cy="3693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9C0DEC-776A-12CA-0A6D-9AC15DAA7F39}"/>
                </a:ext>
              </a:extLst>
            </p:cNvPr>
            <p:cNvSpPr txBox="1"/>
            <p:nvPr/>
          </p:nvSpPr>
          <p:spPr>
            <a:xfrm>
              <a:off x="7033815" y="4313472"/>
              <a:ext cx="288032" cy="3693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21293-285F-D08D-D902-7D7D0F63BE52}"/>
                </a:ext>
              </a:extLst>
            </p:cNvPr>
            <p:cNvSpPr txBox="1"/>
            <p:nvPr/>
          </p:nvSpPr>
          <p:spPr>
            <a:xfrm>
              <a:off x="6385639" y="4692453"/>
              <a:ext cx="288032" cy="3693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3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175C11-F30B-34EB-6AA0-212D41044EB8}"/>
                </a:ext>
              </a:extLst>
            </p:cNvPr>
            <p:cNvCxnSpPr/>
            <p:nvPr/>
          </p:nvCxnSpPr>
          <p:spPr>
            <a:xfrm>
              <a:off x="5652120" y="3416900"/>
              <a:ext cx="733519" cy="3030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E84A3D-155F-416C-81AD-386EDC676250}"/>
                </a:ext>
              </a:extLst>
            </p:cNvPr>
            <p:cNvSpPr txBox="1"/>
            <p:nvPr/>
          </p:nvSpPr>
          <p:spPr>
            <a:xfrm>
              <a:off x="4985858" y="3150547"/>
              <a:ext cx="230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fittest individual</a:t>
              </a:r>
            </a:p>
          </p:txBody>
        </p:sp>
      </p:grpSp>
      <p:grpSp>
        <p:nvGrpSpPr>
          <p:cNvPr id="21" name="Group 20" descr="an illustration indicating the probability of each individual being selected as a parent in the given population of size 4 using rhoulette wheel method">
            <a:extLst>
              <a:ext uri="{FF2B5EF4-FFF2-40B4-BE49-F238E27FC236}">
                <a16:creationId xmlns:a16="http://schemas.microsoft.com/office/drawing/2014/main" id="{815C9DB4-8334-94D4-4535-E2669468DED1}"/>
              </a:ext>
            </a:extLst>
          </p:cNvPr>
          <p:cNvGrpSpPr/>
          <p:nvPr/>
        </p:nvGrpSpPr>
        <p:grpSpPr>
          <a:xfrm>
            <a:off x="1797799" y="4903748"/>
            <a:ext cx="3526073" cy="1131597"/>
            <a:chOff x="593811" y="4313627"/>
            <a:chExt cx="3526073" cy="113159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92078B6-D550-ABD8-5FBE-C72417E4FB44}"/>
                </a:ext>
              </a:extLst>
            </p:cNvPr>
            <p:cNvCxnSpPr>
              <a:endCxn id="27" idx="3"/>
            </p:cNvCxnSpPr>
            <p:nvPr/>
          </p:nvCxnSpPr>
          <p:spPr>
            <a:xfrm>
              <a:off x="1907704" y="4682959"/>
              <a:ext cx="0" cy="577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C2F095A-A33A-37DE-75FB-3D210236821C}"/>
                </a:ext>
              </a:extLst>
            </p:cNvPr>
            <p:cNvCxnSpPr/>
            <p:nvPr/>
          </p:nvCxnSpPr>
          <p:spPr>
            <a:xfrm>
              <a:off x="2555776" y="4682958"/>
              <a:ext cx="0" cy="577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06F30B1-606A-C0A1-6688-862015C9396D}"/>
                </a:ext>
              </a:extLst>
            </p:cNvPr>
            <p:cNvCxnSpPr/>
            <p:nvPr/>
          </p:nvCxnSpPr>
          <p:spPr>
            <a:xfrm>
              <a:off x="3203848" y="4682958"/>
              <a:ext cx="0" cy="577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E54A67F-E64C-D552-1561-D8A9DC18DE81}"/>
                </a:ext>
              </a:extLst>
            </p:cNvPr>
            <p:cNvCxnSpPr/>
            <p:nvPr/>
          </p:nvCxnSpPr>
          <p:spPr>
            <a:xfrm>
              <a:off x="4067944" y="4667623"/>
              <a:ext cx="0" cy="577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BC0C5C5-5190-CAD1-C809-B3E8AC15C0B8}"/>
                </a:ext>
              </a:extLst>
            </p:cNvPr>
            <p:cNvCxnSpPr/>
            <p:nvPr/>
          </p:nvCxnSpPr>
          <p:spPr>
            <a:xfrm>
              <a:off x="755576" y="4641386"/>
              <a:ext cx="0" cy="577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D9755A-8E07-0153-393C-D36483C6F2AB}"/>
                </a:ext>
              </a:extLst>
            </p:cNvPr>
            <p:cNvSpPr txBox="1"/>
            <p:nvPr/>
          </p:nvSpPr>
          <p:spPr>
            <a:xfrm>
              <a:off x="755576" y="5075892"/>
              <a:ext cx="115212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4692A3-9CBD-E00B-8E4F-B928E8B2FC2A}"/>
                </a:ext>
              </a:extLst>
            </p:cNvPr>
            <p:cNvSpPr txBox="1"/>
            <p:nvPr/>
          </p:nvSpPr>
          <p:spPr>
            <a:xfrm>
              <a:off x="3203848" y="5075892"/>
              <a:ext cx="86409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DE7CFE2-92FF-3A9B-AA9E-207207F1D61E}"/>
                </a:ext>
              </a:extLst>
            </p:cNvPr>
            <p:cNvSpPr txBox="1"/>
            <p:nvPr/>
          </p:nvSpPr>
          <p:spPr>
            <a:xfrm>
              <a:off x="1907704" y="5075892"/>
              <a:ext cx="64807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472B1D4-7BE9-7EF1-BC39-C9D344D5DFB2}"/>
                </a:ext>
              </a:extLst>
            </p:cNvPr>
            <p:cNvSpPr txBox="1"/>
            <p:nvPr/>
          </p:nvSpPr>
          <p:spPr>
            <a:xfrm>
              <a:off x="2555776" y="5075892"/>
              <a:ext cx="64807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C5B7B7-992B-56EC-A5F7-827E23B3B3C9}"/>
                </a:ext>
              </a:extLst>
            </p:cNvPr>
            <p:cNvSpPr txBox="1"/>
            <p:nvPr/>
          </p:nvSpPr>
          <p:spPr>
            <a:xfrm>
              <a:off x="593811" y="4325428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C298AC2-89D8-CF3E-507B-43D78370EDC1}"/>
                </a:ext>
              </a:extLst>
            </p:cNvPr>
            <p:cNvSpPr txBox="1"/>
            <p:nvPr/>
          </p:nvSpPr>
          <p:spPr>
            <a:xfrm>
              <a:off x="3903860" y="4337228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1EC0B63-DE3B-D953-EFC7-40C23D2EAEF0}"/>
                </a:ext>
              </a:extLst>
            </p:cNvPr>
            <p:cNvSpPr txBox="1"/>
            <p:nvPr/>
          </p:nvSpPr>
          <p:spPr>
            <a:xfrm>
              <a:off x="1588717" y="4325427"/>
              <a:ext cx="703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0.33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A1B9FC2-937F-B788-0A17-E6BEB4B0E4B5}"/>
                </a:ext>
              </a:extLst>
            </p:cNvPr>
            <p:cNvSpPr txBox="1"/>
            <p:nvPr/>
          </p:nvSpPr>
          <p:spPr>
            <a:xfrm>
              <a:off x="2261374" y="4314066"/>
              <a:ext cx="703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0.53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BBF4E7D-46A1-1679-06E7-4F737FD22191}"/>
                </a:ext>
              </a:extLst>
            </p:cNvPr>
            <p:cNvSpPr txBox="1"/>
            <p:nvPr/>
          </p:nvSpPr>
          <p:spPr>
            <a:xfrm>
              <a:off x="2925785" y="4313627"/>
              <a:ext cx="703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0.73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E2DFA26-2BC9-556B-C775-662B7DD3FF24}"/>
              </a:ext>
            </a:extLst>
          </p:cNvPr>
          <p:cNvSpPr txBox="1"/>
          <p:nvPr/>
        </p:nvSpPr>
        <p:spPr>
          <a:xfrm>
            <a:off x="6919696" y="5637200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Random#1: 0.84  </a:t>
            </a:r>
            <a:r>
              <a:rPr lang="en-GB" dirty="0">
                <a:sym typeface="Symbol" panose="05050102010706020507" pitchFamily="18" charset="2"/>
              </a:rPr>
              <a:t> </a:t>
            </a:r>
            <a:r>
              <a:rPr lang="en-GB" dirty="0"/>
              <a:t>Parent#1: </a:t>
            </a:r>
            <a:r>
              <a:rPr lang="en-GB" dirty="0"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7" name="Curved Left Arrow 36">
            <a:extLst>
              <a:ext uri="{FF2B5EF4-FFF2-40B4-BE49-F238E27FC236}">
                <a16:creationId xmlns:a16="http://schemas.microsoft.com/office/drawing/2014/main" id="{9356B0C0-FD23-57EA-7137-A4F22D233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7807" y="3506042"/>
            <a:ext cx="675456" cy="165618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38" name="Group 37" descr="random#2: 0.12">
            <a:extLst>
              <a:ext uri="{FF2B5EF4-FFF2-40B4-BE49-F238E27FC236}">
                <a16:creationId xmlns:a16="http://schemas.microsoft.com/office/drawing/2014/main" id="{54984A8B-DA71-C842-36CF-EC8E468A3A3D}"/>
              </a:ext>
            </a:extLst>
          </p:cNvPr>
          <p:cNvGrpSpPr/>
          <p:nvPr/>
        </p:nvGrpSpPr>
        <p:grpSpPr>
          <a:xfrm>
            <a:off x="1666357" y="4382185"/>
            <a:ext cx="1365296" cy="1138120"/>
            <a:chOff x="470400" y="3841884"/>
            <a:chExt cx="1365296" cy="1138120"/>
          </a:xfrm>
        </p:grpSpPr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F8F3B66E-1504-D624-DE74-B25A50C5B7B0}"/>
                </a:ext>
              </a:extLst>
            </p:cNvPr>
            <p:cNvSpPr/>
            <p:nvPr/>
          </p:nvSpPr>
          <p:spPr>
            <a:xfrm>
              <a:off x="1062112" y="4333673"/>
              <a:ext cx="156054" cy="64633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68EA9F8-BD89-CC97-24CA-F16C324101C1}"/>
                </a:ext>
              </a:extLst>
            </p:cNvPr>
            <p:cNvSpPr txBox="1"/>
            <p:nvPr/>
          </p:nvSpPr>
          <p:spPr>
            <a:xfrm>
              <a:off x="470400" y="3841884"/>
              <a:ext cx="1365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u="sng" dirty="0"/>
                <a:t>Random#2</a:t>
              </a:r>
              <a:endParaRPr lang="en-GB" sz="1400" b="1" dirty="0"/>
            </a:p>
            <a:p>
              <a:pPr algn="ctr"/>
              <a:r>
                <a:rPr lang="en-GB" sz="1400" b="1" dirty="0"/>
                <a:t>0.12</a:t>
              </a:r>
            </a:p>
          </p:txBody>
        </p:sp>
      </p:grpSp>
      <p:grpSp>
        <p:nvGrpSpPr>
          <p:cNvPr id="41" name="Group 40" descr="random#1: 0.84">
            <a:extLst>
              <a:ext uri="{FF2B5EF4-FFF2-40B4-BE49-F238E27FC236}">
                <a16:creationId xmlns:a16="http://schemas.microsoft.com/office/drawing/2014/main" id="{804FB78B-AC7B-28F6-22EE-D763C02568AF}"/>
              </a:ext>
            </a:extLst>
          </p:cNvPr>
          <p:cNvGrpSpPr/>
          <p:nvPr/>
        </p:nvGrpSpPr>
        <p:grpSpPr>
          <a:xfrm>
            <a:off x="4193301" y="4382185"/>
            <a:ext cx="1379923" cy="1145972"/>
            <a:chOff x="1547664" y="3841884"/>
            <a:chExt cx="1379923" cy="1145972"/>
          </a:xfrm>
        </p:grpSpPr>
        <p:sp>
          <p:nvSpPr>
            <p:cNvPr id="42" name="Down Arrow 41">
              <a:extLst>
                <a:ext uri="{FF2B5EF4-FFF2-40B4-BE49-F238E27FC236}">
                  <a16:creationId xmlns:a16="http://schemas.microsoft.com/office/drawing/2014/main" id="{E2C5B5D1-9AA0-5257-5715-D81E2332E4A3}"/>
                </a:ext>
              </a:extLst>
            </p:cNvPr>
            <p:cNvSpPr/>
            <p:nvPr/>
          </p:nvSpPr>
          <p:spPr>
            <a:xfrm>
              <a:off x="2165629" y="4341525"/>
              <a:ext cx="156054" cy="64633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07F16C8-779C-FCA5-8813-DDFE0160BC9C}"/>
                </a:ext>
              </a:extLst>
            </p:cNvPr>
            <p:cNvSpPr txBox="1"/>
            <p:nvPr/>
          </p:nvSpPr>
          <p:spPr>
            <a:xfrm>
              <a:off x="1547664" y="3841884"/>
              <a:ext cx="13799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u="sng" dirty="0"/>
                <a:t>Random#1</a:t>
              </a:r>
            </a:p>
            <a:p>
              <a:pPr algn="ctr"/>
              <a:r>
                <a:rPr lang="en-GB" sz="1400" b="1" dirty="0"/>
                <a:t>0.84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C5A744A-E263-F54F-1400-44ACC262F2D5}"/>
              </a:ext>
            </a:extLst>
          </p:cNvPr>
          <p:cNvSpPr txBox="1"/>
          <p:nvPr/>
        </p:nvSpPr>
        <p:spPr>
          <a:xfrm>
            <a:off x="6919696" y="6006532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Random#2: 0.12  </a:t>
            </a:r>
            <a:r>
              <a:rPr lang="en-GB" dirty="0">
                <a:sym typeface="Symbol" panose="05050102010706020507" pitchFamily="18" charset="2"/>
              </a:rPr>
              <a:t></a:t>
            </a:r>
            <a:r>
              <a:rPr lang="en-GB" dirty="0"/>
              <a:t> Parent#2: 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26EF4A-1EAC-E8A8-AF17-D72841806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97896"/>
              </p:ext>
            </p:extLst>
          </p:nvPr>
        </p:nvGraphicFramePr>
        <p:xfrm>
          <a:off x="4929711" y="2362407"/>
          <a:ext cx="581025" cy="1504816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</a:rPr>
                        <a:t>prob</a:t>
                      </a:r>
                      <a:r>
                        <a:rPr lang="en-GB" sz="1600" b="1" u="none" strike="noStrike" baseline="-25000" dirty="0" err="1">
                          <a:effectLst/>
                        </a:rPr>
                        <a:t>i</a:t>
                      </a:r>
                      <a:endParaRPr lang="en-GB" sz="1600" b="1" i="1" u="none" strike="noStrike" baseline="-25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20%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20%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27%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33%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6298F7AF-924A-F019-CD28-C84DA3C5EAE3}"/>
              </a:ext>
            </a:extLst>
          </p:cNvPr>
          <p:cNvSpPr txBox="1"/>
          <p:nvPr/>
        </p:nvSpPr>
        <p:spPr>
          <a:xfrm>
            <a:off x="8021935" y="763216"/>
            <a:ext cx="3151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i="1" u="sng" dirty="0"/>
              <a:t>fitness</a:t>
            </a:r>
            <a:r>
              <a:rPr lang="en-GB" sz="1800" i="1" u="sng" baseline="-25000" dirty="0"/>
              <a:t>i</a:t>
            </a:r>
            <a:r>
              <a:rPr lang="en-GB" sz="1800" dirty="0"/>
              <a:t>  = </a:t>
            </a:r>
            <a:r>
              <a:rPr lang="en-GB" sz="1800" i="1" dirty="0" err="1"/>
              <a:t>cost</a:t>
            </a:r>
            <a:r>
              <a:rPr lang="en-GB" sz="1800" i="1" baseline="-25000" dirty="0" err="1"/>
              <a:t>max</a:t>
            </a:r>
            <a:r>
              <a:rPr lang="en-GB" sz="1800" dirty="0"/>
              <a:t>  </a:t>
            </a:r>
            <a:r>
              <a:rPr lang="en-GB" sz="1800" dirty="0">
                <a:sym typeface="Symbol" panose="05050102010706020507" pitchFamily="18" charset="2"/>
              </a:rPr>
              <a:t> </a:t>
            </a:r>
            <a:r>
              <a:rPr lang="en-GB" sz="1800" i="1" dirty="0">
                <a:sym typeface="Symbol" panose="05050102010706020507" pitchFamily="18" charset="2"/>
              </a:rPr>
              <a:t> </a:t>
            </a:r>
            <a:r>
              <a:rPr lang="en-GB" sz="1800" i="1" dirty="0" err="1"/>
              <a:t>cost</a:t>
            </a:r>
            <a:r>
              <a:rPr lang="en-GB" sz="1800" i="1" baseline="-25000" dirty="0" err="1"/>
              <a:t>i</a:t>
            </a:r>
            <a:r>
              <a:rPr lang="en-GB" sz="180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219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/>
      <p:bldP spid="36" grpId="0"/>
      <p:bldP spid="37" grpId="0" animBg="1"/>
      <p:bldP spid="4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2B142-9AA9-954D-3DB7-53D4B24B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EFB3CE-DB8E-C027-FC63-316E0BE42236}"/>
              </a:ext>
            </a:extLst>
          </p:cNvPr>
          <p:cNvSpPr/>
          <p:nvPr/>
        </p:nvSpPr>
        <p:spPr>
          <a:xfrm>
            <a:off x="1" y="1817027"/>
            <a:ext cx="6096000" cy="34825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1613D42-EC36-D115-0781-0BA2CA592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989" y="3947752"/>
            <a:ext cx="4962088" cy="1224016"/>
          </a:xfrm>
        </p:spPr>
        <p:txBody>
          <a:bodyPr wrap="square">
            <a:normAutofit fontScale="77500" lnSpcReduction="20000"/>
          </a:bodyPr>
          <a:lstStyle/>
          <a:p>
            <a:r>
              <a:rPr lang="en-GB" dirty="0"/>
              <a:t>Please fill in the early module feedback to include lectures and computing labs – be constructive, responses are anonymous! 🙂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0C1C9A-9025-6667-77B3-12BFBE399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989" y="1817028"/>
            <a:ext cx="4679880" cy="1902398"/>
          </a:xfrm>
        </p:spPr>
        <p:txBody>
          <a:bodyPr wrap="square" anchor="ctr">
            <a:normAutofit/>
          </a:bodyPr>
          <a:lstStyle/>
          <a:p>
            <a:r>
              <a:rPr lang="en-GB" sz="5100" dirty="0"/>
              <a:t>Early Module Feedback</a:t>
            </a:r>
          </a:p>
        </p:txBody>
      </p:sp>
    </p:spTree>
    <p:extLst>
      <p:ext uri="{BB962C8B-B14F-4D97-AF65-F5344CB8AC3E}">
        <p14:creationId xmlns:p14="http://schemas.microsoft.com/office/powerpoint/2010/main" val="775203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41F38-000C-69E4-F4E6-3F8B9CA3B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Tournament Selection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70C38A-CA0D-112E-6169-9D04BA9E8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F2ADD-ACC5-7E67-AD43-4EB3819E0961}"/>
              </a:ext>
            </a:extLst>
          </p:cNvPr>
          <p:cNvSpPr txBox="1"/>
          <p:nvPr/>
        </p:nvSpPr>
        <p:spPr>
          <a:xfrm>
            <a:off x="576045" y="1451226"/>
            <a:ext cx="108305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This method involves running a number of "tournaments" among  randomly chosen individuals (of tour size) selecting the one with best fitness at the end</a:t>
            </a:r>
          </a:p>
          <a:p>
            <a:pPr marL="914400" lvl="1" indent="-457200">
              <a:buFont typeface="Symbol" panose="05050102010706020507" pitchFamily="18" charset="2"/>
              <a:buChar char="-"/>
            </a:pPr>
            <a:r>
              <a:rPr lang="en-GB" sz="3200" dirty="0"/>
              <a:t>This process is repeated for selecting each parent to be recombined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1618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8691-4097-595D-062F-5054F07C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563" y="0"/>
            <a:ext cx="10866437" cy="900000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 – MAX-SAT:   </a:t>
            </a:r>
            <a:r>
              <a:rPr lang="en-GB" altLang="en-US" sz="4000" dirty="0"/>
              <a:t>Tournament </a:t>
            </a:r>
            <a:r>
              <a:rPr lang="en-US" altLang="en-US" sz="4000" dirty="0"/>
              <a:t>S</a:t>
            </a:r>
            <a:r>
              <a:rPr lang="tr-TR" altLang="en-US" sz="4000" dirty="0" err="1"/>
              <a:t>election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F0F1E4-153D-3E5F-CF0C-E35BD0EFD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FAD317-007F-65E7-7743-87F398F44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51708" y="3219998"/>
            <a:ext cx="375734" cy="672328"/>
            <a:chOff x="4851708" y="3219998"/>
            <a:chExt cx="375734" cy="672328"/>
          </a:xfrm>
        </p:grpSpPr>
        <p:sp>
          <p:nvSpPr>
            <p:cNvPr id="5" name="Left Arrow 4">
              <a:extLst>
                <a:ext uri="{FF2B5EF4-FFF2-40B4-BE49-F238E27FC236}">
                  <a16:creationId xmlns:a16="http://schemas.microsoft.com/office/drawing/2014/main" id="{FF5C4D2A-51A0-004E-8A4A-1A089A4EF424}"/>
                </a:ext>
              </a:extLst>
            </p:cNvPr>
            <p:cNvSpPr/>
            <p:nvPr/>
          </p:nvSpPr>
          <p:spPr bwMode="auto">
            <a:xfrm>
              <a:off x="4851708" y="3219998"/>
              <a:ext cx="360040" cy="108012"/>
            </a:xfrm>
            <a:prstGeom prst="lef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" name="Left Arrow 5">
              <a:extLst>
                <a:ext uri="{FF2B5EF4-FFF2-40B4-BE49-F238E27FC236}">
                  <a16:creationId xmlns:a16="http://schemas.microsoft.com/office/drawing/2014/main" id="{57FF6E48-4607-E795-4F30-BB167BF6C32A}"/>
                </a:ext>
              </a:extLst>
            </p:cNvPr>
            <p:cNvSpPr/>
            <p:nvPr/>
          </p:nvSpPr>
          <p:spPr bwMode="auto">
            <a:xfrm>
              <a:off x="4867402" y="3529159"/>
              <a:ext cx="360040" cy="108012"/>
            </a:xfrm>
            <a:prstGeom prst="lef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Left Arrow 6">
              <a:extLst>
                <a:ext uri="{FF2B5EF4-FFF2-40B4-BE49-F238E27FC236}">
                  <a16:creationId xmlns:a16="http://schemas.microsoft.com/office/drawing/2014/main" id="{D0283B05-BD66-8F92-01F4-501F2F0F2978}"/>
                </a:ext>
              </a:extLst>
            </p:cNvPr>
            <p:cNvSpPr/>
            <p:nvPr/>
          </p:nvSpPr>
          <p:spPr bwMode="auto">
            <a:xfrm>
              <a:off x="4867402" y="3784314"/>
              <a:ext cx="360040" cy="108012"/>
            </a:xfrm>
            <a:prstGeom prst="lef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8" name="Left Arrow 7">
            <a:extLst>
              <a:ext uri="{FF2B5EF4-FFF2-40B4-BE49-F238E27FC236}">
                <a16:creationId xmlns:a16="http://schemas.microsoft.com/office/drawing/2014/main" id="{12D58E2B-E66D-17E8-6B5D-544DED17F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867402" y="3791427"/>
            <a:ext cx="360040" cy="108012"/>
          </a:xfrm>
          <a:prstGeom prst="lef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C2EBD40-33DB-BD22-287F-E3C1430ADD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6401209"/>
                  </p:ext>
                </p:extLst>
              </p:nvPr>
            </p:nvGraphicFramePr>
            <p:xfrm>
              <a:off x="1325563" y="2681605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Violated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 b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600" b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C2EBD40-33DB-BD22-287F-E3C1430ADD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6401209"/>
                  </p:ext>
                </p:extLst>
              </p:nvPr>
            </p:nvGraphicFramePr>
            <p:xfrm>
              <a:off x="1325563" y="2681605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Violated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1554" t="-221951" r="-113546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81818" t="-221951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1554" t="-321951" r="-113546" b="-2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81818" t="-321951" r="-85065" b="-2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1554" t="-411905" r="-113546" b="-14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81818" t="-411905" r="-85065" b="-14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1554" t="-524390" r="-113546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81818" t="-524390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8C208899-39A1-9835-B221-10C39ACD3840}"/>
              </a:ext>
            </a:extLst>
          </p:cNvPr>
          <p:cNvSpPr/>
          <p:nvPr/>
        </p:nvSpPr>
        <p:spPr>
          <a:xfrm>
            <a:off x="2039065" y="1268760"/>
            <a:ext cx="4051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tour size = </a:t>
            </a:r>
            <a:r>
              <a:rPr lang="en-GB" sz="2800" b="1" dirty="0"/>
              <a:t>3</a:t>
            </a:r>
            <a:r>
              <a:rPr lang="en-GB" sz="2800" dirty="0"/>
              <a:t>, first parent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8B1AC-7A55-387D-FF1A-9E111A6F04F9}"/>
              </a:ext>
            </a:extLst>
          </p:cNvPr>
          <p:cNvSpPr txBox="1"/>
          <p:nvPr/>
        </p:nvSpPr>
        <p:spPr>
          <a:xfrm>
            <a:off x="6090174" y="1830006"/>
            <a:ext cx="56083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Throw a random number between 1 and 4 (population size) for </a:t>
            </a:r>
            <a:r>
              <a:rPr lang="en-GB" sz="2800" b="1" dirty="0"/>
              <a:t>3</a:t>
            </a:r>
            <a:r>
              <a:rPr lang="en-GB" sz="2800" dirty="0"/>
              <a:t> times: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[3, 1, 2]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Tournament selection chooses 3 individuals: #1, #2 and #3 at random, then </a:t>
            </a:r>
            <a:r>
              <a:rPr lang="en-GB" sz="2800" u="sng" dirty="0"/>
              <a:t>individual#3</a:t>
            </a:r>
            <a:r>
              <a:rPr lang="en-GB" sz="2800" dirty="0"/>
              <a:t> with the fitness of 2 is returned as the first parent</a:t>
            </a:r>
          </a:p>
          <a:p>
            <a:pPr marL="0" indent="0">
              <a:buNone/>
            </a:pPr>
            <a:endParaRPr lang="en-GB" sz="28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1475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375A-4676-A04A-F3DE-1ABC4E07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563" y="0"/>
            <a:ext cx="10707941" cy="900000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 – MAX-SAT:   </a:t>
            </a:r>
            <a:r>
              <a:rPr lang="en-GB" altLang="en-US" dirty="0"/>
              <a:t>Tournament </a:t>
            </a:r>
            <a:r>
              <a:rPr lang="en-US" altLang="en-US" dirty="0"/>
              <a:t>S</a:t>
            </a:r>
            <a:r>
              <a:rPr lang="tr-TR" altLang="en-US" dirty="0" err="1"/>
              <a:t>election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E4B0B-9C73-CA70-C640-DC75CA8E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CF019-9E86-776F-F493-40A387620CB6}"/>
              </a:ext>
            </a:extLst>
          </p:cNvPr>
          <p:cNvSpPr/>
          <p:nvPr/>
        </p:nvSpPr>
        <p:spPr>
          <a:xfrm>
            <a:off x="2039064" y="1268760"/>
            <a:ext cx="4633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tour size = </a:t>
            </a:r>
            <a:r>
              <a:rPr lang="en-GB" sz="2800" b="1" dirty="0"/>
              <a:t>3</a:t>
            </a:r>
            <a:r>
              <a:rPr lang="en-GB" sz="2800" dirty="0"/>
              <a:t>, second parent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53A4DEC7-A9A1-B8C8-67D8-F318CB43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855058" y="3241446"/>
            <a:ext cx="360040" cy="97172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0E8C2F46-6A11-4D9E-A07A-01C3F7572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868671" y="3978555"/>
            <a:ext cx="360040" cy="97172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EC0E2EAB-7A0C-BBF7-A849-DD728365A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862208" y="3762531"/>
            <a:ext cx="360040" cy="97172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25709107-1D23-8D52-59D5-33FFB74DA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866402" y="3980638"/>
            <a:ext cx="360040" cy="97172"/>
          </a:xfrm>
          <a:prstGeom prst="lef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F98366D-2E61-8BB8-A76E-4435BD2E4A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472239"/>
                  </p:ext>
                </p:extLst>
              </p:nvPr>
            </p:nvGraphicFramePr>
            <p:xfrm>
              <a:off x="1319807" y="2673654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Violated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F98366D-2E61-8BB8-A76E-4435BD2E4A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472239"/>
                  </p:ext>
                </p:extLst>
              </p:nvPr>
            </p:nvGraphicFramePr>
            <p:xfrm>
              <a:off x="1319807" y="2673654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Violated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2"/>
                          <a:stretch>
                            <a:fillRect l="-11554" t="-219512" r="-113546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2"/>
                          <a:stretch>
                            <a:fillRect l="-181818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2"/>
                          <a:stretch>
                            <a:fillRect l="-11554" t="-311905" r="-113546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2"/>
                          <a:stretch>
                            <a:fillRect l="-181818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2"/>
                          <a:stretch>
                            <a:fillRect l="-11554" t="-421951" r="-113546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2"/>
                          <a:stretch>
                            <a:fillRect l="-181818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2"/>
                          <a:stretch>
                            <a:fillRect l="-11554" t="-521951" r="-113546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2"/>
                          <a:stretch>
                            <a:fillRect l="-181818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5625A7B-14DD-F891-2506-E967911E5A41}"/>
              </a:ext>
            </a:extLst>
          </p:cNvPr>
          <p:cNvSpPr txBox="1"/>
          <p:nvPr/>
        </p:nvSpPr>
        <p:spPr>
          <a:xfrm>
            <a:off x="5872480" y="2048982"/>
            <a:ext cx="589407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alpha val="10000"/>
                  </a:schemeClr>
                </a:solidFill>
              </a:rPr>
              <a:t>Throw a random number between 1 and 4 (population size) for </a:t>
            </a:r>
            <a:r>
              <a:rPr lang="en-GB" sz="2800" b="1" dirty="0">
                <a:solidFill>
                  <a:schemeClr val="tx1">
                    <a:alpha val="1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tx1">
                    <a:alpha val="10000"/>
                  </a:schemeClr>
                </a:solidFill>
              </a:rPr>
              <a:t> times: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alpha val="10000"/>
                  </a:schemeClr>
                </a:solidFill>
              </a:rPr>
              <a:t>[4, 1, 3]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1">
                  <a:alpha val="1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alpha val="10000"/>
                  </a:schemeClr>
                </a:solidFill>
              </a:rPr>
              <a:t>Tournament selection chooses 3 individuals: #1, #3 and #4 at random, then </a:t>
            </a:r>
            <a:r>
              <a:rPr lang="en-GB" sz="2800" u="sng" dirty="0">
                <a:solidFill>
                  <a:schemeClr val="tx1">
                    <a:alpha val="10000"/>
                  </a:schemeClr>
                </a:solidFill>
              </a:rPr>
              <a:t>individual#4</a:t>
            </a:r>
            <a:r>
              <a:rPr lang="en-GB" sz="2800" dirty="0">
                <a:solidFill>
                  <a:schemeClr val="tx1">
                    <a:alpha val="10000"/>
                  </a:schemeClr>
                </a:solidFill>
              </a:rPr>
              <a:t> with the fitness of 1 is returned as the second parent</a:t>
            </a:r>
          </a:p>
          <a:p>
            <a:endParaRPr lang="en-GB" sz="2000" dirty="0">
              <a:solidFill>
                <a:schemeClr val="tx1">
                  <a:alpha val="1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1881D6-ADBB-EF00-BBDD-3CEE25CF410F}"/>
              </a:ext>
            </a:extLst>
          </p:cNvPr>
          <p:cNvSpPr txBox="1"/>
          <p:nvPr/>
        </p:nvSpPr>
        <p:spPr>
          <a:xfrm>
            <a:off x="5878977" y="2048982"/>
            <a:ext cx="589407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Throw a random number between 1 and 4 (population size) for </a:t>
            </a:r>
            <a:r>
              <a:rPr lang="en-GB" sz="2800" b="1" dirty="0"/>
              <a:t>3</a:t>
            </a:r>
            <a:r>
              <a:rPr lang="en-GB" sz="2800" dirty="0"/>
              <a:t> times: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[4, 1, 3]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Tournament selection chooses 3 individuals: #1, #3 and #4 at random, then </a:t>
            </a:r>
            <a:r>
              <a:rPr lang="en-GB" sz="2800" u="sng" dirty="0"/>
              <a:t>individual#4</a:t>
            </a:r>
            <a:r>
              <a:rPr lang="en-GB" sz="2800" dirty="0"/>
              <a:t> with the fitness of 1 is returned as the second parent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3879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29DE-0D90-5830-04BE-366878FDF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1DEC-F39D-204A-F04F-E83B7D3E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C712B3-7BD0-F6C5-A58A-392B9889C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FB56DE-0A01-8A92-1E44-AB4615005886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4" y="1031818"/>
            <a:ext cx="10653366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ounded Rectangle 4" descr="Rectangular box highlighting fitness recombination stage where crossover is applied with a given probability to the selected parents in the pseudocode">
            <a:extLst>
              <a:ext uri="{FF2B5EF4-FFF2-40B4-BE49-F238E27FC236}">
                <a16:creationId xmlns:a16="http://schemas.microsoft.com/office/drawing/2014/main" id="{58BB91CC-377C-1E7D-6785-504B690D31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21257" y="3905787"/>
            <a:ext cx="4273550" cy="47143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17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8C3E-F2CD-1BF1-806E-9CF12A78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Recombination – Crossover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06CE8-999B-1C3B-4A5F-978BBE0A4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36F8EC-F31B-92AF-8204-3E22EDBC2E01}"/>
              </a:ext>
            </a:extLst>
          </p:cNvPr>
          <p:cNvSpPr txBox="1"/>
          <p:nvPr/>
        </p:nvSpPr>
        <p:spPr>
          <a:xfrm>
            <a:off x="473175" y="900000"/>
            <a:ext cx="10933430" cy="596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>
                    <a:alpha val="9180"/>
                  </a:schemeClr>
                </a:solidFill>
              </a:rPr>
              <a:t>Selected pairs/mates (</a:t>
            </a:r>
            <a:r>
              <a:rPr lang="en-AU" altLang="en-US" sz="2800" i="1" dirty="0">
                <a:solidFill>
                  <a:schemeClr val="tx1">
                    <a:alpha val="9180"/>
                  </a:schemeClr>
                </a:solidFill>
              </a:rPr>
              <a:t>parents</a:t>
            </a:r>
            <a:r>
              <a:rPr lang="en-AU" altLang="en-US" sz="2800" dirty="0">
                <a:solidFill>
                  <a:schemeClr val="tx1">
                    <a:alpha val="9180"/>
                  </a:schemeClr>
                </a:solidFill>
              </a:rPr>
              <a:t>) are recombined to form new individuals (candidate solutions/children/offspring) – exchange of genetic material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AU" altLang="en-US" sz="2800" dirty="0">
              <a:solidFill>
                <a:schemeClr val="tx1">
                  <a:alpha val="9180"/>
                </a:schemeClr>
              </a:solidFill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>
                    <a:alpha val="9180"/>
                  </a:schemeClr>
                </a:solidFill>
              </a:rPr>
              <a:t>Crossover is applied with a </a:t>
            </a:r>
            <a:r>
              <a:rPr lang="en-AU" altLang="en-US" sz="2800" b="1" dirty="0">
                <a:solidFill>
                  <a:schemeClr val="tx1">
                    <a:alpha val="9180"/>
                  </a:schemeClr>
                </a:solidFill>
              </a:rPr>
              <a:t>crossover probability</a:t>
            </a:r>
            <a:r>
              <a:rPr lang="en-AU" altLang="en-US" sz="2800" dirty="0">
                <a:solidFill>
                  <a:schemeClr val="tx1">
                    <a:alpha val="9180"/>
                  </a:schemeClr>
                </a:solidFill>
              </a:rPr>
              <a:t> </a:t>
            </a:r>
            <a:r>
              <a:rPr lang="en-AU" altLang="en-US" sz="2800" i="1" dirty="0">
                <a:solidFill>
                  <a:schemeClr val="tx1">
                    <a:alpha val="9180"/>
                  </a:schemeClr>
                </a:solidFill>
              </a:rPr>
              <a:t>p</a:t>
            </a:r>
            <a:r>
              <a:rPr lang="en-AU" altLang="en-US" sz="2800" i="1" baseline="-25000" dirty="0">
                <a:solidFill>
                  <a:schemeClr val="tx1">
                    <a:alpha val="9180"/>
                  </a:schemeClr>
                </a:solidFill>
              </a:rPr>
              <a:t>c</a:t>
            </a:r>
            <a:r>
              <a:rPr lang="en-AU" altLang="en-US" sz="2800" dirty="0">
                <a:solidFill>
                  <a:schemeClr val="tx1">
                    <a:alpha val="9180"/>
                  </a:schemeClr>
                </a:solidFill>
              </a:rPr>
              <a:t> which in general is chosen close to 1.0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AU" altLang="en-US" sz="2800" dirty="0">
              <a:solidFill>
                <a:schemeClr val="tx1">
                  <a:alpha val="9180"/>
                </a:schemeClr>
              </a:solidFill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b="1" dirty="0">
                <a:solidFill>
                  <a:schemeClr val="tx1">
                    <a:alpha val="9180"/>
                  </a:schemeClr>
                </a:solidFill>
              </a:rPr>
              <a:t>One Point Crossover (1PTX)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>
                    <a:alpha val="9180"/>
                  </a:schemeClr>
                </a:solidFill>
              </a:rPr>
              <a:t>Generate a random number in [0,1), if it is smaller than a </a:t>
            </a:r>
            <a:r>
              <a:rPr lang="en-AU" altLang="en-US" sz="2800" b="1" dirty="0">
                <a:solidFill>
                  <a:schemeClr val="tx1">
                    <a:alpha val="9180"/>
                  </a:schemeClr>
                </a:solidFill>
              </a:rPr>
              <a:t>crossover probability</a:t>
            </a:r>
            <a:r>
              <a:rPr lang="en-AU" altLang="en-US" sz="2800" dirty="0">
                <a:solidFill>
                  <a:schemeClr val="tx1">
                    <a:alpha val="9180"/>
                  </a:schemeClr>
                </a:solidFill>
              </a:rPr>
              <a:t> </a:t>
            </a:r>
            <a:r>
              <a:rPr lang="en-AU" altLang="en-US" sz="2800" i="1" dirty="0">
                <a:solidFill>
                  <a:schemeClr val="tx1">
                    <a:alpha val="9180"/>
                  </a:schemeClr>
                </a:solidFill>
              </a:rPr>
              <a:t>p</a:t>
            </a:r>
            <a:r>
              <a:rPr lang="en-AU" altLang="en-US" sz="2800" i="1" baseline="-25000" dirty="0">
                <a:solidFill>
                  <a:schemeClr val="tx1">
                    <a:alpha val="9180"/>
                  </a:schemeClr>
                </a:solidFill>
              </a:rPr>
              <a:t>c</a:t>
            </a:r>
            <a:r>
              <a:rPr lang="en-AU" altLang="en-US" sz="2800" dirty="0">
                <a:solidFill>
                  <a:schemeClr val="tx1">
                    <a:alpha val="9180"/>
                  </a:schemeClr>
                </a:solidFill>
              </a:rPr>
              <a:t> Then </a:t>
            </a:r>
          </a:p>
          <a:p>
            <a:pPr marL="1371600" lvl="2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dirty="0">
                <a:solidFill>
                  <a:schemeClr val="tx1">
                    <a:alpha val="9180"/>
                  </a:schemeClr>
                </a:solidFill>
              </a:rPr>
              <a:t>Select a random crossover site in [1,choromosome length]</a:t>
            </a:r>
          </a:p>
          <a:p>
            <a:pPr marL="1371600" lvl="2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dirty="0">
                <a:solidFill>
                  <a:schemeClr val="tx1">
                    <a:alpha val="9180"/>
                  </a:schemeClr>
                </a:solidFill>
              </a:rPr>
              <a:t>Split individuals at the selected site</a:t>
            </a:r>
          </a:p>
          <a:p>
            <a:pPr marL="1371600" lvl="2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dirty="0">
                <a:solidFill>
                  <a:schemeClr val="tx1">
                    <a:alpha val="9180"/>
                  </a:schemeClr>
                </a:solidFill>
              </a:rPr>
              <a:t>Exchange segments between pairs to form two new individuals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chemeClr val="tx1">
                    <a:alpha val="9180"/>
                  </a:schemeClr>
                </a:solidFill>
              </a:rPr>
              <a:t>Else</a:t>
            </a:r>
          </a:p>
          <a:p>
            <a:pPr marL="1257300" lvl="2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dirty="0">
                <a:solidFill>
                  <a:schemeClr val="tx1">
                    <a:alpha val="9180"/>
                  </a:schemeClr>
                </a:solidFill>
              </a:rPr>
              <a:t>Copy the individuals as new individuals</a:t>
            </a:r>
          </a:p>
          <a:p>
            <a:endParaRPr lang="en-GB" dirty="0">
              <a:solidFill>
                <a:schemeClr val="tx1">
                  <a:alpha val="918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38377-70A2-FEDA-528A-84AE2CC9660B}"/>
              </a:ext>
            </a:extLst>
          </p:cNvPr>
          <p:cNvSpPr txBox="1"/>
          <p:nvPr/>
        </p:nvSpPr>
        <p:spPr>
          <a:xfrm>
            <a:off x="473175" y="900000"/>
            <a:ext cx="10933430" cy="596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dirty="0"/>
              <a:t>Selected pairs/mates (</a:t>
            </a:r>
            <a:r>
              <a:rPr lang="en-AU" altLang="en-US" sz="2800" i="1" dirty="0"/>
              <a:t>parents</a:t>
            </a:r>
            <a:r>
              <a:rPr lang="en-AU" altLang="en-US" sz="2800" dirty="0"/>
              <a:t>) are recombined to form new individuals (candidate solutions/children/offspring) – exchange of genetic material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AU" altLang="en-US" sz="2800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dirty="0"/>
              <a:t>Crossover is applied with a </a:t>
            </a:r>
            <a:r>
              <a:rPr lang="en-AU" altLang="en-US" sz="2800" b="1" dirty="0"/>
              <a:t>crossover probability</a:t>
            </a:r>
            <a:r>
              <a:rPr lang="en-AU" altLang="en-US" sz="2800" dirty="0"/>
              <a:t> </a:t>
            </a:r>
            <a:r>
              <a:rPr lang="en-AU" altLang="en-US" sz="2800" i="1" dirty="0"/>
              <a:t>p</a:t>
            </a:r>
            <a:r>
              <a:rPr lang="en-AU" altLang="en-US" sz="2800" i="1" baseline="-25000" dirty="0"/>
              <a:t>c</a:t>
            </a:r>
            <a:r>
              <a:rPr lang="en-AU" altLang="en-US" sz="2800" dirty="0"/>
              <a:t> which in general is chosen close to 1.0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AU" altLang="en-US" sz="2800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b="1" dirty="0"/>
              <a:t>One Point Crossover (1PTX)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dirty="0"/>
              <a:t>Generate a random number in [0,1), if it is smaller than a </a:t>
            </a:r>
            <a:r>
              <a:rPr lang="en-AU" altLang="en-US" sz="2800" b="1" dirty="0"/>
              <a:t>crossover probability</a:t>
            </a:r>
            <a:r>
              <a:rPr lang="en-AU" altLang="en-US" sz="2800" dirty="0"/>
              <a:t> </a:t>
            </a:r>
            <a:r>
              <a:rPr lang="en-AU" altLang="en-US" sz="2800" i="1" dirty="0"/>
              <a:t>p</a:t>
            </a:r>
            <a:r>
              <a:rPr lang="en-AU" altLang="en-US" sz="2800" i="1" baseline="-25000" dirty="0"/>
              <a:t>c</a:t>
            </a:r>
            <a:r>
              <a:rPr lang="en-AU" altLang="en-US" sz="2800" dirty="0"/>
              <a:t> Then </a:t>
            </a:r>
          </a:p>
          <a:p>
            <a:pPr marL="1371600" lvl="2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dirty="0"/>
              <a:t>Select a random crossover site in [1,choromosome length]</a:t>
            </a:r>
          </a:p>
          <a:p>
            <a:pPr marL="1371600" lvl="2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dirty="0"/>
              <a:t>Split individuals at the selected site</a:t>
            </a:r>
          </a:p>
          <a:p>
            <a:pPr marL="1371600" lvl="2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dirty="0"/>
              <a:t>Exchange segments between pairs to form two new individuals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800" dirty="0"/>
              <a:t>Else</a:t>
            </a:r>
          </a:p>
          <a:p>
            <a:pPr marL="1257300" lvl="2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dirty="0"/>
              <a:t>Copy the individuals as new individuals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94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DDAD-D971-04A0-F788-B8443771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Example – </a:t>
            </a:r>
            <a:r>
              <a:rPr lang="en-GB" dirty="0"/>
              <a:t>MAX-SAT: </a:t>
            </a:r>
            <a:r>
              <a:rPr lang="en-US" altLang="en-US" dirty="0"/>
              <a:t>1PTX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593E16-454D-464A-EB88-9A499C572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CD08142-6287-6799-5A20-9BE79527F4D1}"/>
                  </a:ext>
                </a:extLst>
              </p:cNvPr>
              <p:cNvSpPr/>
              <p:nvPr/>
            </p:nvSpPr>
            <p:spPr>
              <a:xfrm>
                <a:off x="2449860" y="1456659"/>
                <a:ext cx="66064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i="1" dirty="0">
                    <a:latin typeface="Cambria Math" panose="02040503050406030204" pitchFamily="18" charset="0"/>
                  </a:rPr>
                  <a:t>          </a:t>
                </a:r>
                <a:r>
                  <a:rPr lang="en-GB" dirty="0">
                    <a:latin typeface="Cambria Math" panose="02040503050406030204" pitchFamily="18" charset="0"/>
                  </a:rPr>
                  <a:t>0                   1                 2                    3                  4                 5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CD08142-6287-6799-5A20-9BE79527F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860" y="1456659"/>
                <a:ext cx="6606480" cy="646331"/>
              </a:xfrm>
              <a:prstGeom prst="rect">
                <a:avLst/>
              </a:prstGeom>
              <a:blipFill>
                <a:blip r:embed="rId2"/>
                <a:stretch>
                  <a:fillRect t="-3846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ine 61">
            <a:extLst>
              <a:ext uri="{FF2B5EF4-FFF2-40B4-BE49-F238E27FC236}">
                <a16:creationId xmlns:a16="http://schemas.microsoft.com/office/drawing/2014/main" id="{3E6F0428-3ED3-8A86-D28F-A21BEE728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3" y="2953643"/>
            <a:ext cx="0" cy="20875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" name="Line 65">
            <a:extLst>
              <a:ext uri="{FF2B5EF4-FFF2-40B4-BE49-F238E27FC236}">
                <a16:creationId xmlns:a16="http://schemas.microsoft.com/office/drawing/2014/main" id="{760F4442-EB3D-E77A-C39A-C2711D87D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8070" y="3888432"/>
            <a:ext cx="1813830" cy="8542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" name="Line 66">
            <a:extLst>
              <a:ext uri="{FF2B5EF4-FFF2-40B4-BE49-F238E27FC236}">
                <a16:creationId xmlns:a16="http://schemas.microsoft.com/office/drawing/2014/main" id="{210CA419-132C-A926-A7FE-7B6E64187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4498071" y="4033094"/>
            <a:ext cx="1813905" cy="5760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" name="Line 67">
            <a:extLst>
              <a:ext uri="{FF2B5EF4-FFF2-40B4-BE49-F238E27FC236}">
                <a16:creationId xmlns:a16="http://schemas.microsoft.com/office/drawing/2014/main" id="{64668CAA-691D-E939-5A0B-4E0D9945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7713" y="2952378"/>
            <a:ext cx="1655762" cy="215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Text Box 69">
            <a:extLst>
              <a:ext uri="{FF2B5EF4-FFF2-40B4-BE49-F238E27FC236}">
                <a16:creationId xmlns:a16="http://schemas.microsoft.com/office/drawing/2014/main" id="{B95CD914-1493-BBA3-D81F-33207AE32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6" y="2520579"/>
            <a:ext cx="324075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 dirty="0"/>
              <a:t>Randomly determined crossover point</a:t>
            </a:r>
            <a:endParaRPr lang="tr-TR" altLang="en-US" sz="2400" b="0" dirty="0"/>
          </a:p>
        </p:txBody>
      </p:sp>
      <p:sp>
        <p:nvSpPr>
          <p:cNvPr id="11" name="Text Box 69">
            <a:extLst>
              <a:ext uri="{FF2B5EF4-FFF2-40B4-BE49-F238E27FC236}">
                <a16:creationId xmlns:a16="http://schemas.microsoft.com/office/drawing/2014/main" id="{F536CBE6-F3A6-02A1-B00C-51905D491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8768" y="3573017"/>
            <a:ext cx="233912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="0" dirty="0"/>
              <a:t>2. Exchange the genetic material</a:t>
            </a:r>
            <a:endParaRPr lang="tr-TR" altLang="en-US" sz="28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65B9118-5E6F-E6B4-949D-1E7C000B41F5}"/>
                  </a:ext>
                </a:extLst>
              </p:cNvPr>
              <p:cNvSpPr/>
              <p:nvPr/>
            </p:nvSpPr>
            <p:spPr>
              <a:xfrm>
                <a:off x="2495601" y="3601555"/>
                <a:ext cx="200247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 fontAlgn="b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001100</m:t>
                      </m:r>
                    </m:oMath>
                  </m:oMathPara>
                </a14:m>
                <a:endParaRPr lang="en-GB" sz="32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65B9118-5E6F-E6B4-949D-1E7C000B41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1" y="3601555"/>
                <a:ext cx="2002471" cy="707886"/>
              </a:xfrm>
              <a:prstGeom prst="rect">
                <a:avLst/>
              </a:prstGeom>
              <a:blipFill>
                <a:blip r:embed="rId4"/>
                <a:stretch>
                  <a:fillRect r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C2D178C-7231-C6E4-BFE4-855041E44ED1}"/>
                  </a:ext>
                </a:extLst>
              </p:cNvPr>
              <p:cNvSpPr/>
              <p:nvPr/>
            </p:nvSpPr>
            <p:spPr>
              <a:xfrm>
                <a:off x="2495600" y="4377298"/>
                <a:ext cx="200247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 fontAlgn="b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10111</m:t>
                      </m:r>
                      <m:r>
                        <a:rPr lang="en-GB" sz="4000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C2D178C-7231-C6E4-BFE4-855041E44E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4377298"/>
                <a:ext cx="2002471" cy="707886"/>
              </a:xfrm>
              <a:prstGeom prst="rect">
                <a:avLst/>
              </a:prstGeom>
              <a:blipFill>
                <a:blip r:embed="rId5"/>
                <a:stretch>
                  <a:fillRect r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D3C7D02-AA0D-A3FB-E9F1-F3E3FA5A8C54}"/>
                  </a:ext>
                </a:extLst>
              </p:cNvPr>
              <p:cNvSpPr/>
              <p:nvPr/>
            </p:nvSpPr>
            <p:spPr>
              <a:xfrm>
                <a:off x="6409532" y="3601555"/>
                <a:ext cx="200247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 fontAlgn="b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4000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4000" i="1">
                          <a:latin typeface="Cambria Math" panose="02040503050406030204" pitchFamily="18" charset="0"/>
                        </a:rPr>
                        <m:t>1100</m:t>
                      </m:r>
                    </m:oMath>
                  </m:oMathPara>
                </a14:m>
                <a:endParaRPr lang="en-GB" sz="320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D3C7D02-AA0D-A3FB-E9F1-F3E3FA5A8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532" y="3601555"/>
                <a:ext cx="2002471" cy="707886"/>
              </a:xfrm>
              <a:prstGeom prst="rect">
                <a:avLst/>
              </a:prstGeom>
              <a:blipFill>
                <a:blip r:embed="rId6"/>
                <a:stretch>
                  <a:fillRect r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594F1AD-C495-DEB1-A07F-360D63F229B8}"/>
                  </a:ext>
                </a:extLst>
              </p:cNvPr>
              <p:cNvSpPr/>
              <p:nvPr/>
            </p:nvSpPr>
            <p:spPr>
              <a:xfrm>
                <a:off x="6409457" y="4309441"/>
                <a:ext cx="200247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 fontAlgn="b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400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111</m:t>
                      </m:r>
                      <m:r>
                        <a:rPr lang="en-GB" sz="4000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594F1AD-C495-DEB1-A07F-360D63F229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457" y="4309441"/>
                <a:ext cx="2002471" cy="707886"/>
              </a:xfrm>
              <a:prstGeom prst="rect">
                <a:avLst/>
              </a:prstGeom>
              <a:blipFill>
                <a:blip r:embed="rId7"/>
                <a:stretch>
                  <a:fillRect r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2A3539F1-35CD-2A35-EA6E-53E3112B8CB1}"/>
              </a:ext>
            </a:extLst>
          </p:cNvPr>
          <p:cNvSpPr/>
          <p:nvPr/>
        </p:nvSpPr>
        <p:spPr>
          <a:xfrm>
            <a:off x="2567608" y="5215631"/>
            <a:ext cx="36724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/>
              <a:t>Select the crossover site by throwing a random number in…?</a:t>
            </a:r>
            <a:endParaRPr lang="tr-TR" alt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88151-A36D-876C-2733-B44F1F733624}"/>
              </a:ext>
            </a:extLst>
          </p:cNvPr>
          <p:cNvSpPr txBox="1"/>
          <p:nvPr/>
        </p:nvSpPr>
        <p:spPr>
          <a:xfrm>
            <a:off x="2711624" y="2167081"/>
            <a:ext cx="1878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Random number: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07155D-3EBB-4459-6155-0F244C1568FE}"/>
              </a:ext>
            </a:extLst>
          </p:cNvPr>
          <p:cNvSpPr/>
          <p:nvPr/>
        </p:nvSpPr>
        <p:spPr>
          <a:xfrm>
            <a:off x="5879977" y="5207991"/>
            <a:ext cx="33993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en-US" dirty="0"/>
              <a:t>new solutions/children/offspring</a:t>
            </a:r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FF4C92-67C4-FE51-A543-2DD5DB231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15" idx="2"/>
          </p:cNvCxnSpPr>
          <p:nvPr/>
        </p:nvCxnSpPr>
        <p:spPr>
          <a:xfrm flipV="1">
            <a:off x="7410692" y="5017327"/>
            <a:ext cx="1" cy="249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23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4" grpId="0"/>
      <p:bldP spid="15" grpId="0"/>
      <p:bldP spid="16" grpId="0" build="p"/>
      <p:bldP spid="17" grpId="0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B06C-FDEF-BF03-62BD-56BA2258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Crossover Operators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98C0F-66FC-DDE6-F10C-EC0F81208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221FF-728A-EA8E-7BB1-5622F621EDF3}"/>
              </a:ext>
            </a:extLst>
          </p:cNvPr>
          <p:cNvSpPr txBox="1"/>
          <p:nvPr/>
        </p:nvSpPr>
        <p:spPr>
          <a:xfrm>
            <a:off x="602775" y="1433614"/>
            <a:ext cx="105717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2 Point Crossover (2PTX)</a:t>
            </a:r>
            <a:br>
              <a:rPr lang="en-GB" sz="2400" dirty="0"/>
            </a:br>
            <a:r>
              <a:rPr lang="en-GB" sz="2400" dirty="0"/>
              <a:t>K-point Crossover</a:t>
            </a:r>
            <a:br>
              <a:rPr lang="en-GB" sz="2400" dirty="0"/>
            </a:br>
            <a:r>
              <a:rPr lang="en-GB" sz="2400" dirty="0"/>
              <a:t>Uniform Crossover (UX)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uniform crossover considers each bit in the parent strings for exchange with a probability of 0.5. </a:t>
            </a:r>
          </a:p>
          <a:p>
            <a:endParaRPr lang="en-GB" sz="2400" dirty="0"/>
          </a:p>
        </p:txBody>
      </p:sp>
      <p:pic>
        <p:nvPicPr>
          <p:cNvPr id="5" name="Picture 2" descr="Illustration of Two Point Crossover with one parent highlighted in red while the other parent in navy and the resultant children after two point crossover, one child having red-navy-red pattern while the other one having navy-red-navy pattern">
            <a:extLst>
              <a:ext uri="{FF2B5EF4-FFF2-40B4-BE49-F238E27FC236}">
                <a16:creationId xmlns:a16="http://schemas.microsoft.com/office/drawing/2014/main" id="{D5F7D5BA-DDED-EB85-926E-2CB3C9691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241" y="1127925"/>
            <a:ext cx="3669968" cy="162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37" descr="a binary encoded solution 001011">
            <a:extLst>
              <a:ext uri="{FF2B5EF4-FFF2-40B4-BE49-F238E27FC236}">
                <a16:creationId xmlns:a16="http://schemas.microsoft.com/office/drawing/2014/main" id="{C0F3BBF5-19C9-61C4-8D4E-604B3EE05401}"/>
              </a:ext>
            </a:extLst>
          </p:cNvPr>
          <p:cNvGrpSpPr>
            <a:grpSpLocks/>
          </p:cNvGrpSpPr>
          <p:nvPr/>
        </p:nvGrpSpPr>
        <p:grpSpPr bwMode="auto">
          <a:xfrm>
            <a:off x="2621568" y="3868733"/>
            <a:ext cx="2286000" cy="469900"/>
            <a:chOff x="144" y="912"/>
            <a:chExt cx="1440" cy="296"/>
          </a:xfrm>
        </p:grpSpPr>
        <p:sp>
          <p:nvSpPr>
            <p:cNvPr id="7" name="Text Box 38">
              <a:extLst>
                <a:ext uri="{FF2B5EF4-FFF2-40B4-BE49-F238E27FC236}">
                  <a16:creationId xmlns:a16="http://schemas.microsoft.com/office/drawing/2014/main" id="{D2B3B691-913D-1633-C0AD-4218647EC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912"/>
              <a:ext cx="288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8" name="Text Box 39">
              <a:extLst>
                <a:ext uri="{FF2B5EF4-FFF2-40B4-BE49-F238E27FC236}">
                  <a16:creationId xmlns:a16="http://schemas.microsoft.com/office/drawing/2014/main" id="{6725EA9C-2F2D-06A7-DDC0-58B71E05C4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912"/>
              <a:ext cx="288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9" name="Text Box 40">
              <a:extLst>
                <a:ext uri="{FF2B5EF4-FFF2-40B4-BE49-F238E27FC236}">
                  <a16:creationId xmlns:a16="http://schemas.microsoft.com/office/drawing/2014/main" id="{2568553A-4A36-BEEA-7B8D-46C275F4B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912"/>
              <a:ext cx="288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 dirty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0" name="Text Box 41">
              <a:extLst>
                <a:ext uri="{FF2B5EF4-FFF2-40B4-BE49-F238E27FC236}">
                  <a16:creationId xmlns:a16="http://schemas.microsoft.com/office/drawing/2014/main" id="{369F02D3-0BFC-CCAE-A331-C50998712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912"/>
              <a:ext cx="288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1" name="Text Box 42">
              <a:extLst>
                <a:ext uri="{FF2B5EF4-FFF2-40B4-BE49-F238E27FC236}">
                  <a16:creationId xmlns:a16="http://schemas.microsoft.com/office/drawing/2014/main" id="{7E8832D7-2E3A-67EA-D3B6-31129E3E2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912"/>
              <a:ext cx="288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 dirty="0"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12" name="Group 49" descr="a binary encoded solution: 111000">
            <a:extLst>
              <a:ext uri="{FF2B5EF4-FFF2-40B4-BE49-F238E27FC236}">
                <a16:creationId xmlns:a16="http://schemas.microsoft.com/office/drawing/2014/main" id="{1AC3C1CA-6A94-5AE9-72D1-E263533F59D3}"/>
              </a:ext>
            </a:extLst>
          </p:cNvPr>
          <p:cNvGrpSpPr>
            <a:grpSpLocks/>
          </p:cNvGrpSpPr>
          <p:nvPr/>
        </p:nvGrpSpPr>
        <p:grpSpPr bwMode="auto">
          <a:xfrm>
            <a:off x="2626377" y="4989327"/>
            <a:ext cx="2286000" cy="469900"/>
            <a:chOff x="768" y="864"/>
            <a:chExt cx="1440" cy="296"/>
          </a:xfrm>
          <a:solidFill>
            <a:schemeClr val="accent1"/>
          </a:solidFill>
        </p:grpSpPr>
        <p:sp>
          <p:nvSpPr>
            <p:cNvPr id="13" name="Text Box 50">
              <a:extLst>
                <a:ext uri="{FF2B5EF4-FFF2-40B4-BE49-F238E27FC236}">
                  <a16:creationId xmlns:a16="http://schemas.microsoft.com/office/drawing/2014/main" id="{2E81403C-9312-A876-1DB5-8E07EF1C27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864"/>
              <a:ext cx="288" cy="296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4" name="Text Box 51">
              <a:extLst>
                <a:ext uri="{FF2B5EF4-FFF2-40B4-BE49-F238E27FC236}">
                  <a16:creationId xmlns:a16="http://schemas.microsoft.com/office/drawing/2014/main" id="{71E9F4F4-A5CB-8A9B-78E6-783BB580E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864"/>
              <a:ext cx="288" cy="296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 dirty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5" name="Text Box 52">
              <a:extLst>
                <a:ext uri="{FF2B5EF4-FFF2-40B4-BE49-F238E27FC236}">
                  <a16:creationId xmlns:a16="http://schemas.microsoft.com/office/drawing/2014/main" id="{91F91A4C-713C-2F07-5AF7-B87E83C17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864"/>
              <a:ext cx="288" cy="296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6" name="Text Box 53">
              <a:extLst>
                <a:ext uri="{FF2B5EF4-FFF2-40B4-BE49-F238E27FC236}">
                  <a16:creationId xmlns:a16="http://schemas.microsoft.com/office/drawing/2014/main" id="{8327A97D-55C1-429A-F352-339401718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864"/>
              <a:ext cx="288" cy="296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7" name="Text Box 54">
              <a:extLst>
                <a:ext uri="{FF2B5EF4-FFF2-40B4-BE49-F238E27FC236}">
                  <a16:creationId xmlns:a16="http://schemas.microsoft.com/office/drawing/2014/main" id="{CCA85312-9325-367B-937E-E012C8D90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864"/>
              <a:ext cx="288" cy="296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 dirty="0">
                  <a:latin typeface="Times New Roman" pitchFamily="18" charset="0"/>
                </a:rPr>
                <a:t>0</a:t>
              </a:r>
            </a:p>
          </p:txBody>
        </p:sp>
      </p:grpSp>
      <p:sp>
        <p:nvSpPr>
          <p:cNvPr id="18" name="Text Box 38">
            <a:extLst>
              <a:ext uri="{FF2B5EF4-FFF2-40B4-BE49-F238E27FC236}">
                <a16:creationId xmlns:a16="http://schemas.microsoft.com/office/drawing/2014/main" id="{E32FE845-D519-340C-0E46-0F696375D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8256" y="3947059"/>
            <a:ext cx="4572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>
                <a:latin typeface="Times New Roman" pitchFamily="18" charset="0"/>
              </a:rPr>
              <a:t>0</a:t>
            </a:r>
          </a:p>
        </p:txBody>
      </p:sp>
      <p:sp>
        <p:nvSpPr>
          <p:cNvPr id="19" name="Text Box 39">
            <a:extLst>
              <a:ext uri="{FF2B5EF4-FFF2-40B4-BE49-F238E27FC236}">
                <a16:creationId xmlns:a16="http://schemas.microsoft.com/office/drawing/2014/main" id="{616D5C2D-7762-496A-300A-6BFB67AF0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456" y="3947059"/>
            <a:ext cx="4572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1</a:t>
            </a:r>
          </a:p>
        </p:txBody>
      </p:sp>
      <p:sp>
        <p:nvSpPr>
          <p:cNvPr id="20" name="Text Box 40">
            <a:extLst>
              <a:ext uri="{FF2B5EF4-FFF2-40B4-BE49-F238E27FC236}">
                <a16:creationId xmlns:a16="http://schemas.microsoft.com/office/drawing/2014/main" id="{00F22DBF-26C0-B22F-345E-4E7708E96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2656" y="3947059"/>
            <a:ext cx="4572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1</a:t>
            </a: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23F92BB1-0BB2-601C-3431-C5AC3D4A7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856" y="3947059"/>
            <a:ext cx="4572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0</a:t>
            </a:r>
          </a:p>
        </p:txBody>
      </p:sp>
      <p:sp>
        <p:nvSpPr>
          <p:cNvPr id="22" name="Text Box 42">
            <a:extLst>
              <a:ext uri="{FF2B5EF4-FFF2-40B4-BE49-F238E27FC236}">
                <a16:creationId xmlns:a16="http://schemas.microsoft.com/office/drawing/2014/main" id="{A1E5F47D-AF02-62B1-205E-223EBF67D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7056" y="3947059"/>
            <a:ext cx="4572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0</a:t>
            </a:r>
          </a:p>
        </p:txBody>
      </p:sp>
      <p:sp>
        <p:nvSpPr>
          <p:cNvPr id="23" name="Text Box 50">
            <a:extLst>
              <a:ext uri="{FF2B5EF4-FFF2-40B4-BE49-F238E27FC236}">
                <a16:creationId xmlns:a16="http://schemas.microsoft.com/office/drawing/2014/main" id="{95213885-31FE-1641-5A14-8049EEA4B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8256" y="4955171"/>
            <a:ext cx="4572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1</a:t>
            </a:r>
          </a:p>
        </p:txBody>
      </p:sp>
      <p:sp>
        <p:nvSpPr>
          <p:cNvPr id="24" name="Text Box 51">
            <a:extLst>
              <a:ext uri="{FF2B5EF4-FFF2-40B4-BE49-F238E27FC236}">
                <a16:creationId xmlns:a16="http://schemas.microsoft.com/office/drawing/2014/main" id="{9D930F4D-48D4-E190-E36F-D2842F5A4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456" y="4955171"/>
            <a:ext cx="4572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0</a:t>
            </a:r>
          </a:p>
        </p:txBody>
      </p:sp>
      <p:sp>
        <p:nvSpPr>
          <p:cNvPr id="25" name="Text Box 52">
            <a:extLst>
              <a:ext uri="{FF2B5EF4-FFF2-40B4-BE49-F238E27FC236}">
                <a16:creationId xmlns:a16="http://schemas.microsoft.com/office/drawing/2014/main" id="{1C0BE765-13F0-F0BD-F02A-D010EABFC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2656" y="4955171"/>
            <a:ext cx="4572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>
                <a:latin typeface="Times New Roman" pitchFamily="18" charset="0"/>
              </a:rPr>
              <a:t>1</a:t>
            </a:r>
          </a:p>
        </p:txBody>
      </p:sp>
      <p:sp>
        <p:nvSpPr>
          <p:cNvPr id="26" name="Text Box 53">
            <a:extLst>
              <a:ext uri="{FF2B5EF4-FFF2-40B4-BE49-F238E27FC236}">
                <a16:creationId xmlns:a16="http://schemas.microsoft.com/office/drawing/2014/main" id="{8747B4C5-08AA-AAA3-ECE4-95FF0EB6E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856" y="4955171"/>
            <a:ext cx="4572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>
                <a:latin typeface="Times New Roman" pitchFamily="18" charset="0"/>
              </a:rPr>
              <a:t>0</a:t>
            </a:r>
          </a:p>
        </p:txBody>
      </p:sp>
      <p:sp>
        <p:nvSpPr>
          <p:cNvPr id="27" name="Text Box 54">
            <a:extLst>
              <a:ext uri="{FF2B5EF4-FFF2-40B4-BE49-F238E27FC236}">
                <a16:creationId xmlns:a16="http://schemas.microsoft.com/office/drawing/2014/main" id="{FACC6195-FD3C-DE67-E67A-8C8621679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7056" y="4955171"/>
            <a:ext cx="457200" cy="46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1</a:t>
            </a:r>
          </a:p>
        </p:txBody>
      </p:sp>
      <p:grpSp>
        <p:nvGrpSpPr>
          <p:cNvPr id="28" name="Group 27" descr="a sequence of random numbers: 0.23, 0.76, 0.15, 0.34, 0.91, 0.48">
            <a:extLst>
              <a:ext uri="{FF2B5EF4-FFF2-40B4-BE49-F238E27FC236}">
                <a16:creationId xmlns:a16="http://schemas.microsoft.com/office/drawing/2014/main" id="{87EB31D5-7990-12C7-0BFF-5C63F1B4959C}"/>
              </a:ext>
            </a:extLst>
          </p:cNvPr>
          <p:cNvGrpSpPr/>
          <p:nvPr/>
        </p:nvGrpSpPr>
        <p:grpSpPr>
          <a:xfrm>
            <a:off x="1541448" y="4338633"/>
            <a:ext cx="4104456" cy="688547"/>
            <a:chOff x="539552" y="4756677"/>
            <a:chExt cx="4104456" cy="68854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3784CE7-AF88-DE0C-12B9-3AEB32825BBB}"/>
                </a:ext>
              </a:extLst>
            </p:cNvPr>
            <p:cNvSpPr txBox="1"/>
            <p:nvPr/>
          </p:nvSpPr>
          <p:spPr>
            <a:xfrm>
              <a:off x="539552" y="4798893"/>
              <a:ext cx="17281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Random Number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CD24CD7-58F0-D0DC-FEF7-3F519E69ECB1}"/>
                </a:ext>
              </a:extLst>
            </p:cNvPr>
            <p:cNvCxnSpPr>
              <a:stCxn id="7" idx="2"/>
              <a:endCxn id="13" idx="0"/>
            </p:cNvCxnSpPr>
            <p:nvPr/>
          </p:nvCxnSpPr>
          <p:spPr bwMode="auto">
            <a:xfrm>
              <a:off x="1848272" y="4756677"/>
              <a:ext cx="4809" cy="6506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F6338FB-4A13-FD96-0011-835FAACCDD42}"/>
                </a:ext>
              </a:extLst>
            </p:cNvPr>
            <p:cNvCxnSpPr>
              <a:stCxn id="8" idx="2"/>
              <a:endCxn id="14" idx="0"/>
            </p:cNvCxnSpPr>
            <p:nvPr/>
          </p:nvCxnSpPr>
          <p:spPr bwMode="auto">
            <a:xfrm>
              <a:off x="2305472" y="4756677"/>
              <a:ext cx="4809" cy="6506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D0CB274-C841-D698-812A-4E0C3EBA146E}"/>
                </a:ext>
              </a:extLst>
            </p:cNvPr>
            <p:cNvCxnSpPr>
              <a:stCxn id="9" idx="2"/>
              <a:endCxn id="15" idx="0"/>
            </p:cNvCxnSpPr>
            <p:nvPr/>
          </p:nvCxnSpPr>
          <p:spPr bwMode="auto">
            <a:xfrm>
              <a:off x="2762672" y="4756677"/>
              <a:ext cx="4809" cy="6506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DA99D9F-7D8F-6A1E-C8FC-C7D836A2E3E0}"/>
                </a:ext>
              </a:extLst>
            </p:cNvPr>
            <p:cNvCxnSpPr>
              <a:stCxn id="10" idx="2"/>
              <a:endCxn id="16" idx="0"/>
            </p:cNvCxnSpPr>
            <p:nvPr/>
          </p:nvCxnSpPr>
          <p:spPr bwMode="auto">
            <a:xfrm>
              <a:off x="3219872" y="4756677"/>
              <a:ext cx="4809" cy="6506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71F1DE1-CB7C-845C-D1D2-BBBA8498B8C1}"/>
                </a:ext>
              </a:extLst>
            </p:cNvPr>
            <p:cNvCxnSpPr>
              <a:stCxn id="11" idx="2"/>
              <a:endCxn id="17" idx="0"/>
            </p:cNvCxnSpPr>
            <p:nvPr/>
          </p:nvCxnSpPr>
          <p:spPr bwMode="auto">
            <a:xfrm>
              <a:off x="3677072" y="4756677"/>
              <a:ext cx="4809" cy="6506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3A28A0C-4F52-E7A6-30F9-4F62947F1185}"/>
                </a:ext>
              </a:extLst>
            </p:cNvPr>
            <p:cNvSpPr/>
            <p:nvPr/>
          </p:nvSpPr>
          <p:spPr>
            <a:xfrm>
              <a:off x="1619672" y="5003884"/>
              <a:ext cx="302433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/>
                <a:t>     0.23    0.76    0.15    0.34   0.91   0.48</a:t>
              </a:r>
            </a:p>
          </p:txBody>
        </p:sp>
      </p:grpSp>
      <p:sp>
        <p:nvSpPr>
          <p:cNvPr id="36" name="Text Box 42">
            <a:extLst>
              <a:ext uri="{FF2B5EF4-FFF2-40B4-BE49-F238E27FC236}">
                <a16:creationId xmlns:a16="http://schemas.microsoft.com/office/drawing/2014/main" id="{96FA6C37-1593-583F-E667-B359BCBE4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568" y="3868733"/>
            <a:ext cx="4572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1</a:t>
            </a:r>
          </a:p>
        </p:txBody>
      </p:sp>
      <p:sp>
        <p:nvSpPr>
          <p:cNvPr id="37" name="Text Box 54">
            <a:extLst>
              <a:ext uri="{FF2B5EF4-FFF2-40B4-BE49-F238E27FC236}">
                <a16:creationId xmlns:a16="http://schemas.microsoft.com/office/drawing/2014/main" id="{D563F337-22C8-6C6B-D168-B40E2DA1A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2376" y="4989327"/>
            <a:ext cx="4572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0</a:t>
            </a:r>
          </a:p>
        </p:txBody>
      </p:sp>
      <p:sp>
        <p:nvSpPr>
          <p:cNvPr id="38" name="Text Box 42">
            <a:extLst>
              <a:ext uri="{FF2B5EF4-FFF2-40B4-BE49-F238E27FC236}">
                <a16:creationId xmlns:a16="http://schemas.microsoft.com/office/drawing/2014/main" id="{4A40A9A7-4FBB-57F5-8E1F-7D8A61D4A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4256" y="3947059"/>
            <a:ext cx="4572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1</a:t>
            </a:r>
          </a:p>
        </p:txBody>
      </p:sp>
      <p:sp>
        <p:nvSpPr>
          <p:cNvPr id="39" name="Text Box 54">
            <a:extLst>
              <a:ext uri="{FF2B5EF4-FFF2-40B4-BE49-F238E27FC236}">
                <a16:creationId xmlns:a16="http://schemas.microsoft.com/office/drawing/2014/main" id="{8314C2CE-FD67-996C-4855-65FF3AEE5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4256" y="4955171"/>
            <a:ext cx="457200" cy="469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b="0" dirty="0">
                <a:latin typeface="Times New Roman" pitchFamily="18" charset="0"/>
              </a:rPr>
              <a:t>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B53216-736A-8A1B-3533-2CD19E69B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36" idx="2"/>
            <a:endCxn id="37" idx="0"/>
          </p:cNvCxnSpPr>
          <p:nvPr/>
        </p:nvCxnSpPr>
        <p:spPr bwMode="auto">
          <a:xfrm>
            <a:off x="5136168" y="4338633"/>
            <a:ext cx="4808" cy="6506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2380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B0FB-E2FD-34E0-5282-4FC24215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97F38-B5E8-2CC3-98D2-B0BD6802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BFD520-0BBF-660A-2F5F-A2A1586EA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555C7A-0E7D-94D0-3D42-E20BAC9CA469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4" y="1031818"/>
            <a:ext cx="10653366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ounded Rectangle 4" descr="Rectangular box highlighting fitness mutation stage in the pseudocode">
            <a:extLst>
              <a:ext uri="{FF2B5EF4-FFF2-40B4-BE49-F238E27FC236}">
                <a16:creationId xmlns:a16="http://schemas.microsoft.com/office/drawing/2014/main" id="{997C2CC1-D3D9-D340-BB0C-A3D1BEB75D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45808" y="4317699"/>
            <a:ext cx="2959626" cy="47148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04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01FB6-EF49-ED93-E1D7-1C9AAB68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Mutation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1063A2-1333-EC9E-82F9-D65E3721D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DFA3B-348F-267E-CC14-4B6DA3191BFE}"/>
              </a:ext>
            </a:extLst>
          </p:cNvPr>
          <p:cNvSpPr txBox="1"/>
          <p:nvPr/>
        </p:nvSpPr>
        <p:spPr>
          <a:xfrm>
            <a:off x="403712" y="1058135"/>
            <a:ext cx="10440987" cy="485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alpha val="8893"/>
                  </a:schemeClr>
                </a:solidFill>
              </a:rPr>
              <a:t>Any offspring might be exposed to mutation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>
                  <a:alpha val="8893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alpha val="8893"/>
                  </a:schemeClr>
                </a:solidFill>
              </a:rPr>
              <a:t>Loop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through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all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the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alleles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of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all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the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individuals</a:t>
            </a:r>
            <a:r>
              <a:rPr lang="en-GB" altLang="en-US" sz="2400" dirty="0">
                <a:solidFill>
                  <a:schemeClr val="tx1">
                    <a:alpha val="8893"/>
                  </a:schemeClr>
                </a:solidFill>
              </a:rPr>
              <a:t> one by one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,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and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if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that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allele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is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selected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for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mutation</a:t>
            </a:r>
            <a:r>
              <a:rPr lang="en-US" altLang="en-US" sz="2400" dirty="0">
                <a:solidFill>
                  <a:schemeClr val="tx1">
                    <a:alpha val="8893"/>
                  </a:schemeClr>
                </a:solidFill>
              </a:rPr>
              <a:t> with a given probability </a:t>
            </a:r>
            <a:r>
              <a:rPr lang="en-US" altLang="en-US" sz="2400" i="1" dirty="0">
                <a:solidFill>
                  <a:schemeClr val="tx1">
                    <a:alpha val="8893"/>
                  </a:schemeClr>
                </a:solidFill>
              </a:rPr>
              <a:t>p</a:t>
            </a:r>
            <a:r>
              <a:rPr lang="en-US" altLang="en-US" sz="2400" i="1" baseline="-25000" dirty="0">
                <a:solidFill>
                  <a:schemeClr val="tx1">
                    <a:alpha val="8893"/>
                  </a:schemeClr>
                </a:solidFill>
              </a:rPr>
              <a:t>m</a:t>
            </a:r>
            <a:r>
              <a:rPr lang="en-US" altLang="en-US" sz="2400" dirty="0">
                <a:solidFill>
                  <a:schemeClr val="tx1">
                    <a:alpha val="8893"/>
                  </a:schemeClr>
                </a:solidFill>
              </a:rPr>
              <a:t>,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you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can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either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change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it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by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a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small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amount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or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replace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it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with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a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new</a:t>
            </a:r>
            <a:r>
              <a:rPr lang="tr-TR" altLang="en-US" sz="2400" dirty="0">
                <a:solidFill>
                  <a:schemeClr val="tx1">
                    <a:alpha val="8893"/>
                  </a:schemeClr>
                </a:solidFill>
              </a:rPr>
              <a:t> </a:t>
            </a:r>
            <a:r>
              <a:rPr lang="tr-TR" altLang="en-US" sz="2400" dirty="0" err="1">
                <a:solidFill>
                  <a:schemeClr val="tx1">
                    <a:alpha val="8893"/>
                  </a:schemeClr>
                </a:solidFill>
              </a:rPr>
              <a:t>value</a:t>
            </a:r>
            <a:endParaRPr lang="en-US" altLang="en-US" sz="2400" dirty="0">
              <a:solidFill>
                <a:schemeClr val="tx1">
                  <a:alpha val="8893"/>
                </a:schemeClr>
              </a:solidFill>
            </a:endParaRP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alpha val="8893"/>
                  </a:schemeClr>
                </a:solidFill>
              </a:rPr>
              <a:t>For binary representation mutation corresponds to flipping a selected gene value (0</a:t>
            </a:r>
            <a:r>
              <a:rPr lang="en-AU" altLang="en-US" sz="2000" dirty="0">
                <a:solidFill>
                  <a:schemeClr val="tx1">
                    <a:alpha val="8893"/>
                  </a:schemeClr>
                </a:solidFill>
                <a:sym typeface="Symbol" pitchFamily="18" charset="2"/>
              </a:rPr>
              <a:t></a:t>
            </a:r>
            <a:r>
              <a:rPr lang="en-US" altLang="en-US" sz="2000" dirty="0">
                <a:solidFill>
                  <a:schemeClr val="tx1">
                    <a:alpha val="8893"/>
                  </a:schemeClr>
                </a:solidFill>
              </a:rPr>
              <a:t>1, 1</a:t>
            </a:r>
            <a:r>
              <a:rPr lang="en-AU" altLang="en-US" sz="2000" dirty="0">
                <a:solidFill>
                  <a:schemeClr val="tx1">
                    <a:alpha val="8893"/>
                  </a:schemeClr>
                </a:solidFill>
                <a:sym typeface="Symbol" pitchFamily="18" charset="2"/>
              </a:rPr>
              <a:t></a:t>
            </a:r>
            <a:r>
              <a:rPr lang="en-US" altLang="en-US" sz="2000" dirty="0">
                <a:solidFill>
                  <a:schemeClr val="tx1">
                    <a:alpha val="8893"/>
                  </a:schemeClr>
                </a:solidFill>
              </a:rPr>
              <a:t>0)</a:t>
            </a:r>
          </a:p>
          <a:p>
            <a:pPr lvl="1">
              <a:lnSpc>
                <a:spcPct val="90000"/>
              </a:lnSpc>
            </a:pPr>
            <a:endParaRPr lang="en-US" altLang="en-US" sz="2000" dirty="0">
              <a:solidFill>
                <a:schemeClr val="tx1">
                  <a:alpha val="8893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alpha val="8893"/>
                  </a:schemeClr>
                </a:solidFill>
              </a:rPr>
              <a:t>Mutation provides diversity and allows GA to explore different regions of the search space (escaping)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>
                  <a:alpha val="8893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alpha val="8893"/>
                  </a:schemeClr>
                </a:solidFill>
              </a:rPr>
              <a:t>Mutation rate is typically chosen to be very small (0.001, 0.001). Choosing </a:t>
            </a:r>
            <a:r>
              <a:rPr lang="en-US" altLang="en-US" sz="2400" i="1" dirty="0">
                <a:solidFill>
                  <a:schemeClr val="tx1">
                    <a:alpha val="8893"/>
                  </a:schemeClr>
                </a:solidFill>
              </a:rPr>
              <a:t>p</a:t>
            </a:r>
            <a:r>
              <a:rPr lang="en-US" altLang="en-US" sz="2400" i="1" baseline="-25000" dirty="0">
                <a:solidFill>
                  <a:schemeClr val="tx1">
                    <a:alpha val="8893"/>
                  </a:schemeClr>
                </a:solidFill>
              </a:rPr>
              <a:t>m</a:t>
            </a:r>
            <a:r>
              <a:rPr lang="en-US" altLang="en-US" sz="2400" dirty="0">
                <a:solidFill>
                  <a:schemeClr val="tx1">
                    <a:alpha val="8893"/>
                  </a:schemeClr>
                </a:solidFill>
              </a:rPr>
              <a:t> as (</a:t>
            </a:r>
            <a:r>
              <a:rPr lang="en-US" altLang="en-US" sz="2400" i="1" dirty="0">
                <a:solidFill>
                  <a:schemeClr val="tx1">
                    <a:alpha val="8893"/>
                  </a:schemeClr>
                </a:solidFill>
              </a:rPr>
              <a:t>1/chromosome length) </a:t>
            </a:r>
            <a:r>
              <a:rPr lang="en-US" altLang="en-US" sz="2400" dirty="0">
                <a:solidFill>
                  <a:schemeClr val="tx1">
                    <a:alpha val="8893"/>
                  </a:schemeClr>
                </a:solidFill>
              </a:rPr>
              <a:t>implies on average a single gene will be mutated for an individual.</a:t>
            </a:r>
            <a:endParaRPr lang="tr-TR" altLang="en-US" sz="2400" dirty="0">
              <a:solidFill>
                <a:schemeClr val="tx1">
                  <a:alpha val="8893"/>
                </a:schemeClr>
              </a:solidFill>
            </a:endParaRPr>
          </a:p>
          <a:p>
            <a:endParaRPr lang="en-GB" dirty="0">
              <a:solidFill>
                <a:schemeClr val="tx1">
                  <a:alpha val="8893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E70B4-A08E-4B39-7AD9-052FB4DD56B2}"/>
              </a:ext>
            </a:extLst>
          </p:cNvPr>
          <p:cNvSpPr txBox="1"/>
          <p:nvPr/>
        </p:nvSpPr>
        <p:spPr>
          <a:xfrm>
            <a:off x="403711" y="1058135"/>
            <a:ext cx="10440987" cy="485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Any offspring might be exposed to mutation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Loop </a:t>
            </a:r>
            <a:r>
              <a:rPr lang="tr-TR" altLang="en-US" sz="2400" dirty="0" err="1"/>
              <a:t>through</a:t>
            </a:r>
            <a:r>
              <a:rPr lang="tr-TR" altLang="en-US" sz="2400" dirty="0"/>
              <a:t> </a:t>
            </a:r>
            <a:r>
              <a:rPr lang="tr-TR" altLang="en-US" sz="2400" dirty="0" err="1"/>
              <a:t>all</a:t>
            </a:r>
            <a:r>
              <a:rPr lang="tr-TR" altLang="en-US" sz="2400" dirty="0"/>
              <a:t> </a:t>
            </a:r>
            <a:r>
              <a:rPr lang="tr-TR" altLang="en-US" sz="2400" dirty="0" err="1"/>
              <a:t>the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alleles</a:t>
            </a:r>
            <a:r>
              <a:rPr lang="tr-TR" altLang="en-US" sz="2400" dirty="0"/>
              <a:t> of </a:t>
            </a:r>
            <a:r>
              <a:rPr lang="tr-TR" altLang="en-US" sz="2400" dirty="0" err="1"/>
              <a:t>all</a:t>
            </a:r>
            <a:r>
              <a:rPr lang="tr-TR" altLang="en-US" sz="2400" dirty="0"/>
              <a:t> </a:t>
            </a:r>
            <a:r>
              <a:rPr lang="tr-TR" altLang="en-US" sz="2400" dirty="0" err="1"/>
              <a:t>the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individuals</a:t>
            </a:r>
            <a:r>
              <a:rPr lang="en-GB" altLang="en-US" sz="2400" dirty="0"/>
              <a:t> one by one</a:t>
            </a:r>
            <a:r>
              <a:rPr lang="tr-TR" altLang="en-US" sz="2400" dirty="0"/>
              <a:t>, </a:t>
            </a:r>
            <a:r>
              <a:rPr lang="tr-TR" altLang="en-US" sz="2400" dirty="0" err="1"/>
              <a:t>and</a:t>
            </a:r>
            <a:r>
              <a:rPr lang="tr-TR" altLang="en-US" sz="2400" dirty="0"/>
              <a:t> </a:t>
            </a:r>
            <a:r>
              <a:rPr lang="tr-TR" altLang="en-US" sz="2400" dirty="0" err="1"/>
              <a:t>if</a:t>
            </a:r>
            <a:r>
              <a:rPr lang="tr-TR" altLang="en-US" sz="2400" dirty="0"/>
              <a:t> </a:t>
            </a:r>
            <a:r>
              <a:rPr lang="tr-TR" altLang="en-US" sz="2400" dirty="0" err="1"/>
              <a:t>that</a:t>
            </a:r>
            <a:r>
              <a:rPr lang="tr-TR" altLang="en-US" sz="2400" dirty="0"/>
              <a:t> </a:t>
            </a:r>
            <a:r>
              <a:rPr lang="tr-TR" altLang="en-US" sz="2400" dirty="0" err="1"/>
              <a:t>allele</a:t>
            </a:r>
            <a:r>
              <a:rPr lang="tr-TR" altLang="en-US" sz="2400" dirty="0"/>
              <a:t> is </a:t>
            </a:r>
            <a:r>
              <a:rPr lang="tr-TR" altLang="en-US" sz="2400" dirty="0" err="1"/>
              <a:t>selected</a:t>
            </a:r>
            <a:r>
              <a:rPr lang="tr-TR" altLang="en-US" sz="2400" dirty="0"/>
              <a:t> </a:t>
            </a:r>
            <a:r>
              <a:rPr lang="tr-TR" altLang="en-US" sz="2400" dirty="0" err="1"/>
              <a:t>for</a:t>
            </a:r>
            <a:r>
              <a:rPr lang="tr-TR" altLang="en-US" sz="2400" dirty="0"/>
              <a:t> </a:t>
            </a:r>
            <a:r>
              <a:rPr lang="tr-TR" altLang="en-US" sz="2400" dirty="0" err="1"/>
              <a:t>mutation</a:t>
            </a:r>
            <a:r>
              <a:rPr lang="en-US" altLang="en-US" sz="2400" dirty="0"/>
              <a:t> with a given probability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m</a:t>
            </a:r>
            <a:r>
              <a:rPr lang="en-US" altLang="en-US" sz="2400" dirty="0"/>
              <a:t>,</a:t>
            </a:r>
            <a:r>
              <a:rPr lang="tr-TR" altLang="en-US" sz="2400" dirty="0"/>
              <a:t> </a:t>
            </a:r>
            <a:r>
              <a:rPr lang="tr-TR" altLang="en-US" sz="2400" dirty="0" err="1"/>
              <a:t>you</a:t>
            </a:r>
            <a:r>
              <a:rPr lang="tr-TR" altLang="en-US" sz="2400" dirty="0"/>
              <a:t> can </a:t>
            </a:r>
            <a:r>
              <a:rPr lang="tr-TR" altLang="en-US" sz="2400" dirty="0" err="1"/>
              <a:t>either</a:t>
            </a:r>
            <a:r>
              <a:rPr lang="tr-TR" altLang="en-US" sz="2400" dirty="0"/>
              <a:t> </a:t>
            </a:r>
            <a:r>
              <a:rPr lang="tr-TR" altLang="en-US" sz="2400" dirty="0" err="1"/>
              <a:t>change</a:t>
            </a:r>
            <a:r>
              <a:rPr lang="tr-TR" altLang="en-US" sz="2400" dirty="0"/>
              <a:t> it </a:t>
            </a:r>
            <a:r>
              <a:rPr lang="tr-TR" altLang="en-US" sz="2400" dirty="0" err="1"/>
              <a:t>by</a:t>
            </a:r>
            <a:r>
              <a:rPr lang="tr-TR" altLang="en-US" sz="2400" dirty="0"/>
              <a:t> a </a:t>
            </a:r>
            <a:r>
              <a:rPr lang="tr-TR" altLang="en-US" sz="2400" dirty="0" err="1"/>
              <a:t>small</a:t>
            </a:r>
            <a:r>
              <a:rPr lang="tr-TR" altLang="en-US" sz="2400" dirty="0"/>
              <a:t> </a:t>
            </a:r>
            <a:r>
              <a:rPr lang="tr-TR" altLang="en-US" sz="2400" dirty="0" err="1"/>
              <a:t>amount</a:t>
            </a:r>
            <a:r>
              <a:rPr lang="tr-TR" altLang="en-US" sz="2400" dirty="0"/>
              <a:t> </a:t>
            </a:r>
            <a:r>
              <a:rPr lang="tr-TR" altLang="en-US" sz="2400" dirty="0" err="1"/>
              <a:t>or</a:t>
            </a:r>
            <a:r>
              <a:rPr lang="tr-TR" altLang="en-US" sz="2400" dirty="0"/>
              <a:t> </a:t>
            </a:r>
            <a:r>
              <a:rPr lang="tr-TR" altLang="en-US" sz="2400" dirty="0" err="1"/>
              <a:t>replace</a:t>
            </a:r>
            <a:r>
              <a:rPr lang="tr-TR" altLang="en-US" sz="2400" dirty="0"/>
              <a:t> it </a:t>
            </a:r>
            <a:r>
              <a:rPr lang="tr-TR" altLang="en-US" sz="2400" dirty="0" err="1"/>
              <a:t>with</a:t>
            </a:r>
            <a:r>
              <a:rPr lang="tr-TR" altLang="en-US" sz="2400" dirty="0"/>
              <a:t> a </a:t>
            </a:r>
            <a:r>
              <a:rPr lang="tr-TR" altLang="en-US" sz="2400" dirty="0" err="1"/>
              <a:t>new</a:t>
            </a:r>
            <a:r>
              <a:rPr lang="tr-TR" altLang="en-US" sz="2400" dirty="0"/>
              <a:t> </a:t>
            </a:r>
            <a:r>
              <a:rPr lang="tr-TR" altLang="en-US" sz="2400" dirty="0" err="1"/>
              <a:t>value</a:t>
            </a:r>
            <a:endParaRPr lang="en-US" altLang="en-US" sz="2400" dirty="0"/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For binary representation mutation corresponds to flipping a selected gene value (0</a:t>
            </a:r>
            <a:r>
              <a:rPr lang="en-AU" altLang="en-US" sz="2000" dirty="0">
                <a:sym typeface="Symbol" pitchFamily="18" charset="2"/>
              </a:rPr>
              <a:t></a:t>
            </a:r>
            <a:r>
              <a:rPr lang="en-US" altLang="en-US" sz="2000" dirty="0"/>
              <a:t>1, 1</a:t>
            </a:r>
            <a:r>
              <a:rPr lang="en-AU" altLang="en-US" sz="2000" dirty="0">
                <a:sym typeface="Symbol" pitchFamily="18" charset="2"/>
              </a:rPr>
              <a:t></a:t>
            </a:r>
            <a:r>
              <a:rPr lang="en-US" altLang="en-US" sz="2000" dirty="0"/>
              <a:t>0)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Mutation provides diversity and allows GA to explore different regions of the search space (escaping)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Mutation rate is typically chosen to be very small (0.001, 0.001). Choosing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m</a:t>
            </a:r>
            <a:r>
              <a:rPr lang="en-US" altLang="en-US" sz="2400" dirty="0"/>
              <a:t> as (</a:t>
            </a:r>
            <a:r>
              <a:rPr lang="en-US" altLang="en-US" sz="2400" i="1" dirty="0"/>
              <a:t>1/chromosome length) </a:t>
            </a:r>
            <a:r>
              <a:rPr lang="en-US" altLang="en-US" sz="2400" dirty="0"/>
              <a:t>implies on average a single gene will be mutated for an individual.</a:t>
            </a:r>
            <a:endParaRPr lang="tr-TR" alt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81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8AD2-9895-B985-4DF9-A8B5F62C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– Mutation 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6040D1-6900-9B26-C210-913D99003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5" name="Group 4" descr="a binary encoded solution: 001110">
            <a:extLst>
              <a:ext uri="{FF2B5EF4-FFF2-40B4-BE49-F238E27FC236}">
                <a16:creationId xmlns:a16="http://schemas.microsoft.com/office/drawing/2014/main" id="{7254241F-A42D-27E4-6721-18D5A3D516A9}"/>
              </a:ext>
            </a:extLst>
          </p:cNvPr>
          <p:cNvGrpSpPr/>
          <p:nvPr/>
        </p:nvGrpSpPr>
        <p:grpSpPr>
          <a:xfrm>
            <a:off x="1108607" y="4916812"/>
            <a:ext cx="2739920" cy="469900"/>
            <a:chOff x="890896" y="4975324"/>
            <a:chExt cx="2739920" cy="469900"/>
          </a:xfrm>
        </p:grpSpPr>
        <p:grpSp>
          <p:nvGrpSpPr>
            <p:cNvPr id="6" name="Group 32">
              <a:extLst>
                <a:ext uri="{FF2B5EF4-FFF2-40B4-BE49-F238E27FC236}">
                  <a16:creationId xmlns:a16="http://schemas.microsoft.com/office/drawing/2014/main" id="{9E6A7AB2-062A-9824-0A07-D2B621D9EE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0896" y="4975324"/>
              <a:ext cx="2286000" cy="469900"/>
              <a:chOff x="768" y="864"/>
              <a:chExt cx="1440" cy="296"/>
            </a:xfrm>
            <a:noFill/>
          </p:grpSpPr>
          <p:sp>
            <p:nvSpPr>
              <p:cNvPr id="8" name="Text Box 33">
                <a:extLst>
                  <a:ext uri="{FF2B5EF4-FFF2-40B4-BE49-F238E27FC236}">
                    <a16:creationId xmlns:a16="http://schemas.microsoft.com/office/drawing/2014/main" id="{48D0ABA3-4A42-5D7B-E181-C9A4E13CC9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 dirty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9" name="Text Box 34">
                <a:extLst>
                  <a:ext uri="{FF2B5EF4-FFF2-40B4-BE49-F238E27FC236}">
                    <a16:creationId xmlns:a16="http://schemas.microsoft.com/office/drawing/2014/main" id="{F4E50DB9-8640-6E78-B4BB-55490F7D8C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0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10" name="Text Box 35">
                <a:extLst>
                  <a:ext uri="{FF2B5EF4-FFF2-40B4-BE49-F238E27FC236}">
                    <a16:creationId xmlns:a16="http://schemas.microsoft.com/office/drawing/2014/main" id="{5E1C4AD9-EC23-741A-EA66-525FB92824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1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11" name="Text Box 36">
                <a:extLst>
                  <a:ext uri="{FF2B5EF4-FFF2-40B4-BE49-F238E27FC236}">
                    <a16:creationId xmlns:a16="http://schemas.microsoft.com/office/drawing/2014/main" id="{8F193E90-81D0-0AF9-5710-CBE41571B5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1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12" name="Text Box 37">
                <a:extLst>
                  <a:ext uri="{FF2B5EF4-FFF2-40B4-BE49-F238E27FC236}">
                    <a16:creationId xmlns:a16="http://schemas.microsoft.com/office/drawing/2014/main" id="{F5A43006-C85A-9290-28E6-270FB3CA16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7" name="Text Box 37">
              <a:extLst>
                <a:ext uri="{FF2B5EF4-FFF2-40B4-BE49-F238E27FC236}">
                  <a16:creationId xmlns:a16="http://schemas.microsoft.com/office/drawing/2014/main" id="{2411F168-FC5D-64FE-E3DE-A9DE79D3B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616" y="4975324"/>
              <a:ext cx="457200" cy="469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dirty="0">
                  <a:latin typeface="Times New Roman" pitchFamily="18" charset="0"/>
                </a:rPr>
                <a:t>0</a:t>
              </a:r>
              <a:endParaRPr lang="en-US" altLang="en-US" sz="2400" b="0" dirty="0">
                <a:latin typeface="Times New Roman" pitchFamily="18" charset="0"/>
              </a:endParaRPr>
            </a:p>
          </p:txBody>
        </p:sp>
      </p:grpSp>
      <p:grpSp>
        <p:nvGrpSpPr>
          <p:cNvPr id="13" name="Group 12" descr="a binary encoded solution: 101100">
            <a:extLst>
              <a:ext uri="{FF2B5EF4-FFF2-40B4-BE49-F238E27FC236}">
                <a16:creationId xmlns:a16="http://schemas.microsoft.com/office/drawing/2014/main" id="{C3FF8C94-2C97-DB6D-4602-417F3DB3D970}"/>
              </a:ext>
            </a:extLst>
          </p:cNvPr>
          <p:cNvGrpSpPr/>
          <p:nvPr/>
        </p:nvGrpSpPr>
        <p:grpSpPr>
          <a:xfrm>
            <a:off x="1044799" y="2978967"/>
            <a:ext cx="2736800" cy="469900"/>
            <a:chOff x="827088" y="2959100"/>
            <a:chExt cx="2736800" cy="469900"/>
          </a:xfrm>
        </p:grpSpPr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C38C56EC-0ACA-4FAF-106C-410399865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7088" y="2959100"/>
              <a:ext cx="2286000" cy="469900"/>
              <a:chOff x="768" y="864"/>
              <a:chExt cx="1440" cy="296"/>
            </a:xfrm>
            <a:noFill/>
          </p:grpSpPr>
          <p:sp>
            <p:nvSpPr>
              <p:cNvPr id="16" name="Text Box 33">
                <a:extLst>
                  <a:ext uri="{FF2B5EF4-FFF2-40B4-BE49-F238E27FC236}">
                    <a16:creationId xmlns:a16="http://schemas.microsoft.com/office/drawing/2014/main" id="{CE1DEAD8-F57C-A4A1-3FD5-020008FFE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 dirty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7" name="Text Box 34">
                <a:extLst>
                  <a:ext uri="{FF2B5EF4-FFF2-40B4-BE49-F238E27FC236}">
                    <a16:creationId xmlns:a16="http://schemas.microsoft.com/office/drawing/2014/main" id="{4B6D85C3-2135-9271-9F88-0CDF8342FE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0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18" name="Text Box 35">
                <a:extLst>
                  <a:ext uri="{FF2B5EF4-FFF2-40B4-BE49-F238E27FC236}">
                    <a16:creationId xmlns:a16="http://schemas.microsoft.com/office/drawing/2014/main" id="{6A611809-86D6-1664-5E4F-9CDC06DD92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9" name="Text Box 36">
                <a:extLst>
                  <a:ext uri="{FF2B5EF4-FFF2-40B4-BE49-F238E27FC236}">
                    <a16:creationId xmlns:a16="http://schemas.microsoft.com/office/drawing/2014/main" id="{0BAB15D4-F61E-C890-55B2-E54EF17C7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1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20" name="Text Box 37">
                <a:extLst>
                  <a:ext uri="{FF2B5EF4-FFF2-40B4-BE49-F238E27FC236}">
                    <a16:creationId xmlns:a16="http://schemas.microsoft.com/office/drawing/2014/main" id="{A54D2B8B-034C-ED74-BDA7-BCD396F32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0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</p:grpSp>
        <p:sp>
          <p:nvSpPr>
            <p:cNvPr id="15" name="Text Box 37">
              <a:extLst>
                <a:ext uri="{FF2B5EF4-FFF2-40B4-BE49-F238E27FC236}">
                  <a16:creationId xmlns:a16="http://schemas.microsoft.com/office/drawing/2014/main" id="{65DC8F80-75FB-9A29-FA1C-917DAF32C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688" y="2959100"/>
              <a:ext cx="457200" cy="469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 dirty="0">
                  <a:latin typeface="Times New Roman" pitchFamily="18" charset="0"/>
                </a:rPr>
                <a:t>0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4A725A4-083A-08CF-5011-92D29E6317A5}"/>
              </a:ext>
            </a:extLst>
          </p:cNvPr>
          <p:cNvSpPr txBox="1"/>
          <p:nvPr/>
        </p:nvSpPr>
        <p:spPr>
          <a:xfrm>
            <a:off x="4558383" y="3207519"/>
            <a:ext cx="77040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kern="0" dirty="0"/>
              <a:t>A loop is performed on each individual </a:t>
            </a:r>
          </a:p>
          <a:p>
            <a:pPr lvl="1"/>
            <a:r>
              <a:rPr lang="en-US" altLang="en-US" sz="2400" kern="0" dirty="0"/>
              <a:t>If a random value in [0,1) is &lt; </a:t>
            </a:r>
            <a:r>
              <a:rPr lang="en-US" altLang="en-US" sz="2400" i="1" kern="0" dirty="0"/>
              <a:t>p</a:t>
            </a:r>
            <a:r>
              <a:rPr lang="en-US" altLang="en-US" sz="2400" i="1" kern="0" baseline="-25000" dirty="0"/>
              <a:t>m</a:t>
            </a:r>
            <a:r>
              <a:rPr lang="en-US" altLang="en-US" sz="2400" kern="0" dirty="0"/>
              <a:t> =0.17 (1/6), then the allele value is flipped, otherwise kept same. 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8796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2BFA9-2C63-0B27-19D6-BCE7D748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EB0C-04D2-E110-4196-6F17DA1C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– Mutation 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BA731-BA53-15F4-AD71-A7CEFC6F6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0FC1A-B146-0ED6-0932-54E6460EB0D6}"/>
              </a:ext>
            </a:extLst>
          </p:cNvPr>
          <p:cNvSpPr txBox="1"/>
          <p:nvPr/>
        </p:nvSpPr>
        <p:spPr>
          <a:xfrm>
            <a:off x="4558383" y="3207519"/>
            <a:ext cx="77040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kern="0" dirty="0"/>
              <a:t>A loop is performed on each individual </a:t>
            </a:r>
          </a:p>
          <a:p>
            <a:pPr lvl="1"/>
            <a:r>
              <a:rPr lang="en-US" altLang="en-US" sz="2400" kern="0" dirty="0"/>
              <a:t>If a random value in [0,1) is &lt; </a:t>
            </a:r>
            <a:r>
              <a:rPr lang="en-US" altLang="en-US" sz="2400" i="1" kern="0" dirty="0"/>
              <a:t>p</a:t>
            </a:r>
            <a:r>
              <a:rPr lang="en-US" altLang="en-US" sz="2400" i="1" kern="0" baseline="-25000" dirty="0"/>
              <a:t>m</a:t>
            </a:r>
            <a:r>
              <a:rPr lang="en-US" altLang="en-US" sz="2400" kern="0" dirty="0"/>
              <a:t> =0.17 (1/6), then the allele value is flipped, otherwise kept same.  </a:t>
            </a:r>
          </a:p>
          <a:p>
            <a:endParaRPr lang="en-GB" dirty="0"/>
          </a:p>
        </p:txBody>
      </p:sp>
      <p:grpSp>
        <p:nvGrpSpPr>
          <p:cNvPr id="5" name="Group 4" descr="a binary encoded solution having the second and sixth bits flipped with mutation">
            <a:extLst>
              <a:ext uri="{FF2B5EF4-FFF2-40B4-BE49-F238E27FC236}">
                <a16:creationId xmlns:a16="http://schemas.microsoft.com/office/drawing/2014/main" id="{92A173AC-E354-CA32-4FBA-3E9E39E2FBF5}"/>
              </a:ext>
            </a:extLst>
          </p:cNvPr>
          <p:cNvGrpSpPr/>
          <p:nvPr/>
        </p:nvGrpSpPr>
        <p:grpSpPr>
          <a:xfrm>
            <a:off x="1108610" y="4921655"/>
            <a:ext cx="2739920" cy="469900"/>
            <a:chOff x="890896" y="4975324"/>
            <a:chExt cx="2739920" cy="469900"/>
          </a:xfrm>
        </p:grpSpPr>
        <p:grpSp>
          <p:nvGrpSpPr>
            <p:cNvPr id="6" name="Group 32">
              <a:extLst>
                <a:ext uri="{FF2B5EF4-FFF2-40B4-BE49-F238E27FC236}">
                  <a16:creationId xmlns:a16="http://schemas.microsoft.com/office/drawing/2014/main" id="{E842A897-AD58-6F88-79F0-A10A5D9BB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0896" y="4975324"/>
              <a:ext cx="2286000" cy="469900"/>
              <a:chOff x="768" y="864"/>
              <a:chExt cx="1440" cy="296"/>
            </a:xfrm>
            <a:noFill/>
          </p:grpSpPr>
          <p:sp>
            <p:nvSpPr>
              <p:cNvPr id="8" name="Text Box 33">
                <a:extLst>
                  <a:ext uri="{FF2B5EF4-FFF2-40B4-BE49-F238E27FC236}">
                    <a16:creationId xmlns:a16="http://schemas.microsoft.com/office/drawing/2014/main" id="{B5D617DE-38DF-FC41-8D5B-6BF8452A87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 dirty="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9" name="Text Box 34">
                <a:extLst>
                  <a:ext uri="{FF2B5EF4-FFF2-40B4-BE49-F238E27FC236}">
                    <a16:creationId xmlns:a16="http://schemas.microsoft.com/office/drawing/2014/main" id="{17B2191E-9A86-7D91-73B0-A10AAC0AC8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0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10" name="Text Box 35">
                <a:extLst>
                  <a:ext uri="{FF2B5EF4-FFF2-40B4-BE49-F238E27FC236}">
                    <a16:creationId xmlns:a16="http://schemas.microsoft.com/office/drawing/2014/main" id="{3C4C886A-F554-B224-8D2C-86CCB60BE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1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11" name="Text Box 36">
                <a:extLst>
                  <a:ext uri="{FF2B5EF4-FFF2-40B4-BE49-F238E27FC236}">
                    <a16:creationId xmlns:a16="http://schemas.microsoft.com/office/drawing/2014/main" id="{581DE3C3-4DF9-6DF4-5642-64DF23A20A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1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12" name="Text Box 37">
                <a:extLst>
                  <a:ext uri="{FF2B5EF4-FFF2-40B4-BE49-F238E27FC236}">
                    <a16:creationId xmlns:a16="http://schemas.microsoft.com/office/drawing/2014/main" id="{58B43612-04CD-DDE3-B85A-D1279DB10F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7" name="Text Box 37">
              <a:extLst>
                <a:ext uri="{FF2B5EF4-FFF2-40B4-BE49-F238E27FC236}">
                  <a16:creationId xmlns:a16="http://schemas.microsoft.com/office/drawing/2014/main" id="{2D4F1C99-D581-487D-2910-2AC95D955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616" y="4975324"/>
              <a:ext cx="457200" cy="469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dirty="0">
                  <a:latin typeface="Times New Roman" pitchFamily="18" charset="0"/>
                </a:rPr>
                <a:t>0</a:t>
              </a:r>
              <a:endParaRPr lang="en-US" altLang="en-US" sz="2400" b="0" dirty="0">
                <a:latin typeface="Times New Roman" pitchFamily="18" charset="0"/>
              </a:endParaRPr>
            </a:p>
          </p:txBody>
        </p:sp>
      </p:grpSp>
      <p:grpSp>
        <p:nvGrpSpPr>
          <p:cNvPr id="13" name="Group 12" descr="Binary solution: 101000">
            <a:extLst>
              <a:ext uri="{FF2B5EF4-FFF2-40B4-BE49-F238E27FC236}">
                <a16:creationId xmlns:a16="http://schemas.microsoft.com/office/drawing/2014/main" id="{A4BADAA7-C660-F095-1A94-60575D7468CB}"/>
              </a:ext>
            </a:extLst>
          </p:cNvPr>
          <p:cNvGrpSpPr/>
          <p:nvPr/>
        </p:nvGrpSpPr>
        <p:grpSpPr>
          <a:xfrm>
            <a:off x="1044802" y="2983810"/>
            <a:ext cx="2736800" cy="469900"/>
            <a:chOff x="827088" y="2959100"/>
            <a:chExt cx="2736800" cy="469900"/>
          </a:xfrm>
        </p:grpSpPr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92929FE9-C095-4F6C-4227-F0B4AAA723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7088" y="2959100"/>
              <a:ext cx="2286000" cy="469900"/>
              <a:chOff x="768" y="864"/>
              <a:chExt cx="1440" cy="296"/>
            </a:xfrm>
            <a:noFill/>
          </p:grpSpPr>
          <p:sp>
            <p:nvSpPr>
              <p:cNvPr id="16" name="Text Box 33">
                <a:extLst>
                  <a:ext uri="{FF2B5EF4-FFF2-40B4-BE49-F238E27FC236}">
                    <a16:creationId xmlns:a16="http://schemas.microsoft.com/office/drawing/2014/main" id="{5B94E716-0F9C-473E-2B7B-0D814E5A4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 dirty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7" name="Text Box 34">
                <a:extLst>
                  <a:ext uri="{FF2B5EF4-FFF2-40B4-BE49-F238E27FC236}">
                    <a16:creationId xmlns:a16="http://schemas.microsoft.com/office/drawing/2014/main" id="{363DEDE7-AC10-075A-BDAB-FA0159ED68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0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18" name="Text Box 35">
                <a:extLst>
                  <a:ext uri="{FF2B5EF4-FFF2-40B4-BE49-F238E27FC236}">
                    <a16:creationId xmlns:a16="http://schemas.microsoft.com/office/drawing/2014/main" id="{3E61FF75-1547-EEB0-5879-2DD341AD9D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b="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9" name="Text Box 36">
                <a:extLst>
                  <a:ext uri="{FF2B5EF4-FFF2-40B4-BE49-F238E27FC236}">
                    <a16:creationId xmlns:a16="http://schemas.microsoft.com/office/drawing/2014/main" id="{D0B48D69-63FF-C0A7-8BF0-E24CB15ABD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1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  <p:sp>
            <p:nvSpPr>
              <p:cNvPr id="20" name="Text Box 37">
                <a:extLst>
                  <a:ext uri="{FF2B5EF4-FFF2-40B4-BE49-F238E27FC236}">
                    <a16:creationId xmlns:a16="http://schemas.microsoft.com/office/drawing/2014/main" id="{6F86F01C-A88E-F5EB-369D-944A7EF9D9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864"/>
                <a:ext cx="288" cy="296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US" altLang="en-US" sz="2400" dirty="0">
                    <a:latin typeface="Times New Roman" pitchFamily="18" charset="0"/>
                  </a:rPr>
                  <a:t>0</a:t>
                </a:r>
                <a:endParaRPr lang="en-US" altLang="en-US" sz="2400" b="0" dirty="0">
                  <a:latin typeface="Times New Roman" pitchFamily="18" charset="0"/>
                </a:endParaRPr>
              </a:p>
            </p:txBody>
          </p:sp>
        </p:grpSp>
        <p:sp>
          <p:nvSpPr>
            <p:cNvPr id="15" name="Text Box 37">
              <a:extLst>
                <a:ext uri="{FF2B5EF4-FFF2-40B4-BE49-F238E27FC236}">
                  <a16:creationId xmlns:a16="http://schemas.microsoft.com/office/drawing/2014/main" id="{22C522CF-DC50-0DF9-6ED1-3411FC493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688" y="2959100"/>
              <a:ext cx="457200" cy="469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en-US" sz="2400" b="0" dirty="0">
                  <a:latin typeface="Times New Roman" pitchFamily="18" charset="0"/>
                </a:rPr>
                <a:t>0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309B99C-50F8-22C1-E80C-487956923EE6}"/>
              </a:ext>
            </a:extLst>
          </p:cNvPr>
          <p:cNvSpPr/>
          <p:nvPr/>
        </p:nvSpPr>
        <p:spPr>
          <a:xfrm>
            <a:off x="901282" y="1410190"/>
            <a:ext cx="77768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Random numbers:</a:t>
            </a:r>
          </a:p>
          <a:p>
            <a:r>
              <a:rPr lang="en-GB" sz="1600" dirty="0"/>
              <a:t>&lt;0.23    0.76    0.41    0.14   0.91   0.68  0.47    0.16    0.28    0.94   0.78    0.03 …&gt;</a:t>
            </a:r>
          </a:p>
        </p:txBody>
      </p:sp>
      <p:grpSp>
        <p:nvGrpSpPr>
          <p:cNvPr id="22" name="Group 21" descr="0.23">
            <a:extLst>
              <a:ext uri="{FF2B5EF4-FFF2-40B4-BE49-F238E27FC236}">
                <a16:creationId xmlns:a16="http://schemas.microsoft.com/office/drawing/2014/main" id="{77D4BFF0-07C6-5E48-81E8-DBA9951BF2FE}"/>
              </a:ext>
            </a:extLst>
          </p:cNvPr>
          <p:cNvGrpSpPr/>
          <p:nvPr/>
        </p:nvGrpSpPr>
        <p:grpSpPr>
          <a:xfrm>
            <a:off x="992281" y="2295224"/>
            <a:ext cx="482824" cy="646993"/>
            <a:chOff x="774567" y="1844824"/>
            <a:chExt cx="482824" cy="646993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FA90E06E-6512-0A89-6EC0-593C326D6C44}"/>
                </a:ext>
              </a:extLst>
            </p:cNvPr>
            <p:cNvSpPr/>
            <p:nvPr/>
          </p:nvSpPr>
          <p:spPr bwMode="auto">
            <a:xfrm>
              <a:off x="971600" y="1844824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29A00E1-7DFF-A4E5-F42C-1B1CEA8680E6}"/>
                </a:ext>
              </a:extLst>
            </p:cNvPr>
            <p:cNvSpPr/>
            <p:nvPr/>
          </p:nvSpPr>
          <p:spPr>
            <a:xfrm>
              <a:off x="774567" y="2214818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0.23</a:t>
              </a:r>
            </a:p>
          </p:txBody>
        </p:sp>
      </p:grpSp>
      <p:grpSp>
        <p:nvGrpSpPr>
          <p:cNvPr id="25" name="Group 24" descr="0.76">
            <a:extLst>
              <a:ext uri="{FF2B5EF4-FFF2-40B4-BE49-F238E27FC236}">
                <a16:creationId xmlns:a16="http://schemas.microsoft.com/office/drawing/2014/main" id="{BFFB3E80-8F71-89E5-7969-A32096AE33DE}"/>
              </a:ext>
            </a:extLst>
          </p:cNvPr>
          <p:cNvGrpSpPr/>
          <p:nvPr/>
        </p:nvGrpSpPr>
        <p:grpSpPr>
          <a:xfrm>
            <a:off x="1489190" y="2302628"/>
            <a:ext cx="482824" cy="633065"/>
            <a:chOff x="1271476" y="1852228"/>
            <a:chExt cx="482824" cy="633065"/>
          </a:xfrm>
        </p:grpSpPr>
        <p:sp>
          <p:nvSpPr>
            <p:cNvPr id="26" name="Down Arrow 25">
              <a:extLst>
                <a:ext uri="{FF2B5EF4-FFF2-40B4-BE49-F238E27FC236}">
                  <a16:creationId xmlns:a16="http://schemas.microsoft.com/office/drawing/2014/main" id="{682AAF55-E9E5-EDDA-5EBB-CCFFA7B75D10}"/>
                </a:ext>
              </a:extLst>
            </p:cNvPr>
            <p:cNvSpPr/>
            <p:nvPr/>
          </p:nvSpPr>
          <p:spPr bwMode="auto">
            <a:xfrm>
              <a:off x="1436713" y="1852228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134CE72-61E7-BC40-D41E-814F8B0F73DE}"/>
                </a:ext>
              </a:extLst>
            </p:cNvPr>
            <p:cNvSpPr/>
            <p:nvPr/>
          </p:nvSpPr>
          <p:spPr>
            <a:xfrm>
              <a:off x="1271476" y="2208294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0.76</a:t>
              </a:r>
            </a:p>
          </p:txBody>
        </p:sp>
      </p:grpSp>
      <p:grpSp>
        <p:nvGrpSpPr>
          <p:cNvPr id="28" name="Group 27" descr="0.41">
            <a:extLst>
              <a:ext uri="{FF2B5EF4-FFF2-40B4-BE49-F238E27FC236}">
                <a16:creationId xmlns:a16="http://schemas.microsoft.com/office/drawing/2014/main" id="{E688F731-890B-A03F-9DA0-AB15ED22685C}"/>
              </a:ext>
            </a:extLst>
          </p:cNvPr>
          <p:cNvGrpSpPr/>
          <p:nvPr/>
        </p:nvGrpSpPr>
        <p:grpSpPr>
          <a:xfrm>
            <a:off x="1973169" y="2302627"/>
            <a:ext cx="482824" cy="637980"/>
            <a:chOff x="1755455" y="1852228"/>
            <a:chExt cx="482824" cy="637980"/>
          </a:xfrm>
        </p:grpSpPr>
        <p:sp>
          <p:nvSpPr>
            <p:cNvPr id="29" name="Down Arrow 28">
              <a:extLst>
                <a:ext uri="{FF2B5EF4-FFF2-40B4-BE49-F238E27FC236}">
                  <a16:creationId xmlns:a16="http://schemas.microsoft.com/office/drawing/2014/main" id="{787B40FB-E335-E7D9-E410-10FE81321B66}"/>
                </a:ext>
              </a:extLst>
            </p:cNvPr>
            <p:cNvSpPr/>
            <p:nvPr/>
          </p:nvSpPr>
          <p:spPr bwMode="auto">
            <a:xfrm>
              <a:off x="1922825" y="1852228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70BD028-BB1E-1A15-43E7-AC905CD0C1AC}"/>
                </a:ext>
              </a:extLst>
            </p:cNvPr>
            <p:cNvSpPr/>
            <p:nvPr/>
          </p:nvSpPr>
          <p:spPr>
            <a:xfrm>
              <a:off x="1755455" y="2213209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0.41</a:t>
              </a:r>
            </a:p>
          </p:txBody>
        </p:sp>
      </p:grpSp>
      <p:grpSp>
        <p:nvGrpSpPr>
          <p:cNvPr id="31" name="Group 30" descr="0.14">
            <a:extLst>
              <a:ext uri="{FF2B5EF4-FFF2-40B4-BE49-F238E27FC236}">
                <a16:creationId xmlns:a16="http://schemas.microsoft.com/office/drawing/2014/main" id="{D11F61D9-AE49-CFD0-E2D4-6C4C6B1EBA40}"/>
              </a:ext>
            </a:extLst>
          </p:cNvPr>
          <p:cNvGrpSpPr/>
          <p:nvPr/>
        </p:nvGrpSpPr>
        <p:grpSpPr>
          <a:xfrm>
            <a:off x="2416315" y="2303079"/>
            <a:ext cx="482824" cy="636515"/>
            <a:chOff x="2198601" y="1852679"/>
            <a:chExt cx="482824" cy="636515"/>
          </a:xfrm>
        </p:grpSpPr>
        <p:sp>
          <p:nvSpPr>
            <p:cNvPr id="32" name="Down Arrow 31">
              <a:extLst>
                <a:ext uri="{FF2B5EF4-FFF2-40B4-BE49-F238E27FC236}">
                  <a16:creationId xmlns:a16="http://schemas.microsoft.com/office/drawing/2014/main" id="{C484EFC6-A73C-EF75-1CEA-5D17AF7BE265}"/>
                </a:ext>
              </a:extLst>
            </p:cNvPr>
            <p:cNvSpPr/>
            <p:nvPr/>
          </p:nvSpPr>
          <p:spPr bwMode="auto">
            <a:xfrm>
              <a:off x="2386853" y="1852679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F732A6D-37FA-6E1C-A5A6-5999D5CED515}"/>
                </a:ext>
              </a:extLst>
            </p:cNvPr>
            <p:cNvSpPr/>
            <p:nvPr/>
          </p:nvSpPr>
          <p:spPr>
            <a:xfrm>
              <a:off x="2198601" y="2212195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0.14</a:t>
              </a:r>
            </a:p>
          </p:txBody>
        </p:sp>
      </p:grpSp>
      <p:grpSp>
        <p:nvGrpSpPr>
          <p:cNvPr id="34" name="Group 33" descr="0.91">
            <a:extLst>
              <a:ext uri="{FF2B5EF4-FFF2-40B4-BE49-F238E27FC236}">
                <a16:creationId xmlns:a16="http://schemas.microsoft.com/office/drawing/2014/main" id="{AFA616C5-3E7F-CCCF-7FD9-8DC24A664884}"/>
              </a:ext>
            </a:extLst>
          </p:cNvPr>
          <p:cNvGrpSpPr/>
          <p:nvPr/>
        </p:nvGrpSpPr>
        <p:grpSpPr>
          <a:xfrm>
            <a:off x="2860790" y="2295224"/>
            <a:ext cx="482824" cy="648793"/>
            <a:chOff x="2643076" y="1844824"/>
            <a:chExt cx="482824" cy="648793"/>
          </a:xfrm>
        </p:grpSpPr>
        <p:sp>
          <p:nvSpPr>
            <p:cNvPr id="35" name="Down Arrow 34">
              <a:extLst>
                <a:ext uri="{FF2B5EF4-FFF2-40B4-BE49-F238E27FC236}">
                  <a16:creationId xmlns:a16="http://schemas.microsoft.com/office/drawing/2014/main" id="{9D2A3F35-8AD8-EC34-99A4-43155676B10B}"/>
                </a:ext>
              </a:extLst>
            </p:cNvPr>
            <p:cNvSpPr/>
            <p:nvPr/>
          </p:nvSpPr>
          <p:spPr bwMode="auto">
            <a:xfrm>
              <a:off x="2771800" y="1844824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8BCF80E-79BF-4FAC-2964-8C899E12952A}"/>
                </a:ext>
              </a:extLst>
            </p:cNvPr>
            <p:cNvSpPr/>
            <p:nvPr/>
          </p:nvSpPr>
          <p:spPr>
            <a:xfrm>
              <a:off x="2643076" y="2216618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0.91</a:t>
              </a:r>
            </a:p>
          </p:txBody>
        </p:sp>
      </p:grpSp>
      <p:grpSp>
        <p:nvGrpSpPr>
          <p:cNvPr id="37" name="Group 36" descr="0.68">
            <a:extLst>
              <a:ext uri="{FF2B5EF4-FFF2-40B4-BE49-F238E27FC236}">
                <a16:creationId xmlns:a16="http://schemas.microsoft.com/office/drawing/2014/main" id="{E3AA95BB-3F3E-704E-5227-95B0357BDF24}"/>
              </a:ext>
            </a:extLst>
          </p:cNvPr>
          <p:cNvGrpSpPr/>
          <p:nvPr/>
        </p:nvGrpSpPr>
        <p:grpSpPr>
          <a:xfrm>
            <a:off x="3311590" y="2302628"/>
            <a:ext cx="482824" cy="638187"/>
            <a:chOff x="3093876" y="1852228"/>
            <a:chExt cx="482824" cy="638187"/>
          </a:xfrm>
        </p:grpSpPr>
        <p:sp>
          <p:nvSpPr>
            <p:cNvPr id="38" name="Down Arrow 37">
              <a:extLst>
                <a:ext uri="{FF2B5EF4-FFF2-40B4-BE49-F238E27FC236}">
                  <a16:creationId xmlns:a16="http://schemas.microsoft.com/office/drawing/2014/main" id="{7CBEDBC3-56A4-6F1C-C83C-F478679BAD1F}"/>
                </a:ext>
              </a:extLst>
            </p:cNvPr>
            <p:cNvSpPr/>
            <p:nvPr/>
          </p:nvSpPr>
          <p:spPr bwMode="auto">
            <a:xfrm>
              <a:off x="3249866" y="1852228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CB14186-C092-E3C3-7CC0-B168F893F7AA}"/>
                </a:ext>
              </a:extLst>
            </p:cNvPr>
            <p:cNvSpPr/>
            <p:nvPr/>
          </p:nvSpPr>
          <p:spPr>
            <a:xfrm>
              <a:off x="3093876" y="2213416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0.68</a:t>
              </a:r>
            </a:p>
          </p:txBody>
        </p:sp>
      </p:grpSp>
      <p:grpSp>
        <p:nvGrpSpPr>
          <p:cNvPr id="40" name="Group 39" descr="0.47">
            <a:extLst>
              <a:ext uri="{FF2B5EF4-FFF2-40B4-BE49-F238E27FC236}">
                <a16:creationId xmlns:a16="http://schemas.microsoft.com/office/drawing/2014/main" id="{BB07471D-42B3-9F4C-5611-78D9070B3FCF}"/>
              </a:ext>
            </a:extLst>
          </p:cNvPr>
          <p:cNvGrpSpPr/>
          <p:nvPr/>
        </p:nvGrpSpPr>
        <p:grpSpPr>
          <a:xfrm>
            <a:off x="1068901" y="4191209"/>
            <a:ext cx="482824" cy="646993"/>
            <a:chOff x="774567" y="1844824"/>
            <a:chExt cx="482824" cy="646993"/>
          </a:xfrm>
        </p:grpSpPr>
        <p:sp>
          <p:nvSpPr>
            <p:cNvPr id="41" name="Down Arrow 40">
              <a:extLst>
                <a:ext uri="{FF2B5EF4-FFF2-40B4-BE49-F238E27FC236}">
                  <a16:creationId xmlns:a16="http://schemas.microsoft.com/office/drawing/2014/main" id="{F78DC1D7-97AC-1C77-9762-1964B78E10C7}"/>
                </a:ext>
              </a:extLst>
            </p:cNvPr>
            <p:cNvSpPr/>
            <p:nvPr/>
          </p:nvSpPr>
          <p:spPr bwMode="auto">
            <a:xfrm>
              <a:off x="971600" y="1844824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84E6BB0-203B-1BA6-CE7B-736F8423C412}"/>
                </a:ext>
              </a:extLst>
            </p:cNvPr>
            <p:cNvSpPr/>
            <p:nvPr/>
          </p:nvSpPr>
          <p:spPr>
            <a:xfrm>
              <a:off x="774567" y="2214818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0.47</a:t>
              </a:r>
            </a:p>
          </p:txBody>
        </p:sp>
      </p:grpSp>
      <p:grpSp>
        <p:nvGrpSpPr>
          <p:cNvPr id="43" name="Group 42" descr="0.16">
            <a:extLst>
              <a:ext uri="{FF2B5EF4-FFF2-40B4-BE49-F238E27FC236}">
                <a16:creationId xmlns:a16="http://schemas.microsoft.com/office/drawing/2014/main" id="{45BA2F5E-A626-C7B6-5D6C-59E47A13A684}"/>
              </a:ext>
            </a:extLst>
          </p:cNvPr>
          <p:cNvGrpSpPr/>
          <p:nvPr/>
        </p:nvGrpSpPr>
        <p:grpSpPr>
          <a:xfrm>
            <a:off x="1565810" y="4198613"/>
            <a:ext cx="482824" cy="633065"/>
            <a:chOff x="1271476" y="1852228"/>
            <a:chExt cx="482824" cy="633065"/>
          </a:xfrm>
        </p:grpSpPr>
        <p:sp>
          <p:nvSpPr>
            <p:cNvPr id="44" name="Down Arrow 43">
              <a:extLst>
                <a:ext uri="{FF2B5EF4-FFF2-40B4-BE49-F238E27FC236}">
                  <a16:creationId xmlns:a16="http://schemas.microsoft.com/office/drawing/2014/main" id="{6345884E-75E6-CD81-778E-20A27C9B92C5}"/>
                </a:ext>
              </a:extLst>
            </p:cNvPr>
            <p:cNvSpPr/>
            <p:nvPr/>
          </p:nvSpPr>
          <p:spPr bwMode="auto">
            <a:xfrm>
              <a:off x="1436713" y="1852228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9C88F96-202F-88C2-937F-92A95D5EF149}"/>
                </a:ext>
              </a:extLst>
            </p:cNvPr>
            <p:cNvSpPr/>
            <p:nvPr/>
          </p:nvSpPr>
          <p:spPr>
            <a:xfrm>
              <a:off x="1271476" y="2208294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0.16</a:t>
              </a:r>
            </a:p>
          </p:txBody>
        </p:sp>
      </p:grpSp>
      <p:grpSp>
        <p:nvGrpSpPr>
          <p:cNvPr id="46" name="Group 45" descr="0.28">
            <a:extLst>
              <a:ext uri="{FF2B5EF4-FFF2-40B4-BE49-F238E27FC236}">
                <a16:creationId xmlns:a16="http://schemas.microsoft.com/office/drawing/2014/main" id="{291614A5-1D9E-0F33-7BB7-E93DDF70D7A9}"/>
              </a:ext>
            </a:extLst>
          </p:cNvPr>
          <p:cNvGrpSpPr/>
          <p:nvPr/>
        </p:nvGrpSpPr>
        <p:grpSpPr>
          <a:xfrm>
            <a:off x="2049789" y="4198612"/>
            <a:ext cx="482824" cy="637980"/>
            <a:chOff x="1755455" y="1852228"/>
            <a:chExt cx="482824" cy="637980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B3302D0A-1B78-726B-BA00-CD9744FE48D5}"/>
                </a:ext>
              </a:extLst>
            </p:cNvPr>
            <p:cNvSpPr/>
            <p:nvPr/>
          </p:nvSpPr>
          <p:spPr bwMode="auto">
            <a:xfrm>
              <a:off x="1922825" y="1852228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D65D567-96FF-2C7D-7D9C-FAD1B17E0DD2}"/>
                </a:ext>
              </a:extLst>
            </p:cNvPr>
            <p:cNvSpPr/>
            <p:nvPr/>
          </p:nvSpPr>
          <p:spPr>
            <a:xfrm>
              <a:off x="1755455" y="2213209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0.28</a:t>
              </a:r>
            </a:p>
          </p:txBody>
        </p:sp>
      </p:grpSp>
      <p:grpSp>
        <p:nvGrpSpPr>
          <p:cNvPr id="49" name="Group 48" descr="0.94">
            <a:extLst>
              <a:ext uri="{FF2B5EF4-FFF2-40B4-BE49-F238E27FC236}">
                <a16:creationId xmlns:a16="http://schemas.microsoft.com/office/drawing/2014/main" id="{FB53B4BB-A121-D7CF-FFF8-44722610896F}"/>
              </a:ext>
            </a:extLst>
          </p:cNvPr>
          <p:cNvGrpSpPr/>
          <p:nvPr/>
        </p:nvGrpSpPr>
        <p:grpSpPr>
          <a:xfrm>
            <a:off x="2492935" y="4199064"/>
            <a:ext cx="482824" cy="636515"/>
            <a:chOff x="2198601" y="1852679"/>
            <a:chExt cx="482824" cy="636515"/>
          </a:xfrm>
        </p:grpSpPr>
        <p:sp>
          <p:nvSpPr>
            <p:cNvPr id="50" name="Down Arrow 49">
              <a:extLst>
                <a:ext uri="{FF2B5EF4-FFF2-40B4-BE49-F238E27FC236}">
                  <a16:creationId xmlns:a16="http://schemas.microsoft.com/office/drawing/2014/main" id="{8F4704B5-70C6-BFA8-5D89-88BF7474FA20}"/>
                </a:ext>
              </a:extLst>
            </p:cNvPr>
            <p:cNvSpPr/>
            <p:nvPr/>
          </p:nvSpPr>
          <p:spPr bwMode="auto">
            <a:xfrm>
              <a:off x="2386853" y="1852679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E751EEB-2F8E-79FD-EAB1-4B7ACDE02814}"/>
                </a:ext>
              </a:extLst>
            </p:cNvPr>
            <p:cNvSpPr/>
            <p:nvPr/>
          </p:nvSpPr>
          <p:spPr>
            <a:xfrm>
              <a:off x="2198601" y="2212195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0.94</a:t>
              </a:r>
            </a:p>
          </p:txBody>
        </p:sp>
      </p:grpSp>
      <p:grpSp>
        <p:nvGrpSpPr>
          <p:cNvPr id="52" name="Group 51" descr="0.78">
            <a:extLst>
              <a:ext uri="{FF2B5EF4-FFF2-40B4-BE49-F238E27FC236}">
                <a16:creationId xmlns:a16="http://schemas.microsoft.com/office/drawing/2014/main" id="{6AB6E25B-440D-CBCE-D615-784240A0EFCF}"/>
              </a:ext>
            </a:extLst>
          </p:cNvPr>
          <p:cNvGrpSpPr/>
          <p:nvPr/>
        </p:nvGrpSpPr>
        <p:grpSpPr>
          <a:xfrm>
            <a:off x="2937410" y="4191209"/>
            <a:ext cx="482824" cy="648793"/>
            <a:chOff x="2643076" y="1844824"/>
            <a:chExt cx="482824" cy="648793"/>
          </a:xfrm>
        </p:grpSpPr>
        <p:sp>
          <p:nvSpPr>
            <p:cNvPr id="53" name="Down Arrow 52">
              <a:extLst>
                <a:ext uri="{FF2B5EF4-FFF2-40B4-BE49-F238E27FC236}">
                  <a16:creationId xmlns:a16="http://schemas.microsoft.com/office/drawing/2014/main" id="{1D7B2B45-AF12-FE19-C4E4-1A4839B57A09}"/>
                </a:ext>
              </a:extLst>
            </p:cNvPr>
            <p:cNvSpPr/>
            <p:nvPr/>
          </p:nvSpPr>
          <p:spPr bwMode="auto">
            <a:xfrm>
              <a:off x="2771800" y="1844824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4E672C3-BDBE-CDC8-5E97-57A69DC38BF7}"/>
                </a:ext>
              </a:extLst>
            </p:cNvPr>
            <p:cNvSpPr/>
            <p:nvPr/>
          </p:nvSpPr>
          <p:spPr>
            <a:xfrm>
              <a:off x="2643076" y="2216618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0.78</a:t>
              </a:r>
            </a:p>
          </p:txBody>
        </p:sp>
      </p:grpSp>
      <p:grpSp>
        <p:nvGrpSpPr>
          <p:cNvPr id="55" name="Group 54" descr="0.03">
            <a:extLst>
              <a:ext uri="{FF2B5EF4-FFF2-40B4-BE49-F238E27FC236}">
                <a16:creationId xmlns:a16="http://schemas.microsoft.com/office/drawing/2014/main" id="{7FD89E03-01AA-4047-A73C-C7B055D19DE4}"/>
              </a:ext>
            </a:extLst>
          </p:cNvPr>
          <p:cNvGrpSpPr/>
          <p:nvPr/>
        </p:nvGrpSpPr>
        <p:grpSpPr>
          <a:xfrm>
            <a:off x="3388210" y="4198613"/>
            <a:ext cx="482824" cy="638187"/>
            <a:chOff x="3093876" y="1852228"/>
            <a:chExt cx="482824" cy="638187"/>
          </a:xfrm>
        </p:grpSpPr>
        <p:sp>
          <p:nvSpPr>
            <p:cNvPr id="56" name="Down Arrow 55">
              <a:extLst>
                <a:ext uri="{FF2B5EF4-FFF2-40B4-BE49-F238E27FC236}">
                  <a16:creationId xmlns:a16="http://schemas.microsoft.com/office/drawing/2014/main" id="{EE9B59F9-0D9B-F1FA-F189-6DB07137113A}"/>
                </a:ext>
              </a:extLst>
            </p:cNvPr>
            <p:cNvSpPr/>
            <p:nvPr/>
          </p:nvSpPr>
          <p:spPr bwMode="auto">
            <a:xfrm>
              <a:off x="3249866" y="1852228"/>
              <a:ext cx="152350" cy="360040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7C69095-E700-5B28-EBDB-FD9C006DED4F}"/>
                </a:ext>
              </a:extLst>
            </p:cNvPr>
            <p:cNvSpPr/>
            <p:nvPr/>
          </p:nvSpPr>
          <p:spPr>
            <a:xfrm>
              <a:off x="3093876" y="2213416"/>
              <a:ext cx="4828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0.03</a:t>
              </a:r>
            </a:p>
          </p:txBody>
        </p:sp>
      </p:grpSp>
      <p:sp>
        <p:nvSpPr>
          <p:cNvPr id="58" name="Right Arrow 57">
            <a:extLst>
              <a:ext uri="{FF2B5EF4-FFF2-40B4-BE49-F238E27FC236}">
                <a16:creationId xmlns:a16="http://schemas.microsoft.com/office/drawing/2014/main" id="{FDBB0517-F6B0-E370-99BD-7B547F5C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2282" y="1958961"/>
            <a:ext cx="35094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 Box 15">
            <a:extLst>
              <a:ext uri="{FF2B5EF4-FFF2-40B4-BE49-F238E27FC236}">
                <a16:creationId xmlns:a16="http://schemas.microsoft.com/office/drawing/2014/main" id="{C626E57B-A452-9491-1374-722E1F11C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9243" y="2971631"/>
            <a:ext cx="467085" cy="478819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dirty="0">
                <a:latin typeface="Times New Roman" pitchFamily="18" charset="0"/>
              </a:rPr>
              <a:t>0</a:t>
            </a:r>
            <a:endParaRPr lang="en-US" altLang="en-US" sz="2400" b="0" dirty="0">
              <a:latin typeface="Times New Roman" pitchFamily="18" charset="0"/>
            </a:endParaRPr>
          </a:p>
        </p:txBody>
      </p:sp>
      <p:sp>
        <p:nvSpPr>
          <p:cNvPr id="60" name="Text Box 15">
            <a:extLst>
              <a:ext uri="{FF2B5EF4-FFF2-40B4-BE49-F238E27FC236}">
                <a16:creationId xmlns:a16="http://schemas.microsoft.com/office/drawing/2014/main" id="{4AE56A35-8AC6-208F-F642-A6EE979A2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208" y="4921309"/>
            <a:ext cx="457200" cy="4699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dirty="0">
                <a:latin typeface="Times New Roman" pitchFamily="18" charset="0"/>
              </a:rPr>
              <a:t>1</a:t>
            </a:r>
            <a:endParaRPr lang="en-US" altLang="en-US" sz="2400" b="0" dirty="0">
              <a:latin typeface="Times New Roman" pitchFamily="18" charset="0"/>
            </a:endParaRPr>
          </a:p>
        </p:txBody>
      </p:sp>
      <p:sp>
        <p:nvSpPr>
          <p:cNvPr id="61" name="Text Box 15">
            <a:extLst>
              <a:ext uri="{FF2B5EF4-FFF2-40B4-BE49-F238E27FC236}">
                <a16:creationId xmlns:a16="http://schemas.microsoft.com/office/drawing/2014/main" id="{664E293D-DEC8-3258-9866-8EBAAA0F5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4610" y="4929414"/>
            <a:ext cx="457200" cy="4699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en-US" sz="2400" dirty="0">
                <a:latin typeface="Times New Roman" pitchFamily="18" charset="0"/>
              </a:rPr>
              <a:t>1</a:t>
            </a:r>
            <a:endParaRPr lang="en-US" altLang="en-US" sz="2400" b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33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8" grpId="0" animBg="1"/>
      <p:bldP spid="59" grpId="0" animBg="1"/>
      <p:bldP spid="60" grpId="0" animBg="1"/>
      <p:bldP spid="6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D8AF-28D6-B0C8-E806-E91C0410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D9A0-7212-925B-7651-C7CA2FEE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1C305D-973F-2B90-863E-6588C3D78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71AB5B-6AAA-550E-83B6-EA2F27A92298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4" y="1031818"/>
            <a:ext cx="10653366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ounded Rectangle 4" descr="Rectangular box highlighting fitness replacement stage in the pseudocode">
            <a:extLst>
              <a:ext uri="{FF2B5EF4-FFF2-40B4-BE49-F238E27FC236}">
                <a16:creationId xmlns:a16="http://schemas.microsoft.com/office/drawing/2014/main" id="{1C579DF8-4CD1-CB64-0535-9A0397DEDA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66241" y="5144831"/>
            <a:ext cx="1542082" cy="52023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3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F100-6A24-0C81-F419-B2F5A1EC0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Replacement Strategy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3F771A-5E45-09C1-3A72-617F2BAB4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17F53-ED60-9CA6-C1C4-792802FD9BF4}"/>
              </a:ext>
            </a:extLst>
          </p:cNvPr>
          <p:cNvSpPr txBox="1"/>
          <p:nvPr/>
        </p:nvSpPr>
        <p:spPr>
          <a:xfrm>
            <a:off x="433805" y="1341282"/>
            <a:ext cx="109728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There are variety of strategies for replacing the old population (generation) by the new (offspring) population to form the next generation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>
                  <a:alpha val="8972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>
                    <a:alpha val="8972"/>
                  </a:schemeClr>
                </a:solidFill>
              </a:rPr>
              <a:t>Generation gap (</a:t>
            </a:r>
            <a:r>
              <a:rPr lang="en-US" altLang="en-US" sz="2400" b="1" i="1" dirty="0">
                <a:solidFill>
                  <a:schemeClr val="tx1">
                    <a:alpha val="8972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en-US" altLang="en-US" sz="2400" b="1" dirty="0">
                <a:solidFill>
                  <a:schemeClr val="tx1">
                    <a:alpha val="8972"/>
                  </a:schemeClr>
                </a:solidFill>
              </a:rPr>
              <a:t>)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 controls the fraction of the population to be replaced in each generation, where 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  <a:sym typeface="Symbol" panose="05050102010706020507" pitchFamily="18" charset="2"/>
              </a:rPr>
              <a:t> 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 [1/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,1.0] </a:t>
            </a:r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Number of offspring produced at each generation is </a:t>
            </a:r>
            <a:r>
              <a:rPr lang="en-US" altLang="en-US" sz="2400" b="1" i="1" dirty="0">
                <a:solidFill>
                  <a:schemeClr val="tx1">
                    <a:alpha val="8972"/>
                  </a:schemeClr>
                </a:solidFill>
              </a:rPr>
              <a:t>g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=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*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b="1" dirty="0">
              <a:solidFill>
                <a:schemeClr val="tx1">
                  <a:alpha val="8972"/>
                </a:schemeClr>
              </a:solidFill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>
                    <a:alpha val="8972"/>
                  </a:schemeClr>
                </a:solidFill>
              </a:rPr>
              <a:t>(</a:t>
            </a:r>
            <a:r>
              <a:rPr lang="en-US" altLang="en-US" sz="2400" b="1" i="1" dirty="0">
                <a:solidFill>
                  <a:schemeClr val="tx1">
                    <a:alpha val="8972"/>
                  </a:schemeClr>
                </a:solidFill>
              </a:rPr>
              <a:t>Trans-</a:t>
            </a:r>
            <a:r>
              <a:rPr lang="en-US" altLang="en-US" sz="2400" b="1" dirty="0">
                <a:solidFill>
                  <a:schemeClr val="tx1">
                    <a:alpha val="8972"/>
                  </a:schemeClr>
                </a:solidFill>
              </a:rPr>
              <a:t>)</a:t>
            </a:r>
            <a:r>
              <a:rPr lang="en-US" altLang="en-US" sz="2400" b="1" i="1" dirty="0">
                <a:solidFill>
                  <a:schemeClr val="tx1">
                    <a:alpha val="8972"/>
                  </a:schemeClr>
                </a:solidFill>
              </a:rPr>
              <a:t>Generational GA 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(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g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&gt;2, that is 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&gt;2/N)</a:t>
            </a:r>
          </a:p>
          <a:p>
            <a:pPr marL="344487" lvl="1" indent="0">
              <a:lnSpc>
                <a:spcPct val="80000"/>
              </a:lnSpc>
              <a:buNone/>
            </a:pP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 individuals produce 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  <a:sym typeface="Symbol" pitchFamily="18" charset="2"/>
              </a:rPr>
              <a:t>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 offspring, so (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 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+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  <a:sym typeface="Symbol" pitchFamily="18" charset="2"/>
              </a:rPr>
              <a:t> 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  <a:sym typeface="Symbol" pitchFamily="18" charset="2"/>
              </a:rPr>
              <a:t>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) 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→ N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  <a:sym typeface="Symbol" pitchFamily="18" charset="2"/>
              </a:rPr>
              <a:t>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 replaces worst 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  <a:sym typeface="Symbol" pitchFamily="18" charset="2"/>
              </a:rPr>
              <a:t>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 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of 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</a:t>
            </a:r>
            <a:endParaRPr lang="en-US" altLang="en-US" sz="2400" dirty="0">
              <a:solidFill>
                <a:schemeClr val="tx1">
                  <a:alpha val="8972"/>
                </a:schemeClr>
              </a:solidFill>
            </a:endParaRPr>
          </a:p>
          <a:p>
            <a:pPr lvl="2">
              <a:lnSpc>
                <a:spcPct val="80000"/>
              </a:lnSpc>
            </a:pPr>
            <a:r>
              <a:rPr lang="en-US" altLang="en-US" sz="2100" dirty="0">
                <a:solidFill>
                  <a:schemeClr val="tx1">
                    <a:alpha val="8972"/>
                  </a:schemeClr>
                </a:solidFill>
              </a:rPr>
              <a:t>largest </a:t>
            </a:r>
            <a:r>
              <a:rPr lang="en-US" altLang="en-US" sz="2100" i="1" dirty="0">
                <a:solidFill>
                  <a:schemeClr val="tx1">
                    <a:alpha val="8972"/>
                  </a:schemeClr>
                </a:solidFill>
              </a:rPr>
              <a:t>generation</a:t>
            </a:r>
            <a:r>
              <a:rPr lang="en-US" altLang="en-US" sz="2100" dirty="0">
                <a:solidFill>
                  <a:schemeClr val="tx1">
                    <a:alpha val="8972"/>
                  </a:schemeClr>
                </a:solidFill>
              </a:rPr>
              <a:t> </a:t>
            </a:r>
            <a:r>
              <a:rPr lang="en-US" altLang="en-US" sz="2100" i="1" dirty="0">
                <a:solidFill>
                  <a:schemeClr val="tx1">
                    <a:alpha val="8972"/>
                  </a:schemeClr>
                </a:solidFill>
              </a:rPr>
              <a:t>gap</a:t>
            </a:r>
            <a:r>
              <a:rPr lang="en-US" altLang="en-US" sz="2100" dirty="0">
                <a:solidFill>
                  <a:schemeClr val="tx1">
                    <a:alpha val="8972"/>
                  </a:schemeClr>
                </a:solidFill>
              </a:rPr>
              <a:t> where </a:t>
            </a:r>
            <a:r>
              <a:rPr lang="en-US" altLang="en-US" sz="2100" i="1" dirty="0">
                <a:solidFill>
                  <a:schemeClr val="tx1">
                    <a:alpha val="8972"/>
                  </a:schemeClr>
                </a:solidFill>
                <a:sym typeface="Symbol" pitchFamily="18" charset="2"/>
              </a:rPr>
              <a:t></a:t>
            </a:r>
            <a:r>
              <a:rPr lang="en-US" altLang="en-US" sz="2100" dirty="0">
                <a:solidFill>
                  <a:schemeClr val="tx1">
                    <a:alpha val="8972"/>
                  </a:schemeClr>
                </a:solidFill>
              </a:rPr>
              <a:t>=1.0 yields</a:t>
            </a:r>
            <a:r>
              <a:rPr lang="en-US" altLang="en-US" sz="2100" i="1" dirty="0">
                <a:solidFill>
                  <a:schemeClr val="tx1">
                    <a:alpha val="8972"/>
                  </a:schemeClr>
                </a:solidFill>
              </a:rPr>
              <a:t> g=N. </a:t>
            </a:r>
          </a:p>
          <a:p>
            <a:pPr lvl="2">
              <a:lnSpc>
                <a:spcPct val="80000"/>
              </a:lnSpc>
            </a:pPr>
            <a:r>
              <a:rPr lang="en-US" altLang="en-US" sz="2100" dirty="0">
                <a:solidFill>
                  <a:schemeClr val="tx1">
                    <a:alpha val="8972"/>
                  </a:schemeClr>
                </a:solidFill>
              </a:rPr>
              <a:t>GA relies on improvement of average objective values from one population to another</a:t>
            </a:r>
          </a:p>
          <a:p>
            <a:pPr lvl="3">
              <a:lnSpc>
                <a:spcPct val="80000"/>
              </a:lnSpc>
            </a:pPr>
            <a:r>
              <a:rPr lang="en-US" altLang="en-US" sz="1800" dirty="0">
                <a:solidFill>
                  <a:schemeClr val="tx1">
                    <a:alpha val="8972"/>
                  </a:schemeClr>
                </a:solidFill>
              </a:rPr>
              <a:t>It is always a good idea not to loose the best solution found so far. 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sort (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 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+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  <a:sym typeface="Symbol" pitchFamily="18" charset="2"/>
              </a:rPr>
              <a:t> 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  <a:sym typeface="Symbol" pitchFamily="18" charset="2"/>
              </a:rPr>
              <a:t>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) and choose the </a:t>
            </a:r>
            <a:r>
              <a:rPr lang="en-US" altLang="en-US" sz="2400" i="1" dirty="0">
                <a:solidFill>
                  <a:schemeClr val="tx1">
                    <a:alpha val="8972"/>
                  </a:schemeClr>
                </a:solidFill>
              </a:rPr>
              <a:t>N</a:t>
            </a:r>
            <a:r>
              <a:rPr lang="en-US" altLang="en-US" sz="2400" dirty="0">
                <a:solidFill>
                  <a:schemeClr val="tx1">
                    <a:alpha val="8972"/>
                  </a:schemeClr>
                </a:solidFill>
              </a:rPr>
              <a:t> best (elitism) </a:t>
            </a:r>
          </a:p>
          <a:p>
            <a:endParaRPr lang="en-GB" dirty="0">
              <a:solidFill>
                <a:schemeClr val="tx1">
                  <a:alpha val="8972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73BF5-EA7E-516A-FEED-BA088E79EDFE}"/>
              </a:ext>
            </a:extLst>
          </p:cNvPr>
          <p:cNvSpPr txBox="1"/>
          <p:nvPr/>
        </p:nvSpPr>
        <p:spPr>
          <a:xfrm>
            <a:off x="433805" y="1341282"/>
            <a:ext cx="109728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There are variety of strategies for replacing the old population (generation) by the new (offspring) population to form the next generation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/>
              <a:t>Generation gap (</a:t>
            </a:r>
            <a:r>
              <a:rPr lang="en-US" altLang="en-US" sz="2400" b="1" i="1" dirty="0">
                <a:sym typeface="Symbol" panose="05050102010706020507" pitchFamily="18" charset="2"/>
              </a:rPr>
              <a:t></a:t>
            </a:r>
            <a:r>
              <a:rPr lang="en-US" altLang="en-US" sz="2400" b="1" dirty="0"/>
              <a:t>)</a:t>
            </a:r>
            <a:r>
              <a:rPr lang="en-US" altLang="en-US" sz="2400" dirty="0"/>
              <a:t> controls the fraction of the population to be replaced in each generation, where </a:t>
            </a:r>
            <a:r>
              <a:rPr lang="en-US" altLang="en-US" sz="2400" i="1" dirty="0">
                <a:sym typeface="Symbol" panose="05050102010706020507" pitchFamily="18" charset="2"/>
              </a:rPr>
              <a:t> </a:t>
            </a:r>
            <a:r>
              <a:rPr lang="en-US" altLang="en-US" sz="2400" dirty="0">
                <a:sym typeface="Symbol" panose="05050102010706020507" pitchFamily="18" charset="2"/>
              </a:rPr>
              <a:t></a:t>
            </a:r>
            <a:r>
              <a:rPr lang="en-US" altLang="en-US" sz="2400" dirty="0"/>
              <a:t> [1/</a:t>
            </a:r>
            <a:r>
              <a:rPr lang="en-US" altLang="en-US" sz="2400" i="1" dirty="0"/>
              <a:t>N</a:t>
            </a:r>
            <a:r>
              <a:rPr lang="en-US" altLang="en-US" sz="2400" dirty="0"/>
              <a:t>,1.0] </a:t>
            </a:r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Number of offspring produced at each generation is </a:t>
            </a:r>
            <a:r>
              <a:rPr lang="en-US" altLang="en-US" sz="2400" b="1" i="1" dirty="0"/>
              <a:t>g</a:t>
            </a:r>
            <a:r>
              <a:rPr lang="en-US" altLang="en-US" sz="2400" dirty="0"/>
              <a:t>=</a:t>
            </a:r>
            <a:r>
              <a:rPr lang="en-US" altLang="en-US" sz="2400" i="1" dirty="0">
                <a:sym typeface="Symbol" panose="05050102010706020507" pitchFamily="18" charset="2"/>
              </a:rPr>
              <a:t></a:t>
            </a:r>
            <a:r>
              <a:rPr lang="en-US" altLang="en-US" sz="2400" dirty="0"/>
              <a:t>*</a:t>
            </a:r>
            <a:r>
              <a:rPr lang="en-US" altLang="en-US" sz="2400" i="1" dirty="0"/>
              <a:t>N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b="1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/>
              <a:t>(</a:t>
            </a:r>
            <a:r>
              <a:rPr lang="en-US" altLang="en-US" sz="2400" b="1" i="1" dirty="0"/>
              <a:t>Trans-</a:t>
            </a:r>
            <a:r>
              <a:rPr lang="en-US" altLang="en-US" sz="2400" b="1" dirty="0"/>
              <a:t>)</a:t>
            </a:r>
            <a:r>
              <a:rPr lang="en-US" altLang="en-US" sz="2400" b="1" i="1" dirty="0"/>
              <a:t>Generational GA </a:t>
            </a:r>
            <a:r>
              <a:rPr lang="en-US" altLang="en-US" sz="2400" dirty="0"/>
              <a:t>(</a:t>
            </a:r>
            <a:r>
              <a:rPr lang="en-US" altLang="en-US" sz="2400" i="1" dirty="0"/>
              <a:t>g</a:t>
            </a:r>
            <a:r>
              <a:rPr lang="en-US" altLang="en-US" sz="2400" dirty="0"/>
              <a:t>&gt;2, that is </a:t>
            </a:r>
            <a:r>
              <a:rPr lang="en-US" altLang="en-US" sz="2400" i="1" dirty="0">
                <a:sym typeface="Symbol" panose="05050102010706020507" pitchFamily="18" charset="2"/>
              </a:rPr>
              <a:t></a:t>
            </a:r>
            <a:r>
              <a:rPr lang="en-US" altLang="en-US" sz="2400" dirty="0"/>
              <a:t>&gt;2/N)</a:t>
            </a:r>
          </a:p>
          <a:p>
            <a:pPr marL="344487" lvl="1" indent="0">
              <a:lnSpc>
                <a:spcPct val="80000"/>
              </a:lnSpc>
              <a:buNone/>
            </a:pPr>
            <a:r>
              <a:rPr lang="en-US" altLang="en-US" sz="2400" i="1" dirty="0"/>
              <a:t>N</a:t>
            </a:r>
            <a:r>
              <a:rPr lang="en-US" altLang="en-US" sz="2400" dirty="0"/>
              <a:t> individuals produce </a:t>
            </a:r>
            <a:r>
              <a:rPr lang="en-US" altLang="en-US" sz="2400" i="1" dirty="0">
                <a:sym typeface="Symbol" pitchFamily="18" charset="2"/>
              </a:rPr>
              <a:t></a:t>
            </a:r>
            <a:r>
              <a:rPr lang="en-US" altLang="en-US" sz="2400" i="1" dirty="0"/>
              <a:t>N</a:t>
            </a:r>
            <a:r>
              <a:rPr lang="en-US" altLang="en-US" sz="2400" dirty="0"/>
              <a:t> offspring, so (</a:t>
            </a:r>
            <a:r>
              <a:rPr lang="en-US" altLang="en-US" sz="2400" i="1" dirty="0"/>
              <a:t>N </a:t>
            </a:r>
            <a:r>
              <a:rPr lang="en-US" altLang="en-US" sz="2400" dirty="0"/>
              <a:t>+</a:t>
            </a:r>
            <a:r>
              <a:rPr lang="en-US" altLang="en-US" sz="2400" dirty="0">
                <a:sym typeface="Symbol" pitchFamily="18" charset="2"/>
              </a:rPr>
              <a:t> </a:t>
            </a:r>
            <a:r>
              <a:rPr lang="en-US" altLang="en-US" sz="2400" i="1" dirty="0">
                <a:sym typeface="Symbol" pitchFamily="18" charset="2"/>
              </a:rPr>
              <a:t></a:t>
            </a:r>
            <a:r>
              <a:rPr lang="en-US" altLang="en-US" sz="2400" i="1" dirty="0"/>
              <a:t>N</a:t>
            </a:r>
            <a:r>
              <a:rPr lang="en-US" altLang="en-US" sz="2400" dirty="0"/>
              <a:t>) </a:t>
            </a:r>
            <a:r>
              <a:rPr lang="en-US" altLang="en-US" sz="2400" i="1" dirty="0"/>
              <a:t>→ N</a:t>
            </a:r>
            <a:r>
              <a:rPr lang="en-US" altLang="en-US" sz="24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sz="2400" i="1" dirty="0">
                <a:sym typeface="Symbol" pitchFamily="18" charset="2"/>
              </a:rPr>
              <a:t></a:t>
            </a:r>
            <a:r>
              <a:rPr lang="en-US" altLang="en-US" sz="2400" i="1" dirty="0"/>
              <a:t>N</a:t>
            </a:r>
            <a:r>
              <a:rPr lang="en-US" altLang="en-US" sz="2400" dirty="0"/>
              <a:t> replaces worst </a:t>
            </a:r>
            <a:r>
              <a:rPr lang="en-US" altLang="en-US" sz="2400" i="1" dirty="0">
                <a:sym typeface="Symbol" pitchFamily="18" charset="2"/>
              </a:rPr>
              <a:t></a:t>
            </a:r>
            <a:r>
              <a:rPr lang="en-US" altLang="en-US" sz="2400" i="1" dirty="0"/>
              <a:t>N </a:t>
            </a:r>
            <a:r>
              <a:rPr lang="en-US" altLang="en-US" sz="2400" dirty="0"/>
              <a:t>of </a:t>
            </a:r>
            <a:r>
              <a:rPr lang="en-US" altLang="en-US" sz="2400" i="1" dirty="0"/>
              <a:t>N</a:t>
            </a:r>
            <a:endParaRPr lang="en-US" altLang="en-US" sz="2400" dirty="0"/>
          </a:p>
          <a:p>
            <a:pPr lvl="2">
              <a:lnSpc>
                <a:spcPct val="80000"/>
              </a:lnSpc>
            </a:pPr>
            <a:r>
              <a:rPr lang="en-US" altLang="en-US" sz="2100" dirty="0"/>
              <a:t>largest </a:t>
            </a:r>
            <a:r>
              <a:rPr lang="en-US" altLang="en-US" sz="2100" i="1" dirty="0"/>
              <a:t>generation</a:t>
            </a:r>
            <a:r>
              <a:rPr lang="en-US" altLang="en-US" sz="2100" dirty="0"/>
              <a:t> </a:t>
            </a:r>
            <a:r>
              <a:rPr lang="en-US" altLang="en-US" sz="2100" i="1" dirty="0"/>
              <a:t>gap</a:t>
            </a:r>
            <a:r>
              <a:rPr lang="en-US" altLang="en-US" sz="2100" dirty="0"/>
              <a:t> where </a:t>
            </a:r>
            <a:r>
              <a:rPr lang="en-US" altLang="en-US" sz="2100" i="1" dirty="0">
                <a:sym typeface="Symbol" pitchFamily="18" charset="2"/>
              </a:rPr>
              <a:t></a:t>
            </a:r>
            <a:r>
              <a:rPr lang="en-US" altLang="en-US" sz="2100" dirty="0"/>
              <a:t>=1.0 yields</a:t>
            </a:r>
            <a:r>
              <a:rPr lang="en-US" altLang="en-US" sz="2100" i="1" dirty="0"/>
              <a:t> g=N. </a:t>
            </a:r>
          </a:p>
          <a:p>
            <a:pPr lvl="2">
              <a:lnSpc>
                <a:spcPct val="80000"/>
              </a:lnSpc>
            </a:pPr>
            <a:r>
              <a:rPr lang="en-US" altLang="en-US" sz="2100" dirty="0"/>
              <a:t>GA relies on improvement of average objective values from one population to another</a:t>
            </a:r>
          </a:p>
          <a:p>
            <a:pPr lvl="3">
              <a:lnSpc>
                <a:spcPct val="80000"/>
              </a:lnSpc>
            </a:pPr>
            <a:r>
              <a:rPr lang="en-US" altLang="en-US" sz="1800" dirty="0"/>
              <a:t>It is always a good idea not to loose the best solution found so far. 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sort (</a:t>
            </a:r>
            <a:r>
              <a:rPr lang="en-US" altLang="en-US" sz="2400" i="1" dirty="0"/>
              <a:t>N </a:t>
            </a:r>
            <a:r>
              <a:rPr lang="en-US" altLang="en-US" sz="2400" dirty="0"/>
              <a:t>+</a:t>
            </a:r>
            <a:r>
              <a:rPr lang="en-US" altLang="en-US" sz="2400" dirty="0">
                <a:sym typeface="Symbol" pitchFamily="18" charset="2"/>
              </a:rPr>
              <a:t> </a:t>
            </a:r>
            <a:r>
              <a:rPr lang="en-US" altLang="en-US" sz="2400" i="1" dirty="0">
                <a:sym typeface="Symbol" pitchFamily="18" charset="2"/>
              </a:rPr>
              <a:t></a:t>
            </a:r>
            <a:r>
              <a:rPr lang="en-US" altLang="en-US" sz="2400" i="1" dirty="0"/>
              <a:t>N</a:t>
            </a:r>
            <a:r>
              <a:rPr lang="en-US" altLang="en-US" sz="2400" dirty="0"/>
              <a:t>) and choose the </a:t>
            </a:r>
            <a:r>
              <a:rPr lang="en-US" altLang="en-US" sz="2400" i="1" dirty="0"/>
              <a:t>N</a:t>
            </a:r>
            <a:r>
              <a:rPr lang="en-US" altLang="en-US" sz="2400" dirty="0"/>
              <a:t> best (elitism)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69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5B9F-FC6F-AECB-F6C5-DAE09761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Replacement Strategy 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4B2C8B-2C6C-C5D7-D342-DBBED6393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3B18C-C638-F26F-ED1A-D73193A86B6E}"/>
              </a:ext>
            </a:extLst>
          </p:cNvPr>
          <p:cNvSpPr txBox="1"/>
          <p:nvPr/>
        </p:nvSpPr>
        <p:spPr>
          <a:xfrm>
            <a:off x="0" y="1759464"/>
            <a:ext cx="11766550" cy="2733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i="1" dirty="0"/>
              <a:t>Steady-State GA </a:t>
            </a:r>
            <a:r>
              <a:rPr lang="en-US" altLang="en-US" sz="2400" b="1" dirty="0"/>
              <a:t>(</a:t>
            </a:r>
            <a:r>
              <a:rPr lang="en-US" altLang="en-US" sz="2400" b="1" i="1" dirty="0"/>
              <a:t>g</a:t>
            </a:r>
            <a:r>
              <a:rPr lang="en-US" altLang="en-US" sz="2400" b="1" dirty="0"/>
              <a:t>=2, that is </a:t>
            </a:r>
            <a:r>
              <a:rPr lang="en-US" altLang="en-US" sz="2400" b="1" i="1" dirty="0">
                <a:sym typeface="Symbol" pitchFamily="18" charset="2"/>
              </a:rPr>
              <a:t></a:t>
            </a:r>
            <a:r>
              <a:rPr lang="en-US" altLang="en-US" sz="2400" b="1" dirty="0"/>
              <a:t>=2/N)</a:t>
            </a:r>
            <a:endParaRPr lang="en-US" altLang="en-US" sz="2400" b="1" i="1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b="1" i="1" dirty="0"/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Two</a:t>
            </a:r>
            <a:r>
              <a:rPr lang="en-US" altLang="en-US" sz="2400" i="1" dirty="0"/>
              <a:t> o</a:t>
            </a:r>
            <a:r>
              <a:rPr lang="en-US" altLang="en-US" sz="2400" dirty="0"/>
              <a:t>ffspring replace two individuals from the old generation</a:t>
            </a:r>
            <a:r>
              <a:rPr lang="en-GB" altLang="en-US" sz="2400" dirty="0"/>
              <a:t>.</a:t>
            </a:r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/>
              <a:t>Method#1: </a:t>
            </a:r>
            <a:r>
              <a:rPr lang="en-US" altLang="en-US" sz="2400" dirty="0"/>
              <a:t>two</a:t>
            </a:r>
            <a:r>
              <a:rPr lang="en-US" altLang="en-US" sz="2400" i="1" dirty="0"/>
              <a:t> o</a:t>
            </a:r>
            <a:r>
              <a:rPr lang="en-US" altLang="en-US" sz="2400" dirty="0"/>
              <a:t>ffspring replace two </a:t>
            </a:r>
            <a:r>
              <a:rPr lang="en-GB" altLang="en-US" sz="2400" dirty="0"/>
              <a:t>parents </a:t>
            </a:r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/>
              <a:t>Method#2: </a:t>
            </a:r>
            <a:r>
              <a:rPr lang="en-US" altLang="en-US" sz="2400" dirty="0"/>
              <a:t>two</a:t>
            </a:r>
            <a:r>
              <a:rPr lang="en-US" altLang="en-US" sz="2400" i="1" dirty="0"/>
              <a:t> o</a:t>
            </a:r>
            <a:r>
              <a:rPr lang="en-US" altLang="en-US" sz="2400" dirty="0"/>
              <a:t>ffspring replace </a:t>
            </a:r>
            <a:r>
              <a:rPr lang="en-GB" altLang="en-US" sz="2400" dirty="0"/>
              <a:t>worst two of the population </a:t>
            </a:r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/>
              <a:t>Method#3: best two of (parents and offspring) replace two parents (elitism)</a:t>
            </a:r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/>
              <a:t>Method#4: best two of (parents and offspring) replace worst two of the population (strong elitism)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0FDFC-DAFD-71FA-A10E-5F37C44AA203}"/>
              </a:ext>
            </a:extLst>
          </p:cNvPr>
          <p:cNvSpPr txBox="1"/>
          <p:nvPr/>
        </p:nvSpPr>
        <p:spPr>
          <a:xfrm>
            <a:off x="4367048" y="5184256"/>
            <a:ext cx="4762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What methods can be used?</a:t>
            </a:r>
          </a:p>
        </p:txBody>
      </p:sp>
    </p:spTree>
    <p:extLst>
      <p:ext uri="{BB962C8B-B14F-4D97-AF65-F5344CB8AC3E}">
        <p14:creationId xmlns:p14="http://schemas.microsoft.com/office/powerpoint/2010/main" val="138341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16E1-5416-0B27-1424-B2754DEC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Example – Transgenerational GA Replacement (no elitism)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D4DE3A-948D-722A-795A-EBCE65B78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EB24928-F428-FD21-B55C-4180A7D2FDBB}"/>
              </a:ext>
            </a:extLst>
          </p:cNvPr>
          <p:cNvSpPr txBox="1">
            <a:spLocks/>
          </p:cNvSpPr>
          <p:nvPr/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FB857-786D-47C6-B180-84CE05FCCAF3}" type="slidenum">
              <a:rPr lang="tr-TR" altLang="en-US" smtClean="0"/>
              <a:pPr/>
              <a:t>44</a:t>
            </a:fld>
            <a:endParaRPr lang="tr-TR" altLang="en-US"/>
          </a:p>
        </p:txBody>
      </p:sp>
      <p:sp>
        <p:nvSpPr>
          <p:cNvPr id="5" name="Line 68">
            <a:extLst>
              <a:ext uri="{FF2B5EF4-FFF2-40B4-BE49-F238E27FC236}">
                <a16:creationId xmlns:a16="http://schemas.microsoft.com/office/drawing/2014/main" id="{69B2A1A5-197E-26D8-E8FA-18B12B138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1" y="3099732"/>
            <a:ext cx="20161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" name="Text Box 69">
            <a:extLst>
              <a:ext uri="{FF2B5EF4-FFF2-40B4-BE49-F238E27FC236}">
                <a16:creationId xmlns:a16="http://schemas.microsoft.com/office/drawing/2014/main" id="{7D3A899E-E58A-98AA-BDD5-727AB4599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3099732"/>
            <a:ext cx="187325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 dirty="0"/>
              <a:t>copying offspring onto the old population, forming the new population</a:t>
            </a:r>
          </a:p>
          <a:p>
            <a:pPr>
              <a:spcBef>
                <a:spcPct val="50000"/>
              </a:spcBef>
            </a:pPr>
            <a:r>
              <a:rPr lang="en-US" altLang="en-US" sz="2400" dirty="0"/>
              <a:t>(</a:t>
            </a:r>
            <a:r>
              <a:rPr lang="en-US" altLang="en-US" sz="2400" i="1" dirty="0"/>
              <a:t>g</a:t>
            </a:r>
            <a:r>
              <a:rPr lang="en-US" altLang="en-US" sz="2400" dirty="0"/>
              <a:t>=</a:t>
            </a:r>
            <a:r>
              <a:rPr lang="en-US" altLang="en-US" sz="2400" i="1" dirty="0"/>
              <a:t>N</a:t>
            </a:r>
            <a:r>
              <a:rPr lang="en-US" altLang="en-US" sz="2400" dirty="0"/>
              <a:t>=4)</a:t>
            </a:r>
            <a:endParaRPr lang="en-US" altLang="en-US" sz="2400" b="0" dirty="0"/>
          </a:p>
          <a:p>
            <a:pPr>
              <a:spcBef>
                <a:spcPct val="50000"/>
              </a:spcBef>
            </a:pPr>
            <a:endParaRPr lang="en-US" altLang="en-US" sz="2400" b="0" dirty="0"/>
          </a:p>
        </p:txBody>
      </p:sp>
      <p:sp>
        <p:nvSpPr>
          <p:cNvPr id="7" name="Text Box 70">
            <a:extLst>
              <a:ext uri="{FF2B5EF4-FFF2-40B4-BE49-F238E27FC236}">
                <a16:creationId xmlns:a16="http://schemas.microsoft.com/office/drawing/2014/main" id="{32D6A2FF-F049-EFC8-60F9-3B4F2290E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1" y="2234546"/>
            <a:ext cx="28797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 dirty="0"/>
              <a:t>Form the new generation by</a:t>
            </a:r>
            <a:endParaRPr lang="tr-TR" altLang="en-US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DBDD4B-226D-BFB1-A7FF-F08579F4EDFE}"/>
                  </a:ext>
                </a:extLst>
              </p:cNvPr>
              <p:cNvSpPr/>
              <p:nvPr/>
            </p:nvSpPr>
            <p:spPr>
              <a:xfrm>
                <a:off x="2783632" y="1441784"/>
                <a:ext cx="66064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i="1" dirty="0">
                    <a:latin typeface="Cambria Math" panose="02040503050406030204" pitchFamily="18" charset="0"/>
                  </a:rPr>
                  <a:t>          </a:t>
                </a:r>
                <a:r>
                  <a:rPr lang="en-GB" dirty="0">
                    <a:latin typeface="Cambria Math" panose="02040503050406030204" pitchFamily="18" charset="0"/>
                  </a:rPr>
                  <a:t>0                   1                 2                    3                  4                 5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DBDD4B-226D-BFB1-A7FF-F08579F4ED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1441784"/>
                <a:ext cx="6606480" cy="646331"/>
              </a:xfrm>
              <a:prstGeom prst="rect">
                <a:avLst/>
              </a:prstGeom>
              <a:blipFill>
                <a:blip r:embed="rId2"/>
                <a:stretch>
                  <a:fillRect t="-3846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62">
            <a:extLst>
              <a:ext uri="{FF2B5EF4-FFF2-40B4-BE49-F238E27FC236}">
                <a16:creationId xmlns:a16="http://schemas.microsoft.com/office/drawing/2014/main" id="{37BDD88F-583D-7228-3171-997943D07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240" y="3576607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0" dirty="0">
                <a:latin typeface="Times New Roman" pitchFamily="18" charset="0"/>
              </a:rPr>
              <a:t>Offspring</a:t>
            </a:r>
            <a:endParaRPr lang="en-US" altLang="en-US" u="sng" dirty="0">
              <a:solidFill>
                <a:srgbClr val="FFCC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E9E9251-AEF5-9567-7426-3AC0B31345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4657989"/>
                  </p:ext>
                </p:extLst>
              </p:nvPr>
            </p:nvGraphicFramePr>
            <p:xfrm>
              <a:off x="7151672" y="416645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E9E9251-AEF5-9567-7426-3AC0B31345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4657989"/>
                  </p:ext>
                </p:extLst>
              </p:nvPr>
            </p:nvGraphicFramePr>
            <p:xfrm>
              <a:off x="7151672" y="416645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1600" t="-219512" r="-114000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81169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1600" t="-311905" r="-114000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81169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1600" t="-421951" r="-114000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81169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1600" t="-521951" r="-114000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3"/>
                          <a:stretch>
                            <a:fillRect l="-181169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 Box 30">
            <a:extLst>
              <a:ext uri="{FF2B5EF4-FFF2-40B4-BE49-F238E27FC236}">
                <a16:creationId xmlns:a16="http://schemas.microsoft.com/office/drawing/2014/main" id="{42304B9E-9779-5C81-EF06-0A51DE9E1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5650165"/>
            <a:ext cx="23042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0" dirty="0">
                <a:latin typeface="Times New Roman" pitchFamily="18" charset="0"/>
              </a:rPr>
              <a:t>Old Population</a:t>
            </a:r>
            <a:endParaRPr lang="en-US" altLang="en-US" u="sng" dirty="0">
              <a:solidFill>
                <a:srgbClr val="FFCC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6FDB88A-D9FE-7C3B-CE3E-2B729F932C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908373"/>
                  </p:ext>
                </p:extLst>
              </p:nvPr>
            </p:nvGraphicFramePr>
            <p:xfrm>
              <a:off x="7176120" y="217260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latin typeface="Cambria Math" panose="02040503050406030204" pitchFamily="18" charset="0"/>
                                  </a:rPr>
                                  <m:t>011111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6FDB88A-D9FE-7C3B-CE3E-2B729F932C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908373"/>
                  </p:ext>
                </p:extLst>
              </p:nvPr>
            </p:nvGraphicFramePr>
            <p:xfrm>
              <a:off x="7176120" y="217260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219512" r="-114000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311905" r="-114000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421951" r="-114000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521951" r="-114000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 Box 30">
            <a:extLst>
              <a:ext uri="{FF2B5EF4-FFF2-40B4-BE49-F238E27FC236}">
                <a16:creationId xmlns:a16="http://schemas.microsoft.com/office/drawing/2014/main" id="{E73E1A3A-1D37-2610-D624-1195E4A6D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584" y="5024388"/>
            <a:ext cx="23042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0" dirty="0">
                <a:latin typeface="Times New Roman" pitchFamily="18" charset="0"/>
              </a:rPr>
              <a:t>New Population/ Generation</a:t>
            </a:r>
            <a:endParaRPr lang="en-US" altLang="en-US" u="sng" dirty="0">
              <a:solidFill>
                <a:srgbClr val="FFCC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619E391E-D2EF-F267-327E-6D31762D10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3316492"/>
                  </p:ext>
                </p:extLst>
              </p:nvPr>
            </p:nvGraphicFramePr>
            <p:xfrm>
              <a:off x="1499964" y="349776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latin typeface="Cambria Math" panose="02040503050406030204" pitchFamily="18" charset="0"/>
                                  </a:rPr>
                                  <m:t>011111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619E391E-D2EF-F267-327E-6D31762D10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3316492"/>
                  </p:ext>
                </p:extLst>
              </p:nvPr>
            </p:nvGraphicFramePr>
            <p:xfrm>
              <a:off x="1499964" y="349776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219512" r="-114000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311905" r="-114000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421951" r="-114000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521951" r="-114000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4978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7649-30E9-8604-5E18-CD34DE55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Example – TGA Replacement  (with elitism)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D6B819-9079-DDC1-BA25-5B2BF2093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Line 68">
            <a:extLst>
              <a:ext uri="{FF2B5EF4-FFF2-40B4-BE49-F238E27FC236}">
                <a16:creationId xmlns:a16="http://schemas.microsoft.com/office/drawing/2014/main" id="{AD8FCE99-5104-229E-CA6C-82373DC19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1" y="3070051"/>
            <a:ext cx="20161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Text Box 69">
            <a:extLst>
              <a:ext uri="{FF2B5EF4-FFF2-40B4-BE49-F238E27FC236}">
                <a16:creationId xmlns:a16="http://schemas.microsoft.com/office/drawing/2014/main" id="{4E924E12-8A82-ADAE-4693-8AE988AD6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896" y="3070051"/>
            <a:ext cx="208773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 dirty="0"/>
              <a:t>Selecting the best 4 individuals among both old population and offspring</a:t>
            </a:r>
          </a:p>
          <a:p>
            <a:pPr>
              <a:spcBef>
                <a:spcPct val="50000"/>
              </a:spcBef>
            </a:pPr>
            <a:r>
              <a:rPr lang="en-US" altLang="en-US" sz="2400" dirty="0"/>
              <a:t>(</a:t>
            </a:r>
            <a:r>
              <a:rPr lang="en-US" altLang="en-US" sz="2400" i="1" dirty="0"/>
              <a:t>g</a:t>
            </a:r>
            <a:r>
              <a:rPr lang="en-US" altLang="en-US" sz="2400" dirty="0"/>
              <a:t>=</a:t>
            </a:r>
            <a:r>
              <a:rPr lang="en-US" altLang="en-US" sz="2400" i="1" dirty="0"/>
              <a:t>N</a:t>
            </a:r>
            <a:r>
              <a:rPr lang="en-US" altLang="en-US" sz="2400" dirty="0"/>
              <a:t>=4)</a:t>
            </a:r>
          </a:p>
        </p:txBody>
      </p:sp>
      <p:sp>
        <p:nvSpPr>
          <p:cNvPr id="6" name="Text Box 70">
            <a:extLst>
              <a:ext uri="{FF2B5EF4-FFF2-40B4-BE49-F238E27FC236}">
                <a16:creationId xmlns:a16="http://schemas.microsoft.com/office/drawing/2014/main" id="{6A6F196A-AA5C-E9F1-0B78-87C6B168E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1" y="2204865"/>
            <a:ext cx="28797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 dirty="0"/>
              <a:t>Form the new generation by</a:t>
            </a:r>
            <a:endParaRPr lang="tr-TR" altLang="en-US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04F935-E009-0978-301C-449F29363CF9}"/>
                  </a:ext>
                </a:extLst>
              </p:cNvPr>
              <p:cNvSpPr/>
              <p:nvPr/>
            </p:nvSpPr>
            <p:spPr>
              <a:xfrm>
                <a:off x="2783632" y="1441784"/>
                <a:ext cx="66064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i="1" dirty="0">
                    <a:latin typeface="Cambria Math" panose="02040503050406030204" pitchFamily="18" charset="0"/>
                  </a:rPr>
                  <a:t>          </a:t>
                </a:r>
                <a:r>
                  <a:rPr lang="en-GB" dirty="0">
                    <a:latin typeface="Cambria Math" panose="02040503050406030204" pitchFamily="18" charset="0"/>
                  </a:rPr>
                  <a:t>0                   1                 2                    3                  4                 5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04F935-E009-0978-301C-449F29363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1441784"/>
                <a:ext cx="6606480" cy="646331"/>
              </a:xfrm>
              <a:prstGeom prst="rect">
                <a:avLst/>
              </a:prstGeom>
              <a:blipFill>
                <a:blip r:embed="rId3"/>
                <a:stretch>
                  <a:fillRect t="-3846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A27FD0F-41F6-169C-4492-A2726C4B9C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1178248"/>
                  </p:ext>
                </p:extLst>
              </p:nvPr>
            </p:nvGraphicFramePr>
            <p:xfrm>
              <a:off x="7151672" y="416645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kern="1200" dirty="0" err="1">
                              <a:solidFill>
                                <a:srgbClr val="86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Unsat</a:t>
                          </a:r>
                          <a:r>
                            <a:rPr lang="en-GB" sz="1600" b="1" u="none" strike="noStrike" kern="1200" dirty="0">
                              <a:solidFill>
                                <a:srgbClr val="86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 clauses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A27FD0F-41F6-169C-4492-A2726C4B9C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1178248"/>
                  </p:ext>
                </p:extLst>
              </p:nvPr>
            </p:nvGraphicFramePr>
            <p:xfrm>
              <a:off x="7151672" y="416645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kern="1200" dirty="0" err="1">
                              <a:solidFill>
                                <a:srgbClr val="86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Unsat</a:t>
                          </a:r>
                          <a:r>
                            <a:rPr lang="en-GB" sz="1600" b="1" u="none" strike="noStrike" kern="1200" dirty="0">
                              <a:solidFill>
                                <a:srgbClr val="86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 clauses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219512" r="-114000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311905" r="-114000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421951" r="-114000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521951" r="-114000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6A7317DB-4504-D2EC-6465-AF83EAD3D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8959735"/>
                  </p:ext>
                </p:extLst>
              </p:nvPr>
            </p:nvGraphicFramePr>
            <p:xfrm>
              <a:off x="7176120" y="217260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latin typeface="Cambria Math" panose="02040503050406030204" pitchFamily="18" charset="0"/>
                                  </a:rPr>
                                  <m:t>011111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6A7317DB-4504-D2EC-6465-AF83EAD3D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8959735"/>
                  </p:ext>
                </p:extLst>
              </p:nvPr>
            </p:nvGraphicFramePr>
            <p:xfrm>
              <a:off x="7176120" y="217260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219512" r="-114000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311905" r="-114000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421951" r="-114000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521951" r="-114000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283AF5A-ACC7-24A8-8EB7-DF27B95F0A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3847033"/>
                  </p:ext>
                </p:extLst>
              </p:nvPr>
            </p:nvGraphicFramePr>
            <p:xfrm>
              <a:off x="1703512" y="3305304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latin typeface="Cambria Math" panose="02040503050406030204" pitchFamily="18" charset="0"/>
                                  </a:rPr>
                                  <m:t>011111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283AF5A-ACC7-24A8-8EB7-DF27B95F0A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3847033"/>
                  </p:ext>
                </p:extLst>
              </p:nvPr>
            </p:nvGraphicFramePr>
            <p:xfrm>
              <a:off x="1703512" y="3305304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1554" t="-219512" r="-113546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81818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1554" t="-311905" r="-113546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81818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1554" t="-421951" r="-113546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81818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1554" t="-521951" r="-113546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81818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 Box 30">
            <a:extLst>
              <a:ext uri="{FF2B5EF4-FFF2-40B4-BE49-F238E27FC236}">
                <a16:creationId xmlns:a16="http://schemas.microsoft.com/office/drawing/2014/main" id="{E8FA87BF-710B-9A2A-B8F2-F78359ABF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584" y="5024388"/>
            <a:ext cx="23042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0" dirty="0">
                <a:latin typeface="Times New Roman" pitchFamily="18" charset="0"/>
              </a:rPr>
              <a:t>New Population/ Generation</a:t>
            </a:r>
            <a:endParaRPr lang="en-US" altLang="en-US" u="sng" dirty="0">
              <a:solidFill>
                <a:srgbClr val="FFCCFF"/>
              </a:solidFill>
            </a:endParaRPr>
          </a:p>
        </p:txBody>
      </p:sp>
      <p:sp>
        <p:nvSpPr>
          <p:cNvPr id="14" name="Text Box 62">
            <a:extLst>
              <a:ext uri="{FF2B5EF4-FFF2-40B4-BE49-F238E27FC236}">
                <a16:creationId xmlns:a16="http://schemas.microsoft.com/office/drawing/2014/main" id="{FF6EA224-9FC7-0928-6FAF-EC5A1F78F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240" y="3576607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0" dirty="0">
                <a:latin typeface="Times New Roman" pitchFamily="18" charset="0"/>
              </a:rPr>
              <a:t>Offspring</a:t>
            </a:r>
            <a:endParaRPr lang="en-US" altLang="en-US" u="sng" dirty="0">
              <a:solidFill>
                <a:srgbClr val="FFCCFF"/>
              </a:solidFill>
            </a:endParaRPr>
          </a:p>
        </p:txBody>
      </p:sp>
      <p:sp>
        <p:nvSpPr>
          <p:cNvPr id="15" name="Text Box 30">
            <a:extLst>
              <a:ext uri="{FF2B5EF4-FFF2-40B4-BE49-F238E27FC236}">
                <a16:creationId xmlns:a16="http://schemas.microsoft.com/office/drawing/2014/main" id="{5B81E0DD-1216-489E-FB75-37017C2A5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5650165"/>
            <a:ext cx="23042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0" dirty="0">
                <a:latin typeface="Times New Roman" pitchFamily="18" charset="0"/>
              </a:rPr>
              <a:t>Old Population</a:t>
            </a:r>
            <a:endParaRPr lang="en-US" altLang="en-US" u="sng" dirty="0">
              <a:solidFill>
                <a:srgbClr val="FF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37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F995-0B72-6129-551A-1740E9A7C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– A Steady State GA (with elitism)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35E257-2141-7D1B-C92F-D723ED632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19034BE-3D03-7ACA-F966-4C5D94C090F2}"/>
              </a:ext>
            </a:extLst>
          </p:cNvPr>
          <p:cNvSpPr txBox="1">
            <a:spLocks/>
          </p:cNvSpPr>
          <p:nvPr/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8FB857-786D-47C6-B180-84CE05FCCAF3}" type="slidenum">
              <a:rPr lang="tr-TR" altLang="en-US" smtClean="0"/>
              <a:pPr/>
              <a:t>46</a:t>
            </a:fld>
            <a:endParaRPr lang="tr-TR" altLang="en-US"/>
          </a:p>
        </p:txBody>
      </p:sp>
      <p:sp>
        <p:nvSpPr>
          <p:cNvPr id="5" name="Line 68">
            <a:extLst>
              <a:ext uri="{FF2B5EF4-FFF2-40B4-BE49-F238E27FC236}">
                <a16:creationId xmlns:a16="http://schemas.microsoft.com/office/drawing/2014/main" id="{831AC62A-2DD6-3A03-FF5B-89DBBC0E2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1" y="3099732"/>
            <a:ext cx="20161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" name="Text Box 69">
            <a:extLst>
              <a:ext uri="{FF2B5EF4-FFF2-40B4-BE49-F238E27FC236}">
                <a16:creationId xmlns:a16="http://schemas.microsoft.com/office/drawing/2014/main" id="{583DA2CE-3374-A073-8902-72100AD0D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896" y="3099732"/>
            <a:ext cx="20157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 dirty="0"/>
              <a:t>Using </a:t>
            </a:r>
            <a:r>
              <a:rPr lang="en-GB" sz="2400" dirty="0"/>
              <a:t>Method#2: Replace the worst 2 of the population with 2 offspring (</a:t>
            </a:r>
            <a:r>
              <a:rPr lang="en-GB" sz="2400" i="1" dirty="0"/>
              <a:t>g</a:t>
            </a:r>
            <a:r>
              <a:rPr lang="en-GB" sz="2400" dirty="0"/>
              <a:t>=2)</a:t>
            </a:r>
          </a:p>
        </p:txBody>
      </p:sp>
      <p:sp>
        <p:nvSpPr>
          <p:cNvPr id="7" name="Text Box 70">
            <a:extLst>
              <a:ext uri="{FF2B5EF4-FFF2-40B4-BE49-F238E27FC236}">
                <a16:creationId xmlns:a16="http://schemas.microsoft.com/office/drawing/2014/main" id="{991A4ED8-CD67-6C64-817D-DD9A377AA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492" y="2234546"/>
            <a:ext cx="28797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0" dirty="0"/>
              <a:t>Next </a:t>
            </a:r>
            <a:r>
              <a:rPr lang="en-US" altLang="en-US" sz="2400" dirty="0"/>
              <a:t>        </a:t>
            </a:r>
            <a:r>
              <a:rPr lang="en-US" altLang="en-US" sz="2400" b="0" dirty="0"/>
              <a:t>generation </a:t>
            </a:r>
            <a:endParaRPr lang="tr-TR" altLang="en-US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D59EEBF-57CA-7746-4B67-48AA9A5D5A35}"/>
                  </a:ext>
                </a:extLst>
              </p:cNvPr>
              <p:cNvSpPr/>
              <p:nvPr/>
            </p:nvSpPr>
            <p:spPr>
              <a:xfrm>
                <a:off x="2783632" y="1441784"/>
                <a:ext cx="66064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i="1" dirty="0">
                    <a:latin typeface="Cambria Math" panose="02040503050406030204" pitchFamily="18" charset="0"/>
                  </a:rPr>
                  <a:t>          </a:t>
                </a:r>
                <a:r>
                  <a:rPr lang="en-GB" dirty="0">
                    <a:latin typeface="Cambria Math" panose="02040503050406030204" pitchFamily="18" charset="0"/>
                  </a:rPr>
                  <a:t>0                   1                 2                    3                  4                 5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D59EEBF-57CA-7746-4B67-48AA9A5D5A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1441784"/>
                <a:ext cx="6606480" cy="646331"/>
              </a:xfrm>
              <a:prstGeom prst="rect">
                <a:avLst/>
              </a:prstGeom>
              <a:blipFill>
                <a:blip r:embed="rId3"/>
                <a:stretch>
                  <a:fillRect t="-3846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62">
            <a:extLst>
              <a:ext uri="{FF2B5EF4-FFF2-40B4-BE49-F238E27FC236}">
                <a16:creationId xmlns:a16="http://schemas.microsoft.com/office/drawing/2014/main" id="{0A346F2A-A776-9209-6389-5747E0864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4232" y="3189031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0" dirty="0">
                <a:latin typeface="Times New Roman" pitchFamily="18" charset="0"/>
              </a:rPr>
              <a:t>Offspring</a:t>
            </a:r>
            <a:endParaRPr lang="en-US" altLang="en-US" u="sng" dirty="0">
              <a:solidFill>
                <a:srgbClr val="FFCC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4443F3D-58E2-EDC8-D5D1-64D63BAE14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498421"/>
                  </p:ext>
                </p:extLst>
              </p:nvPr>
            </p:nvGraphicFramePr>
            <p:xfrm>
              <a:off x="7151672" y="416645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110000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4443F3D-58E2-EDC8-D5D1-64D63BAE14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498421"/>
                  </p:ext>
                </p:extLst>
              </p:nvPr>
            </p:nvGraphicFramePr>
            <p:xfrm>
              <a:off x="7151672" y="4166458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219512" r="-114000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311905" r="-114000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421951" r="-114000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1600" t="-521951" r="-114000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4"/>
                          <a:stretch>
                            <a:fillRect l="-181169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 Box 30">
            <a:extLst>
              <a:ext uri="{FF2B5EF4-FFF2-40B4-BE49-F238E27FC236}">
                <a16:creationId xmlns:a16="http://schemas.microsoft.com/office/drawing/2014/main" id="{EF76B5A2-E4DF-45F4-445B-FD794FF72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5650165"/>
            <a:ext cx="23042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0" dirty="0">
                <a:latin typeface="Times New Roman" pitchFamily="18" charset="0"/>
              </a:rPr>
              <a:t>Old Population</a:t>
            </a:r>
            <a:endParaRPr lang="en-US" altLang="en-US" u="sng" dirty="0">
              <a:solidFill>
                <a:srgbClr val="FFCC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8B40D87-5878-FA02-BB93-F26FF1B7F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779746"/>
                  </p:ext>
                </p:extLst>
              </p:nvPr>
            </p:nvGraphicFramePr>
            <p:xfrm>
              <a:off x="7176120" y="2172608"/>
              <a:ext cx="3424064" cy="9944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8B40D87-5878-FA02-BB93-F26FF1B7F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779746"/>
                  </p:ext>
                </p:extLst>
              </p:nvPr>
            </p:nvGraphicFramePr>
            <p:xfrm>
              <a:off x="7176120" y="2172608"/>
              <a:ext cx="3424064" cy="99441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1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214286" r="-114000" b="-14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214286" r="-85065" b="-14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>
                              <a:effectLst/>
                            </a:rPr>
                            <a:t>2</a:t>
                          </a:r>
                          <a:endParaRPr lang="en-GB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1600" t="-321951" r="-114000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5"/>
                          <a:stretch>
                            <a:fillRect l="-181169" t="-3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 Box 30">
            <a:extLst>
              <a:ext uri="{FF2B5EF4-FFF2-40B4-BE49-F238E27FC236}">
                <a16:creationId xmlns:a16="http://schemas.microsoft.com/office/drawing/2014/main" id="{FDC4187A-1D22-57AF-E80D-A39F8B322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584" y="5024388"/>
            <a:ext cx="23042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0" dirty="0">
                <a:latin typeface="Times New Roman" pitchFamily="18" charset="0"/>
              </a:rPr>
              <a:t>New Population/ Generation</a:t>
            </a:r>
            <a:endParaRPr lang="en-US" altLang="en-US" u="sng" dirty="0">
              <a:solidFill>
                <a:srgbClr val="FFCC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28F11E12-EA1D-1F92-29B9-CE23FFE19C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9285781"/>
                  </p:ext>
                </p:extLst>
              </p:nvPr>
            </p:nvGraphicFramePr>
            <p:xfrm>
              <a:off x="1511272" y="3499685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1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010100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  <m:r>
                                <a:rPr lang="en-GB" sz="1600" b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2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101000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 b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01100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415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10111</m:t>
                                </m:r>
                                <m: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 xmlns:m="http://schemas.openxmlformats.org/officeDocument/2006/math">
                              <m:r>
                                <a:rPr lang="en-GB" sz="16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1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600">
                                  <a:latin typeface="Cambria Math" panose="02040503050406030204" pitchFamily="18" charset="0"/>
                                </a:rPr>
                                <m:t>2345</m:t>
                              </m:r>
                            </m:oMath>
                          </a14:m>
                          <a:r>
                            <a:rPr lang="en-GB" sz="1200" u="none" strike="noStrike" dirty="0">
                              <a:effectLst/>
                            </a:rPr>
                            <a:t> </a:t>
                          </a:r>
                          <a:endParaRPr lang="en-GB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28F11E12-EA1D-1F92-29B9-CE23FFE19C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9285781"/>
                  </p:ext>
                </p:extLst>
              </p:nvPr>
            </p:nvGraphicFramePr>
            <p:xfrm>
              <a:off x="1511272" y="3499685"/>
              <a:ext cx="3424064" cy="1494790"/>
            </p:xfrm>
            <a:graphic>
              <a:graphicData uri="http://schemas.openxmlformats.org/drawingml/2006/table">
                <a:tbl>
                  <a:tblPr firstRow="1">
                    <a:tableStyleId>{912C8C85-51F0-491E-9774-3900AFEF0FD7}</a:tableStyleId>
                  </a:tblPr>
                  <a:tblGrid>
                    <a:gridCol w="1714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4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403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effectLst/>
                            </a:rPr>
                            <a:t>i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Chromosome     </a:t>
                          </a:r>
                          <a:r>
                            <a:rPr lang="en-GB" sz="1600" b="1" u="none" strike="noStrike" dirty="0" err="1">
                              <a:effectLst/>
                            </a:rPr>
                            <a:t>abcdef</a:t>
                          </a:r>
                          <a:endParaRPr lang="en-GB" sz="16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 err="1">
                              <a:solidFill>
                                <a:srgbClr val="860000"/>
                              </a:solidFill>
                              <a:effectLst/>
                            </a:rPr>
                            <a:t>Unsat</a:t>
                          </a:r>
                          <a:r>
                            <a:rPr lang="en-GB" sz="1600" b="1" u="none" strike="noStrike" dirty="0">
                              <a:solidFill>
                                <a:srgbClr val="860000"/>
                              </a:solidFill>
                              <a:effectLst/>
                            </a:rPr>
                            <a:t>. clauses</a:t>
                          </a:r>
                          <a:endParaRPr lang="en-GB" sz="1600" b="1" i="0" u="none" strike="noStrike" dirty="0">
                            <a:solidFill>
                              <a:srgbClr val="86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b="1" u="none" strike="noStrike" dirty="0">
                              <a:effectLst/>
                            </a:rPr>
                            <a:t>Fitness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1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1155" t="-219512" r="-113546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81169" t="-219512" r="-85065" b="-3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3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1" u="none" strike="noStrike" dirty="0">
                              <a:effectLst/>
                            </a:rPr>
                            <a:t>2</a:t>
                          </a:r>
                          <a:endParaRPr lang="en-GB" sz="16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1155" t="-311905" r="-113546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81169" t="-311905" r="-85065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0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u="none" strike="noStrike" dirty="0">
                              <a:effectLst/>
                            </a:rPr>
                            <a:t>3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1155" t="-421951" r="-113546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81169" t="-421951" r="-85065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2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0190"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en-GB" sz="1600" b="0" u="none" strike="noStrike" dirty="0">
                              <a:solidFill>
                                <a:schemeClr val="dk1"/>
                              </a:solidFill>
                              <a:effectLst/>
                            </a:rPr>
                            <a:t>4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1155" t="-521951" r="-113546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b">
                        <a:blipFill>
                          <a:blip r:embed="rId6"/>
                          <a:stretch>
                            <a:fillRect l="-181169" t="-521951" r="-85065" b="-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600" u="none" strike="noStrike" dirty="0">
                              <a:effectLst/>
                            </a:rPr>
                            <a:t>1 </a:t>
                          </a:r>
                          <a:endParaRPr lang="en-GB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825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1D0A6-039F-105B-0BC7-414E0759E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7710-EB74-5889-929C-E9824DA0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8C4AB6-A051-8A52-8AE9-39E6EFF78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D6E4F9-5217-0415-3F9A-0B31E6DBD779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3" y="1031818"/>
            <a:ext cx="10784837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ounded Rectangle 4" descr="Rectangular box highlighting fitness termination criteria in the pseudocode">
            <a:extLst>
              <a:ext uri="{FF2B5EF4-FFF2-40B4-BE49-F238E27FC236}">
                <a16:creationId xmlns:a16="http://schemas.microsoft.com/office/drawing/2014/main" id="{DA3A9160-53A3-AC9A-E973-17F35C9B3B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66940" y="5566063"/>
            <a:ext cx="3833033" cy="52023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97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9DD07-ED1A-748B-D6E4-AE93EAF82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Termination Criteria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E1253-DC5B-12D8-D842-A6678FD4C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95C95-A50D-D2EC-8591-AAAC33D081DD}"/>
              </a:ext>
            </a:extLst>
          </p:cNvPr>
          <p:cNvSpPr txBox="1"/>
          <p:nvPr/>
        </p:nvSpPr>
        <p:spPr>
          <a:xfrm>
            <a:off x="467360" y="1402080"/>
            <a:ext cx="10895405" cy="347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000"/>
                  </a:schemeClr>
                </a:solidFill>
              </a:rPr>
              <a:t>The evolution (main loop) continues until a termination criteria is met, possibly until: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000"/>
                  </a:schemeClr>
                </a:solidFill>
              </a:rPr>
              <a:t>A predefined maximum number of generations is exceeded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000"/>
                  </a:schemeClr>
                </a:solidFill>
              </a:rPr>
              <a:t>A goal is reached, for example:</a:t>
            </a:r>
          </a:p>
          <a:p>
            <a:pPr marL="1485900" lvl="2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000"/>
                  </a:schemeClr>
                </a:solidFill>
              </a:rPr>
              <a:t>Expected fitness is achieved</a:t>
            </a:r>
          </a:p>
          <a:p>
            <a:pPr marL="1485900" lvl="2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000"/>
                  </a:schemeClr>
                </a:solidFill>
              </a:rPr>
              <a:t>Population converges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000"/>
                  </a:schemeClr>
                </a:solidFill>
              </a:rPr>
              <a:t>Best fitness does not change for a while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000"/>
                  </a:schemeClr>
                </a:solidFill>
              </a:rPr>
              <a:t>A condition is satisfied depending on a combination of above</a:t>
            </a:r>
            <a:endParaRPr lang="tr-TR" altLang="en-US" sz="2800" dirty="0">
              <a:solidFill>
                <a:schemeClr val="tx1">
                  <a:alpha val="7000"/>
                </a:schemeClr>
              </a:solidFill>
            </a:endParaRPr>
          </a:p>
          <a:p>
            <a:endParaRPr lang="en-GB" dirty="0">
              <a:solidFill>
                <a:schemeClr val="tx1">
                  <a:alpha val="7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DC872-D8AF-1F61-459D-3F6592B913D3}"/>
              </a:ext>
            </a:extLst>
          </p:cNvPr>
          <p:cNvSpPr txBox="1"/>
          <p:nvPr/>
        </p:nvSpPr>
        <p:spPr>
          <a:xfrm>
            <a:off x="467360" y="1402080"/>
            <a:ext cx="10895405" cy="347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The evolution (main loop) continues until a termination criteria is met, possibly until: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A predefined maximum number of generations is exceeded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A goal is reached, for example:</a:t>
            </a:r>
          </a:p>
          <a:p>
            <a:pPr marL="1485900" lvl="2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Expected fitness is achieved</a:t>
            </a:r>
          </a:p>
          <a:p>
            <a:pPr marL="1485900" lvl="2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Population converges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Best fitness does not change for a while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A condition is satisfied depending on a combination of above</a:t>
            </a:r>
            <a:endParaRPr lang="tr-TR" altLang="en-US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774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29C4-FA3A-B55F-D720-6CFBB8DC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Convergence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7C747A-F8F3-DE16-459D-ECE2FD759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A177D-038E-68E6-9FC4-B1B18FF22044}"/>
              </a:ext>
            </a:extLst>
          </p:cNvPr>
          <p:cNvSpPr txBox="1"/>
          <p:nvPr/>
        </p:nvSpPr>
        <p:spPr>
          <a:xfrm>
            <a:off x="950310" y="1369975"/>
            <a:ext cx="10096350" cy="4450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3600" dirty="0">
                <a:solidFill>
                  <a:schemeClr val="tx1">
                    <a:alpha val="8881"/>
                  </a:schemeClr>
                </a:solidFill>
              </a:rPr>
              <a:t>Defined as the progression towards uniformity (individuals become alike)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i="1" dirty="0">
                <a:solidFill>
                  <a:schemeClr val="tx1">
                    <a:alpha val="8881"/>
                  </a:schemeClr>
                </a:solidFill>
              </a:rPr>
              <a:t>Gene convergence</a:t>
            </a:r>
            <a:r>
              <a:rPr lang="en-AU" altLang="en-US" sz="2400" dirty="0">
                <a:solidFill>
                  <a:schemeClr val="tx1">
                    <a:alpha val="8881"/>
                  </a:schemeClr>
                </a:solidFill>
              </a:rPr>
              <a:t>: a location on a chromosome is converged when 95% of the individuals have the same gene value for that location </a:t>
            </a:r>
            <a:endParaRPr lang="en-AU" altLang="en-US" sz="2400" i="1" dirty="0">
              <a:solidFill>
                <a:schemeClr val="tx1">
                  <a:alpha val="8881"/>
                </a:schemeClr>
              </a:solidFill>
            </a:endParaRP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i="1" dirty="0">
                <a:solidFill>
                  <a:schemeClr val="tx1">
                    <a:alpha val="8881"/>
                  </a:schemeClr>
                </a:solidFill>
              </a:rPr>
              <a:t>Population (Genotypic) convergence</a:t>
            </a:r>
            <a:r>
              <a:rPr lang="en-AU" altLang="en-US" sz="2400" dirty="0">
                <a:solidFill>
                  <a:schemeClr val="tx1">
                    <a:alpha val="8881"/>
                  </a:schemeClr>
                </a:solidFill>
              </a:rPr>
              <a:t>: a population is converged when all the genes have converged (all individuals are alike – they might have different fitness) 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i="1" dirty="0">
                <a:solidFill>
                  <a:schemeClr val="tx1">
                    <a:alpha val="8881"/>
                  </a:schemeClr>
                </a:solidFill>
              </a:rPr>
              <a:t>Phenotypic Convergence</a:t>
            </a:r>
            <a:r>
              <a:rPr lang="en-AU" altLang="en-US" sz="2400" dirty="0">
                <a:solidFill>
                  <a:schemeClr val="tx1">
                    <a:alpha val="8881"/>
                  </a:schemeClr>
                </a:solidFill>
              </a:rPr>
              <a:t>: average fitness of the population approaches to the best individual in the population (all individuals have the same fitness)</a:t>
            </a:r>
            <a:endParaRPr lang="tr-TR" altLang="en-US" sz="2400" dirty="0">
              <a:solidFill>
                <a:schemeClr val="tx1">
                  <a:alpha val="8881"/>
                </a:schemeClr>
              </a:solidFill>
            </a:endParaRPr>
          </a:p>
          <a:p>
            <a:endParaRPr lang="en-GB" sz="2400" dirty="0">
              <a:solidFill>
                <a:schemeClr val="tx1">
                  <a:alpha val="8881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0F3BD-C6AF-EF3D-7383-6BAD4C550F77}"/>
              </a:ext>
            </a:extLst>
          </p:cNvPr>
          <p:cNvSpPr txBox="1"/>
          <p:nvPr/>
        </p:nvSpPr>
        <p:spPr>
          <a:xfrm>
            <a:off x="950310" y="1369974"/>
            <a:ext cx="10096350" cy="4450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3600" dirty="0"/>
              <a:t>Defined as the progression towards uniformity (individuals become alike)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i="1" dirty="0"/>
              <a:t>Gene convergence</a:t>
            </a:r>
            <a:r>
              <a:rPr lang="en-AU" altLang="en-US" sz="2400" dirty="0"/>
              <a:t>: a location on a chromosome is converged when 95% of the individuals have the same gene value for that location </a:t>
            </a:r>
            <a:endParaRPr lang="en-AU" altLang="en-US" sz="2400" i="1" dirty="0"/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i="1" dirty="0"/>
              <a:t>Population (Genotypic) convergence</a:t>
            </a:r>
            <a:r>
              <a:rPr lang="en-AU" altLang="en-US" sz="2400" dirty="0"/>
              <a:t>: a population is converged when all the genes have converged (all individuals are alike – they might have different fitness) 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en-US" sz="2400" i="1" dirty="0"/>
              <a:t>Phenotypic Convergence</a:t>
            </a:r>
            <a:r>
              <a:rPr lang="en-AU" altLang="en-US" sz="2400" dirty="0"/>
              <a:t>: average fitness of the population approaches to the best individual in the population (all individuals have the same fitness)</a:t>
            </a:r>
            <a:endParaRPr lang="tr-TR" altLang="en-US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57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B6F04-1F67-041E-DCF4-CB529027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Key Features of EAs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EAC399-0207-2B0F-09C0-BD767DC68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F6F21-998E-7D11-2F0D-F93380C135E3}"/>
              </a:ext>
            </a:extLst>
          </p:cNvPr>
          <p:cNvSpPr txBox="1"/>
          <p:nvPr/>
        </p:nvSpPr>
        <p:spPr>
          <a:xfrm>
            <a:off x="1280160" y="1503680"/>
            <a:ext cx="8646919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600" dirty="0">
                <a:solidFill>
                  <a:schemeClr val="tx1">
                    <a:alpha val="7095"/>
                  </a:schemeClr>
                </a:solidFill>
              </a:rPr>
              <a:t>Population based search approaches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altLang="en-US" sz="2200" dirty="0">
                <a:solidFill>
                  <a:schemeClr val="tx1">
                    <a:alpha val="7095"/>
                  </a:schemeClr>
                </a:solidFill>
              </a:rPr>
              <a:t>Be independent of initial starting point(s)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altLang="en-US" dirty="0">
                <a:solidFill>
                  <a:schemeClr val="tx1">
                    <a:alpha val="7095"/>
                  </a:schemeClr>
                </a:solidFill>
              </a:rPr>
              <a:t>Start search from many points in the search space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altLang="en-US" sz="2200" dirty="0">
                <a:solidFill>
                  <a:schemeClr val="tx1">
                    <a:alpha val="7095"/>
                  </a:schemeClr>
                </a:solidFill>
              </a:rPr>
              <a:t>Conduct search in parallel over the search space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altLang="en-US" dirty="0">
                <a:solidFill>
                  <a:schemeClr val="tx1">
                    <a:alpha val="7095"/>
                  </a:schemeClr>
                </a:solidFill>
              </a:rPr>
              <a:t>implicit parallelism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600" dirty="0">
                <a:solidFill>
                  <a:schemeClr val="tx1">
                    <a:alpha val="7095"/>
                  </a:schemeClr>
                </a:solidFill>
              </a:rPr>
              <a:t>Avoid converging to local optima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600" dirty="0">
                <a:solidFill>
                  <a:schemeClr val="tx1">
                    <a:alpha val="7095"/>
                  </a:schemeClr>
                </a:solidFill>
              </a:rPr>
              <a:t>Balances exploration and exploitation?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600" dirty="0">
                <a:solidFill>
                  <a:schemeClr val="tx1">
                    <a:alpha val="7095"/>
                  </a:schemeClr>
                </a:solidFill>
              </a:rPr>
              <a:t>May be used together with other approaches (hybrids)</a:t>
            </a:r>
            <a:endParaRPr lang="tr-TR" altLang="en-US" sz="2600" dirty="0">
              <a:solidFill>
                <a:schemeClr val="tx1">
                  <a:alpha val="7095"/>
                </a:schemeClr>
              </a:solidFill>
            </a:endParaRPr>
          </a:p>
          <a:p>
            <a:endParaRPr lang="en-GB" dirty="0">
              <a:solidFill>
                <a:schemeClr val="tx1">
                  <a:alpha val="7095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26ADF-57D1-322A-30FA-79481734F9D4}"/>
              </a:ext>
            </a:extLst>
          </p:cNvPr>
          <p:cNvSpPr txBox="1"/>
          <p:nvPr/>
        </p:nvSpPr>
        <p:spPr>
          <a:xfrm>
            <a:off x="1280159" y="1503680"/>
            <a:ext cx="8646919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600" dirty="0"/>
              <a:t>Population based search approaches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altLang="en-US" sz="2200" dirty="0"/>
              <a:t>Be independent of initial starting point(s)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altLang="en-US" dirty="0"/>
              <a:t>Start search from many points in the search space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altLang="en-US" sz="2200" dirty="0"/>
              <a:t>Conduct search in parallel over the search space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altLang="en-US" dirty="0"/>
              <a:t>implicit parallelism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600" dirty="0"/>
              <a:t>Avoid converging to local optima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600" dirty="0"/>
              <a:t>Balances exploration and exploitation?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600" dirty="0"/>
              <a:t>May be used together with other approaches (hybrids)</a:t>
            </a:r>
            <a:endParaRPr lang="tr-TR" altLang="en-US" sz="2600" dirty="0"/>
          </a:p>
          <a:p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BAB0B9-0857-57C8-0DE9-44BFA7CA2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231931" y="3972911"/>
            <a:ext cx="420939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93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85B41-1E25-AD01-AF91-42798C789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60A8-101C-82C0-BDA7-72AC93272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088" y="1808163"/>
            <a:ext cx="10505071" cy="179673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Memetic Algorithms (MAs)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83944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50F8-8869-AFC9-3CBE-6AB5AAD2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Memetic Algorithms (MAs)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1A0E5E-BCEA-67C2-8192-B0B4987C5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FE943-E8C3-40D1-2FB9-2B0A382D4BAF}"/>
              </a:ext>
            </a:extLst>
          </p:cNvPr>
          <p:cNvSpPr txBox="1"/>
          <p:nvPr/>
        </p:nvSpPr>
        <p:spPr>
          <a:xfrm>
            <a:off x="510656" y="1599955"/>
            <a:ext cx="106698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Meme (Richard Dawkins): contagious  piece of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Memes are similar to local refinement/local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Gene vs meme: Memes can change, evolve using rules and time scales other than the traditional genetic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alt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MAs aim to improve GAs by embedding local search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8E351-AE7D-A351-6D00-0D248872567D}"/>
              </a:ext>
            </a:extLst>
          </p:cNvPr>
          <p:cNvSpPr txBox="1"/>
          <p:nvPr/>
        </p:nvSpPr>
        <p:spPr>
          <a:xfrm>
            <a:off x="517670" y="1596241"/>
            <a:ext cx="106698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633"/>
                  </a:schemeClr>
                </a:solidFill>
              </a:rPr>
              <a:t>Meme (Richard Dawkins): contagious  piece of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>
                  <a:alpha val="7633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633"/>
                  </a:schemeClr>
                </a:solidFill>
              </a:rPr>
              <a:t>Memes are similar to local refinement/local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>
                  <a:alpha val="7633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633"/>
                  </a:schemeClr>
                </a:solidFill>
              </a:rPr>
              <a:t>Gene vs meme: Memes can change, evolve using rules and time scales other than the traditional genetic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altLang="en-US" sz="2800" dirty="0">
              <a:solidFill>
                <a:schemeClr val="tx1">
                  <a:alpha val="7633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7633"/>
                  </a:schemeClr>
                </a:solidFill>
              </a:rPr>
              <a:t>MAs aim to improve GAs by embedding local search</a:t>
            </a:r>
            <a:endParaRPr lang="en-GB" sz="2800" dirty="0">
              <a:solidFill>
                <a:schemeClr val="tx1">
                  <a:alpha val="7633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5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49B3-CB92-E5B9-1958-FBAD39FC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Memetic Algorithms (MAs) II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71E2AE-8277-A7C2-BCDC-D7424F0D7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7D48C-C308-CFBE-ECD6-19330CCCF639}"/>
              </a:ext>
            </a:extLst>
          </p:cNvPr>
          <p:cNvSpPr txBox="1"/>
          <p:nvPr/>
        </p:nvSpPr>
        <p:spPr>
          <a:xfrm>
            <a:off x="731521" y="1483360"/>
            <a:ext cx="10315140" cy="3841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10148"/>
                  </a:schemeClr>
                </a:solidFill>
              </a:rPr>
              <a:t>MAs make use of exploration capabilities of GAs and exploitation capabilities of local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alpha val="10148"/>
                  </a:schemeClr>
                </a:solidFill>
              </a:rPr>
              <a:t>MAs have an explicit mechanism to balance exploitation and exploration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>
                  <a:alpha val="10148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tx1">
                    <a:alpha val="10148"/>
                  </a:schemeClr>
                </a:solidFill>
              </a:rPr>
              <a:t>Memetic Algorithms shown to be much faster and more accurate than GAs on some problems, and are the “state of the art” on many problems</a:t>
            </a:r>
            <a:endParaRPr lang="tr-TR" altLang="en-US" sz="2800" dirty="0">
              <a:solidFill>
                <a:schemeClr val="tx1">
                  <a:alpha val="10148"/>
                </a:schemeClr>
              </a:solidFill>
            </a:endParaRPr>
          </a:p>
          <a:p>
            <a:endParaRPr lang="en-GB" sz="2800" dirty="0">
              <a:solidFill>
                <a:schemeClr val="tx1">
                  <a:alpha val="10148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EB3A4-673B-8F5A-3456-725BB360C1A6}"/>
              </a:ext>
            </a:extLst>
          </p:cNvPr>
          <p:cNvSpPr txBox="1"/>
          <p:nvPr/>
        </p:nvSpPr>
        <p:spPr>
          <a:xfrm>
            <a:off x="731520" y="1492948"/>
            <a:ext cx="10315140" cy="3841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MAs make use of exploration capabilities of GAs and exploitation capabilities of local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800" dirty="0"/>
              <a:t>MAs have an explicit mechanism to balance exploitation and exploration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2800" dirty="0"/>
              <a:t>Memetic Algorithms shown to be much faster and more accurate than GAs on some problems, and are the “state of the art” on many problems</a:t>
            </a:r>
            <a:endParaRPr lang="tr-TR" altLang="en-US" sz="28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3182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71CF-2C65-C3A8-6C3D-6C62BABCC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AADB-8A52-0F38-171D-F0AF2F40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Pseudocode of a Generic Genetic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FC0A54-DA27-7E12-2983-7DC820ACA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2FEFE5-2C63-032D-8432-40CCD8CCEC74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3" y="1031818"/>
            <a:ext cx="10828123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4657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338D7-D3D7-0E7B-1C6E-780AF0F3C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8960-4CF3-BCB6-0BCC-AE6F9CB54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563" y="0"/>
            <a:ext cx="10767242" cy="900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Pseudocode of a Generic Memetic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D7A87-BE8B-2D1D-2492-FA09DBB97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04FFBE-D5F6-2044-F468-428B45F24DE0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3" y="1031818"/>
            <a:ext cx="10828123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local search</a:t>
            </a:r>
            <a:r>
              <a:rPr lang="en-AU" altLang="en-US" sz="2400" b="1" dirty="0">
                <a:latin typeface="Courier New" pitchFamily="49" charset="0"/>
              </a:rPr>
              <a:t>;       // hill climbing on offspring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5BD03-9E9F-D158-7EA9-A603E0044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471650" y="4785689"/>
            <a:ext cx="3738807" cy="419358"/>
          </a:xfrm>
          <a:prstGeom prst="rect">
            <a:avLst/>
          </a:prstGeom>
          <a:solidFill>
            <a:srgbClr val="FFC000">
              <a:alpha val="18039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76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2D08F-7234-8436-A10C-DC09139D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Generic Memetic Algorithm (MA)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7785D0-8B56-19D1-357A-187AE7C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Rectangle 6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D5A0AD00-22A6-7A91-7619-B0137A1F3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622" y="2132683"/>
            <a:ext cx="252095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en-GB" altLang="en-US" dirty="0"/>
              <a:t>Select Parents</a:t>
            </a:r>
            <a:endParaRPr lang="en-US" altLang="en-US" dirty="0"/>
          </a:p>
        </p:txBody>
      </p:sp>
      <p:sp>
        <p:nvSpPr>
          <p:cNvPr id="5" name="Rectangle 7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09322265-7B93-AAA8-8428-817E04C8C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622" y="3069308"/>
            <a:ext cx="252095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en-GB" altLang="en-US"/>
              <a:t>Crossover</a:t>
            </a:r>
            <a:endParaRPr lang="en-US" altLang="en-US"/>
          </a:p>
        </p:txBody>
      </p:sp>
      <p:sp>
        <p:nvSpPr>
          <p:cNvPr id="6" name="AutoShape 9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B007ADD6-C464-2BFF-22BA-BB2EA7FCB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0273" y="2635921"/>
            <a:ext cx="1584325" cy="936625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en-GB" altLang="en-US"/>
              <a:t>Terminate?</a:t>
            </a:r>
            <a:endParaRPr lang="en-US" altLang="en-US"/>
          </a:p>
        </p:txBody>
      </p:sp>
      <p:sp>
        <p:nvSpPr>
          <p:cNvPr id="7" name="Rectangle 10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D8C35D01-E3CD-AF32-BF83-F5B08FC8E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622" y="5661695"/>
            <a:ext cx="252095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en-GB" altLang="en-US"/>
              <a:t>Form Next Generation</a:t>
            </a:r>
            <a:endParaRPr lang="en-US" altLang="en-US"/>
          </a:p>
        </p:txBody>
      </p:sp>
      <p:grpSp>
        <p:nvGrpSpPr>
          <p:cNvPr id="8" name="Group 64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D44F3780-5824-028C-4E30-ADCB097AA800}"/>
              </a:ext>
            </a:extLst>
          </p:cNvPr>
          <p:cNvGrpSpPr>
            <a:grpSpLocks/>
          </p:cNvGrpSpPr>
          <p:nvPr/>
        </p:nvGrpSpPr>
        <p:grpSpPr bwMode="auto">
          <a:xfrm>
            <a:off x="4150173" y="2132683"/>
            <a:ext cx="1081087" cy="215900"/>
            <a:chOff x="1791" y="2614"/>
            <a:chExt cx="681" cy="136"/>
          </a:xfrm>
        </p:grpSpPr>
        <p:sp>
          <p:nvSpPr>
            <p:cNvPr id="9" name="Rectangle 65">
              <a:extLst>
                <a:ext uri="{FF2B5EF4-FFF2-40B4-BE49-F238E27FC236}">
                  <a16:creationId xmlns:a16="http://schemas.microsoft.com/office/drawing/2014/main" id="{BF3A698B-B4FA-F6EE-721F-C9960572E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614"/>
              <a:ext cx="136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" name="Rectangle 66">
              <a:extLst>
                <a:ext uri="{FF2B5EF4-FFF2-40B4-BE49-F238E27FC236}">
                  <a16:creationId xmlns:a16="http://schemas.microsoft.com/office/drawing/2014/main" id="{012B67DF-73FA-3208-2442-544B1E489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614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Rectangle 67">
              <a:extLst>
                <a:ext uri="{FF2B5EF4-FFF2-40B4-BE49-F238E27FC236}">
                  <a16:creationId xmlns:a16="http://schemas.microsoft.com/office/drawing/2014/main" id="{8E312E23-70E2-F121-8477-C8EF540EA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614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Rectangle 68">
              <a:extLst>
                <a:ext uri="{FF2B5EF4-FFF2-40B4-BE49-F238E27FC236}">
                  <a16:creationId xmlns:a16="http://schemas.microsoft.com/office/drawing/2014/main" id="{29D0C224-84C4-6C62-6118-35DDFEDC6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614"/>
              <a:ext cx="136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Rectangle 69">
              <a:extLst>
                <a:ext uri="{FF2B5EF4-FFF2-40B4-BE49-F238E27FC236}">
                  <a16:creationId xmlns:a16="http://schemas.microsoft.com/office/drawing/2014/main" id="{75746B5D-DA8D-08C1-5A33-66D55F043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614"/>
              <a:ext cx="136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4" name="Group 70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EF705C6C-5B2B-D462-FBDB-C3873BEDAA79}"/>
              </a:ext>
            </a:extLst>
          </p:cNvPr>
          <p:cNvGrpSpPr>
            <a:grpSpLocks/>
          </p:cNvGrpSpPr>
          <p:nvPr/>
        </p:nvGrpSpPr>
        <p:grpSpPr bwMode="auto">
          <a:xfrm>
            <a:off x="4150173" y="2373983"/>
            <a:ext cx="1081087" cy="215900"/>
            <a:chOff x="1791" y="2614"/>
            <a:chExt cx="681" cy="136"/>
          </a:xfrm>
        </p:grpSpPr>
        <p:sp>
          <p:nvSpPr>
            <p:cNvPr id="15" name="Rectangle 71">
              <a:extLst>
                <a:ext uri="{FF2B5EF4-FFF2-40B4-BE49-F238E27FC236}">
                  <a16:creationId xmlns:a16="http://schemas.microsoft.com/office/drawing/2014/main" id="{A32F3B40-8BEA-64BA-3A16-AA8D4CCCF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614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2">
              <a:extLst>
                <a:ext uri="{FF2B5EF4-FFF2-40B4-BE49-F238E27FC236}">
                  <a16:creationId xmlns:a16="http://schemas.microsoft.com/office/drawing/2014/main" id="{CA4609A3-DF95-B3D9-B227-ACD26A945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614"/>
              <a:ext cx="136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" name="Rectangle 73">
              <a:extLst>
                <a:ext uri="{FF2B5EF4-FFF2-40B4-BE49-F238E27FC236}">
                  <a16:creationId xmlns:a16="http://schemas.microsoft.com/office/drawing/2014/main" id="{10D5A0B4-EC83-011A-D47A-1DC9E4FD1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614"/>
              <a:ext cx="136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" name="Rectangle 74">
              <a:extLst>
                <a:ext uri="{FF2B5EF4-FFF2-40B4-BE49-F238E27FC236}">
                  <a16:creationId xmlns:a16="http://schemas.microsoft.com/office/drawing/2014/main" id="{25372D06-DEBC-9DA4-CDC5-6872913BE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614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" name="Rectangle 75">
              <a:extLst>
                <a:ext uri="{FF2B5EF4-FFF2-40B4-BE49-F238E27FC236}">
                  <a16:creationId xmlns:a16="http://schemas.microsoft.com/office/drawing/2014/main" id="{539913E0-1495-37C0-4E9B-E1A66DA5F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614"/>
              <a:ext cx="136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0" name="Group 215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5EE63A33-A421-B93D-BE73-9CD1D66E688F}"/>
              </a:ext>
            </a:extLst>
          </p:cNvPr>
          <p:cNvGrpSpPr>
            <a:grpSpLocks/>
          </p:cNvGrpSpPr>
          <p:nvPr/>
        </p:nvGrpSpPr>
        <p:grpSpPr bwMode="auto">
          <a:xfrm>
            <a:off x="3791397" y="2166020"/>
            <a:ext cx="647700" cy="420688"/>
            <a:chOff x="1519" y="1546"/>
            <a:chExt cx="408" cy="265"/>
          </a:xfrm>
        </p:grpSpPr>
        <p:sp>
          <p:nvSpPr>
            <p:cNvPr id="21" name="Text Box 76">
              <a:extLst>
                <a:ext uri="{FF2B5EF4-FFF2-40B4-BE49-F238E27FC236}">
                  <a16:creationId xmlns:a16="http://schemas.microsoft.com/office/drawing/2014/main" id="{FC5C9C10-A2C7-3899-8EBE-AA9416894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546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  7.0</a:t>
              </a:r>
              <a:endParaRPr lang="en-US" altLang="en-US" sz="1200" b="1"/>
            </a:p>
          </p:txBody>
        </p:sp>
        <p:sp>
          <p:nvSpPr>
            <p:cNvPr id="22" name="Text Box 77">
              <a:extLst>
                <a:ext uri="{FF2B5EF4-FFF2-40B4-BE49-F238E27FC236}">
                  <a16:creationId xmlns:a16="http://schemas.microsoft.com/office/drawing/2014/main" id="{88610AC2-0ACC-6CDB-4E2E-48EAE87FE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4" y="1696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9.0</a:t>
              </a:r>
              <a:endParaRPr lang="en-US" altLang="en-US" sz="1200" b="1"/>
            </a:p>
          </p:txBody>
        </p:sp>
      </p:grpSp>
      <p:grpSp>
        <p:nvGrpSpPr>
          <p:cNvPr id="23" name="Group 154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5D7C46A5-5983-C3D2-6CC4-0DF015B7D906}"/>
              </a:ext>
            </a:extLst>
          </p:cNvPr>
          <p:cNvGrpSpPr>
            <a:grpSpLocks/>
          </p:cNvGrpSpPr>
          <p:nvPr/>
        </p:nvGrpSpPr>
        <p:grpSpPr bwMode="auto">
          <a:xfrm>
            <a:off x="4151759" y="2635920"/>
            <a:ext cx="1081088" cy="1214438"/>
            <a:chOff x="1655" y="2387"/>
            <a:chExt cx="681" cy="765"/>
          </a:xfrm>
        </p:grpSpPr>
        <p:grpSp>
          <p:nvGrpSpPr>
            <p:cNvPr id="24" name="Group 78">
              <a:extLst>
                <a:ext uri="{FF2B5EF4-FFF2-40B4-BE49-F238E27FC236}">
                  <a16:creationId xmlns:a16="http://schemas.microsoft.com/office/drawing/2014/main" id="{B5566870-FB1D-322B-9A7B-FA9A2A51ED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2462"/>
              <a:ext cx="681" cy="136"/>
              <a:chOff x="1791" y="2614"/>
              <a:chExt cx="681" cy="136"/>
            </a:xfrm>
          </p:grpSpPr>
          <p:sp>
            <p:nvSpPr>
              <p:cNvPr id="44" name="Rectangle 79">
                <a:extLst>
                  <a:ext uri="{FF2B5EF4-FFF2-40B4-BE49-F238E27FC236}">
                    <a16:creationId xmlns:a16="http://schemas.microsoft.com/office/drawing/2014/main" id="{88BC75EE-1B15-B4A1-915F-BF764F5C5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5" name="Rectangle 80">
                <a:extLst>
                  <a:ext uri="{FF2B5EF4-FFF2-40B4-BE49-F238E27FC236}">
                    <a16:creationId xmlns:a16="http://schemas.microsoft.com/office/drawing/2014/main" id="{1ADD3651-C260-A6BE-9510-4F02CA4BE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6" name="Rectangle 81">
                <a:extLst>
                  <a:ext uri="{FF2B5EF4-FFF2-40B4-BE49-F238E27FC236}">
                    <a16:creationId xmlns:a16="http://schemas.microsoft.com/office/drawing/2014/main" id="{A7B13B3C-0758-3804-D728-FD0041249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7" name="Rectangle 82">
                <a:extLst>
                  <a:ext uri="{FF2B5EF4-FFF2-40B4-BE49-F238E27FC236}">
                    <a16:creationId xmlns:a16="http://schemas.microsoft.com/office/drawing/2014/main" id="{62951318-0ADF-AE4E-C6C9-6D0FD09771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8" name="Rectangle 83">
                <a:extLst>
                  <a:ext uri="{FF2B5EF4-FFF2-40B4-BE49-F238E27FC236}">
                    <a16:creationId xmlns:a16="http://schemas.microsoft.com/office/drawing/2014/main" id="{03802907-D82F-AD67-16CD-9B6507C149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25" name="Group 84">
              <a:extLst>
                <a:ext uri="{FF2B5EF4-FFF2-40B4-BE49-F238E27FC236}">
                  <a16:creationId xmlns:a16="http://schemas.microsoft.com/office/drawing/2014/main" id="{BA6E5BF9-2B03-5AD8-AFB0-6D6448F75F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2614"/>
              <a:ext cx="681" cy="136"/>
              <a:chOff x="1791" y="2614"/>
              <a:chExt cx="681" cy="136"/>
            </a:xfrm>
          </p:grpSpPr>
          <p:sp>
            <p:nvSpPr>
              <p:cNvPr id="39" name="Rectangle 85">
                <a:extLst>
                  <a:ext uri="{FF2B5EF4-FFF2-40B4-BE49-F238E27FC236}">
                    <a16:creationId xmlns:a16="http://schemas.microsoft.com/office/drawing/2014/main" id="{7EAA9D91-46AB-BECA-3296-F02444B08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" name="Rectangle 86">
                <a:extLst>
                  <a:ext uri="{FF2B5EF4-FFF2-40B4-BE49-F238E27FC236}">
                    <a16:creationId xmlns:a16="http://schemas.microsoft.com/office/drawing/2014/main" id="{E3946AAC-68DF-73F6-77F2-467F5EA6A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" name="Rectangle 87">
                <a:extLst>
                  <a:ext uri="{FF2B5EF4-FFF2-40B4-BE49-F238E27FC236}">
                    <a16:creationId xmlns:a16="http://schemas.microsoft.com/office/drawing/2014/main" id="{4923DFA0-3CEE-7B66-2A59-AC3983AE2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2" name="Rectangle 88">
                <a:extLst>
                  <a:ext uri="{FF2B5EF4-FFF2-40B4-BE49-F238E27FC236}">
                    <a16:creationId xmlns:a16="http://schemas.microsoft.com/office/drawing/2014/main" id="{EF88E3A4-211C-F7A8-07C4-D84D327E3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3" name="Rectangle 89">
                <a:extLst>
                  <a:ext uri="{FF2B5EF4-FFF2-40B4-BE49-F238E27FC236}">
                    <a16:creationId xmlns:a16="http://schemas.microsoft.com/office/drawing/2014/main" id="{051AEE17-2153-C5DD-2727-9E85E92E4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6" name="Line 92">
              <a:extLst>
                <a:ext uri="{FF2B5EF4-FFF2-40B4-BE49-F238E27FC236}">
                  <a16:creationId xmlns:a16="http://schemas.microsoft.com/office/drawing/2014/main" id="{7A671B15-EA6B-B42B-361F-EF789D185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387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7" name="Group 93">
              <a:extLst>
                <a:ext uri="{FF2B5EF4-FFF2-40B4-BE49-F238E27FC236}">
                  <a16:creationId xmlns:a16="http://schemas.microsoft.com/office/drawing/2014/main" id="{8D4DD4C1-06D1-9090-ACD3-A62CF87463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2864"/>
              <a:ext cx="681" cy="136"/>
              <a:chOff x="1791" y="2614"/>
              <a:chExt cx="681" cy="136"/>
            </a:xfrm>
          </p:grpSpPr>
          <p:sp>
            <p:nvSpPr>
              <p:cNvPr id="34" name="Rectangle 94">
                <a:extLst>
                  <a:ext uri="{FF2B5EF4-FFF2-40B4-BE49-F238E27FC236}">
                    <a16:creationId xmlns:a16="http://schemas.microsoft.com/office/drawing/2014/main" id="{C15E364B-4A5D-2888-2B4D-305FF8473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" name="Rectangle 95">
                <a:extLst>
                  <a:ext uri="{FF2B5EF4-FFF2-40B4-BE49-F238E27FC236}">
                    <a16:creationId xmlns:a16="http://schemas.microsoft.com/office/drawing/2014/main" id="{F55D0D66-37FF-0D2A-E248-071D91D72B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6" name="Rectangle 96">
                <a:extLst>
                  <a:ext uri="{FF2B5EF4-FFF2-40B4-BE49-F238E27FC236}">
                    <a16:creationId xmlns:a16="http://schemas.microsoft.com/office/drawing/2014/main" id="{F7F047DF-6D44-F17F-39C5-F6BBF7EF2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7" name="Rectangle 97">
                <a:extLst>
                  <a:ext uri="{FF2B5EF4-FFF2-40B4-BE49-F238E27FC236}">
                    <a16:creationId xmlns:a16="http://schemas.microsoft.com/office/drawing/2014/main" id="{A6E48D8B-AD30-9055-C025-7BC863A7B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8" name="Rectangle 98">
                <a:extLst>
                  <a:ext uri="{FF2B5EF4-FFF2-40B4-BE49-F238E27FC236}">
                    <a16:creationId xmlns:a16="http://schemas.microsoft.com/office/drawing/2014/main" id="{0B2DE742-BFFF-16E9-DB3D-758399354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28" name="Group 99">
              <a:extLst>
                <a:ext uri="{FF2B5EF4-FFF2-40B4-BE49-F238E27FC236}">
                  <a16:creationId xmlns:a16="http://schemas.microsoft.com/office/drawing/2014/main" id="{ABE15174-2C4F-BAC8-70DD-191871BEC4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3016"/>
              <a:ext cx="681" cy="136"/>
              <a:chOff x="1791" y="2614"/>
              <a:chExt cx="681" cy="136"/>
            </a:xfrm>
          </p:grpSpPr>
          <p:sp>
            <p:nvSpPr>
              <p:cNvPr id="29" name="Rectangle 100">
                <a:extLst>
                  <a:ext uri="{FF2B5EF4-FFF2-40B4-BE49-F238E27FC236}">
                    <a16:creationId xmlns:a16="http://schemas.microsoft.com/office/drawing/2014/main" id="{7BCB59E8-11CB-D22F-4087-3D04A8305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0" name="Rectangle 101">
                <a:extLst>
                  <a:ext uri="{FF2B5EF4-FFF2-40B4-BE49-F238E27FC236}">
                    <a16:creationId xmlns:a16="http://schemas.microsoft.com/office/drawing/2014/main" id="{88BCC962-7996-E645-69AF-72A6E396E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" name="Rectangle 102">
                <a:extLst>
                  <a:ext uri="{FF2B5EF4-FFF2-40B4-BE49-F238E27FC236}">
                    <a16:creationId xmlns:a16="http://schemas.microsoft.com/office/drawing/2014/main" id="{7AF970B3-2163-AACD-10D3-BD4F1A2E1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2" name="Rectangle 103">
                <a:extLst>
                  <a:ext uri="{FF2B5EF4-FFF2-40B4-BE49-F238E27FC236}">
                    <a16:creationId xmlns:a16="http://schemas.microsoft.com/office/drawing/2014/main" id="{0442D576-515F-DE3B-C5D2-48FCF1D1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" name="Rectangle 104">
                <a:extLst>
                  <a:ext uri="{FF2B5EF4-FFF2-40B4-BE49-F238E27FC236}">
                    <a16:creationId xmlns:a16="http://schemas.microsoft.com/office/drawing/2014/main" id="{B69BBE43-5DB3-5CDC-5755-06265EDFD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sp>
        <p:nvSpPr>
          <p:cNvPr id="49" name="Rectangle 119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F5EFAA28-E290-B91A-7DFC-828702992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622" y="4364708"/>
            <a:ext cx="2520950" cy="431800"/>
          </a:xfrm>
          <a:prstGeom prst="rect">
            <a:avLst/>
          </a:prstGeom>
          <a:noFill/>
          <a:ln w="9525">
            <a:solidFill>
              <a:srgbClr val="FFC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en-GB" altLang="en-US"/>
              <a:t>Evaluate All Children</a:t>
            </a:r>
            <a:endParaRPr lang="en-US" altLang="en-US"/>
          </a:p>
        </p:txBody>
      </p:sp>
      <p:grpSp>
        <p:nvGrpSpPr>
          <p:cNvPr id="50" name="Group 107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577E8DA5-C7DE-9F1B-CF3D-3BE1E851B348}"/>
              </a:ext>
            </a:extLst>
          </p:cNvPr>
          <p:cNvGrpSpPr>
            <a:grpSpLocks/>
          </p:cNvGrpSpPr>
          <p:nvPr/>
        </p:nvGrpSpPr>
        <p:grpSpPr bwMode="auto">
          <a:xfrm>
            <a:off x="4150173" y="4102770"/>
            <a:ext cx="1081087" cy="215900"/>
            <a:chOff x="1791" y="2614"/>
            <a:chExt cx="681" cy="136"/>
          </a:xfrm>
        </p:grpSpPr>
        <p:sp>
          <p:nvSpPr>
            <p:cNvPr id="51" name="Rectangle 108">
              <a:extLst>
                <a:ext uri="{FF2B5EF4-FFF2-40B4-BE49-F238E27FC236}">
                  <a16:creationId xmlns:a16="http://schemas.microsoft.com/office/drawing/2014/main" id="{716D52FF-CE6F-D1F9-B4E2-C6013F661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614"/>
              <a:ext cx="136" cy="1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" name="Rectangle 109">
              <a:extLst>
                <a:ext uri="{FF2B5EF4-FFF2-40B4-BE49-F238E27FC236}">
                  <a16:creationId xmlns:a16="http://schemas.microsoft.com/office/drawing/2014/main" id="{4DE8586D-A193-B5CA-E9FF-983549276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614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3" name="Rectangle 110">
              <a:extLst>
                <a:ext uri="{FF2B5EF4-FFF2-40B4-BE49-F238E27FC236}">
                  <a16:creationId xmlns:a16="http://schemas.microsoft.com/office/drawing/2014/main" id="{3A308AB4-A438-D0EB-9427-B2F27724B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614"/>
              <a:ext cx="136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" name="Rectangle 111">
              <a:extLst>
                <a:ext uri="{FF2B5EF4-FFF2-40B4-BE49-F238E27FC236}">
                  <a16:creationId xmlns:a16="http://schemas.microsoft.com/office/drawing/2014/main" id="{E144AFAB-29DC-FF82-80B4-C8C42A9B4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614"/>
              <a:ext cx="136" cy="1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" name="Rectangle 112">
              <a:extLst>
                <a:ext uri="{FF2B5EF4-FFF2-40B4-BE49-F238E27FC236}">
                  <a16:creationId xmlns:a16="http://schemas.microsoft.com/office/drawing/2014/main" id="{D68B38D2-F946-0E78-49AF-12574B5FB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614"/>
              <a:ext cx="136" cy="13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6" name="Group 113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E82A5093-38A2-143B-00EB-B10AA6D14EF1}"/>
              </a:ext>
            </a:extLst>
          </p:cNvPr>
          <p:cNvGrpSpPr>
            <a:grpSpLocks/>
          </p:cNvGrpSpPr>
          <p:nvPr/>
        </p:nvGrpSpPr>
        <p:grpSpPr bwMode="auto">
          <a:xfrm>
            <a:off x="4150173" y="4364708"/>
            <a:ext cx="1081087" cy="215900"/>
            <a:chOff x="1791" y="2614"/>
            <a:chExt cx="681" cy="136"/>
          </a:xfrm>
        </p:grpSpPr>
        <p:sp>
          <p:nvSpPr>
            <p:cNvPr id="57" name="Rectangle 114">
              <a:extLst>
                <a:ext uri="{FF2B5EF4-FFF2-40B4-BE49-F238E27FC236}">
                  <a16:creationId xmlns:a16="http://schemas.microsoft.com/office/drawing/2014/main" id="{34F67F8D-994D-2F44-F55C-24F45A98E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614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8" name="Rectangle 115">
              <a:extLst>
                <a:ext uri="{FF2B5EF4-FFF2-40B4-BE49-F238E27FC236}">
                  <a16:creationId xmlns:a16="http://schemas.microsoft.com/office/drawing/2014/main" id="{B5C6BC6C-6505-B199-472A-D21424AB2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614"/>
              <a:ext cx="136" cy="13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9" name="Rectangle 116">
              <a:extLst>
                <a:ext uri="{FF2B5EF4-FFF2-40B4-BE49-F238E27FC236}">
                  <a16:creationId xmlns:a16="http://schemas.microsoft.com/office/drawing/2014/main" id="{59A1C6B7-B4FC-A283-2B40-C1127D518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614"/>
              <a:ext cx="136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0" name="Rectangle 117">
              <a:extLst>
                <a:ext uri="{FF2B5EF4-FFF2-40B4-BE49-F238E27FC236}">
                  <a16:creationId xmlns:a16="http://schemas.microsoft.com/office/drawing/2014/main" id="{D4862DF9-0C5B-160A-4D8B-DB5BB8349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614"/>
              <a:ext cx="136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1" name="Rectangle 118">
              <a:extLst>
                <a:ext uri="{FF2B5EF4-FFF2-40B4-BE49-F238E27FC236}">
                  <a16:creationId xmlns:a16="http://schemas.microsoft.com/office/drawing/2014/main" id="{9D49A0BB-75AF-4011-4033-E0C7E3F8B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614"/>
              <a:ext cx="136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62" name="Text Box 120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F2E9D73E-33CE-E469-D18C-742CDD588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897" y="4142458"/>
            <a:ext cx="5762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1200" b="1"/>
              <a:t>  16.0</a:t>
            </a:r>
            <a:endParaRPr lang="en-US" altLang="en-US" sz="1200" b="1"/>
          </a:p>
        </p:txBody>
      </p:sp>
      <p:sp>
        <p:nvSpPr>
          <p:cNvPr id="63" name="Text Box 121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DEDD9E9A-78EF-E405-189C-7804126BD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697" y="4380583"/>
            <a:ext cx="5762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1200" b="1"/>
              <a:t> 11.0</a:t>
            </a:r>
            <a:endParaRPr lang="en-US" altLang="en-US" sz="1200" b="1"/>
          </a:p>
        </p:txBody>
      </p:sp>
      <p:grpSp>
        <p:nvGrpSpPr>
          <p:cNvPr id="64" name="Group 213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A1789FBB-03A4-5C5A-A8B4-75C506562CB7}"/>
              </a:ext>
            </a:extLst>
          </p:cNvPr>
          <p:cNvGrpSpPr>
            <a:grpSpLocks/>
          </p:cNvGrpSpPr>
          <p:nvPr/>
        </p:nvGrpSpPr>
        <p:grpSpPr bwMode="auto">
          <a:xfrm>
            <a:off x="3935860" y="5599783"/>
            <a:ext cx="1503363" cy="938212"/>
            <a:chOff x="1610" y="3709"/>
            <a:chExt cx="947" cy="591"/>
          </a:xfrm>
        </p:grpSpPr>
        <p:grpSp>
          <p:nvGrpSpPr>
            <p:cNvPr id="65" name="Group 122">
              <a:extLst>
                <a:ext uri="{FF2B5EF4-FFF2-40B4-BE49-F238E27FC236}">
                  <a16:creationId xmlns:a16="http://schemas.microsoft.com/office/drawing/2014/main" id="{C85247C9-F2CC-628D-3D06-D7672E2B78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6" y="3709"/>
              <a:ext cx="681" cy="136"/>
              <a:chOff x="1791" y="2614"/>
              <a:chExt cx="681" cy="136"/>
            </a:xfrm>
          </p:grpSpPr>
          <p:sp>
            <p:nvSpPr>
              <p:cNvPr id="88" name="Rectangle 123">
                <a:extLst>
                  <a:ext uri="{FF2B5EF4-FFF2-40B4-BE49-F238E27FC236}">
                    <a16:creationId xmlns:a16="http://schemas.microsoft.com/office/drawing/2014/main" id="{829073FE-03CF-2FCB-4C50-910AF7DD3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9" name="Rectangle 124">
                <a:extLst>
                  <a:ext uri="{FF2B5EF4-FFF2-40B4-BE49-F238E27FC236}">
                    <a16:creationId xmlns:a16="http://schemas.microsoft.com/office/drawing/2014/main" id="{C49AB76B-2201-5A16-898C-40C4F8D09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" name="Rectangle 125">
                <a:extLst>
                  <a:ext uri="{FF2B5EF4-FFF2-40B4-BE49-F238E27FC236}">
                    <a16:creationId xmlns:a16="http://schemas.microsoft.com/office/drawing/2014/main" id="{631163FF-D084-1020-5AD6-F450F5EDA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1" name="Rectangle 126">
                <a:extLst>
                  <a:ext uri="{FF2B5EF4-FFF2-40B4-BE49-F238E27FC236}">
                    <a16:creationId xmlns:a16="http://schemas.microsoft.com/office/drawing/2014/main" id="{4B6E20B3-5F75-0E0E-99DC-6A403670B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2" name="Rectangle 127">
                <a:extLst>
                  <a:ext uri="{FF2B5EF4-FFF2-40B4-BE49-F238E27FC236}">
                    <a16:creationId xmlns:a16="http://schemas.microsoft.com/office/drawing/2014/main" id="{6833295F-D7A6-0FFC-2459-1607C4CE3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6" name="Group 128">
              <a:extLst>
                <a:ext uri="{FF2B5EF4-FFF2-40B4-BE49-F238E27FC236}">
                  <a16:creationId xmlns:a16="http://schemas.microsoft.com/office/drawing/2014/main" id="{3CB0E4D9-02D3-518C-EE37-E2679B36EA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3" y="4164"/>
              <a:ext cx="681" cy="136"/>
              <a:chOff x="1791" y="2614"/>
              <a:chExt cx="681" cy="136"/>
            </a:xfrm>
          </p:grpSpPr>
          <p:sp>
            <p:nvSpPr>
              <p:cNvPr id="83" name="Rectangle 129">
                <a:extLst>
                  <a:ext uri="{FF2B5EF4-FFF2-40B4-BE49-F238E27FC236}">
                    <a16:creationId xmlns:a16="http://schemas.microsoft.com/office/drawing/2014/main" id="{B6EF43A1-DF2F-6122-4CAE-D9856E15D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4" name="Rectangle 130">
                <a:extLst>
                  <a:ext uri="{FF2B5EF4-FFF2-40B4-BE49-F238E27FC236}">
                    <a16:creationId xmlns:a16="http://schemas.microsoft.com/office/drawing/2014/main" id="{4FFD372C-917C-A554-8ED7-D54F3720E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5" name="Rectangle 131">
                <a:extLst>
                  <a:ext uri="{FF2B5EF4-FFF2-40B4-BE49-F238E27FC236}">
                    <a16:creationId xmlns:a16="http://schemas.microsoft.com/office/drawing/2014/main" id="{75E2C632-B6FD-3D0E-15D7-384F9E2D5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6" name="Rectangle 132">
                <a:extLst>
                  <a:ext uri="{FF2B5EF4-FFF2-40B4-BE49-F238E27FC236}">
                    <a16:creationId xmlns:a16="http://schemas.microsoft.com/office/drawing/2014/main" id="{15C2E15E-45EC-DB8A-3566-28A2183DC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7" name="Rectangle 133">
                <a:extLst>
                  <a:ext uri="{FF2B5EF4-FFF2-40B4-BE49-F238E27FC236}">
                    <a16:creationId xmlns:a16="http://schemas.microsoft.com/office/drawing/2014/main" id="{E642AD42-84B7-4E79-3EA0-616412CA9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7" name="Text Box 134">
              <a:extLst>
                <a:ext uri="{FF2B5EF4-FFF2-40B4-BE49-F238E27FC236}">
                  <a16:creationId xmlns:a16="http://schemas.microsoft.com/office/drawing/2014/main" id="{B67575B1-ACF9-58B3-9060-FEF4D998D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742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    6.0</a:t>
              </a:r>
              <a:endParaRPr lang="en-US" altLang="en-US" sz="1200" b="1"/>
            </a:p>
          </p:txBody>
        </p:sp>
        <p:sp>
          <p:nvSpPr>
            <p:cNvPr id="68" name="Text Box 135">
              <a:extLst>
                <a:ext uri="{FF2B5EF4-FFF2-40B4-BE49-F238E27FC236}">
                  <a16:creationId xmlns:a16="http://schemas.microsoft.com/office/drawing/2014/main" id="{CC1C9242-58D1-2EA9-C28D-868E860FE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9" y="4174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10.0</a:t>
              </a:r>
              <a:endParaRPr lang="en-US" altLang="en-US" sz="1200" b="1"/>
            </a:p>
          </p:txBody>
        </p:sp>
        <p:grpSp>
          <p:nvGrpSpPr>
            <p:cNvPr id="69" name="Group 136">
              <a:extLst>
                <a:ext uri="{FF2B5EF4-FFF2-40B4-BE49-F238E27FC236}">
                  <a16:creationId xmlns:a16="http://schemas.microsoft.com/office/drawing/2014/main" id="{D3F5D8DC-D4F9-9A20-6E20-7CC2473FB6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6" y="3862"/>
              <a:ext cx="681" cy="136"/>
              <a:chOff x="1791" y="2614"/>
              <a:chExt cx="681" cy="136"/>
            </a:xfrm>
          </p:grpSpPr>
          <p:sp>
            <p:nvSpPr>
              <p:cNvPr id="78" name="Rectangle 137">
                <a:extLst>
                  <a:ext uri="{FF2B5EF4-FFF2-40B4-BE49-F238E27FC236}">
                    <a16:creationId xmlns:a16="http://schemas.microsoft.com/office/drawing/2014/main" id="{1080A502-D7A7-0BD8-C829-FD9E4BEDC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9" name="Rectangle 138">
                <a:extLst>
                  <a:ext uri="{FF2B5EF4-FFF2-40B4-BE49-F238E27FC236}">
                    <a16:creationId xmlns:a16="http://schemas.microsoft.com/office/drawing/2014/main" id="{BDEF53BF-8138-B4FB-A46C-51F9630539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0" name="Rectangle 139">
                <a:extLst>
                  <a:ext uri="{FF2B5EF4-FFF2-40B4-BE49-F238E27FC236}">
                    <a16:creationId xmlns:a16="http://schemas.microsoft.com/office/drawing/2014/main" id="{0B8FAF72-A7D6-868D-3F5A-A62858E79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1" name="Rectangle 140">
                <a:extLst>
                  <a:ext uri="{FF2B5EF4-FFF2-40B4-BE49-F238E27FC236}">
                    <a16:creationId xmlns:a16="http://schemas.microsoft.com/office/drawing/2014/main" id="{559AF2AE-2C59-1878-31BE-8A8D2DD4F1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2" name="Rectangle 141">
                <a:extLst>
                  <a:ext uri="{FF2B5EF4-FFF2-40B4-BE49-F238E27FC236}">
                    <a16:creationId xmlns:a16="http://schemas.microsoft.com/office/drawing/2014/main" id="{ED086008-0E9F-3038-2F80-EE491F7AC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70" name="Group 142">
              <a:extLst>
                <a:ext uri="{FF2B5EF4-FFF2-40B4-BE49-F238E27FC236}">
                  <a16:creationId xmlns:a16="http://schemas.microsoft.com/office/drawing/2014/main" id="{798F1DBB-2231-413B-F964-418A7D1F51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6" y="4014"/>
              <a:ext cx="681" cy="136"/>
              <a:chOff x="1791" y="2614"/>
              <a:chExt cx="681" cy="136"/>
            </a:xfrm>
          </p:grpSpPr>
          <p:sp>
            <p:nvSpPr>
              <p:cNvPr id="73" name="Rectangle 143">
                <a:extLst>
                  <a:ext uri="{FF2B5EF4-FFF2-40B4-BE49-F238E27FC236}">
                    <a16:creationId xmlns:a16="http://schemas.microsoft.com/office/drawing/2014/main" id="{2092C3EA-E493-37EB-DAB1-C06786B46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4" name="Rectangle 144">
                <a:extLst>
                  <a:ext uri="{FF2B5EF4-FFF2-40B4-BE49-F238E27FC236}">
                    <a16:creationId xmlns:a16="http://schemas.microsoft.com/office/drawing/2014/main" id="{243C2F65-DF0D-36E5-F91F-8AC5101ED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5" name="Rectangle 145">
                <a:extLst>
                  <a:ext uri="{FF2B5EF4-FFF2-40B4-BE49-F238E27FC236}">
                    <a16:creationId xmlns:a16="http://schemas.microsoft.com/office/drawing/2014/main" id="{9985BBC8-14FF-5BA3-B7B1-7380E9104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6" name="Rectangle 146">
                <a:extLst>
                  <a:ext uri="{FF2B5EF4-FFF2-40B4-BE49-F238E27FC236}">
                    <a16:creationId xmlns:a16="http://schemas.microsoft.com/office/drawing/2014/main" id="{CFD5E125-6BE4-CAE2-E51A-401EF632A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7" name="Rectangle 147">
                <a:extLst>
                  <a:ext uri="{FF2B5EF4-FFF2-40B4-BE49-F238E27FC236}">
                    <a16:creationId xmlns:a16="http://schemas.microsoft.com/office/drawing/2014/main" id="{EE5EFC11-D447-405B-7003-369A4104C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1" name="Text Box 148">
              <a:extLst>
                <a:ext uri="{FF2B5EF4-FFF2-40B4-BE49-F238E27FC236}">
                  <a16:creationId xmlns:a16="http://schemas.microsoft.com/office/drawing/2014/main" id="{6E5E6498-E445-C464-163D-0165211D6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83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  7.0</a:t>
              </a:r>
              <a:endParaRPr lang="en-US" altLang="en-US" sz="1200" b="1"/>
            </a:p>
          </p:txBody>
        </p:sp>
        <p:sp>
          <p:nvSpPr>
            <p:cNvPr id="72" name="Text Box 149">
              <a:extLst>
                <a:ext uri="{FF2B5EF4-FFF2-40B4-BE49-F238E27FC236}">
                  <a16:creationId xmlns:a16="http://schemas.microsoft.com/office/drawing/2014/main" id="{D85AB68B-D8BF-7163-F007-F17A3D013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9" y="4033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 9.0</a:t>
              </a:r>
              <a:endParaRPr lang="en-US" altLang="en-US" sz="1200" b="1"/>
            </a:p>
          </p:txBody>
        </p:sp>
      </p:grpSp>
      <p:sp>
        <p:nvSpPr>
          <p:cNvPr id="93" name="Rectangle 156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57FC1C4E-D428-F270-2DDF-FD61A699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622" y="5012408"/>
            <a:ext cx="252095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en-GB" altLang="en-US"/>
              <a:t>Hill Climbing</a:t>
            </a:r>
            <a:endParaRPr lang="en-US" altLang="en-US"/>
          </a:p>
        </p:txBody>
      </p:sp>
      <p:sp>
        <p:nvSpPr>
          <p:cNvPr id="94" name="Line 159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3086C19E-BCE5-A625-45DE-EC133719B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522" y="2674020"/>
            <a:ext cx="48244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5" name="Line 160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A7ED578A-5769-EA9D-4E9D-114932585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522" y="3874170"/>
            <a:ext cx="48244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" name="Line 161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4D192BD4-DC5C-C6E5-6989-EED2AADB76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522" y="4894933"/>
            <a:ext cx="48244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7" name="Line 162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3E914215-F326-3794-0A26-07A5C6D31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522" y="5542633"/>
            <a:ext cx="48244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98" name="Group 163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DCD1A367-5B55-0ED3-D888-1523D444575A}"/>
              </a:ext>
            </a:extLst>
          </p:cNvPr>
          <p:cNvGrpSpPr>
            <a:grpSpLocks/>
          </p:cNvGrpSpPr>
          <p:nvPr/>
        </p:nvGrpSpPr>
        <p:grpSpPr bwMode="auto">
          <a:xfrm>
            <a:off x="3719960" y="4967959"/>
            <a:ext cx="1503363" cy="477837"/>
            <a:chOff x="1389" y="3324"/>
            <a:chExt cx="947" cy="301"/>
          </a:xfrm>
        </p:grpSpPr>
        <p:grpSp>
          <p:nvGrpSpPr>
            <p:cNvPr id="99" name="Group 164">
              <a:extLst>
                <a:ext uri="{FF2B5EF4-FFF2-40B4-BE49-F238E27FC236}">
                  <a16:creationId xmlns:a16="http://schemas.microsoft.com/office/drawing/2014/main" id="{6C3B1B77-6B25-F46B-171C-CEC5237A8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3324"/>
              <a:ext cx="681" cy="136"/>
              <a:chOff x="1791" y="2614"/>
              <a:chExt cx="681" cy="136"/>
            </a:xfrm>
          </p:grpSpPr>
          <p:sp>
            <p:nvSpPr>
              <p:cNvPr id="108" name="Rectangle 165">
                <a:extLst>
                  <a:ext uri="{FF2B5EF4-FFF2-40B4-BE49-F238E27FC236}">
                    <a16:creationId xmlns:a16="http://schemas.microsoft.com/office/drawing/2014/main" id="{1371A3AA-E5F1-328F-862D-49154C7413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9" name="Rectangle 166">
                <a:extLst>
                  <a:ext uri="{FF2B5EF4-FFF2-40B4-BE49-F238E27FC236}">
                    <a16:creationId xmlns:a16="http://schemas.microsoft.com/office/drawing/2014/main" id="{1ECE40C3-8F8A-13A8-19E1-E70C5BC84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0" name="Rectangle 167">
                <a:extLst>
                  <a:ext uri="{FF2B5EF4-FFF2-40B4-BE49-F238E27FC236}">
                    <a16:creationId xmlns:a16="http://schemas.microsoft.com/office/drawing/2014/main" id="{A15D4034-CDCC-8F89-77D1-0F1F2ADAA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1" name="Rectangle 168">
                <a:extLst>
                  <a:ext uri="{FF2B5EF4-FFF2-40B4-BE49-F238E27FC236}">
                    <a16:creationId xmlns:a16="http://schemas.microsoft.com/office/drawing/2014/main" id="{164C399A-65DD-CB9A-4C52-D81F5F777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2" name="Rectangle 169">
                <a:extLst>
                  <a:ext uri="{FF2B5EF4-FFF2-40B4-BE49-F238E27FC236}">
                    <a16:creationId xmlns:a16="http://schemas.microsoft.com/office/drawing/2014/main" id="{5336C320-4A37-31DC-F7F9-F605C81A9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100" name="Group 170">
              <a:extLst>
                <a:ext uri="{FF2B5EF4-FFF2-40B4-BE49-F238E27FC236}">
                  <a16:creationId xmlns:a16="http://schemas.microsoft.com/office/drawing/2014/main" id="{115F4991-440A-AF46-F140-E7FC9E001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3489"/>
              <a:ext cx="681" cy="136"/>
              <a:chOff x="1791" y="2614"/>
              <a:chExt cx="681" cy="136"/>
            </a:xfrm>
          </p:grpSpPr>
          <p:sp>
            <p:nvSpPr>
              <p:cNvPr id="103" name="Rectangle 171">
                <a:extLst>
                  <a:ext uri="{FF2B5EF4-FFF2-40B4-BE49-F238E27FC236}">
                    <a16:creationId xmlns:a16="http://schemas.microsoft.com/office/drawing/2014/main" id="{88E47018-7F72-2A93-7FC5-4806D6E85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4" name="Rectangle 172">
                <a:extLst>
                  <a:ext uri="{FF2B5EF4-FFF2-40B4-BE49-F238E27FC236}">
                    <a16:creationId xmlns:a16="http://schemas.microsoft.com/office/drawing/2014/main" id="{86D39DD4-77E4-C3AE-16AF-59B9BA1FB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5" name="Rectangle 173">
                <a:extLst>
                  <a:ext uri="{FF2B5EF4-FFF2-40B4-BE49-F238E27FC236}">
                    <a16:creationId xmlns:a16="http://schemas.microsoft.com/office/drawing/2014/main" id="{1F8EACFC-0DD9-3F6E-856A-C95A43378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6" name="Rectangle 174">
                <a:extLst>
                  <a:ext uri="{FF2B5EF4-FFF2-40B4-BE49-F238E27FC236}">
                    <a16:creationId xmlns:a16="http://schemas.microsoft.com/office/drawing/2014/main" id="{8FA85E90-EC6E-831F-99DC-09EA0064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7" name="Rectangle 175">
                <a:extLst>
                  <a:ext uri="{FF2B5EF4-FFF2-40B4-BE49-F238E27FC236}">
                    <a16:creationId xmlns:a16="http://schemas.microsoft.com/office/drawing/2014/main" id="{3336CF90-0AB9-F6AD-2055-9DAD0B1EE0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01" name="Text Box 176">
              <a:extLst>
                <a:ext uri="{FF2B5EF4-FFF2-40B4-BE49-F238E27FC236}">
                  <a16:creationId xmlns:a16="http://schemas.microsoft.com/office/drawing/2014/main" id="{7801CFFA-2B54-92A5-E03A-B2635A6B3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3349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    6.0</a:t>
              </a:r>
              <a:endParaRPr lang="en-US" altLang="en-US" sz="1200" b="1"/>
            </a:p>
          </p:txBody>
        </p:sp>
        <p:sp>
          <p:nvSpPr>
            <p:cNvPr id="102" name="Text Box 177">
              <a:extLst>
                <a:ext uri="{FF2B5EF4-FFF2-40B4-BE49-F238E27FC236}">
                  <a16:creationId xmlns:a16="http://schemas.microsoft.com/office/drawing/2014/main" id="{2F9866F1-FF0C-2F20-C5BE-0CFA5A504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1" y="3499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 10.0</a:t>
              </a:r>
              <a:endParaRPr lang="en-US" altLang="en-US" sz="1200" b="1"/>
            </a:p>
          </p:txBody>
        </p:sp>
      </p:grpSp>
      <p:grpSp>
        <p:nvGrpSpPr>
          <p:cNvPr id="113" name="Group 182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79B1A246-B254-0F46-85BD-780CA4DDC004}"/>
              </a:ext>
            </a:extLst>
          </p:cNvPr>
          <p:cNvGrpSpPr>
            <a:grpSpLocks/>
          </p:cNvGrpSpPr>
          <p:nvPr/>
        </p:nvGrpSpPr>
        <p:grpSpPr bwMode="auto">
          <a:xfrm>
            <a:off x="5328097" y="3382046"/>
            <a:ext cx="144462" cy="982663"/>
            <a:chOff x="2471" y="2312"/>
            <a:chExt cx="91" cy="619"/>
          </a:xfrm>
        </p:grpSpPr>
        <p:sp>
          <p:nvSpPr>
            <p:cNvPr id="114" name="Freeform 178">
              <a:extLst>
                <a:ext uri="{FF2B5EF4-FFF2-40B4-BE49-F238E27FC236}">
                  <a16:creationId xmlns:a16="http://schemas.microsoft.com/office/drawing/2014/main" id="{F453CEB3-908E-6A0F-9C38-FC1333493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2478"/>
              <a:ext cx="90" cy="453"/>
            </a:xfrm>
            <a:custGeom>
              <a:avLst/>
              <a:gdLst>
                <a:gd name="T0" fmla="*/ 0 w 90"/>
                <a:gd name="T1" fmla="*/ 0 h 453"/>
                <a:gd name="T2" fmla="*/ 90 w 90"/>
                <a:gd name="T3" fmla="*/ 226 h 453"/>
                <a:gd name="T4" fmla="*/ 0 w 90"/>
                <a:gd name="T5" fmla="*/ 453 h 453"/>
                <a:gd name="T6" fmla="*/ 0 60000 65536"/>
                <a:gd name="T7" fmla="*/ 0 60000 65536"/>
                <a:gd name="T8" fmla="*/ 0 60000 65536"/>
                <a:gd name="T9" fmla="*/ 0 w 90"/>
                <a:gd name="T10" fmla="*/ 0 h 453"/>
                <a:gd name="T11" fmla="*/ 90 w 90"/>
                <a:gd name="T12" fmla="*/ 453 h 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" h="453">
                  <a:moveTo>
                    <a:pt x="0" y="0"/>
                  </a:moveTo>
                  <a:cubicBezTo>
                    <a:pt x="45" y="75"/>
                    <a:pt x="90" y="151"/>
                    <a:pt x="90" y="226"/>
                  </a:cubicBezTo>
                  <a:cubicBezTo>
                    <a:pt x="90" y="301"/>
                    <a:pt x="45" y="377"/>
                    <a:pt x="0" y="4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Freeform 180">
              <a:extLst>
                <a:ext uri="{FF2B5EF4-FFF2-40B4-BE49-F238E27FC236}">
                  <a16:creationId xmlns:a16="http://schemas.microsoft.com/office/drawing/2014/main" id="{BA4145C3-5185-78CD-7457-F2979C9F5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2312"/>
              <a:ext cx="2" cy="286"/>
            </a:xfrm>
            <a:custGeom>
              <a:avLst/>
              <a:gdLst>
                <a:gd name="T0" fmla="*/ 0 w 2"/>
                <a:gd name="T1" fmla="*/ 0 h 286"/>
                <a:gd name="T2" fmla="*/ 2 w 2"/>
                <a:gd name="T3" fmla="*/ 286 h 286"/>
                <a:gd name="T4" fmla="*/ 0 60000 65536"/>
                <a:gd name="T5" fmla="*/ 0 60000 65536"/>
                <a:gd name="T6" fmla="*/ 0 w 2"/>
                <a:gd name="T7" fmla="*/ 0 h 286"/>
                <a:gd name="T8" fmla="*/ 2 w 2"/>
                <a:gd name="T9" fmla="*/ 286 h 2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286">
                  <a:moveTo>
                    <a:pt x="0" y="0"/>
                  </a:moveTo>
                  <a:lnTo>
                    <a:pt x="2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6" name="Group 183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08C4C718-BFCB-17E1-4103-994F86FB2386}"/>
              </a:ext>
            </a:extLst>
          </p:cNvPr>
          <p:cNvGrpSpPr>
            <a:grpSpLocks/>
          </p:cNvGrpSpPr>
          <p:nvPr/>
        </p:nvGrpSpPr>
        <p:grpSpPr bwMode="auto">
          <a:xfrm>
            <a:off x="5289997" y="4102771"/>
            <a:ext cx="144462" cy="982663"/>
            <a:chOff x="2471" y="2312"/>
            <a:chExt cx="91" cy="619"/>
          </a:xfrm>
        </p:grpSpPr>
        <p:sp>
          <p:nvSpPr>
            <p:cNvPr id="117" name="Freeform 184">
              <a:extLst>
                <a:ext uri="{FF2B5EF4-FFF2-40B4-BE49-F238E27FC236}">
                  <a16:creationId xmlns:a16="http://schemas.microsoft.com/office/drawing/2014/main" id="{8DEC7327-DB75-4798-33DB-95639A256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2478"/>
              <a:ext cx="90" cy="453"/>
            </a:xfrm>
            <a:custGeom>
              <a:avLst/>
              <a:gdLst>
                <a:gd name="T0" fmla="*/ 0 w 90"/>
                <a:gd name="T1" fmla="*/ 0 h 453"/>
                <a:gd name="T2" fmla="*/ 90 w 90"/>
                <a:gd name="T3" fmla="*/ 226 h 453"/>
                <a:gd name="T4" fmla="*/ 0 w 90"/>
                <a:gd name="T5" fmla="*/ 453 h 453"/>
                <a:gd name="T6" fmla="*/ 0 60000 65536"/>
                <a:gd name="T7" fmla="*/ 0 60000 65536"/>
                <a:gd name="T8" fmla="*/ 0 60000 65536"/>
                <a:gd name="T9" fmla="*/ 0 w 90"/>
                <a:gd name="T10" fmla="*/ 0 h 453"/>
                <a:gd name="T11" fmla="*/ 90 w 90"/>
                <a:gd name="T12" fmla="*/ 453 h 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" h="453">
                  <a:moveTo>
                    <a:pt x="0" y="0"/>
                  </a:moveTo>
                  <a:cubicBezTo>
                    <a:pt x="45" y="75"/>
                    <a:pt x="90" y="151"/>
                    <a:pt x="90" y="226"/>
                  </a:cubicBezTo>
                  <a:cubicBezTo>
                    <a:pt x="90" y="301"/>
                    <a:pt x="45" y="377"/>
                    <a:pt x="0" y="4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" name="Freeform 185">
              <a:extLst>
                <a:ext uri="{FF2B5EF4-FFF2-40B4-BE49-F238E27FC236}">
                  <a16:creationId xmlns:a16="http://schemas.microsoft.com/office/drawing/2014/main" id="{01474093-154D-8456-5D5F-D5FE26173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2312"/>
              <a:ext cx="2" cy="286"/>
            </a:xfrm>
            <a:custGeom>
              <a:avLst/>
              <a:gdLst>
                <a:gd name="T0" fmla="*/ 0 w 2"/>
                <a:gd name="T1" fmla="*/ 0 h 286"/>
                <a:gd name="T2" fmla="*/ 2 w 2"/>
                <a:gd name="T3" fmla="*/ 286 h 286"/>
                <a:gd name="T4" fmla="*/ 0 60000 65536"/>
                <a:gd name="T5" fmla="*/ 0 60000 65536"/>
                <a:gd name="T6" fmla="*/ 0 w 2"/>
                <a:gd name="T7" fmla="*/ 0 h 286"/>
                <a:gd name="T8" fmla="*/ 2 w 2"/>
                <a:gd name="T9" fmla="*/ 286 h 2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286">
                  <a:moveTo>
                    <a:pt x="0" y="0"/>
                  </a:moveTo>
                  <a:lnTo>
                    <a:pt x="2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9" name="Line 186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8085B38E-71E0-09B2-863C-D8624C5DA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4147" y="1772321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0" name="Line 187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CF6FB094-7359-8A2C-ECB8-F9FFDEA56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4147" y="2564484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1" name="Line 188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52B46455-0667-372A-838B-B437FA27BB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4147" y="3499520"/>
            <a:ext cx="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" name="Line 189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896F3DF4-6236-81DD-7BC0-FC52ED43C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4147" y="479650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" name="Line 190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05C77FD8-85C8-5235-0A9B-0F9BCF18D4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4147" y="544579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4" name="Line 191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F45E57A7-ACAB-B012-CD1A-075172D45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2572" y="5877595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5" name="Line 192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50506162-A979-D086-3EF5-5AE98C0228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52434" y="3572545"/>
            <a:ext cx="0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26" name="Group 212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22FE15E3-7421-6901-5AB7-248193A7AD47}"/>
              </a:ext>
            </a:extLst>
          </p:cNvPr>
          <p:cNvGrpSpPr>
            <a:grpSpLocks/>
          </p:cNvGrpSpPr>
          <p:nvPr/>
        </p:nvGrpSpPr>
        <p:grpSpPr bwMode="auto">
          <a:xfrm>
            <a:off x="3791398" y="921421"/>
            <a:ext cx="4537075" cy="923925"/>
            <a:chOff x="1519" y="762"/>
            <a:chExt cx="2858" cy="582"/>
          </a:xfrm>
        </p:grpSpPr>
        <p:sp>
          <p:nvSpPr>
            <p:cNvPr id="127" name="Text Box 59">
              <a:extLst>
                <a:ext uri="{FF2B5EF4-FFF2-40B4-BE49-F238E27FC236}">
                  <a16:creationId xmlns:a16="http://schemas.microsoft.com/office/drawing/2014/main" id="{D2754A99-49D9-E723-39BD-780206785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762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15.0</a:t>
              </a:r>
              <a:endParaRPr lang="en-US" altLang="en-US" sz="1200" b="1"/>
            </a:p>
          </p:txBody>
        </p:sp>
        <p:sp>
          <p:nvSpPr>
            <p:cNvPr id="128" name="Text Box 61">
              <a:extLst>
                <a:ext uri="{FF2B5EF4-FFF2-40B4-BE49-F238E27FC236}">
                  <a16:creationId xmlns:a16="http://schemas.microsoft.com/office/drawing/2014/main" id="{66AA4C00-90D1-A540-1A3D-B00711755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7" y="919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28.0</a:t>
              </a:r>
              <a:endParaRPr lang="en-US" altLang="en-US" sz="1200" b="1"/>
            </a:p>
          </p:txBody>
        </p:sp>
        <p:sp>
          <p:nvSpPr>
            <p:cNvPr id="129" name="Text Box 62">
              <a:extLst>
                <a:ext uri="{FF2B5EF4-FFF2-40B4-BE49-F238E27FC236}">
                  <a16:creationId xmlns:a16="http://schemas.microsoft.com/office/drawing/2014/main" id="{8C211648-693A-9231-0F9B-36543DCA2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079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  7.0</a:t>
              </a:r>
              <a:endParaRPr lang="en-US" altLang="en-US" sz="1200" b="1"/>
            </a:p>
          </p:txBody>
        </p:sp>
        <p:sp>
          <p:nvSpPr>
            <p:cNvPr id="130" name="Text Box 63">
              <a:extLst>
                <a:ext uri="{FF2B5EF4-FFF2-40B4-BE49-F238E27FC236}">
                  <a16:creationId xmlns:a16="http://schemas.microsoft.com/office/drawing/2014/main" id="{89D1C21D-FF39-24E9-5E7C-D270F30C7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4" y="1229"/>
              <a:ext cx="36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200" b="1"/>
                <a:t>9.0</a:t>
              </a:r>
              <a:endParaRPr lang="en-US" altLang="en-US" sz="1200" b="1"/>
            </a:p>
          </p:txBody>
        </p:sp>
        <p:sp>
          <p:nvSpPr>
            <p:cNvPr id="131" name="Rectangle 157">
              <a:extLst>
                <a:ext uri="{FF2B5EF4-FFF2-40B4-BE49-F238E27FC236}">
                  <a16:creationId xmlns:a16="http://schemas.microsoft.com/office/drawing/2014/main" id="{CD94B97C-B0E2-73DA-230E-9AFA4586F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026"/>
              <a:ext cx="1860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GB" altLang="en-US"/>
                <a:t>Evaluate All Individuals</a:t>
              </a:r>
              <a:endParaRPr lang="en-US" altLang="en-US"/>
            </a:p>
          </p:txBody>
        </p:sp>
      </p:grpSp>
      <p:sp>
        <p:nvSpPr>
          <p:cNvPr id="132" name="Line 158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6F3ABF8E-0554-BD19-EDE2-0EE0EA755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8522" y="1954883"/>
            <a:ext cx="48244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33" name="Group 210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CDAC0723-E9BF-E69D-349D-F3826C73B3FD}"/>
              </a:ext>
            </a:extLst>
          </p:cNvPr>
          <p:cNvGrpSpPr>
            <a:grpSpLocks/>
          </p:cNvGrpSpPr>
          <p:nvPr/>
        </p:nvGrpSpPr>
        <p:grpSpPr bwMode="auto">
          <a:xfrm>
            <a:off x="4150172" y="908720"/>
            <a:ext cx="4178300" cy="939800"/>
            <a:chOff x="1745" y="754"/>
            <a:chExt cx="2632" cy="592"/>
          </a:xfrm>
        </p:grpSpPr>
        <p:sp>
          <p:nvSpPr>
            <p:cNvPr id="134" name="Rectangle 4">
              <a:extLst>
                <a:ext uri="{FF2B5EF4-FFF2-40B4-BE49-F238E27FC236}">
                  <a16:creationId xmlns:a16="http://schemas.microsoft.com/office/drawing/2014/main" id="{BEDF9A68-BE39-0AA3-F751-A23768079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754"/>
              <a:ext cx="1860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GB" altLang="en-US"/>
                <a:t>Generate Initial Population</a:t>
              </a:r>
              <a:endParaRPr lang="en-US" altLang="en-US"/>
            </a:p>
          </p:txBody>
        </p:sp>
        <p:grpSp>
          <p:nvGrpSpPr>
            <p:cNvPr id="135" name="Group 35">
              <a:extLst>
                <a:ext uri="{FF2B5EF4-FFF2-40B4-BE49-F238E27FC236}">
                  <a16:creationId xmlns:a16="http://schemas.microsoft.com/office/drawing/2014/main" id="{60C88496-28CD-65D7-DE6F-A710E6C3F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5" y="754"/>
              <a:ext cx="681" cy="136"/>
              <a:chOff x="1791" y="2614"/>
              <a:chExt cx="681" cy="136"/>
            </a:xfrm>
          </p:grpSpPr>
          <p:sp>
            <p:nvSpPr>
              <p:cNvPr id="154" name="Rectangle 36">
                <a:extLst>
                  <a:ext uri="{FF2B5EF4-FFF2-40B4-BE49-F238E27FC236}">
                    <a16:creationId xmlns:a16="http://schemas.microsoft.com/office/drawing/2014/main" id="{819CB09D-61A5-B488-95F6-08376C69B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5" name="Rectangle 37">
                <a:extLst>
                  <a:ext uri="{FF2B5EF4-FFF2-40B4-BE49-F238E27FC236}">
                    <a16:creationId xmlns:a16="http://schemas.microsoft.com/office/drawing/2014/main" id="{ACBBA19E-7553-8BE5-A2F0-03ADD9967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6" name="Rectangle 38">
                <a:extLst>
                  <a:ext uri="{FF2B5EF4-FFF2-40B4-BE49-F238E27FC236}">
                    <a16:creationId xmlns:a16="http://schemas.microsoft.com/office/drawing/2014/main" id="{1A0B6A55-7CBF-4A97-DE8F-10C0EB3E9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7" name="Rectangle 39">
                <a:extLst>
                  <a:ext uri="{FF2B5EF4-FFF2-40B4-BE49-F238E27FC236}">
                    <a16:creationId xmlns:a16="http://schemas.microsoft.com/office/drawing/2014/main" id="{459A6FA0-6915-D285-C652-DEC4967D4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8" name="Rectangle 40">
                <a:extLst>
                  <a:ext uri="{FF2B5EF4-FFF2-40B4-BE49-F238E27FC236}">
                    <a16:creationId xmlns:a16="http://schemas.microsoft.com/office/drawing/2014/main" id="{0E17B6D9-EA14-7355-E0F5-CC9A1A606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136" name="Group 41">
              <a:extLst>
                <a:ext uri="{FF2B5EF4-FFF2-40B4-BE49-F238E27FC236}">
                  <a16:creationId xmlns:a16="http://schemas.microsoft.com/office/drawing/2014/main" id="{4269003F-9D82-8910-20AF-738C25E036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5" y="906"/>
              <a:ext cx="681" cy="136"/>
              <a:chOff x="1791" y="2614"/>
              <a:chExt cx="681" cy="136"/>
            </a:xfrm>
          </p:grpSpPr>
          <p:sp>
            <p:nvSpPr>
              <p:cNvPr id="149" name="Rectangle 42">
                <a:extLst>
                  <a:ext uri="{FF2B5EF4-FFF2-40B4-BE49-F238E27FC236}">
                    <a16:creationId xmlns:a16="http://schemas.microsoft.com/office/drawing/2014/main" id="{75004DC6-61AF-A818-C975-081433E7B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0" name="Rectangle 43">
                <a:extLst>
                  <a:ext uri="{FF2B5EF4-FFF2-40B4-BE49-F238E27FC236}">
                    <a16:creationId xmlns:a16="http://schemas.microsoft.com/office/drawing/2014/main" id="{BE33DA0C-EC64-3DF6-C546-F1153D462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1" name="Rectangle 44">
                <a:extLst>
                  <a:ext uri="{FF2B5EF4-FFF2-40B4-BE49-F238E27FC236}">
                    <a16:creationId xmlns:a16="http://schemas.microsoft.com/office/drawing/2014/main" id="{4254C7A5-F68C-EE72-B0E7-78B8E12F2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2" name="Rectangle 45">
                <a:extLst>
                  <a:ext uri="{FF2B5EF4-FFF2-40B4-BE49-F238E27FC236}">
                    <a16:creationId xmlns:a16="http://schemas.microsoft.com/office/drawing/2014/main" id="{E5DF97DF-549F-4CD4-6C4D-0523359E5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" name="Rectangle 46">
                <a:extLst>
                  <a:ext uri="{FF2B5EF4-FFF2-40B4-BE49-F238E27FC236}">
                    <a16:creationId xmlns:a16="http://schemas.microsoft.com/office/drawing/2014/main" id="{43A05A1A-D6FF-9724-DD2A-15E55988B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137" name="Group 47">
              <a:extLst>
                <a:ext uri="{FF2B5EF4-FFF2-40B4-BE49-F238E27FC236}">
                  <a16:creationId xmlns:a16="http://schemas.microsoft.com/office/drawing/2014/main" id="{D46399DE-A665-5357-8607-77AD151939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5" y="1058"/>
              <a:ext cx="681" cy="136"/>
              <a:chOff x="1791" y="2614"/>
              <a:chExt cx="681" cy="136"/>
            </a:xfrm>
          </p:grpSpPr>
          <p:sp>
            <p:nvSpPr>
              <p:cNvPr id="144" name="Rectangle 48">
                <a:extLst>
                  <a:ext uri="{FF2B5EF4-FFF2-40B4-BE49-F238E27FC236}">
                    <a16:creationId xmlns:a16="http://schemas.microsoft.com/office/drawing/2014/main" id="{F757023D-2883-584F-1BB9-EBCC93CCA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" name="Rectangle 49">
                <a:extLst>
                  <a:ext uri="{FF2B5EF4-FFF2-40B4-BE49-F238E27FC236}">
                    <a16:creationId xmlns:a16="http://schemas.microsoft.com/office/drawing/2014/main" id="{2C9E2024-95CC-DC52-FEBB-E7585216C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6" name="Rectangle 50">
                <a:extLst>
                  <a:ext uri="{FF2B5EF4-FFF2-40B4-BE49-F238E27FC236}">
                    <a16:creationId xmlns:a16="http://schemas.microsoft.com/office/drawing/2014/main" id="{51727230-B542-F00F-34B0-34849C39A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" name="Rectangle 51">
                <a:extLst>
                  <a:ext uri="{FF2B5EF4-FFF2-40B4-BE49-F238E27FC236}">
                    <a16:creationId xmlns:a16="http://schemas.microsoft.com/office/drawing/2014/main" id="{CE3F3E15-8647-F43B-C24B-8D9C9E400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8" name="Rectangle 52">
                <a:extLst>
                  <a:ext uri="{FF2B5EF4-FFF2-40B4-BE49-F238E27FC236}">
                    <a16:creationId xmlns:a16="http://schemas.microsoft.com/office/drawing/2014/main" id="{CFEA54AB-BDE4-22D8-DB4D-63D42E7FE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138" name="Group 53">
              <a:extLst>
                <a:ext uri="{FF2B5EF4-FFF2-40B4-BE49-F238E27FC236}">
                  <a16:creationId xmlns:a16="http://schemas.microsoft.com/office/drawing/2014/main" id="{8F065CA6-42BB-37EA-A714-D34D8445DF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5" y="1210"/>
              <a:ext cx="681" cy="136"/>
              <a:chOff x="1791" y="2614"/>
              <a:chExt cx="681" cy="136"/>
            </a:xfrm>
          </p:grpSpPr>
          <p:sp>
            <p:nvSpPr>
              <p:cNvPr id="139" name="Rectangle 54">
                <a:extLst>
                  <a:ext uri="{FF2B5EF4-FFF2-40B4-BE49-F238E27FC236}">
                    <a16:creationId xmlns:a16="http://schemas.microsoft.com/office/drawing/2014/main" id="{7D38CD6D-A76A-425B-0162-472BE3A269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0" name="Rectangle 55">
                <a:extLst>
                  <a:ext uri="{FF2B5EF4-FFF2-40B4-BE49-F238E27FC236}">
                    <a16:creationId xmlns:a16="http://schemas.microsoft.com/office/drawing/2014/main" id="{A77FF53A-6F76-2C4B-7879-2BB2DA258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1" name="Rectangle 56">
                <a:extLst>
                  <a:ext uri="{FF2B5EF4-FFF2-40B4-BE49-F238E27FC236}">
                    <a16:creationId xmlns:a16="http://schemas.microsoft.com/office/drawing/2014/main" id="{410D006F-A5E9-B6C0-F488-BEF6E87CE6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14"/>
                <a:ext cx="136" cy="1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2" name="Rectangle 57">
                <a:extLst>
                  <a:ext uri="{FF2B5EF4-FFF2-40B4-BE49-F238E27FC236}">
                    <a16:creationId xmlns:a16="http://schemas.microsoft.com/office/drawing/2014/main" id="{35FEFB16-FA66-F862-7AF9-8DA3543A4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614"/>
                <a:ext cx="136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3" name="Rectangle 58">
                <a:extLst>
                  <a:ext uri="{FF2B5EF4-FFF2-40B4-BE49-F238E27FC236}">
                    <a16:creationId xmlns:a16="http://schemas.microsoft.com/office/drawing/2014/main" id="{3B912DEF-8355-257F-A648-A88738F12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14"/>
                <a:ext cx="136" cy="1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grpSp>
        <p:nvGrpSpPr>
          <p:cNvPr id="159" name="Group 214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51929E9F-89FB-5033-1B15-A0ED34E0895E}"/>
              </a:ext>
            </a:extLst>
          </p:cNvPr>
          <p:cNvGrpSpPr>
            <a:grpSpLocks/>
          </p:cNvGrpSpPr>
          <p:nvPr/>
        </p:nvGrpSpPr>
        <p:grpSpPr bwMode="auto">
          <a:xfrm>
            <a:off x="8112573" y="2348583"/>
            <a:ext cx="1512887" cy="366712"/>
            <a:chOff x="4241" y="1661"/>
            <a:chExt cx="953" cy="231"/>
          </a:xfrm>
        </p:grpSpPr>
        <p:sp>
          <p:nvSpPr>
            <p:cNvPr id="160" name="Line 193">
              <a:extLst>
                <a:ext uri="{FF2B5EF4-FFF2-40B4-BE49-F238E27FC236}">
                  <a16:creationId xmlns:a16="http://schemas.microsoft.com/office/drawing/2014/main" id="{E6164899-7000-5821-32FD-42E45B962E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8" y="166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1" name="Line 194">
              <a:extLst>
                <a:ext uri="{FF2B5EF4-FFF2-40B4-BE49-F238E27FC236}">
                  <a16:creationId xmlns:a16="http://schemas.microsoft.com/office/drawing/2014/main" id="{B8648F7E-F375-A0B5-13DC-FBCEF7698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1" y="1661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2" name="Text Box 203">
              <a:extLst>
                <a:ext uri="{FF2B5EF4-FFF2-40B4-BE49-F238E27FC236}">
                  <a16:creationId xmlns:a16="http://schemas.microsoft.com/office/drawing/2014/main" id="{330D4A0C-884F-C8B7-5091-8DB85C03D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661"/>
              <a:ext cx="3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/>
                <a:t>no</a:t>
              </a:r>
              <a:endParaRPr lang="en-US" altLang="en-US"/>
            </a:p>
          </p:txBody>
        </p:sp>
      </p:grpSp>
      <p:sp>
        <p:nvSpPr>
          <p:cNvPr id="163" name="Line 204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3091AB63-30F8-2700-ADD7-0D44BDEB7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44598" y="3094708"/>
            <a:ext cx="179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" name="Rectangle 163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74419C8D-C250-8621-C891-D64C49DEFB6A}"/>
              </a:ext>
            </a:extLst>
          </p:cNvPr>
          <p:cNvSpPr/>
          <p:nvPr/>
        </p:nvSpPr>
        <p:spPr bwMode="auto">
          <a:xfrm>
            <a:off x="3431704" y="4796509"/>
            <a:ext cx="5328568" cy="803275"/>
          </a:xfrm>
          <a:prstGeom prst="rect">
            <a:avLst/>
          </a:prstGeom>
          <a:solidFill>
            <a:srgbClr val="FFC000">
              <a:alpha val="18039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5" name="Rectangle 8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D2C91BEF-5166-483F-F3F8-8EA1CC4BE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622" y="3932908"/>
            <a:ext cx="252095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en-GB" altLang="en-US"/>
              <a:t>Mutate</a:t>
            </a:r>
            <a:endParaRPr lang="en-US" altLang="en-US"/>
          </a:p>
        </p:txBody>
      </p:sp>
      <p:sp>
        <p:nvSpPr>
          <p:cNvPr id="166" name="Text Box 205" descr="Illustration of how memetic algorithm works at each step using a representative example.">
            <a:extLst>
              <a:ext uri="{FF2B5EF4-FFF2-40B4-BE49-F238E27FC236}">
                <a16:creationId xmlns:a16="http://schemas.microsoft.com/office/drawing/2014/main" id="{28E63BF0-1163-8492-2ECE-2BB07DF8E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7259" y="2635921"/>
            <a:ext cx="647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/>
              <a:t>yes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874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AC997-1635-6ACC-8A8A-5566AC30E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93B4-E4CE-E48B-B7A4-73B52765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563" y="0"/>
            <a:ext cx="10767242" cy="900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Pseudocode of a Generic Memetic Algorithm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4F2740-03BE-7301-D940-DFCBD9F9A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BA3B97-123B-058E-B7B9-74F64C2F3BA2}"/>
              </a:ext>
            </a:extLst>
          </p:cNvPr>
          <p:cNvSpPr txBox="1">
            <a:spLocks noChangeArrowheads="1"/>
          </p:cNvSpPr>
          <p:nvPr/>
        </p:nvSpPr>
        <p:spPr>
          <a:xfrm>
            <a:off x="1113183" y="1031818"/>
            <a:ext cx="10828123" cy="5235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Representation</a:t>
            </a:r>
            <a:endParaRPr lang="en-AU" altLang="en-US" sz="24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generate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initial population</a:t>
            </a:r>
            <a:r>
              <a:rPr lang="en-AU" altLang="en-US" sz="2400" b="1" dirty="0">
                <a:latin typeface="Courier New" pitchFamily="49" charset="0"/>
              </a:rPr>
              <a:t>; // initialise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   // evaluate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do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perform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reproduction</a:t>
            </a:r>
            <a:r>
              <a:rPr lang="en-AU" altLang="en-US" sz="2400" b="1" dirty="0">
                <a:latin typeface="Courier New" pitchFamily="49" charset="0"/>
              </a:rPr>
              <a:t>;     // select parents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recombine </a:t>
            </a:r>
            <a:r>
              <a:rPr lang="en-AU" altLang="en-US" sz="2400" b="1" dirty="0">
                <a:latin typeface="Courier New" pitchFamily="49" charset="0"/>
              </a:rPr>
              <a:t>pairs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c</a:t>
            </a:r>
            <a:r>
              <a:rPr lang="en-AU" altLang="en-US" sz="2400" b="1" dirty="0">
                <a:latin typeface="Courier New" pitchFamily="49" charset="0"/>
              </a:rPr>
              <a:t>;  // apply crossover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mutation</a:t>
            </a:r>
            <a:r>
              <a:rPr lang="en-AU" altLang="en-US" sz="2400" b="1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AU" altLang="en-US" sz="2400" b="1" dirty="0">
                <a:solidFill>
                  <a:srgbClr val="FF0000"/>
                </a:solidFill>
                <a:latin typeface="Courier New" pitchFamily="49" charset="0"/>
              </a:rPr>
              <a:t>with</a:t>
            </a:r>
            <a:r>
              <a:rPr lang="en-AU" altLang="en-US" sz="2400" b="1" dirty="0">
                <a:latin typeface="Courier New" pitchFamily="49" charset="0"/>
              </a:rPr>
              <a:t> </a:t>
            </a:r>
            <a:r>
              <a:rPr lang="en-AU" altLang="en-US" sz="2400" b="1" i="1" dirty="0">
                <a:solidFill>
                  <a:srgbClr val="FF0000"/>
                </a:solidFill>
                <a:latin typeface="Courier New" pitchFamily="49" charset="0"/>
              </a:rPr>
              <a:t>p</a:t>
            </a:r>
            <a:r>
              <a:rPr lang="en-AU" altLang="en-US" sz="2400" b="1" i="1" baseline="-25000" dirty="0">
                <a:solidFill>
                  <a:srgbClr val="FF0000"/>
                </a:solidFill>
                <a:latin typeface="Courier New" pitchFamily="49" charset="0"/>
              </a:rPr>
              <a:t>m</a:t>
            </a:r>
            <a:r>
              <a:rPr lang="en-AU" altLang="en-US" sz="2400" b="1" dirty="0">
                <a:latin typeface="Courier New" pitchFamily="49" charset="0"/>
              </a:rPr>
              <a:t>;   // mutate offspring/children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apply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hill climbing</a:t>
            </a:r>
            <a:r>
              <a:rPr lang="en-AU" altLang="en-US" sz="2400" b="1" dirty="0">
                <a:latin typeface="Courier New" pitchFamily="49" charset="0"/>
              </a:rPr>
              <a:t>;      // local search on offspring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calculate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fitness </a:t>
            </a:r>
            <a:r>
              <a:rPr lang="en-AU" altLang="en-US" sz="2400" b="1" dirty="0">
                <a:latin typeface="Courier New" pitchFamily="49" charset="0"/>
              </a:rPr>
              <a:t>values; // eval. population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	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replace </a:t>
            </a:r>
            <a:r>
              <a:rPr lang="en-AU" altLang="en-US" sz="2400" b="1" dirty="0">
                <a:latin typeface="Courier New" pitchFamily="49" charset="0"/>
              </a:rPr>
              <a:t>current population;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 } while </a:t>
            </a:r>
            <a:r>
              <a:rPr lang="en-AU" altLang="en-US" sz="2400" b="1" dirty="0">
                <a:solidFill>
                  <a:srgbClr val="0070C0"/>
                </a:solidFill>
                <a:latin typeface="Courier New" pitchFamily="49" charset="0"/>
              </a:rPr>
              <a:t>termination criteria </a:t>
            </a:r>
            <a:r>
              <a:rPr lang="en-AU" altLang="en-US" sz="2400" b="1" dirty="0">
                <a:latin typeface="Courier New" pitchFamily="49" charset="0"/>
              </a:rPr>
              <a:t>not satisfied;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2400" b="1" dirty="0">
                <a:latin typeface="Courier New" pitchFamily="49" charset="0"/>
              </a:rPr>
              <a:t>end</a:t>
            </a:r>
            <a:endParaRPr lang="tr-TR" altLang="en-US" sz="2400" b="1" dirty="0">
              <a:latin typeface="Courier New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588BCE-0B1F-5F66-7458-F366CE2F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450008" y="4801921"/>
            <a:ext cx="4101320" cy="419358"/>
          </a:xfrm>
          <a:prstGeom prst="rect">
            <a:avLst/>
          </a:prstGeom>
          <a:solidFill>
            <a:srgbClr val="FFC000">
              <a:alpha val="18039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ight Arrow 24">
            <a:extLst>
              <a:ext uri="{FF2B5EF4-FFF2-40B4-BE49-F238E27FC236}">
                <a16:creationId xmlns:a16="http://schemas.microsoft.com/office/drawing/2014/main" id="{89467B85-DA0B-046D-AEA7-5BD414147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43114" y="4052492"/>
            <a:ext cx="579241" cy="216024"/>
          </a:xfrm>
          <a:prstGeom prst="right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ight Arrow 26">
            <a:extLst>
              <a:ext uri="{FF2B5EF4-FFF2-40B4-BE49-F238E27FC236}">
                <a16:creationId xmlns:a16="http://schemas.microsoft.com/office/drawing/2014/main" id="{7EABB1ED-6E06-5C93-D09B-A2BCF04EF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43115" y="3602056"/>
            <a:ext cx="579241" cy="216024"/>
          </a:xfrm>
          <a:prstGeom prst="right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ight Arrow 27">
            <a:extLst>
              <a:ext uri="{FF2B5EF4-FFF2-40B4-BE49-F238E27FC236}">
                <a16:creationId xmlns:a16="http://schemas.microsoft.com/office/drawing/2014/main" id="{BE689AEB-7AAE-5B06-0ECE-5E840B303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98529" y="1959495"/>
            <a:ext cx="579241" cy="216024"/>
          </a:xfrm>
          <a:prstGeom prst="right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BA0DC8-6A80-A552-4EFA-1BABE1EAECC1}"/>
              </a:ext>
            </a:extLst>
          </p:cNvPr>
          <p:cNvSpPr/>
          <p:nvPr/>
        </p:nvSpPr>
        <p:spPr>
          <a:xfrm>
            <a:off x="4222938" y="791630"/>
            <a:ext cx="7828386" cy="92333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en-GB" b="0" dirty="0" err="1"/>
              <a:t>Moscato</a:t>
            </a:r>
            <a:r>
              <a:rPr lang="en-GB" b="0" dirty="0"/>
              <a:t>, P.: On evolution, search, optimization, genetic algorithms and martial arts: Towards memetic algorithms, Caltech Concurrent Computation Program Report 826, California Institute of Technology (1989)</a:t>
            </a:r>
          </a:p>
        </p:txBody>
      </p:sp>
    </p:spTree>
    <p:extLst>
      <p:ext uri="{BB962C8B-B14F-4D97-AF65-F5344CB8AC3E}">
        <p14:creationId xmlns:p14="http://schemas.microsoft.com/office/powerpoint/2010/main" val="10637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037D-9FEB-379B-0ACE-AF8EBD84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Example – Designing a Genetic/</a:t>
            </a:r>
            <a:r>
              <a:rPr lang="en-GB" sz="4000" u="sng" dirty="0"/>
              <a:t>Memetic Algorithm</a:t>
            </a:r>
            <a:r>
              <a:rPr lang="en-GB" sz="4000" dirty="0"/>
              <a:t> for MAX-SAT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2CB0C-A930-AC12-4741-3A6A782A8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F3E0C-3D90-A998-94EF-CBB649673A5B}"/>
              </a:ext>
            </a:extLst>
          </p:cNvPr>
          <p:cNvSpPr txBox="1"/>
          <p:nvPr/>
        </p:nvSpPr>
        <p:spPr>
          <a:xfrm>
            <a:off x="751840" y="1382454"/>
            <a:ext cx="102948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Representation</a:t>
            </a:r>
            <a:r>
              <a:rPr lang="en-GB" sz="2000" dirty="0"/>
              <a:t>: Bit string of length </a:t>
            </a:r>
            <a:r>
              <a:rPr lang="en-GB" sz="2000" i="1" dirty="0"/>
              <a:t>N</a:t>
            </a:r>
            <a:r>
              <a:rPr lang="en-GB" sz="2000" dirty="0"/>
              <a:t> (truth assignment for each variable)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Initialisation</a:t>
            </a:r>
            <a:r>
              <a:rPr lang="en-GB" sz="2000" dirty="0"/>
              <a:t>: Randomly generate initial population, population size=</a:t>
            </a:r>
            <a:r>
              <a:rPr lang="en-GB" sz="2000" i="1" dirty="0"/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Fitness function</a:t>
            </a:r>
            <a:r>
              <a:rPr lang="en-GB" sz="2000" dirty="0"/>
              <a:t>: (# of clauses – </a:t>
            </a:r>
            <a:r>
              <a:rPr lang="en-GB" sz="2000" i="1" dirty="0"/>
              <a:t>C</a:t>
            </a:r>
            <a:r>
              <a:rPr lang="en-GB" sz="2000" dirty="0"/>
              <a:t>)</a:t>
            </a:r>
            <a:r>
              <a:rPr lang="en-GB" sz="2000" i="1" dirty="0"/>
              <a:t>; </a:t>
            </a:r>
            <a:r>
              <a:rPr lang="en-GB" sz="2000" dirty="0"/>
              <a:t># of unsatisfied clauses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Mate selection</a:t>
            </a:r>
            <a:r>
              <a:rPr lang="en-GB" sz="2000" dirty="0"/>
              <a:t>: Tournament selection with a tour size of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Crossover</a:t>
            </a:r>
            <a:r>
              <a:rPr lang="en-GB" sz="2000" dirty="0"/>
              <a:t>: 1PTX, crossover probability = 0.99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Mutation</a:t>
            </a:r>
            <a:r>
              <a:rPr lang="en-GB" sz="2000" dirty="0"/>
              <a:t>: random bit-flip, mutation probability = 1/</a:t>
            </a:r>
            <a:r>
              <a:rPr lang="en-GB" sz="2000" i="1" dirty="0"/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i="1" u="sng" dirty="0"/>
              <a:t>Hill Climbing</a:t>
            </a:r>
            <a:r>
              <a:rPr lang="en-GB" sz="2000" b="1" u="sng" dirty="0"/>
              <a:t>: Davis’s Bit Hill Climbing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Replacement</a:t>
            </a:r>
            <a:r>
              <a:rPr lang="en-GB" sz="2000" dirty="0"/>
              <a:t>: Steady State GA, best two of (parents and offspring) replaces the worst two individuals in the population (strong elitism)</a:t>
            </a:r>
          </a:p>
        </p:txBody>
      </p:sp>
    </p:spTree>
    <p:extLst>
      <p:ext uri="{BB962C8B-B14F-4D97-AF65-F5344CB8AC3E}">
        <p14:creationId xmlns:p14="http://schemas.microsoft.com/office/powerpoint/2010/main" val="14254326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496F47-027F-2511-D409-AB78CEA04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7CA9E-4CF0-38FC-257F-382996E02AA2}"/>
              </a:ext>
            </a:extLst>
          </p:cNvPr>
          <p:cNvSpPr txBox="1"/>
          <p:nvPr/>
        </p:nvSpPr>
        <p:spPr>
          <a:xfrm>
            <a:off x="7234443" y="2079946"/>
            <a:ext cx="3690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Initialisation: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Population is already given, so we skip random initialisation.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7F0AD-911E-CA5C-3579-9640AB47AA9A}"/>
              </a:ext>
            </a:extLst>
          </p:cNvPr>
          <p:cNvSpPr txBox="1"/>
          <p:nvPr/>
        </p:nvSpPr>
        <p:spPr>
          <a:xfrm>
            <a:off x="2197100" y="2142481"/>
            <a:ext cx="36902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Initialisation: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Population is already given, so we skip random initialisation.</a:t>
            </a:r>
          </a:p>
          <a:p>
            <a:pPr marL="171450" indent="-171450" algn="l">
              <a:buFont typeface="Wingdings" pitchFamily="2" charset="2"/>
              <a:buChar char="§"/>
            </a:pPr>
            <a:endParaRPr lang="en-GB" sz="2400" b="0" i="0" u="none" strike="noStrike" dirty="0">
              <a:effectLst/>
              <a:latin typeface="fkGroteskNeue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CB7088-D098-CC30-D1FD-7BB8F191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Example – Designing a Genetic/</a:t>
            </a:r>
            <a:r>
              <a:rPr lang="en-GB" sz="4000" u="sng" dirty="0"/>
              <a:t>Memetic Algorithm</a:t>
            </a:r>
            <a:r>
              <a:rPr lang="en-GB" sz="4000" dirty="0"/>
              <a:t> for MAX-SAT: </a:t>
            </a:r>
            <a:r>
              <a:rPr lang="en-GB" sz="4000" dirty="0" err="1"/>
              <a:t>Initilisation</a:t>
            </a:r>
            <a:endParaRPr lang="en-GB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471EA3-014B-C935-B378-0275D672AB12}"/>
              </a:ext>
            </a:extLst>
          </p:cNvPr>
          <p:cNvSpPr txBox="1"/>
          <p:nvPr/>
        </p:nvSpPr>
        <p:spPr>
          <a:xfrm>
            <a:off x="2368548" y="1309893"/>
            <a:ext cx="3074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Genetic Algorithm Steps: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6D6F4-ED65-6416-7DA2-CAC42E33294D}"/>
              </a:ext>
            </a:extLst>
          </p:cNvPr>
          <p:cNvSpPr txBox="1"/>
          <p:nvPr/>
        </p:nvSpPr>
        <p:spPr>
          <a:xfrm>
            <a:off x="7438296" y="1306811"/>
            <a:ext cx="2957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Memetic Algorithm Steps: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D57D55-746B-BEF1-FA69-F2A952ED58DA}"/>
              </a:ext>
            </a:extLst>
          </p:cNvPr>
          <p:cNvSpPr txBox="1"/>
          <p:nvPr/>
        </p:nvSpPr>
        <p:spPr>
          <a:xfrm>
            <a:off x="205029" y="1424499"/>
            <a:ext cx="1509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Initial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Population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110000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010100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001100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101110 </a:t>
            </a:r>
          </a:p>
        </p:txBody>
      </p:sp>
    </p:spTree>
    <p:extLst>
      <p:ext uri="{BB962C8B-B14F-4D97-AF65-F5344CB8AC3E}">
        <p14:creationId xmlns:p14="http://schemas.microsoft.com/office/powerpoint/2010/main" val="72109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4AA9-4C15-86D4-5376-D3A86301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B63B8-DFF8-F17D-AF9C-09C4205E2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36C6D-7A44-0261-C996-C8D8AF0926D3}"/>
              </a:ext>
            </a:extLst>
          </p:cNvPr>
          <p:cNvSpPr txBox="1"/>
          <p:nvPr/>
        </p:nvSpPr>
        <p:spPr>
          <a:xfrm>
            <a:off x="7248730" y="1922823"/>
            <a:ext cx="36902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Fitness Evaluation: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110000 (Fitness: 3)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010100 (Fitness: 6)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001100 (Fitness: 5)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101110 (Fitness: 5)</a:t>
            </a:r>
          </a:p>
          <a:p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4CC34-963D-2D0A-DD2C-E13BEE42EA7F}"/>
              </a:ext>
            </a:extLst>
          </p:cNvPr>
          <p:cNvSpPr txBox="1"/>
          <p:nvPr/>
        </p:nvSpPr>
        <p:spPr>
          <a:xfrm>
            <a:off x="2239962" y="1874728"/>
            <a:ext cx="31838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Fitness Evaluation: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110000 (Fitness: 3)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010100 (Fitness: 6)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001100 (Fitness: 5)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101110 (Fitness: 5)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4DD07F-5FA4-6408-77DD-F18F22FB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Example – Designing a Genetic/</a:t>
            </a:r>
            <a:r>
              <a:rPr lang="en-GB" sz="4000" u="sng" dirty="0"/>
              <a:t>Memetic Algorithm</a:t>
            </a:r>
            <a:r>
              <a:rPr lang="en-GB" sz="4000" dirty="0"/>
              <a:t> for MAX-SAT: Evaluation</a:t>
            </a:r>
            <a:endParaRPr lang="en-GB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75EC0A-09E1-425B-B2B8-7AC3D037ABBE}"/>
              </a:ext>
            </a:extLst>
          </p:cNvPr>
          <p:cNvSpPr txBox="1"/>
          <p:nvPr/>
        </p:nvSpPr>
        <p:spPr>
          <a:xfrm>
            <a:off x="2368548" y="1309893"/>
            <a:ext cx="3074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Genetic Algorithm Steps: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99F18-1D52-F737-C320-7FE02D6B3D36}"/>
              </a:ext>
            </a:extLst>
          </p:cNvPr>
          <p:cNvSpPr txBox="1"/>
          <p:nvPr/>
        </p:nvSpPr>
        <p:spPr>
          <a:xfrm>
            <a:off x="7438296" y="1306811"/>
            <a:ext cx="2957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Memetic Algorithm Steps: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340A6-7156-DBE7-F46B-968760402D3F}"/>
              </a:ext>
            </a:extLst>
          </p:cNvPr>
          <p:cNvSpPr txBox="1"/>
          <p:nvPr/>
        </p:nvSpPr>
        <p:spPr>
          <a:xfrm>
            <a:off x="205029" y="1424499"/>
            <a:ext cx="1509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Initial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Population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110000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010100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001100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101110 </a:t>
            </a:r>
          </a:p>
        </p:txBody>
      </p:sp>
    </p:spTree>
    <p:extLst>
      <p:ext uri="{BB962C8B-B14F-4D97-AF65-F5344CB8AC3E}">
        <p14:creationId xmlns:p14="http://schemas.microsoft.com/office/powerpoint/2010/main" val="8913649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28A7-324B-DD55-50B4-62D463EE7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45A572-6ECF-B860-C8CB-3210B6244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E0BFA-1590-BE24-4938-D786DC608A16}"/>
              </a:ext>
            </a:extLst>
          </p:cNvPr>
          <p:cNvSpPr txBox="1"/>
          <p:nvPr/>
        </p:nvSpPr>
        <p:spPr>
          <a:xfrm>
            <a:off x="7248730" y="1922823"/>
            <a:ext cx="37979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Selection: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Use tournament selection (size 2) to choose parents.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Example: Select (010100, Fitness 6) and (001100, Fitness 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92358-3F67-B1D8-DA5B-A9DD507CE64B}"/>
              </a:ext>
            </a:extLst>
          </p:cNvPr>
          <p:cNvSpPr txBox="1"/>
          <p:nvPr/>
        </p:nvSpPr>
        <p:spPr>
          <a:xfrm>
            <a:off x="2239962" y="1874728"/>
            <a:ext cx="38560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Selection: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Use tournament selection (size 2) to choose parents.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Example: Select (010100, Fitness 6) and (001100, Fitness 5)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F6BB2C-13D1-5B8E-87F0-0A9EA2C7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Example – Designing a Genetic/</a:t>
            </a:r>
            <a:r>
              <a:rPr lang="en-GB" sz="4000" u="sng" dirty="0"/>
              <a:t>Memetic Algorithm</a:t>
            </a:r>
            <a:r>
              <a:rPr lang="en-GB" sz="4000" dirty="0"/>
              <a:t> for MAX-SAT: Parent Selection</a:t>
            </a:r>
            <a:endParaRPr lang="en-GB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CA905-A70E-A8FC-E06E-EBA26D046A17}"/>
              </a:ext>
            </a:extLst>
          </p:cNvPr>
          <p:cNvSpPr txBox="1"/>
          <p:nvPr/>
        </p:nvSpPr>
        <p:spPr>
          <a:xfrm>
            <a:off x="2368548" y="1309893"/>
            <a:ext cx="3074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Genetic Algorithm Steps: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E8C7D-D445-53A6-C9CD-20C63EB8A59C}"/>
              </a:ext>
            </a:extLst>
          </p:cNvPr>
          <p:cNvSpPr txBox="1"/>
          <p:nvPr/>
        </p:nvSpPr>
        <p:spPr>
          <a:xfrm>
            <a:off x="7438296" y="1306811"/>
            <a:ext cx="2957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Memetic Algorithm Steps: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6C887-564E-9784-5E44-331C0A0EB27F}"/>
              </a:ext>
            </a:extLst>
          </p:cNvPr>
          <p:cNvSpPr txBox="1"/>
          <p:nvPr/>
        </p:nvSpPr>
        <p:spPr>
          <a:xfrm>
            <a:off x="205029" y="1424499"/>
            <a:ext cx="1509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Initial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Population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110000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010100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001100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101110 </a:t>
            </a:r>
          </a:p>
        </p:txBody>
      </p:sp>
    </p:spTree>
    <p:extLst>
      <p:ext uri="{BB962C8B-B14F-4D97-AF65-F5344CB8AC3E}">
        <p14:creationId xmlns:p14="http://schemas.microsoft.com/office/powerpoint/2010/main" val="17154738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09E4-F2F1-CC9D-6E73-B75C905D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6805E5-25CE-07B5-CBAD-5D4BA6FF6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5F43B-1783-5738-6126-EA286599DA77}"/>
              </a:ext>
            </a:extLst>
          </p:cNvPr>
          <p:cNvSpPr txBox="1"/>
          <p:nvPr/>
        </p:nvSpPr>
        <p:spPr>
          <a:xfrm>
            <a:off x="7248730" y="1922823"/>
            <a:ext cx="4409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Crossover: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Use single-point crossover.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163A1-98D1-3F3B-3C99-44E80758263E}"/>
              </a:ext>
            </a:extLst>
          </p:cNvPr>
          <p:cNvSpPr txBox="1"/>
          <p:nvPr/>
        </p:nvSpPr>
        <p:spPr>
          <a:xfrm>
            <a:off x="2239963" y="1874728"/>
            <a:ext cx="4303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Crossover: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Use single-point crossover.</a:t>
            </a:r>
          </a:p>
          <a:p>
            <a:pPr lvl="1" algn="l"/>
            <a:endParaRPr lang="en-GB" sz="2400" b="0" i="0" u="none" strike="noStrike" dirty="0">
              <a:effectLst/>
              <a:latin typeface="fkGroteskNeue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7DD6949-2195-4223-048E-C11272F2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Example – Designing a Genetic/</a:t>
            </a:r>
            <a:r>
              <a:rPr lang="en-GB" sz="4000" u="sng" dirty="0"/>
              <a:t>Memetic Algorithm</a:t>
            </a:r>
            <a:r>
              <a:rPr lang="en-GB" sz="4000" dirty="0"/>
              <a:t> for MAX-SAT</a:t>
            </a:r>
            <a:endParaRPr lang="en-GB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4C7CD-6C13-3893-0286-295CC86CDE81}"/>
              </a:ext>
            </a:extLst>
          </p:cNvPr>
          <p:cNvSpPr txBox="1"/>
          <p:nvPr/>
        </p:nvSpPr>
        <p:spPr>
          <a:xfrm>
            <a:off x="2368548" y="1309893"/>
            <a:ext cx="3074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Genetic Algorithm Steps: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7C98D-8CA6-A174-B93E-CB88EACE052F}"/>
              </a:ext>
            </a:extLst>
          </p:cNvPr>
          <p:cNvSpPr txBox="1"/>
          <p:nvPr/>
        </p:nvSpPr>
        <p:spPr>
          <a:xfrm>
            <a:off x="7438296" y="1306811"/>
            <a:ext cx="2957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Memetic Algorithm Steps: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5E77D8-394E-3815-C747-768012B5BBC2}"/>
              </a:ext>
            </a:extLst>
          </p:cNvPr>
          <p:cNvSpPr txBox="1"/>
          <p:nvPr/>
        </p:nvSpPr>
        <p:spPr>
          <a:xfrm>
            <a:off x="205029" y="1424499"/>
            <a:ext cx="1509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Initial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Population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110000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010100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001100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101110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15B780-0C06-91AF-34C4-09EC6042C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642422"/>
              </p:ext>
            </p:extLst>
          </p:nvPr>
        </p:nvGraphicFramePr>
        <p:xfrm>
          <a:off x="3307943" y="2738120"/>
          <a:ext cx="2700338" cy="13817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50169">
                  <a:extLst>
                    <a:ext uri="{9D8B030D-6E8A-4147-A177-3AD203B41FA5}">
                      <a16:colId xmlns:a16="http://schemas.microsoft.com/office/drawing/2014/main" val="2815921380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1927438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Parents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After Crossover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58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u="none" strike="noStrike" dirty="0">
                          <a:effectLst/>
                        </a:rPr>
                        <a:t>010|100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strike="noStrike" dirty="0">
                          <a:effectLst/>
                        </a:rPr>
                        <a:t>010100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831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u="none" strike="noStrike" dirty="0">
                          <a:effectLst/>
                        </a:rPr>
                        <a:t>001|100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strike="noStrike" dirty="0">
                          <a:effectLst/>
                        </a:rPr>
                        <a:t>001100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8173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D510E5E-3D97-492F-F828-A758C1545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1825"/>
              </p:ext>
            </p:extLst>
          </p:nvPr>
        </p:nvGraphicFramePr>
        <p:xfrm>
          <a:off x="8137117" y="2738120"/>
          <a:ext cx="2700338" cy="13817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50169">
                  <a:extLst>
                    <a:ext uri="{9D8B030D-6E8A-4147-A177-3AD203B41FA5}">
                      <a16:colId xmlns:a16="http://schemas.microsoft.com/office/drawing/2014/main" val="2815921380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1927438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Parents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After Crossover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58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u="none" strike="noStrike" dirty="0">
                          <a:effectLst/>
                        </a:rPr>
                        <a:t>010|100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strike="noStrike" dirty="0">
                          <a:effectLst/>
                        </a:rPr>
                        <a:t>010100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831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u="none" strike="noStrike" dirty="0">
                          <a:effectLst/>
                        </a:rPr>
                        <a:t>001|100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strike="noStrike" dirty="0">
                          <a:effectLst/>
                        </a:rPr>
                        <a:t>001100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817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635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B4F6-F10F-9834-C117-835E87F0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B9C00E-56D3-97A3-0E61-F624B4585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29F95-BC7B-4E40-5E9A-AD16BB8BA1AF}"/>
              </a:ext>
            </a:extLst>
          </p:cNvPr>
          <p:cNvSpPr txBox="1"/>
          <p:nvPr/>
        </p:nvSpPr>
        <p:spPr>
          <a:xfrm>
            <a:off x="7248729" y="1839997"/>
            <a:ext cx="43608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Mutation: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Apply bit-flip mutation with a low probability (e.g., 1%).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Example: 010100 -&gt; 011100 (3rd bit flipped)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001100 remains unchanged</a:t>
            </a:r>
          </a:p>
          <a:p>
            <a:pPr marL="742950" lvl="1" indent="-285750" algn="l">
              <a:buFont typeface="Wingdings" pitchFamily="2" charset="2"/>
              <a:buChar char="§"/>
            </a:pPr>
            <a:endParaRPr lang="en-GB" sz="2400" b="0" i="0" u="none" strike="noStrike" dirty="0">
              <a:effectLst/>
              <a:latin typeface="fkGroteskNeue"/>
            </a:endParaRPr>
          </a:p>
          <a:p>
            <a:pPr marL="171450" indent="-171450">
              <a:buFont typeface="Wingdings" pitchFamily="2" charset="2"/>
              <a:buChar char="§"/>
            </a:pP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E35B1-C58A-9C32-4065-937CA75F0AFD}"/>
              </a:ext>
            </a:extLst>
          </p:cNvPr>
          <p:cNvSpPr txBox="1"/>
          <p:nvPr/>
        </p:nvSpPr>
        <p:spPr>
          <a:xfrm>
            <a:off x="2301184" y="1839997"/>
            <a:ext cx="43608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Mutation: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Apply bit-flip mutation with a low probability (e.g., 1%).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Example: 010100 -&gt; 011100 (3rd bit flipped)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001100 remains unchanged</a:t>
            </a:r>
          </a:p>
          <a:p>
            <a:pPr marL="171450" indent="-171450">
              <a:buFont typeface="Wingdings" pitchFamily="2" charset="2"/>
              <a:buChar char="§"/>
            </a:pPr>
            <a:endParaRPr lang="en-GB" sz="24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2D878C8-60DE-FFF1-1206-3C2448D9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Example – Designing a Genetic/</a:t>
            </a:r>
            <a:r>
              <a:rPr lang="en-GB" sz="4000" u="sng" dirty="0"/>
              <a:t>Memetic Algorithm</a:t>
            </a:r>
            <a:r>
              <a:rPr lang="en-GB" sz="4000" dirty="0"/>
              <a:t> for MAX-SAT: Mutation</a:t>
            </a:r>
            <a:endParaRPr lang="en-GB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1AE95-EFC1-BFEB-7EC6-F32EC2F86314}"/>
              </a:ext>
            </a:extLst>
          </p:cNvPr>
          <p:cNvSpPr txBox="1"/>
          <p:nvPr/>
        </p:nvSpPr>
        <p:spPr>
          <a:xfrm>
            <a:off x="2368548" y="1309893"/>
            <a:ext cx="3074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Genetic Algorithm Steps: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FE1A8-AB4C-34C0-E2B2-A666E767C56E}"/>
              </a:ext>
            </a:extLst>
          </p:cNvPr>
          <p:cNvSpPr txBox="1"/>
          <p:nvPr/>
        </p:nvSpPr>
        <p:spPr>
          <a:xfrm>
            <a:off x="7438296" y="1306811"/>
            <a:ext cx="2957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Memetic Algorithm Steps: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802E1-531B-C6D3-2E87-A32453D4E724}"/>
              </a:ext>
            </a:extLst>
          </p:cNvPr>
          <p:cNvSpPr txBox="1"/>
          <p:nvPr/>
        </p:nvSpPr>
        <p:spPr>
          <a:xfrm>
            <a:off x="205029" y="1424499"/>
            <a:ext cx="1509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Initial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Population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110000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010100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001100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101110 </a:t>
            </a:r>
          </a:p>
        </p:txBody>
      </p:sp>
    </p:spTree>
    <p:extLst>
      <p:ext uri="{BB962C8B-B14F-4D97-AF65-F5344CB8AC3E}">
        <p14:creationId xmlns:p14="http://schemas.microsoft.com/office/powerpoint/2010/main" val="332556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990C-4B34-8015-7C08-B29714C1F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2D02C7-CA9F-76FE-5A91-00AEC5C22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D2122-5B08-9A91-CF51-0541A931D2F8}"/>
              </a:ext>
            </a:extLst>
          </p:cNvPr>
          <p:cNvSpPr txBox="1"/>
          <p:nvPr/>
        </p:nvSpPr>
        <p:spPr>
          <a:xfrm>
            <a:off x="6859403" y="1706921"/>
            <a:ext cx="5127568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Local Search (Hill Climbing):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Apply to each offspring.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For 011100:</a:t>
            </a:r>
            <a:br>
              <a:rPr lang="en-GB" b="0" i="0" u="none" strike="noStrike" dirty="0">
                <a:effectLst/>
                <a:latin typeface="fkGroteskNeue"/>
              </a:rPr>
            </a:br>
            <a:r>
              <a:rPr lang="en-GB" dirty="0">
                <a:latin typeface="fkGroteskNeue"/>
              </a:rPr>
              <a:t>         </a:t>
            </a:r>
            <a:r>
              <a:rPr lang="en-GB" b="0" i="0" u="none" strike="noStrike" dirty="0">
                <a:effectLst/>
                <a:latin typeface="fkGroteskNeue"/>
              </a:rPr>
              <a:t>011100 (Fitness: 5)</a:t>
            </a:r>
            <a:endParaRPr lang="en-GB" dirty="0">
              <a:latin typeface="fkGroteskNeue"/>
            </a:endParaRPr>
          </a:p>
          <a:p>
            <a:pPr marL="1200150" lvl="2" indent="-285750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111100 (F:4, revert) -&gt; 011100</a:t>
            </a:r>
            <a:endParaRPr lang="en-GB" dirty="0">
              <a:latin typeface="fkGroteskNeue"/>
            </a:endParaRPr>
          </a:p>
          <a:p>
            <a:pPr marL="1200150" lvl="2" indent="-285750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001100 (F:5, no change) -&gt; 011100</a:t>
            </a:r>
            <a:endParaRPr lang="en-GB" dirty="0">
              <a:latin typeface="fkGroteskNeue"/>
            </a:endParaRPr>
          </a:p>
          <a:p>
            <a:pPr marL="1200150" lvl="2" indent="-285750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010100 (F:6, keep) -&gt; 010100</a:t>
            </a:r>
            <a:endParaRPr lang="en-GB" dirty="0">
              <a:latin typeface="fkGroteskNeue"/>
            </a:endParaRPr>
          </a:p>
          <a:p>
            <a:pPr marL="1200150" lvl="2" indent="-285750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010000 (F:4, revert) -&gt; 010100</a:t>
            </a:r>
            <a:endParaRPr lang="en-GB" dirty="0">
              <a:latin typeface="fkGroteskNeue"/>
            </a:endParaRPr>
          </a:p>
          <a:p>
            <a:pPr marL="1200150" lvl="2" indent="-285750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010110 (F:5, revert) -&gt; 010100</a:t>
            </a:r>
            <a:endParaRPr lang="en-GB" dirty="0">
              <a:latin typeface="fkGroteskNeue"/>
            </a:endParaRPr>
          </a:p>
          <a:p>
            <a:pPr marL="1200150" lvl="2" indent="-285750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010101 (F:5, revert) -&gt; 010100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Final: 010100 (Fitness: 6)</a:t>
            </a:r>
          </a:p>
          <a:p>
            <a:pPr marL="742950" lvl="1" indent="-285750" algn="l">
              <a:buFont typeface="Wingdings" pitchFamily="2" charset="2"/>
              <a:buChar char="§"/>
            </a:pPr>
            <a:endParaRPr lang="en-GB" b="0" i="0" u="none" strike="noStrike" dirty="0">
              <a:effectLst/>
              <a:latin typeface="fkGroteskNeue"/>
            </a:endParaRP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b="0" i="0" u="none" strike="noStrike" dirty="0">
                <a:effectLst/>
                <a:latin typeface="fkGroteskNeue"/>
              </a:rPr>
              <a:t>For 001100:</a:t>
            </a:r>
            <a:br>
              <a:rPr lang="en-GB" b="0" i="0" u="none" strike="noStrike" dirty="0">
                <a:effectLst/>
                <a:latin typeface="fkGroteskNeue"/>
              </a:rPr>
            </a:br>
            <a:r>
              <a:rPr lang="en-GB" b="0" i="0" u="none" strike="noStrike" dirty="0">
                <a:effectLst/>
                <a:latin typeface="fkGroteskNeue"/>
              </a:rPr>
              <a:t>Start: 001100 (Fitness: 5)</a:t>
            </a:r>
            <a:br>
              <a:rPr lang="en-GB" b="0" i="0" u="none" strike="noStrike" dirty="0">
                <a:effectLst/>
                <a:latin typeface="fkGroteskNeue"/>
              </a:rPr>
            </a:br>
            <a:r>
              <a:rPr lang="en-GB" b="0" i="0" u="none" strike="noStrike" dirty="0">
                <a:effectLst/>
                <a:latin typeface="fkGroteskNeue"/>
              </a:rPr>
              <a:t>(Similar process, no improvement found)</a:t>
            </a:r>
            <a:br>
              <a:rPr lang="en-GB" b="0" i="0" u="none" strike="noStrike" dirty="0">
                <a:effectLst/>
                <a:latin typeface="fkGroteskNeue"/>
              </a:rPr>
            </a:br>
            <a:r>
              <a:rPr lang="en-GB" b="0" i="0" u="none" strike="noStrike" dirty="0">
                <a:effectLst/>
                <a:latin typeface="fkGroteskNeue"/>
              </a:rPr>
              <a:t>Final: 001100 (Fitness: 5)</a:t>
            </a:r>
          </a:p>
          <a:p>
            <a:pPr marL="171450" indent="-171450">
              <a:buFont typeface="Wingdings" pitchFamily="2" charset="2"/>
              <a:buChar char="§"/>
            </a:pPr>
            <a:endParaRPr lang="en-GB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4E12B-0F91-76FE-AED9-084D15853F45}"/>
              </a:ext>
            </a:extLst>
          </p:cNvPr>
          <p:cNvSpPr txBox="1"/>
          <p:nvPr/>
        </p:nvSpPr>
        <p:spPr>
          <a:xfrm>
            <a:off x="2239962" y="1874728"/>
            <a:ext cx="42250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Fitness Evaluation of Offspring: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011100 (Fitness: 5)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001100 (Fitness: 5)</a:t>
            </a:r>
          </a:p>
          <a:p>
            <a:endParaRPr lang="en-GB" sz="24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06FA15E-3B11-6598-767B-1A77B73D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Example – Designing a Genetic/</a:t>
            </a:r>
            <a:r>
              <a:rPr lang="en-GB" sz="4000" u="sng" dirty="0"/>
              <a:t>Memetic Algorithm</a:t>
            </a:r>
            <a:r>
              <a:rPr lang="en-GB" sz="4000" dirty="0"/>
              <a:t> for MAX-SAT: Initialisation</a:t>
            </a:r>
            <a:endParaRPr lang="en-GB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548B6-B434-C221-CE68-C9F316086007}"/>
              </a:ext>
            </a:extLst>
          </p:cNvPr>
          <p:cNvSpPr txBox="1"/>
          <p:nvPr/>
        </p:nvSpPr>
        <p:spPr>
          <a:xfrm>
            <a:off x="2368548" y="1309893"/>
            <a:ext cx="3074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Genetic Algorithm Steps: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AE219F-D963-62DA-62C4-FAED901C11E0}"/>
              </a:ext>
            </a:extLst>
          </p:cNvPr>
          <p:cNvSpPr txBox="1"/>
          <p:nvPr/>
        </p:nvSpPr>
        <p:spPr>
          <a:xfrm>
            <a:off x="7438296" y="1306811"/>
            <a:ext cx="2957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Memetic Algorithm Steps: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95BB2-A755-E649-D8A8-67749E1B12A0}"/>
              </a:ext>
            </a:extLst>
          </p:cNvPr>
          <p:cNvSpPr txBox="1"/>
          <p:nvPr/>
        </p:nvSpPr>
        <p:spPr>
          <a:xfrm>
            <a:off x="205029" y="1424499"/>
            <a:ext cx="1509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Initial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Population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110000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010100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001100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101110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2A521D-8764-7F1B-7FC2-C182B8361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19360" y="3429000"/>
            <a:ext cx="792480" cy="228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20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4"/>
      <p:bldP spid="5" grpId="0"/>
      <p:bldP spid="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D3B71-F317-7FC9-E4AF-F715C470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306017-E33E-4943-350B-FBC819581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097F7-5877-B4DA-6F37-D503D7995081}"/>
              </a:ext>
            </a:extLst>
          </p:cNvPr>
          <p:cNvSpPr txBox="1"/>
          <p:nvPr/>
        </p:nvSpPr>
        <p:spPr>
          <a:xfrm>
            <a:off x="7221258" y="1874728"/>
            <a:ext cx="3995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GB" sz="2400" dirty="0">
                <a:latin typeface="fkGroteskNeue"/>
              </a:rPr>
              <a:t>Local Search (Hill Climbing): 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dirty="0">
                <a:latin typeface="fkGroteskNeue"/>
              </a:rPr>
              <a:t>010100 (Fitness: 6)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en-GB" sz="2400" dirty="0">
                <a:latin typeface="fkGroteskNeue"/>
              </a:rPr>
              <a:t>001100 ((Fitness: 5</a:t>
            </a:r>
            <a:r>
              <a:rPr lang="en-GB" sz="2400" b="0" i="0" u="none" strike="noStrike" dirty="0">
                <a:effectLst/>
                <a:latin typeface="fkGroteskNeue"/>
              </a:rPr>
              <a:t>)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80EF8-C4CC-C5FE-6250-6526F342AD83}"/>
              </a:ext>
            </a:extLst>
          </p:cNvPr>
          <p:cNvSpPr txBox="1"/>
          <p:nvPr/>
        </p:nvSpPr>
        <p:spPr>
          <a:xfrm>
            <a:off x="2239962" y="1874728"/>
            <a:ext cx="42250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Fitness Evaluation of Offspring: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011100 (Fitness: 5)</a:t>
            </a:r>
          </a:p>
          <a:p>
            <a:pPr marL="742950" lvl="1" indent="-285750" algn="l">
              <a:buFont typeface="Wingdings" pitchFamily="2" charset="2"/>
              <a:buChar char="§"/>
            </a:pPr>
            <a:r>
              <a:rPr lang="en-GB" sz="2400" b="0" i="0" u="none" strike="noStrike" dirty="0">
                <a:effectLst/>
                <a:latin typeface="fkGroteskNeue"/>
              </a:rPr>
              <a:t>001100 (Fitness: 5)</a:t>
            </a:r>
          </a:p>
          <a:p>
            <a:endParaRPr lang="en-GB" sz="24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4326D44-E7AF-ED72-B20D-4BFE9D3A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Example – Designing a Genetic/</a:t>
            </a:r>
            <a:r>
              <a:rPr lang="en-GB" sz="4000" u="sng" dirty="0"/>
              <a:t>Memetic Algorithm</a:t>
            </a:r>
            <a:r>
              <a:rPr lang="en-GB" sz="4000" dirty="0"/>
              <a:t> for MAX-SAT: Local Search</a:t>
            </a:r>
            <a:endParaRPr lang="en-GB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D86C6-5C01-38B0-E695-6F69DF09AC68}"/>
              </a:ext>
            </a:extLst>
          </p:cNvPr>
          <p:cNvSpPr txBox="1"/>
          <p:nvPr/>
        </p:nvSpPr>
        <p:spPr>
          <a:xfrm>
            <a:off x="2368548" y="1309893"/>
            <a:ext cx="3074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Genetic Algorithm Steps: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68E66-587D-B1AE-2679-7291D3A65918}"/>
              </a:ext>
            </a:extLst>
          </p:cNvPr>
          <p:cNvSpPr txBox="1"/>
          <p:nvPr/>
        </p:nvSpPr>
        <p:spPr>
          <a:xfrm>
            <a:off x="7438296" y="1306811"/>
            <a:ext cx="2957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Memetic Algorithm Steps: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32226-C95C-933E-1D68-F7AF8F8A973F}"/>
              </a:ext>
            </a:extLst>
          </p:cNvPr>
          <p:cNvSpPr txBox="1"/>
          <p:nvPr/>
        </p:nvSpPr>
        <p:spPr>
          <a:xfrm>
            <a:off x="205029" y="1424499"/>
            <a:ext cx="1509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Initial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Population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110000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010100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001100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101110 </a:t>
            </a:r>
          </a:p>
        </p:txBody>
      </p:sp>
    </p:spTree>
    <p:extLst>
      <p:ext uri="{BB962C8B-B14F-4D97-AF65-F5344CB8AC3E}">
        <p14:creationId xmlns:p14="http://schemas.microsoft.com/office/powerpoint/2010/main" val="38058492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801D-8590-EBC6-36DF-C3563FCF8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0ADFBD-A723-5B71-750A-AD08126E2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23085-A631-1878-9206-C6D667CBA703}"/>
              </a:ext>
            </a:extLst>
          </p:cNvPr>
          <p:cNvSpPr txBox="1"/>
          <p:nvPr/>
        </p:nvSpPr>
        <p:spPr>
          <a:xfrm>
            <a:off x="7238632" y="1841828"/>
            <a:ext cx="352921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Replace the two worst individuals in the population.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New population:</a:t>
            </a:r>
          </a:p>
          <a:p>
            <a:pPr marL="685800" lvl="1" indent="-22860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010100 (Fitness: 6)  Original best</a:t>
            </a:r>
          </a:p>
          <a:p>
            <a:pPr marL="685800" lvl="1" indent="-228600">
              <a:buFont typeface="Wingdings" pitchFamily="2" charset="2"/>
              <a:buChar char="§"/>
            </a:pPr>
            <a:r>
              <a:rPr lang="en-GB" sz="2000" b="1" i="0" u="none" strike="noStrike" dirty="0">
                <a:effectLst/>
                <a:latin typeface="fkGroteskNeue"/>
              </a:rPr>
              <a:t>010100 (Fitness: 6)  Improved offspring</a:t>
            </a:r>
          </a:p>
          <a:p>
            <a:pPr marL="685800" lvl="1" indent="-22860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001100 (Fitness: 5) Unchanged offspring</a:t>
            </a:r>
          </a:p>
          <a:p>
            <a:pPr marL="685800" lvl="1" indent="-22860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101110 (Fitness: 5)  Retained from original population</a:t>
            </a:r>
          </a:p>
          <a:p>
            <a:pPr marL="171450" indent="-171450">
              <a:buFont typeface="Wingdings" pitchFamily="2" charset="2"/>
              <a:buChar char="§"/>
            </a:pP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E2B92-04D2-F8EC-2ED7-3B7DED0E5729}"/>
              </a:ext>
            </a:extLst>
          </p:cNvPr>
          <p:cNvSpPr txBox="1"/>
          <p:nvPr/>
        </p:nvSpPr>
        <p:spPr>
          <a:xfrm>
            <a:off x="2239962" y="1874728"/>
            <a:ext cx="370363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Replace the two worst individuals in the population.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New population: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010100 (Fitness: 6)  Original best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011100 (Fitness: 5)  </a:t>
            </a:r>
            <a:br>
              <a:rPr lang="en-GB" sz="2000" b="0" i="0" u="none" strike="noStrike" dirty="0">
                <a:effectLst/>
                <a:latin typeface="fkGroteskNeue"/>
              </a:rPr>
            </a:br>
            <a:r>
              <a:rPr lang="en-GB" sz="2000" b="0" i="0" u="none" strike="noStrike" dirty="0">
                <a:effectLst/>
                <a:latin typeface="fkGroteskNeue"/>
              </a:rPr>
              <a:t>New offspring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001100 (Fitness: 5)  </a:t>
            </a:r>
            <a:br>
              <a:rPr lang="en-GB" sz="2000" b="0" i="0" u="none" strike="noStrike" dirty="0">
                <a:effectLst/>
                <a:latin typeface="fkGroteskNeue"/>
              </a:rPr>
            </a:br>
            <a:r>
              <a:rPr lang="en-GB" sz="2000" b="0" i="0" u="none" strike="noStrike" dirty="0">
                <a:effectLst/>
                <a:latin typeface="fkGroteskNeue"/>
              </a:rPr>
              <a:t>New offspring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GB" sz="2000" b="0" i="0" u="none" strike="noStrike" dirty="0">
                <a:effectLst/>
                <a:latin typeface="fkGroteskNeue"/>
              </a:rPr>
              <a:t>101110 (Fitness: 5)  Retained from original population</a:t>
            </a:r>
          </a:p>
          <a:p>
            <a:pPr marL="171450" indent="-171450">
              <a:buFont typeface="Wingdings" pitchFamily="2" charset="2"/>
              <a:buChar char="§"/>
            </a:pPr>
            <a:endParaRPr lang="en-GB" sz="2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277E8D8-FFB3-577B-F7B3-8783838A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Example – Designing a Genetic/</a:t>
            </a:r>
            <a:r>
              <a:rPr lang="en-GB" sz="4000" u="sng" dirty="0"/>
              <a:t>Memetic Algorithm</a:t>
            </a:r>
            <a:r>
              <a:rPr lang="en-GB" sz="4000" dirty="0"/>
              <a:t> for MAX-SAT: Replacement</a:t>
            </a:r>
            <a:endParaRPr lang="en-GB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606D3-9650-5E1C-3FB7-6078C2B641C9}"/>
              </a:ext>
            </a:extLst>
          </p:cNvPr>
          <p:cNvSpPr txBox="1"/>
          <p:nvPr/>
        </p:nvSpPr>
        <p:spPr>
          <a:xfrm>
            <a:off x="2368548" y="1309893"/>
            <a:ext cx="3074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Genetic Algorithm Steps: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9D438-704A-BE68-F8BE-1A0E7946D38C}"/>
              </a:ext>
            </a:extLst>
          </p:cNvPr>
          <p:cNvSpPr txBox="1"/>
          <p:nvPr/>
        </p:nvSpPr>
        <p:spPr>
          <a:xfrm>
            <a:off x="7438296" y="1306811"/>
            <a:ext cx="2957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effectLst/>
                <a:latin typeface="fkGroteskNeue"/>
              </a:rPr>
              <a:t>Memetic Algorithm Steps: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E20342-C177-1E93-7B53-1705C5D2DA66}"/>
              </a:ext>
            </a:extLst>
          </p:cNvPr>
          <p:cNvSpPr txBox="1"/>
          <p:nvPr/>
        </p:nvSpPr>
        <p:spPr>
          <a:xfrm>
            <a:off x="205029" y="1424499"/>
            <a:ext cx="1509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Initial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Population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110000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010100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001100 </a:t>
            </a:r>
          </a:p>
          <a:p>
            <a:pPr algn="l"/>
            <a:r>
              <a:rPr lang="en-GB" sz="1800" b="0" i="0" u="none" strike="noStrike" dirty="0">
                <a:effectLst/>
                <a:latin typeface="fkGroteskNeue"/>
              </a:rPr>
              <a:t>101110 </a:t>
            </a:r>
          </a:p>
        </p:txBody>
      </p:sp>
    </p:spTree>
    <p:extLst>
      <p:ext uri="{BB962C8B-B14F-4D97-AF65-F5344CB8AC3E}">
        <p14:creationId xmlns:p14="http://schemas.microsoft.com/office/powerpoint/2010/main" val="203400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38E88-D6DE-3F9D-7D0D-8C81BD46E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cture shows a mixed group of graduates joyfully throwing their mortar boards into the air in front of the Trent Building. &#10;&#10;">
            <a:extLst>
              <a:ext uri="{FF2B5EF4-FFF2-40B4-BE49-F238E27FC236}">
                <a16:creationId xmlns:a16="http://schemas.microsoft.com/office/drawing/2014/main" id="{1BA9DFFE-44E5-545A-EC26-2EEFD78B4F2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841" y="-7948"/>
            <a:ext cx="4103096" cy="6865948"/>
          </a:xfrm>
          <a:prstGeom prst="rect">
            <a:avLst/>
          </a:prstGeom>
        </p:spPr>
      </p:pic>
      <p:sp>
        <p:nvSpPr>
          <p:cNvPr id="3" name="TextBox">
            <a:extLst>
              <a:ext uri="{FF2B5EF4-FFF2-40B4-BE49-F238E27FC236}">
                <a16:creationId xmlns:a16="http://schemas.microsoft.com/office/drawing/2014/main" id="{862598AE-CD4A-0D01-9645-4C3742B3B3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5668" y="851291"/>
            <a:ext cx="6418983" cy="36548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br>
              <a:rPr lang="en-GB" sz="2000" b="0" i="0" u="none" strike="noStrike" noProof="0" dirty="0">
                <a:solidFill>
                  <a:schemeClr val="bg1"/>
                </a:solidFill>
                <a:effectLst/>
              </a:rPr>
            </a:br>
            <a:endParaRPr lang="en-GB" sz="2000" noProof="0" dirty="0">
              <a:solidFill>
                <a:schemeClr val="bg1"/>
              </a:solidFill>
              <a:cs typeface="Arial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endParaRPr lang="en-GB" sz="2400" noProof="0" dirty="0">
              <a:solidFill>
                <a:schemeClr val="bg1"/>
              </a:solidFill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400" noProof="0" dirty="0">
                <a:solidFill>
                  <a:schemeClr val="bg1"/>
                </a:solidFill>
              </a:rPr>
              <a:t>Evolutionary Algorithms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endParaRPr lang="en-GB" sz="2400" b="0" i="0" u="none" strike="noStrike" noProof="0" dirty="0">
              <a:solidFill>
                <a:schemeClr val="bg1"/>
              </a:solidFill>
              <a:effectLst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400" b="0" i="0" u="none" strike="noStrike" noProof="0" dirty="0">
                <a:solidFill>
                  <a:schemeClr val="bg1"/>
                </a:solidFill>
                <a:effectLst/>
              </a:rPr>
              <a:t>Genetic Algorithms (GAs) 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endParaRPr lang="en-GB" sz="2400" b="0" i="0" u="none" strike="noStrike" noProof="0" dirty="0">
              <a:solidFill>
                <a:schemeClr val="bg1"/>
              </a:solidFill>
              <a:effectLst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GB" sz="2400" b="0" i="0" u="none" strike="noStrike" noProof="0" dirty="0">
                <a:solidFill>
                  <a:schemeClr val="bg1"/>
                </a:solidFill>
                <a:effectLst/>
              </a:rPr>
              <a:t>Memetic Algorithms</a:t>
            </a:r>
            <a:r>
              <a:rPr lang="en-GB" sz="2400" b="0" i="0" u="none" strike="noStrike" dirty="0">
                <a:solidFill>
                  <a:schemeClr val="bg1"/>
                </a:solidFill>
                <a:effectLst/>
                <a:cs typeface="Arial"/>
              </a:rPr>
              <a:t> (MAs)</a:t>
            </a:r>
            <a:br>
              <a:rPr lang="en-GB" sz="2000" noProof="0" dirty="0">
                <a:highlight>
                  <a:srgbClr val="F5F5F5"/>
                </a:highlight>
              </a:rPr>
            </a:br>
            <a:endParaRPr lang="en-GB" sz="2000" b="1" noProof="0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F6CE8-DE62-3610-D856-64D210BF0A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123950" y="109537"/>
            <a:ext cx="10440987" cy="900113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rgbClr val="FCFBF8"/>
                </a:solidFill>
                <a:latin typeface="Georgia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7455390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49739D50-DF92-94F8-59D6-93493193A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002" y="1885436"/>
            <a:ext cx="9269952" cy="1796732"/>
          </a:xfrm>
        </p:spPr>
        <p:txBody>
          <a:bodyPr>
            <a:noAutofit/>
          </a:bodyPr>
          <a:lstStyle/>
          <a:p>
            <a:r>
              <a:rPr lang="en-GB" noProof="0" dirty="0"/>
              <a:t>Thank you</a:t>
            </a:r>
            <a:br>
              <a:rPr lang="en-GB" noProof="0" dirty="0"/>
            </a:br>
            <a:r>
              <a:rPr lang="en-GB" sz="3200" b="0" noProof="0" dirty="0">
                <a:latin typeface="Arial" panose="020B0604020202020204" pitchFamily="34" charset="0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119665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8"/>
  <p:tag name="TPFULLVERSION" val="1.4.5.9"/>
  <p:tag name="TPOS" val="2"/>
  <p:tag name="TPLASTSAVEVERSION" val="6.2 PC"/>
  <p:tag name="TPLASTSAVEPRODUCT" val="EchoPoll for PowerPoint"/>
</p:tagLst>
</file>

<file path=ppt/theme/theme1.xml><?xml version="1.0" encoding="utf-8"?>
<a:theme xmlns:a="http://schemas.openxmlformats.org/drawingml/2006/main" name="Office Theme">
  <a:themeElements>
    <a:clrScheme name="Custom 9-Hyperlinkblue-CivicPurple">
      <a:dk1>
        <a:srgbClr val="10263B"/>
      </a:dk1>
      <a:lt1>
        <a:srgbClr val="FCFBF8"/>
      </a:lt1>
      <a:dk2>
        <a:srgbClr val="405161"/>
      </a:dk2>
      <a:lt2>
        <a:srgbClr val="F3F3F5"/>
      </a:lt2>
      <a:accent1>
        <a:srgbClr val="707D89"/>
      </a:accent1>
      <a:accent2>
        <a:srgbClr val="9FA8B1"/>
      </a:accent2>
      <a:accent3>
        <a:srgbClr val="005F36"/>
      </a:accent3>
      <a:accent4>
        <a:srgbClr val="92D400"/>
      </a:accent4>
      <a:accent5>
        <a:srgbClr val="37B3B0"/>
      </a:accent5>
      <a:accent6>
        <a:srgbClr val="009BC1"/>
      </a:accent6>
      <a:hlink>
        <a:srgbClr val="0061FF"/>
      </a:hlink>
      <a:folHlink>
        <a:srgbClr val="94579D"/>
      </a:folHlink>
    </a:clrScheme>
    <a:fontScheme name="Custom 2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a8d30e-3eb0-4167-b686-5fd4d1de55fa" xsi:nil="true"/>
    <lcf76f155ced4ddcb4097134ff3c332f xmlns="16640679-8aa6-4262-947d-54cfc3df5a39">
      <Terms xmlns="http://schemas.microsoft.com/office/infopath/2007/PartnerControls"/>
    </lcf76f155ced4ddcb4097134ff3c332f>
    <SharedWithUsers xmlns="c9a8d30e-3eb0-4167-b686-5fd4d1de55fa">
      <UserInfo>
        <DisplayName>Mirella Lechna</DisplayName>
        <AccountId>3210</AccountId>
        <AccountType/>
      </UserInfo>
      <UserInfo>
        <DisplayName>Katherine Auer (staff)</DisplayName>
        <AccountId>5187</AccountId>
        <AccountType/>
      </UserInfo>
      <UserInfo>
        <DisplayName>Claire Murphy (staff)</DisplayName>
        <AccountId>2938</AccountId>
        <AccountType/>
      </UserInfo>
      <UserInfo>
        <DisplayName>Julian Tenney (staff)</DisplayName>
        <AccountId>294</AccountId>
        <AccountType/>
      </UserInfo>
      <UserInfo>
        <DisplayName>Christopher Ward (staff)</DisplayName>
        <AccountId>43110</AccountId>
        <AccountType/>
      </UserInfo>
      <UserInfo>
        <DisplayName>Emma Darwin</DisplayName>
        <AccountId>66300</AccountId>
        <AccountType/>
      </UserInfo>
      <UserInfo>
        <DisplayName>info</DisplayName>
        <AccountId>66336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391EDCFC911F45A9DD8B1389DBAE73" ma:contentTypeVersion="21" ma:contentTypeDescription="Create a new document." ma:contentTypeScope="" ma:versionID="18cf16ec0aa6da56be582e2a7172ba75">
  <xsd:schema xmlns:xsd="http://www.w3.org/2001/XMLSchema" xmlns:xs="http://www.w3.org/2001/XMLSchema" xmlns:p="http://schemas.microsoft.com/office/2006/metadata/properties" xmlns:ns2="16640679-8aa6-4262-947d-54cfc3df5a39" xmlns:ns3="c9a8d30e-3eb0-4167-b686-5fd4d1de55fa" targetNamespace="http://schemas.microsoft.com/office/2006/metadata/properties" ma:root="true" ma:fieldsID="d124782be059d696050be41b9b0f868d" ns2:_="" ns3:_="">
    <xsd:import namespace="16640679-8aa6-4262-947d-54cfc3df5a39"/>
    <xsd:import namespace="c9a8d30e-3eb0-4167-b686-5fd4d1de55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640679-8aa6-4262-947d-54cfc3df5a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76624216-d583-4636-a04d-17921d6eaf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8d30e-3eb0-4167-b686-5fd4d1de55f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14155df0-2a5e-4291-af6d-612008b03141}" ma:internalName="TaxCatchAll" ma:showField="CatchAllData" ma:web="c9a8d30e-3eb0-4167-b686-5fd4d1de55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524C8A-0B90-4F5E-9F57-26A31440D349}">
  <ds:schemaRefs>
    <ds:schemaRef ds:uri="http://schemas.openxmlformats.org/package/2006/metadata/core-properties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16640679-8aa6-4262-947d-54cfc3df5a39"/>
    <ds:schemaRef ds:uri="http://schemas.microsoft.com/office/2006/metadata/properties"/>
    <ds:schemaRef ds:uri="http://schemas.microsoft.com/office/infopath/2007/PartnerControls"/>
    <ds:schemaRef ds:uri="c9a8d30e-3eb0-4167-b686-5fd4d1de55fa"/>
  </ds:schemaRefs>
</ds:datastoreItem>
</file>

<file path=customXml/itemProps2.xml><?xml version="1.0" encoding="utf-8"?>
<ds:datastoreItem xmlns:ds="http://schemas.openxmlformats.org/officeDocument/2006/customXml" ds:itemID="{70B1A4FF-0ED2-4144-92C9-26E83AFB9B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71DD63-BD97-481A-9FAB-D6D5E8B66BDD}">
  <ds:schemaRefs>
    <ds:schemaRef ds:uri="16640679-8aa6-4262-947d-54cfc3df5a39"/>
    <ds:schemaRef ds:uri="c9a8d30e-3eb0-4167-b686-5fd4d1de5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7240</Words>
  <Application>Microsoft Office PowerPoint</Application>
  <PresentationFormat>Widescreen</PresentationFormat>
  <Paragraphs>1323</Paragraphs>
  <Slides>68</Slides>
  <Notes>25</Notes>
  <HiddenSlides>1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80" baseType="lpstr">
      <vt:lpstr>fkGroteskNeue</vt:lpstr>
      <vt:lpstr>Arial</vt:lpstr>
      <vt:lpstr>Arial</vt:lpstr>
      <vt:lpstr>Calibri</vt:lpstr>
      <vt:lpstr>Cambria Math</vt:lpstr>
      <vt:lpstr>Courier New</vt:lpstr>
      <vt:lpstr>Georgia</vt:lpstr>
      <vt:lpstr>Symbol</vt:lpstr>
      <vt:lpstr>Times New Roman</vt:lpstr>
      <vt:lpstr>Wingdings</vt:lpstr>
      <vt:lpstr>Office Theme</vt:lpstr>
      <vt:lpstr>Equation</vt:lpstr>
      <vt:lpstr>Lecture 5 –  Evolutionary Algorithms I</vt:lpstr>
      <vt:lpstr>Learning Outcomes</vt:lpstr>
      <vt:lpstr>Outline</vt:lpstr>
      <vt:lpstr>Evolutionary Algorithms</vt:lpstr>
      <vt:lpstr>Evolutionary is Revolutionary</vt:lpstr>
      <vt:lpstr>Evolution at Work</vt:lpstr>
      <vt:lpstr>A famous example – peppered moth evolution</vt:lpstr>
      <vt:lpstr>Evolutionary Algorithms (EAs)</vt:lpstr>
      <vt:lpstr>Evolutionary Algorithms (EAs) II</vt:lpstr>
      <vt:lpstr>Genetic Algorithms (GAs)</vt:lpstr>
      <vt:lpstr>Pseudocode of a Generic Genetic Algorithm</vt:lpstr>
      <vt:lpstr>Basic Components of GAs</vt:lpstr>
      <vt:lpstr>Pseudocode of a Generic Genetic Algorithm</vt:lpstr>
      <vt:lpstr>GA Components: Representation</vt:lpstr>
      <vt:lpstr>Pseudocode of a Generic Genetic Algorithm</vt:lpstr>
      <vt:lpstr>GA Components: Initialisation</vt:lpstr>
      <vt:lpstr>Example – MAX-SAT:  Initialisation</vt:lpstr>
      <vt:lpstr>Example – MAX-SAT:  Initialisation</vt:lpstr>
      <vt:lpstr>Pseudocode of a Generic Genetic Algorithm</vt:lpstr>
      <vt:lpstr>GA Components – Fitness Calculation</vt:lpstr>
      <vt:lpstr>Example – MAX-SAT: Fitness Calculation</vt:lpstr>
      <vt:lpstr>Example – MAX-SAT: Fitness Calculation</vt:lpstr>
      <vt:lpstr>Example – MAX-SAT: Fitness Calculation</vt:lpstr>
      <vt:lpstr>Pseudocode of a Generic Genetic Algorithm</vt:lpstr>
      <vt:lpstr>GA Components – Reproduction</vt:lpstr>
      <vt:lpstr>Fitness Proportionate Selection –  Roulette Wheel Selection</vt:lpstr>
      <vt:lpstr>Roulette Wheel Selection –  Minimisation Problem</vt:lpstr>
      <vt:lpstr>Example: MAX-SAT –   Roulette Wheel Selection</vt:lpstr>
      <vt:lpstr>Early Module Feedback</vt:lpstr>
      <vt:lpstr>Tournament Selection</vt:lpstr>
      <vt:lpstr>Example – MAX-SAT:   Tournament Selection</vt:lpstr>
      <vt:lpstr>Example – MAX-SAT:   Tournament Selection </vt:lpstr>
      <vt:lpstr>Pseudocode of a Generic Genetic Algorithm</vt:lpstr>
      <vt:lpstr>Recombination – Crossover</vt:lpstr>
      <vt:lpstr>Example – MAX-SAT: 1PTX</vt:lpstr>
      <vt:lpstr>Other Crossover Operators</vt:lpstr>
      <vt:lpstr>Pseudocode of a Generic Genetic Algorithm</vt:lpstr>
      <vt:lpstr>Mutation</vt:lpstr>
      <vt:lpstr>Example – Mutation </vt:lpstr>
      <vt:lpstr>Example – Mutation </vt:lpstr>
      <vt:lpstr>Pseudocode of a Generic Genetic Algorithm</vt:lpstr>
      <vt:lpstr>Replacement Strategy</vt:lpstr>
      <vt:lpstr>Replacement Strategy </vt:lpstr>
      <vt:lpstr>Example – Transgenerational GA Replacement (no elitism)</vt:lpstr>
      <vt:lpstr>Example – TGA Replacement  (with elitism)</vt:lpstr>
      <vt:lpstr>Example – A Steady State GA (with elitism)</vt:lpstr>
      <vt:lpstr>Pseudocode of a Generic Genetic Algorithm</vt:lpstr>
      <vt:lpstr>Termination Criteria</vt:lpstr>
      <vt:lpstr>Convergence</vt:lpstr>
      <vt:lpstr>Key Features of EAs</vt:lpstr>
      <vt:lpstr>Memetic Algorithms (MAs)</vt:lpstr>
      <vt:lpstr>Memetic Algorithms (MAs)</vt:lpstr>
      <vt:lpstr>Memetic Algorithms (MAs) II</vt:lpstr>
      <vt:lpstr>Pseudocode of a Generic Genetic Algorithm</vt:lpstr>
      <vt:lpstr>Pseudocode of a Generic Memetic Algorithm</vt:lpstr>
      <vt:lpstr>A Generic Memetic Algorithm (MA)</vt:lpstr>
      <vt:lpstr>Pseudocode of a Generic Memetic Algorithm</vt:lpstr>
      <vt:lpstr>Example – Designing a Genetic/Memetic Algorithm for MAX-SAT</vt:lpstr>
      <vt:lpstr>Example – Designing a Genetic/Memetic Algorithm for MAX-SAT: Initilisation</vt:lpstr>
      <vt:lpstr>Example – Designing a Genetic/Memetic Algorithm for MAX-SAT: Evaluation</vt:lpstr>
      <vt:lpstr>Example – Designing a Genetic/Memetic Algorithm for MAX-SAT: Parent Selection</vt:lpstr>
      <vt:lpstr>Example – Designing a Genetic/Memetic Algorithm for MAX-SAT</vt:lpstr>
      <vt:lpstr>Example – Designing a Genetic/Memetic Algorithm for MAX-SAT: Mutation</vt:lpstr>
      <vt:lpstr>Example – Designing a Genetic/Memetic Algorithm for MAX-SAT: Initialisation</vt:lpstr>
      <vt:lpstr>Example – Designing a Genetic/Memetic Algorithm for MAX-SAT: Local Search</vt:lpstr>
      <vt:lpstr>Example – Designing a Genetic/Memetic Algorithm for MAX-SAT: Replacement</vt:lpstr>
      <vt:lpstr>Summary</vt:lpstr>
      <vt:lpstr>Thank you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University of Nottingham PowerPoint template</dc:title>
  <dc:creator/>
  <cp:revision>78</cp:revision>
  <dcterms:created xsi:type="dcterms:W3CDTF">2023-09-01T16:10:27Z</dcterms:created>
  <dcterms:modified xsi:type="dcterms:W3CDTF">2026-02-24T16:03:30Z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0x01010024391EDCFC911F45A9DD8B1389DBAE73</vt:lpwstr>
  </property>
  <property fmtid="{D5CDD505-2E9C-101B-9397-08002B2CF9AE}" pid="3" name="MediaServiceImageTags">
    <vt:lpwstr/>
  </property>
</Properties>
</file>