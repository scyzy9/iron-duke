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4"/>
  </p:sldMasterIdLst>
  <p:notesMasterIdLst>
    <p:notesMasterId r:id="rId38"/>
  </p:notesMasterIdLst>
  <p:sldIdLst>
    <p:sldId id="256" r:id="rId5"/>
    <p:sldId id="258" r:id="rId6"/>
    <p:sldId id="300" r:id="rId7"/>
    <p:sldId id="395" r:id="rId8"/>
    <p:sldId id="436" r:id="rId9"/>
    <p:sldId id="396" r:id="rId10"/>
    <p:sldId id="435" r:id="rId11"/>
    <p:sldId id="437" r:id="rId12"/>
    <p:sldId id="400" r:id="rId13"/>
    <p:sldId id="401" r:id="rId14"/>
    <p:sldId id="438" r:id="rId15"/>
    <p:sldId id="402" r:id="rId16"/>
    <p:sldId id="407" r:id="rId17"/>
    <p:sldId id="408" r:id="rId18"/>
    <p:sldId id="409" r:id="rId19"/>
    <p:sldId id="410" r:id="rId20"/>
    <p:sldId id="411" r:id="rId21"/>
    <p:sldId id="439" r:id="rId22"/>
    <p:sldId id="440" r:id="rId23"/>
    <p:sldId id="412" r:id="rId24"/>
    <p:sldId id="441" r:id="rId25"/>
    <p:sldId id="442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338" r:id="rId35"/>
    <p:sldId id="334" r:id="rId36"/>
    <p:sldId id="33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2CC"/>
    <a:srgbClr val="00FF00"/>
    <a:srgbClr val="C3CB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01" autoAdjust="0"/>
    <p:restoredTop sz="0" autoAdjust="0"/>
  </p:normalViewPr>
  <p:slideViewPr>
    <p:cSldViewPr snapToGrid="0" snapToObjects="1">
      <p:cViewPr varScale="1">
        <p:scale>
          <a:sx n="125" d="100"/>
          <a:sy n="125" d="100"/>
        </p:scale>
        <p:origin x="192" y="192"/>
      </p:cViewPr>
      <p:guideLst/>
    </p:cSldViewPr>
  </p:slideViewPr>
  <p:outlineViewPr>
    <p:cViewPr>
      <p:scale>
        <a:sx n="33" d="100"/>
        <a:sy n="33" d="100"/>
      </p:scale>
      <p:origin x="0" y="-3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6B6DE-FB68-7047-BB8E-83A3434EB1AD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F30B4-A83F-1642-A49C-AA41F958FE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137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– Earth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87140" y="1127760"/>
            <a:ext cx="4610100" cy="30668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presentation title – Arial 32pt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857659-1700-314E-B00F-79040D7445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74767" cy="1027487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158B21E-1070-014B-B9DF-CC6AE4E330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94760" y="4194626"/>
            <a:ext cx="4625340" cy="15356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en-GB" sz="24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Add presenter name or subtitle – Arial 24pt</a:t>
            </a:r>
          </a:p>
        </p:txBody>
      </p:sp>
    </p:spTree>
    <p:extLst>
      <p:ext uri="{BB962C8B-B14F-4D97-AF65-F5344CB8AC3E}">
        <p14:creationId xmlns:p14="http://schemas.microsoft.com/office/powerpoint/2010/main" val="951874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– Campu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E23AA1-5E84-1542-85FA-0AD28CCBD6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74767" cy="1027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3B6D91D-08CC-8B40-9A20-FA41181022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87140" y="1127760"/>
            <a:ext cx="4610100" cy="30668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presentation title – Arial 32pt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D62B56-9FE8-D94E-A6EA-EC6A8F1694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94760" y="4194626"/>
            <a:ext cx="4625340" cy="15356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en-GB" sz="24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Add presenter name or subtitle – Arial 24pt</a:t>
            </a:r>
          </a:p>
        </p:txBody>
      </p:sp>
    </p:spTree>
    <p:extLst>
      <p:ext uri="{BB962C8B-B14F-4D97-AF65-F5344CB8AC3E}">
        <p14:creationId xmlns:p14="http://schemas.microsoft.com/office/powerpoint/2010/main" val="3896350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– 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385F48C-130A-074B-BAE4-5071492DF3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774767" cy="103094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E0A4753-72CA-6241-85A5-FA5F9E40DC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87140" y="1127760"/>
            <a:ext cx="4610100" cy="30668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presentation title – Arial 32pt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C60C8-55FD-084A-BE95-B2E7664467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94760" y="4194626"/>
            <a:ext cx="4625340" cy="15356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en-GB" sz="24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Add presenter name or subtitle – Arial 24pt</a:t>
            </a:r>
          </a:p>
        </p:txBody>
      </p:sp>
    </p:spTree>
    <p:extLst>
      <p:ext uri="{BB962C8B-B14F-4D97-AF65-F5344CB8AC3E}">
        <p14:creationId xmlns:p14="http://schemas.microsoft.com/office/powerpoint/2010/main" val="82333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– Science &amp; Technolog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BA9BED-34B5-9D4D-A988-760726B7CE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74767" cy="10274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BD7A035-88C0-B640-91D8-3B73C22448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87140" y="1127760"/>
            <a:ext cx="4610100" cy="30668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presentation title – Arial 32pt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4D1AC89-727B-C049-9CD3-8F38C0F22C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94760" y="4194626"/>
            <a:ext cx="4625340" cy="15356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en-GB" sz="24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Add presenter name or subtitle – Arial 24pt</a:t>
            </a:r>
          </a:p>
        </p:txBody>
      </p:sp>
    </p:spTree>
    <p:extLst>
      <p:ext uri="{BB962C8B-B14F-4D97-AF65-F5344CB8AC3E}">
        <p14:creationId xmlns:p14="http://schemas.microsoft.com/office/powerpoint/2010/main" val="347906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ion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1120" y="2492895"/>
            <a:ext cx="9509760" cy="187220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title – Arial Bold 36pt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41120" y="4365104"/>
            <a:ext cx="9509760" cy="9361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– Arial 28pt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81B442-D23E-CA47-8B99-3C2A297ACC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32632" cy="102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8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ion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FA4EB9E-FE0B-FF48-B57B-3DBA656E7C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2492895"/>
            <a:ext cx="9509760" cy="187220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title – Arial Bold 36pt</a:t>
            </a:r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8DE1B96-986D-4446-800F-54A0D95D2FB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4365104"/>
            <a:ext cx="9509760" cy="9361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– Arial 28pt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8598A-E89A-584D-B315-0C3A8BB5DD6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32632" cy="102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0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ion 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A61C9F9-E7A2-6342-870C-D685719F3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2492895"/>
            <a:ext cx="9509760" cy="187220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title – Arial Bold 36pt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28BB5A8-2728-CF4C-9063-6BE6445BAAF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4365104"/>
            <a:ext cx="9509760" cy="9361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– Arial 28pt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B13D2-2048-3D42-80F2-F73F2403527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32632" cy="102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9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/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6" y="2133603"/>
            <a:ext cx="1125769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11257698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19A7CD-F138-0F44-8EE9-3A0D44746374}"/>
              </a:ext>
            </a:extLst>
          </p:cNvPr>
          <p:cNvSpPr/>
          <p:nvPr/>
        </p:nvSpPr>
        <p:spPr>
          <a:xfrm>
            <a:off x="-2691741" y="4585363"/>
            <a:ext cx="2272637" cy="227263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/>
            <a:r>
              <a:rPr lang="en-US" sz="1600" dirty="0">
                <a:solidFill>
                  <a:schemeClr val="tx2"/>
                </a:solidFill>
              </a:rPr>
              <a:t>To change the information in the footer throughout the presentation go to ‘Insert’ &gt; ‘Header and Footers’ and add in your Name an Department. 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EC0D016C-1275-924C-98DB-B9930CE6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AEDAE64E-B17E-C94F-B25E-49BD42EB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849A843-67F9-4A42-88AB-E569AB1B46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893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/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6" y="1484533"/>
            <a:ext cx="11257699" cy="439556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5F4786B-B212-B34A-89F3-E3B5635D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209994D-AE10-AA48-B0AF-498EB352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3DA001B-6E89-AE49-AABC-54C4DE3017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691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/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FD5A457D-43F2-604B-B814-B8FECB49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DE20A9C9-39A8-0B43-9C3D-F0D28193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D44F9B4-241A-A940-83B9-3E4C509F75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561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7" y="2133603"/>
            <a:ext cx="519751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5197519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EB8B77C-1456-2F4D-971B-A3B002EBED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39555" y="1484533"/>
            <a:ext cx="5197519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1497BF54-DDDF-9C43-996F-4B56CDE6B03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539555" y="2133603"/>
            <a:ext cx="519751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5E9271B-0820-354A-93EC-EB864320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/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09B20D5-C4CC-6443-8707-4A646E78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EBE005DE-F3C0-BC4F-89CB-98425DE5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0BC2F73B-EAF7-5E47-8205-04997856DA1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673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verse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B71C68-E69A-D043-938E-2E7E5584D68A}"/>
              </a:ext>
            </a:extLst>
          </p:cNvPr>
          <p:cNvSpPr/>
          <p:nvPr/>
        </p:nvSpPr>
        <p:spPr>
          <a:xfrm>
            <a:off x="0" y="1029589"/>
            <a:ext cx="12192000" cy="58284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6" y="2133603"/>
            <a:ext cx="1125769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lang="en-GB" sz="2800" smtClean="0">
                <a:solidFill>
                  <a:schemeClr val="bg1"/>
                </a:solidFill>
                <a:effectLst/>
              </a:defRPr>
            </a:lvl1pPr>
            <a:lvl2pPr>
              <a:buClr>
                <a:schemeClr val="accent1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2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11257698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DD913A89-AB94-0040-BB77-FEEF4F2A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0806D41D-D8ED-F043-BFB7-76BEA0F5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52B1054-562F-8E49-A34F-69CCAD353F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1983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B71C68-E69A-D043-938E-2E7E5584D68A}"/>
              </a:ext>
            </a:extLst>
          </p:cNvPr>
          <p:cNvSpPr/>
          <p:nvPr/>
        </p:nvSpPr>
        <p:spPr>
          <a:xfrm>
            <a:off x="0" y="1029589"/>
            <a:ext cx="12192000" cy="58284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6150624" cy="19444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000" b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Quote text goes here – Georgia 40pt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4CBE44D3-648B-CB40-BD6F-0FA484A1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E4951B65-1AA6-8E4C-9CC6-15F22925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EBCFAE8-41E8-624A-9F05-9858951E2E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0279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7" y="2133603"/>
            <a:ext cx="519751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5197519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97768A-E936-2047-B272-A71830C2F46A}"/>
              </a:ext>
            </a:extLst>
          </p:cNvPr>
          <p:cNvSpPr/>
          <p:nvPr/>
        </p:nvSpPr>
        <p:spPr>
          <a:xfrm>
            <a:off x="6096000" y="1029589"/>
            <a:ext cx="6096000" cy="58284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E17E21C-B85B-934A-BF9C-B51FD202E06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39555" y="2133603"/>
            <a:ext cx="519751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 lang="en-GB" sz="2800" smtClean="0">
                <a:solidFill>
                  <a:schemeClr val="bg1"/>
                </a:solidFill>
                <a:effectLst/>
              </a:defRPr>
            </a:lvl1pPr>
            <a:lvl2pPr>
              <a:buClr>
                <a:schemeClr val="bg1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2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EB8B77C-1456-2F4D-971B-A3B002EBED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39555" y="1484533"/>
            <a:ext cx="5197519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34EF87EF-BCA8-3B43-8F86-9AF31F38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F88BA456-9F91-5045-9868-8CE22B79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205014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E231283A-DC7D-C14B-B949-40A5303F21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3516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Fact &amp; Figures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3E8FE9F4-4522-2A4A-9C2C-E14E46615C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2114" y="3806825"/>
            <a:ext cx="3041886" cy="3051175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B8BEFA4-C2B9-BD42-A0A5-04F3692367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53231" y="3806825"/>
            <a:ext cx="3041886" cy="3051175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429D8B-070F-B34C-94B7-DEF1C90FAA0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9117" y="1030288"/>
            <a:ext cx="6096000" cy="277653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7" y="2133603"/>
            <a:ext cx="519751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5197519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5012C2-4993-F54F-A804-693637D33D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6246" y="1325014"/>
            <a:ext cx="4107914" cy="16850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500" b="1">
                <a:solidFill>
                  <a:schemeClr val="tx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1 in 5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96B15A1-3AF6-A640-A190-8E8291CF1A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6246" y="2968285"/>
            <a:ext cx="5420828" cy="5078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GB" sz="3000" smtClean="0">
                <a:solidFill>
                  <a:schemeClr val="tx1"/>
                </a:solidFill>
                <a:effectLst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r>
              <a:rPr lang="en-GB" dirty="0">
                <a:solidFill>
                  <a:srgbClr val="011C67"/>
                </a:solidFill>
                <a:effectLst/>
                <a:latin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rgbClr val="011C67"/>
                </a:solidFill>
                <a:effectLst/>
                <a:latin typeface="Arial" panose="020B0604020202020204" pitchFamily="34" charset="0"/>
              </a:rPr>
              <a:t>dolor</a:t>
            </a:r>
            <a:r>
              <a:rPr lang="en-GB" dirty="0">
                <a:solidFill>
                  <a:srgbClr val="011C67"/>
                </a:solidFill>
                <a:effectLst/>
                <a:latin typeface="Arial" panose="020B0604020202020204" pitchFamily="34" charset="0"/>
              </a:rPr>
              <a:t> sit </a:t>
            </a:r>
            <a:r>
              <a:rPr lang="en-GB" dirty="0" err="1">
                <a:solidFill>
                  <a:srgbClr val="011C67"/>
                </a:solidFill>
                <a:effectLst/>
                <a:latin typeface="Arial" panose="020B0604020202020204" pitchFamily="34" charset="0"/>
              </a:rPr>
              <a:t>amet</a:t>
            </a:r>
            <a:endParaRPr lang="en-GB" dirty="0">
              <a:solidFill>
                <a:srgbClr val="011C67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45F9D20A-60A4-B749-9837-8CF6B9AF35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16246" y="3997876"/>
            <a:ext cx="2616739" cy="13111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800" b="1">
                <a:solidFill>
                  <a:schemeClr val="bg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75%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269F27E-1C0A-A446-B7C7-C4A5F89366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6663" y="5308600"/>
            <a:ext cx="2616200" cy="86793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3000" b="1">
                <a:solidFill>
                  <a:schemeClr val="bg1"/>
                </a:solidFill>
              </a:defRPr>
            </a:lvl2pPr>
            <a:lvl3pPr marL="914400" indent="0">
              <a:buNone/>
              <a:defRPr sz="3000" b="1">
                <a:solidFill>
                  <a:schemeClr val="bg1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DF3D1FC-03B8-E04D-9DA6-CDB5C487C4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12665" y="4521347"/>
            <a:ext cx="2616739" cy="13111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800" b="1">
                <a:solidFill>
                  <a:schemeClr val="bg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£2m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F4AE2FA4-A530-1540-800A-6A0ACFD551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3082" y="3999041"/>
            <a:ext cx="2616200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3000" b="1">
                <a:solidFill>
                  <a:schemeClr val="bg1"/>
                </a:solidFill>
              </a:defRPr>
            </a:lvl2pPr>
            <a:lvl3pPr marL="914400" indent="0">
              <a:buNone/>
              <a:defRPr sz="3000" b="1">
                <a:solidFill>
                  <a:schemeClr val="bg1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47168AAF-B20D-5A42-B75B-7723535923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13082" y="5799705"/>
            <a:ext cx="2616200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3000" b="1">
                <a:solidFill>
                  <a:schemeClr val="bg1"/>
                </a:solidFill>
              </a:defRPr>
            </a:lvl2pPr>
            <a:lvl3pPr marL="914400" indent="0">
              <a:buNone/>
              <a:defRPr sz="3000" b="1">
                <a:solidFill>
                  <a:schemeClr val="bg1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0" name="Date Placeholder 2">
            <a:extLst>
              <a:ext uri="{FF2B5EF4-FFF2-40B4-BE49-F238E27FC236}">
                <a16:creationId xmlns:a16="http://schemas.microsoft.com/office/drawing/2014/main" id="{CD804D55-B197-9A4F-AA02-4071D6E0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31" name="Footer Placeholder 3">
            <a:extLst>
              <a:ext uri="{FF2B5EF4-FFF2-40B4-BE49-F238E27FC236}">
                <a16:creationId xmlns:a16="http://schemas.microsoft.com/office/drawing/2014/main" id="{0C456DFD-D31E-F540-B5EC-8C7087B8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204574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35546965-5450-3444-B8A1-303B1BF106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6825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Fact &amp; Figure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D944C8EB-D3E3-3B4F-9FC5-E6B185D2F5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9117" y="3806825"/>
            <a:ext cx="6096000" cy="3051175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563FF-1797-7C47-B195-3DD52F253B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9117" y="1030288"/>
            <a:ext cx="6096000" cy="277653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7" y="2133603"/>
            <a:ext cx="519751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5197519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5012C2-4993-F54F-A804-693637D33D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6246" y="1325014"/>
            <a:ext cx="4107914" cy="16850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500" b="1">
                <a:solidFill>
                  <a:schemeClr val="tx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1 in 5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96B15A1-3AF6-A640-A190-8E8291CF1A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6246" y="2968285"/>
            <a:ext cx="5420828" cy="5078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GB" sz="3000" smtClean="0">
                <a:solidFill>
                  <a:schemeClr val="tx1"/>
                </a:solidFill>
                <a:effectLst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r>
              <a:rPr lang="en-GB" dirty="0">
                <a:solidFill>
                  <a:srgbClr val="011C67"/>
                </a:solidFill>
                <a:effectLst/>
                <a:latin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rgbClr val="011C67"/>
                </a:solidFill>
                <a:effectLst/>
                <a:latin typeface="Arial" panose="020B0604020202020204" pitchFamily="34" charset="0"/>
              </a:rPr>
              <a:t>dolor</a:t>
            </a:r>
            <a:r>
              <a:rPr lang="en-GB" dirty="0">
                <a:solidFill>
                  <a:srgbClr val="011C67"/>
                </a:solidFill>
                <a:effectLst/>
                <a:latin typeface="Arial" panose="020B0604020202020204" pitchFamily="34" charset="0"/>
              </a:rPr>
              <a:t> sit </a:t>
            </a:r>
            <a:r>
              <a:rPr lang="en-GB" dirty="0" err="1">
                <a:solidFill>
                  <a:srgbClr val="011C67"/>
                </a:solidFill>
                <a:effectLst/>
                <a:latin typeface="Arial" panose="020B0604020202020204" pitchFamily="34" charset="0"/>
              </a:rPr>
              <a:t>amet</a:t>
            </a:r>
            <a:endParaRPr lang="en-GB" dirty="0">
              <a:solidFill>
                <a:srgbClr val="011C67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DF3D1FC-03B8-E04D-9DA6-CDB5C487C4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6246" y="4337926"/>
            <a:ext cx="3210526" cy="16850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500" b="1">
                <a:solidFill>
                  <a:schemeClr val="bg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£2m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F4AE2FA4-A530-1540-800A-6A0ACFD551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6771" y="4633351"/>
            <a:ext cx="2242659" cy="12557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3000" b="1">
                <a:solidFill>
                  <a:schemeClr val="bg1"/>
                </a:solidFill>
              </a:defRPr>
            </a:lvl2pPr>
            <a:lvl3pPr marL="914400" indent="0">
              <a:buNone/>
              <a:defRPr sz="3000" b="1">
                <a:solidFill>
                  <a:schemeClr val="bg1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5" name="Date Placeholder 2">
            <a:extLst>
              <a:ext uri="{FF2B5EF4-FFF2-40B4-BE49-F238E27FC236}">
                <a16:creationId xmlns:a16="http://schemas.microsoft.com/office/drawing/2014/main" id="{149E7174-3E23-3F44-A99A-B120EF86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CDDA9684-9AB1-8D47-B9DF-B65AE686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201577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9F37C5B9-E87C-FD47-B0EC-A97AEA0A1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8800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&amp; Text Gri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16">
            <a:extLst>
              <a:ext uri="{FF2B5EF4-FFF2-40B4-BE49-F238E27FC236}">
                <a16:creationId xmlns:a16="http://schemas.microsoft.com/office/drawing/2014/main" id="{0963E11F-32F1-6544-8FF4-C1EF6F642B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3600" y="1018730"/>
            <a:ext cx="2438400" cy="2438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2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4" name="Picture Placeholder 16">
            <a:extLst>
              <a:ext uri="{FF2B5EF4-FFF2-40B4-BE49-F238E27FC236}">
                <a16:creationId xmlns:a16="http://schemas.microsoft.com/office/drawing/2014/main" id="{FF92A6B8-47C8-B244-9D3E-90F39EE693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15200" y="3450545"/>
            <a:ext cx="2438400" cy="243840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2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2" name="Picture Placeholder 16">
            <a:extLst>
              <a:ext uri="{FF2B5EF4-FFF2-40B4-BE49-F238E27FC236}">
                <a16:creationId xmlns:a16="http://schemas.microsoft.com/office/drawing/2014/main" id="{98C0DB2D-35D1-F142-B809-1833736CA6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76800" y="1018730"/>
            <a:ext cx="2438400" cy="2438400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2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5" name="Picture Placeholder 16">
            <a:extLst>
              <a:ext uri="{FF2B5EF4-FFF2-40B4-BE49-F238E27FC236}">
                <a16:creationId xmlns:a16="http://schemas.microsoft.com/office/drawing/2014/main" id="{5BBCD3E3-1554-B049-8AAF-DF0C933C46F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438400" y="3450545"/>
            <a:ext cx="2438400" cy="2438400"/>
          </a:xfrm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2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E0FFA53-4B53-0345-BD1D-3380331FAD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018730"/>
            <a:ext cx="2438400" cy="2438400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2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1D5925E4-B891-944B-91DC-A261A1D5FD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753600" y="3450545"/>
            <a:ext cx="2438400" cy="2438400"/>
          </a:xfrm>
          <a:prstGeom prst="rect">
            <a:avLst/>
          </a:prstGeom>
          <a:solidFill>
            <a:schemeClr val="accent1"/>
          </a:solidFill>
        </p:spPr>
        <p:txBody>
          <a:bodyPr lIns="180000" tIns="180000" rIns="180000" bIns="18000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/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BB06489-33E6-1442-BC2F-397F1EC4EA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3450545"/>
            <a:ext cx="2438400" cy="2438400"/>
          </a:xfrm>
          <a:prstGeom prst="rect">
            <a:avLst/>
          </a:prstGeom>
          <a:solidFill>
            <a:schemeClr val="accent5"/>
          </a:solidFill>
        </p:spPr>
        <p:txBody>
          <a:bodyPr lIns="180000" tIns="180000" rIns="180000" bIns="18000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7C62DAF7-D2F9-5D47-AB79-7712B92267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38400" y="1018730"/>
            <a:ext cx="2438400" cy="2438400"/>
          </a:xfrm>
          <a:prstGeom prst="rect">
            <a:avLst/>
          </a:prstGeom>
          <a:solidFill>
            <a:schemeClr val="accent4"/>
          </a:solidFill>
        </p:spPr>
        <p:txBody>
          <a:bodyPr lIns="180000" tIns="180000" rIns="180000" bIns="18000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887255BA-4BF0-E844-8BE7-3D125B568E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6800" y="3450545"/>
            <a:ext cx="2438400" cy="2438400"/>
          </a:xfrm>
          <a:prstGeom prst="rect">
            <a:avLst/>
          </a:prstGeom>
          <a:solidFill>
            <a:schemeClr val="accent3"/>
          </a:solidFill>
        </p:spPr>
        <p:txBody>
          <a:bodyPr lIns="180000" tIns="180000" rIns="180000" bIns="18000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FAC8937D-B337-F944-8F1C-14A4768CD5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15200" y="1018730"/>
            <a:ext cx="2438400" cy="2438400"/>
          </a:xfrm>
          <a:prstGeom prst="rect">
            <a:avLst/>
          </a:prstGeom>
          <a:solidFill>
            <a:schemeClr val="accent2"/>
          </a:solidFill>
        </p:spPr>
        <p:txBody>
          <a:bodyPr lIns="180000" tIns="180000" rIns="180000" bIns="18000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36217002-2D7F-8743-8388-25AB837D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3F4AFF5-0F84-BB4D-BC84-D9FC08512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0429674-6CFA-924B-B5FA-412729C5EF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1086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oup of people standing in front of a building&#10;&#10;Description automatically generated">
            <a:extLst>
              <a:ext uri="{FF2B5EF4-FFF2-40B4-BE49-F238E27FC236}">
                <a16:creationId xmlns:a16="http://schemas.microsoft.com/office/drawing/2014/main" id="{AD3390C2-6273-9244-A9F3-90837D6D6F6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5653" y="924978"/>
            <a:ext cx="6086347" cy="5933022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0CE78B1-0A9D-D049-8709-9CE32BD9D2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029589"/>
            <a:ext cx="6096000" cy="58277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E3763FFE-87B6-D04C-8D15-AC31B471D1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5178" y="4895151"/>
            <a:ext cx="6076822" cy="1962150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00000">
                <a:schemeClr val="accent5">
                  <a:alpha val="5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7" y="2133603"/>
            <a:ext cx="519751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5197519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CC6B7913-86E2-0545-9BE4-7E454D22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8817A152-B3E9-5143-863C-E483D5A3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19846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7D84588-0D28-D24D-8044-CE72C118BF2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645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Image Slide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oup of people standing in front of a building&#10;&#10;Description automatically generated">
            <a:extLst>
              <a:ext uri="{FF2B5EF4-FFF2-40B4-BE49-F238E27FC236}">
                <a16:creationId xmlns:a16="http://schemas.microsoft.com/office/drawing/2014/main" id="{AD3390C2-6273-9244-A9F3-90837D6D6F6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5653" y="924978"/>
            <a:ext cx="6086347" cy="5933022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0CE78B1-0A9D-D049-8709-9CE32BD9D2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029589"/>
            <a:ext cx="6096000" cy="58277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E3763FFE-87B6-D04C-8D15-AC31B471D1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5178" y="4895151"/>
            <a:ext cx="6076822" cy="1962150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00000">
                <a:schemeClr val="accent5">
                  <a:alpha val="5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7" y="2133603"/>
            <a:ext cx="519751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lang="en-GB" sz="2800" smtClean="0">
                <a:solidFill>
                  <a:schemeClr val="bg1"/>
                </a:solidFill>
                <a:effectLst/>
              </a:defRPr>
            </a:lvl1pPr>
            <a:lvl2pPr>
              <a:buClr>
                <a:schemeClr val="accent1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2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5197519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5F6B47CF-7763-FE4C-BA72-BAD81139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4FA2D551-F5CF-634B-BAE0-F4B91FED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18766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9D345528-20DC-244D-A554-EDE089BA4F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52484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people posing for the camera&#10;&#10;Description automatically generated">
            <a:extLst>
              <a:ext uri="{FF2B5EF4-FFF2-40B4-BE49-F238E27FC236}">
                <a16:creationId xmlns:a16="http://schemas.microsoft.com/office/drawing/2014/main" id="{18CD7C8D-4EBF-E54E-8157-B82F50C7805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253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0CE78B1-0A9D-D049-8709-9CE32BD9D2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030288"/>
            <a:ext cx="12192000" cy="58277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47CCA2-0399-254E-ACFE-E5730EC8E4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895850"/>
            <a:ext cx="12192000" cy="1962150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00000">
                <a:schemeClr val="accent5">
                  <a:alpha val="5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D35AB3F8-CB32-454A-807E-0A7BFC06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B04E0DC-9F12-2B41-A0A4-90F0CB24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>
                <a:solidFill>
                  <a:schemeClr val="bg1"/>
                </a:solidFill>
              </a:rPr>
              <a:t>Morphology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3C8D866-5ED9-8945-90F8-7DEC533BBE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72685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Earth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7EDC40-08B7-C54D-9A16-7B5D3FDD4FD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74767" cy="102748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7483873-86BD-454E-AF6E-E4D2764B65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76719" y="1123805"/>
            <a:ext cx="4629834" cy="461039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End slide</a:t>
            </a:r>
            <a:br>
              <a:rPr lang="en-US" dirty="0"/>
            </a:br>
            <a:r>
              <a:rPr lang="en-US" dirty="0"/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432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– Campu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B07C01-E6FE-374C-80D0-F5676A0E07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74767" cy="102748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C67C3C0-F69E-E643-A32B-61F2F310AA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76719" y="1123805"/>
            <a:ext cx="4629834" cy="461039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End slide</a:t>
            </a:r>
            <a:br>
              <a:rPr lang="en-US" dirty="0"/>
            </a:br>
            <a:r>
              <a:rPr lang="en-US" dirty="0"/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59370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/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79376" y="2133603"/>
            <a:ext cx="11257699" cy="3746498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lang="en-GB" sz="2800" smtClean="0">
                <a:solidFill>
                  <a:schemeClr val="tx2"/>
                </a:solidFill>
                <a:effectLst/>
              </a:defRPr>
            </a:lvl1pPr>
            <a:lvl2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28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Body text – Arial 28pt</a:t>
            </a:r>
          </a:p>
          <a:p>
            <a:pPr lvl="1"/>
            <a:r>
              <a:rPr lang="en-US" dirty="0"/>
              <a:t>Second text – Arial 28pt</a:t>
            </a:r>
          </a:p>
          <a:p>
            <a:pPr lvl="2"/>
            <a:r>
              <a:rPr lang="en-US" dirty="0"/>
              <a:t>Third text – Arial 28pt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11257698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F828C15A-976B-9F4F-81B5-675F0A94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A38FAA94-FB32-AF4E-80DE-1B2891D97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7CE87-4B89-694D-A96F-CB0E853C3F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12350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28967" y="6356350"/>
            <a:ext cx="2908107" cy="365125"/>
          </a:xfrm>
        </p:spPr>
        <p:txBody>
          <a:bodyPr/>
          <a:lstStyle/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412F56-251C-5647-8495-6F6496AC8332}"/>
              </a:ext>
            </a:extLst>
          </p:cNvPr>
          <p:cNvGrpSpPr/>
          <p:nvPr/>
        </p:nvGrpSpPr>
        <p:grpSpPr>
          <a:xfrm>
            <a:off x="0" y="0"/>
            <a:ext cx="12192000" cy="1029589"/>
            <a:chOff x="0" y="0"/>
            <a:chExt cx="12192000" cy="10295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3FD40-5F1A-2843-9779-FC2314E1FD1E}"/>
                </a:ext>
              </a:extLst>
            </p:cNvPr>
            <p:cNvSpPr/>
            <p:nvPr/>
          </p:nvSpPr>
          <p:spPr>
            <a:xfrm flipH="1" flipV="1">
              <a:off x="0" y="0"/>
              <a:ext cx="12192000" cy="1029589"/>
            </a:xfrm>
            <a:prstGeom prst="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1B1CB0-0A90-F947-8226-B66F76D89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032632" cy="10295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8240" y="-5461"/>
            <a:ext cx="10578834" cy="1035050"/>
          </a:xfrm>
          <a:prstGeom prst="rect">
            <a:avLst/>
          </a:prstGeom>
        </p:spPr>
        <p:txBody>
          <a:bodyPr anchor="ctr"/>
          <a:lstStyle>
            <a:lvl1pPr algn="l">
              <a:defRPr baseline="0"/>
            </a:lvl1pPr>
          </a:lstStyle>
          <a:p>
            <a:r>
              <a:rPr lang="en-US" dirty="0"/>
              <a:t>Title and visual content – add slide title here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BE069C4-4455-B24A-B998-756F4026E8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484533"/>
            <a:ext cx="11257698" cy="6277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C76EA1E-DDD4-3C48-962B-715F6034D482}"/>
              </a:ext>
            </a:extLst>
          </p:cNvPr>
          <p:cNvSpPr/>
          <p:nvPr/>
        </p:nvSpPr>
        <p:spPr>
          <a:xfrm>
            <a:off x="479376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FAD833-6EA6-CF4E-A26E-B6FDE789CD8B}"/>
              </a:ext>
            </a:extLst>
          </p:cNvPr>
          <p:cNvSpPr/>
          <p:nvPr/>
        </p:nvSpPr>
        <p:spPr>
          <a:xfrm>
            <a:off x="1495424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9D51130-6DBC-B947-B5BA-B65F7AAB5E83}"/>
              </a:ext>
            </a:extLst>
          </p:cNvPr>
          <p:cNvSpPr/>
          <p:nvPr/>
        </p:nvSpPr>
        <p:spPr>
          <a:xfrm>
            <a:off x="2511472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9BC211-0BDE-F247-BCA6-AFE6CBE484EE}"/>
              </a:ext>
            </a:extLst>
          </p:cNvPr>
          <p:cNvSpPr/>
          <p:nvPr/>
        </p:nvSpPr>
        <p:spPr>
          <a:xfrm>
            <a:off x="3527520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608658-76A6-4649-8FAC-7587274B2DF9}"/>
              </a:ext>
            </a:extLst>
          </p:cNvPr>
          <p:cNvSpPr/>
          <p:nvPr/>
        </p:nvSpPr>
        <p:spPr>
          <a:xfrm>
            <a:off x="4543568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7CD998D-A504-2046-9915-EC22DA08B192}"/>
              </a:ext>
            </a:extLst>
          </p:cNvPr>
          <p:cNvSpPr/>
          <p:nvPr/>
        </p:nvSpPr>
        <p:spPr>
          <a:xfrm>
            <a:off x="5559616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BA829B4-C56F-B347-BFDB-414400402ADF}"/>
              </a:ext>
            </a:extLst>
          </p:cNvPr>
          <p:cNvSpPr/>
          <p:nvPr/>
        </p:nvSpPr>
        <p:spPr>
          <a:xfrm>
            <a:off x="6575664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DC6FE5D-AA56-FE47-B996-1170E8CED2BE}"/>
              </a:ext>
            </a:extLst>
          </p:cNvPr>
          <p:cNvSpPr/>
          <p:nvPr/>
        </p:nvSpPr>
        <p:spPr>
          <a:xfrm>
            <a:off x="7591712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E6118C8-C196-874E-AD11-AFD75EFC5DB1}"/>
              </a:ext>
            </a:extLst>
          </p:cNvPr>
          <p:cNvSpPr/>
          <p:nvPr/>
        </p:nvSpPr>
        <p:spPr>
          <a:xfrm>
            <a:off x="8607760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818FB46-1242-314A-AA24-56DEFFE7F884}"/>
              </a:ext>
            </a:extLst>
          </p:cNvPr>
          <p:cNvSpPr/>
          <p:nvPr/>
        </p:nvSpPr>
        <p:spPr>
          <a:xfrm>
            <a:off x="9623808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DB9B69D-3C0B-2647-95F9-0A10DF633026}"/>
              </a:ext>
            </a:extLst>
          </p:cNvPr>
          <p:cNvSpPr/>
          <p:nvPr/>
        </p:nvSpPr>
        <p:spPr>
          <a:xfrm>
            <a:off x="10639856" y="2112298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F523F24-CB29-4C41-AA9D-97A31EB1E255}"/>
              </a:ext>
            </a:extLst>
          </p:cNvPr>
          <p:cNvSpPr/>
          <p:nvPr/>
        </p:nvSpPr>
        <p:spPr>
          <a:xfrm>
            <a:off x="479376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C448243-5866-954D-BA91-678DECE88B0A}"/>
              </a:ext>
            </a:extLst>
          </p:cNvPr>
          <p:cNvSpPr/>
          <p:nvPr/>
        </p:nvSpPr>
        <p:spPr>
          <a:xfrm>
            <a:off x="1495424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686F0C8-D62F-8249-80D5-912801A3F4B3}"/>
              </a:ext>
            </a:extLst>
          </p:cNvPr>
          <p:cNvSpPr/>
          <p:nvPr/>
        </p:nvSpPr>
        <p:spPr>
          <a:xfrm>
            <a:off x="2511472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B52E35A-D5C2-3A4E-978C-E493D92D6A24}"/>
              </a:ext>
            </a:extLst>
          </p:cNvPr>
          <p:cNvSpPr/>
          <p:nvPr/>
        </p:nvSpPr>
        <p:spPr>
          <a:xfrm>
            <a:off x="3527520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596DCCD-13ED-F640-8F62-02E7AA83E40D}"/>
              </a:ext>
            </a:extLst>
          </p:cNvPr>
          <p:cNvSpPr/>
          <p:nvPr/>
        </p:nvSpPr>
        <p:spPr>
          <a:xfrm>
            <a:off x="4543568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588D2C8-948B-C34F-8DB9-C63AF94FCC35}"/>
              </a:ext>
            </a:extLst>
          </p:cNvPr>
          <p:cNvSpPr/>
          <p:nvPr/>
        </p:nvSpPr>
        <p:spPr>
          <a:xfrm>
            <a:off x="5559616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09BBB31-E9CF-B349-B152-D698680DF4DF}"/>
              </a:ext>
            </a:extLst>
          </p:cNvPr>
          <p:cNvSpPr/>
          <p:nvPr/>
        </p:nvSpPr>
        <p:spPr>
          <a:xfrm>
            <a:off x="6575664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3D54F1B-2D5C-484A-8D1E-09241BBD8BF3}"/>
              </a:ext>
            </a:extLst>
          </p:cNvPr>
          <p:cNvSpPr/>
          <p:nvPr/>
        </p:nvSpPr>
        <p:spPr>
          <a:xfrm>
            <a:off x="7591712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C7455F-8851-2E43-8B67-4A3649CEC8D7}"/>
              </a:ext>
            </a:extLst>
          </p:cNvPr>
          <p:cNvSpPr/>
          <p:nvPr/>
        </p:nvSpPr>
        <p:spPr>
          <a:xfrm>
            <a:off x="8607760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BABBA1C-E822-E940-9148-A5487BDD8AEA}"/>
              </a:ext>
            </a:extLst>
          </p:cNvPr>
          <p:cNvSpPr/>
          <p:nvPr/>
        </p:nvSpPr>
        <p:spPr>
          <a:xfrm>
            <a:off x="9623808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908A034-F2FC-E641-9D92-8CFE594C1639}"/>
              </a:ext>
            </a:extLst>
          </p:cNvPr>
          <p:cNvSpPr/>
          <p:nvPr/>
        </p:nvSpPr>
        <p:spPr>
          <a:xfrm>
            <a:off x="10639856" y="3112962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C56D07C-2B40-1346-8517-D086B1FFF5F0}"/>
              </a:ext>
            </a:extLst>
          </p:cNvPr>
          <p:cNvSpPr/>
          <p:nvPr/>
        </p:nvSpPr>
        <p:spPr>
          <a:xfrm>
            <a:off x="479376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FABD5C5-0264-2F49-8C19-F2C627B54D83}"/>
              </a:ext>
            </a:extLst>
          </p:cNvPr>
          <p:cNvSpPr/>
          <p:nvPr/>
        </p:nvSpPr>
        <p:spPr>
          <a:xfrm>
            <a:off x="1495424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E2DCE88-820C-0347-87F1-2F20466148AA}"/>
              </a:ext>
            </a:extLst>
          </p:cNvPr>
          <p:cNvSpPr/>
          <p:nvPr/>
        </p:nvSpPr>
        <p:spPr>
          <a:xfrm>
            <a:off x="2511472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0D35FA6-7BEF-234E-9F42-2311FD2F4AA2}"/>
              </a:ext>
            </a:extLst>
          </p:cNvPr>
          <p:cNvSpPr/>
          <p:nvPr/>
        </p:nvSpPr>
        <p:spPr>
          <a:xfrm>
            <a:off x="3527520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ABFF75B-7609-8448-B68E-E5C15C923097}"/>
              </a:ext>
            </a:extLst>
          </p:cNvPr>
          <p:cNvSpPr/>
          <p:nvPr/>
        </p:nvSpPr>
        <p:spPr>
          <a:xfrm>
            <a:off x="4543568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6E601-59F3-0F46-A3D6-6C77B2A5D315}"/>
              </a:ext>
            </a:extLst>
          </p:cNvPr>
          <p:cNvSpPr/>
          <p:nvPr/>
        </p:nvSpPr>
        <p:spPr>
          <a:xfrm>
            <a:off x="5559616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D65771C-6846-2743-997B-88678013BC34}"/>
              </a:ext>
            </a:extLst>
          </p:cNvPr>
          <p:cNvSpPr/>
          <p:nvPr/>
        </p:nvSpPr>
        <p:spPr>
          <a:xfrm>
            <a:off x="6575664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CC5F643-98D6-B84E-872E-A198ADAC580A}"/>
              </a:ext>
            </a:extLst>
          </p:cNvPr>
          <p:cNvSpPr/>
          <p:nvPr/>
        </p:nvSpPr>
        <p:spPr>
          <a:xfrm>
            <a:off x="7591712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B93A778-C3EE-A84B-B356-B8459C22E9AD}"/>
              </a:ext>
            </a:extLst>
          </p:cNvPr>
          <p:cNvSpPr/>
          <p:nvPr/>
        </p:nvSpPr>
        <p:spPr>
          <a:xfrm>
            <a:off x="8607760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0788B4-C3F0-9047-80BA-AB87DC1E320B}"/>
              </a:ext>
            </a:extLst>
          </p:cNvPr>
          <p:cNvSpPr/>
          <p:nvPr/>
        </p:nvSpPr>
        <p:spPr>
          <a:xfrm>
            <a:off x="9623808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4ADC236-12A6-F643-8463-1FD369222EBD}"/>
              </a:ext>
            </a:extLst>
          </p:cNvPr>
          <p:cNvSpPr/>
          <p:nvPr/>
        </p:nvSpPr>
        <p:spPr>
          <a:xfrm>
            <a:off x="10639856" y="4122253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EA95CDD-4ACA-6E45-9E03-DED57B7A17B1}"/>
              </a:ext>
            </a:extLst>
          </p:cNvPr>
          <p:cNvSpPr/>
          <p:nvPr/>
        </p:nvSpPr>
        <p:spPr>
          <a:xfrm>
            <a:off x="479376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076A291-1120-D841-A17C-4744BD31119E}"/>
              </a:ext>
            </a:extLst>
          </p:cNvPr>
          <p:cNvSpPr/>
          <p:nvPr/>
        </p:nvSpPr>
        <p:spPr>
          <a:xfrm>
            <a:off x="1495424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2D9F7EB-EB5B-5849-8960-87554EFE96A2}"/>
              </a:ext>
            </a:extLst>
          </p:cNvPr>
          <p:cNvSpPr/>
          <p:nvPr/>
        </p:nvSpPr>
        <p:spPr>
          <a:xfrm>
            <a:off x="2511472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CE8B47E-F0B9-2F48-81E2-0CFF01F4019C}"/>
              </a:ext>
            </a:extLst>
          </p:cNvPr>
          <p:cNvSpPr/>
          <p:nvPr/>
        </p:nvSpPr>
        <p:spPr>
          <a:xfrm>
            <a:off x="3527520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A52769C-586D-0547-8B43-FDA5D125AC4A}"/>
              </a:ext>
            </a:extLst>
          </p:cNvPr>
          <p:cNvSpPr/>
          <p:nvPr/>
        </p:nvSpPr>
        <p:spPr>
          <a:xfrm>
            <a:off x="4543568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4832484-9AF3-3040-B362-12AFCE82E568}"/>
              </a:ext>
            </a:extLst>
          </p:cNvPr>
          <p:cNvSpPr/>
          <p:nvPr/>
        </p:nvSpPr>
        <p:spPr>
          <a:xfrm>
            <a:off x="5559616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9B343D7-5277-2544-8430-448DEC700E1E}"/>
              </a:ext>
            </a:extLst>
          </p:cNvPr>
          <p:cNvSpPr/>
          <p:nvPr/>
        </p:nvSpPr>
        <p:spPr>
          <a:xfrm>
            <a:off x="6575664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82C02EB-B68E-9044-994A-65588C5F126D}"/>
              </a:ext>
            </a:extLst>
          </p:cNvPr>
          <p:cNvSpPr/>
          <p:nvPr/>
        </p:nvSpPr>
        <p:spPr>
          <a:xfrm>
            <a:off x="7591712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2BE44DB-D273-AB46-89D2-7C2B30912659}"/>
              </a:ext>
            </a:extLst>
          </p:cNvPr>
          <p:cNvSpPr/>
          <p:nvPr/>
        </p:nvSpPr>
        <p:spPr>
          <a:xfrm>
            <a:off x="8607760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3E20485-2E4B-9B4C-AE6B-3C1B1509B043}"/>
              </a:ext>
            </a:extLst>
          </p:cNvPr>
          <p:cNvSpPr/>
          <p:nvPr/>
        </p:nvSpPr>
        <p:spPr>
          <a:xfrm>
            <a:off x="9623808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284C2AF-F9F6-6943-AF27-AD08B011A677}"/>
              </a:ext>
            </a:extLst>
          </p:cNvPr>
          <p:cNvSpPr/>
          <p:nvPr/>
        </p:nvSpPr>
        <p:spPr>
          <a:xfrm>
            <a:off x="10639856" y="5115784"/>
            <a:ext cx="838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ate Placeholder 2">
            <a:extLst>
              <a:ext uri="{FF2B5EF4-FFF2-40B4-BE49-F238E27FC236}">
                <a16:creationId xmlns:a16="http://schemas.microsoft.com/office/drawing/2014/main" id="{FA92DAA4-D441-1E46-BA69-293DF502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374" y="6356350"/>
            <a:ext cx="205290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MY"/>
              <a:t>COMP 2032</a:t>
            </a:r>
            <a:endParaRPr lang="en-GB" dirty="0"/>
          </a:p>
        </p:txBody>
      </p:sp>
      <p:sp>
        <p:nvSpPr>
          <p:cNvPr id="57" name="Footer Placeholder 3">
            <a:extLst>
              <a:ext uri="{FF2B5EF4-FFF2-40B4-BE49-F238E27FC236}">
                <a16:creationId xmlns:a16="http://schemas.microsoft.com/office/drawing/2014/main" id="{31079802-DB80-EE4F-B697-A793C6AD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2186" y="6356350"/>
            <a:ext cx="346925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C24A89DB-8E91-9746-B228-B6EED18EBC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6833" y="6356350"/>
            <a:ext cx="10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42437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6C29-532A-9D48-8A54-416870E1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CFAF5-E5FC-CE4C-9FAE-F34002804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8B19D-5276-874B-B877-7617ABF1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/>
              <a:t>COMP 2032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1D7E-8D07-FC4F-91E8-7E4C28C4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71B23-FCE4-4A45-A218-22DD33C3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0315-26C0-0942-BEBD-FA0ED62A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1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9377" y="6356350"/>
            <a:ext cx="2886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MY"/>
              <a:t>COMP 2032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4019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Morphology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28967" y="6356350"/>
            <a:ext cx="2908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F530E-1875-46E6-901C-76683197A1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63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2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C4279E-EA6D-5D4C-8A94-2092635711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1800" i="1" dirty="0"/>
              <a:t>COMP2005</a:t>
            </a:r>
            <a:br>
              <a:rPr lang="en-GB" dirty="0"/>
            </a:br>
            <a:r>
              <a:rPr lang="en-GB" dirty="0"/>
              <a:t>Introduction to </a:t>
            </a:r>
            <a:br>
              <a:rPr lang="en-GB" dirty="0"/>
            </a:br>
            <a:r>
              <a:rPr lang="en-GB" dirty="0"/>
              <a:t>Image Processing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E77122A-1F98-7C41-8C2C-A1CDB664E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6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C000"/>
                </a:solidFill>
              </a:rPr>
              <a:t>Connected Components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C000"/>
                </a:solidFill>
              </a:rPr>
              <a:t>Morphology</a:t>
            </a:r>
          </a:p>
        </p:txBody>
      </p:sp>
    </p:spTree>
    <p:extLst>
      <p:ext uri="{BB962C8B-B14F-4D97-AF65-F5344CB8AC3E}">
        <p14:creationId xmlns:p14="http://schemas.microsoft.com/office/powerpoint/2010/main" val="407499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65BDD7-27B6-D845-91F1-AEC42097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085F8-6C0D-F044-A999-C9F108AB5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57FED-5923-EB4C-BE60-865F67BF1D2D}"/>
              </a:ext>
            </a:extLst>
          </p:cNvPr>
          <p:cNvSpPr/>
          <p:nvPr/>
        </p:nvSpPr>
        <p:spPr>
          <a:xfrm>
            <a:off x="2858072" y="2016662"/>
            <a:ext cx="6475856" cy="3854669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Connected 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Mathematical Morphology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 and Dilation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 and Closing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ROIs and Masks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7DE5E6-DA9D-B240-A19F-56443639C8CE}"/>
              </a:ext>
            </a:extLst>
          </p:cNvPr>
          <p:cNvSpPr>
            <a:spLocks noChangeAspect="1"/>
          </p:cNvSpPr>
          <p:nvPr/>
        </p:nvSpPr>
        <p:spPr>
          <a:xfrm>
            <a:off x="1984618" y="1206661"/>
            <a:ext cx="1746907" cy="162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F49ABF-727D-7C40-AFF5-D9F771D3EB26}"/>
              </a:ext>
            </a:extLst>
          </p:cNvPr>
          <p:cNvGrpSpPr/>
          <p:nvPr/>
        </p:nvGrpSpPr>
        <p:grpSpPr>
          <a:xfrm>
            <a:off x="8460474" y="5061330"/>
            <a:ext cx="1746907" cy="1619999"/>
            <a:chOff x="9489503" y="4192003"/>
            <a:chExt cx="1746907" cy="161999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196E2E6-AA09-804B-9685-F061E503EF9B}"/>
                </a:ext>
              </a:extLst>
            </p:cNvPr>
            <p:cNvSpPr/>
            <p:nvPr/>
          </p:nvSpPr>
          <p:spPr>
            <a:xfrm>
              <a:off x="9489503" y="4192003"/>
              <a:ext cx="1746907" cy="1619999"/>
            </a:xfrm>
            <a:prstGeom prst="ellipse">
              <a:avLst/>
            </a:prstGeom>
            <a:solidFill>
              <a:srgbClr val="0000FF"/>
            </a:solidFill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0" name="Rectangle 19" descr="Magnifying glass">
              <a:extLst>
                <a:ext uri="{FF2B5EF4-FFF2-40B4-BE49-F238E27FC236}">
                  <a16:creationId xmlns:a16="http://schemas.microsoft.com/office/drawing/2014/main" id="{96D78B9A-DFDA-A24E-BEE2-FE0DEAF6F1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2754" y="4345585"/>
              <a:ext cx="1332961" cy="1236125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</p:grp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BC9BD605-2E22-AD4A-B81C-1C71C14D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45B27963-4971-BC46-BB12-E506A94A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BECCAA7E-1035-DE41-8401-EA55539B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96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55E6F9-B9FA-BE4F-A82D-D59A7C6D5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7140" y="1895567"/>
            <a:ext cx="4610100" cy="3066867"/>
          </a:xfrm>
        </p:spPr>
        <p:txBody>
          <a:bodyPr>
            <a:normAutofit/>
          </a:bodyPr>
          <a:lstStyle/>
          <a:p>
            <a:r>
              <a:rPr lang="en-GB" sz="4000" dirty="0"/>
              <a:t>Connected Components</a:t>
            </a:r>
          </a:p>
        </p:txBody>
      </p:sp>
    </p:spTree>
    <p:extLst>
      <p:ext uri="{BB962C8B-B14F-4D97-AF65-F5344CB8AC3E}">
        <p14:creationId xmlns:p14="http://schemas.microsoft.com/office/powerpoint/2010/main" val="278281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340BD3-5596-BB43-9863-E694090E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96360C-54B3-324A-9DA2-58A461757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Connected Components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17513-E60B-D84C-8D19-84D65418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DAD00-8DF3-FC4E-85DE-E31D3673E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67F86-126D-6C46-9068-027BFE860B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C0BEE-6705-1D44-90C7-336B34E8CEA1}"/>
              </a:ext>
            </a:extLst>
          </p:cNvPr>
          <p:cNvSpPr/>
          <p:nvPr/>
        </p:nvSpPr>
        <p:spPr>
          <a:xfrm>
            <a:off x="806584" y="1207759"/>
            <a:ext cx="10578833" cy="961887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black pixels are objects &amp; white are background, give each connected set of black pixels a different label</a:t>
            </a:r>
          </a:p>
        </p:txBody>
      </p:sp>
      <p:pic>
        <p:nvPicPr>
          <p:cNvPr id="19" name="Picture 5">
            <a:extLst>
              <a:ext uri="{FF2B5EF4-FFF2-40B4-BE49-F238E27FC236}">
                <a16:creationId xmlns:a16="http://schemas.microsoft.com/office/drawing/2014/main" id="{D03FBC12-CC28-CA40-BBD3-52418D1107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5" t="20597" r="3415"/>
          <a:stretch/>
        </p:blipFill>
        <p:spPr bwMode="auto">
          <a:xfrm>
            <a:off x="3041507" y="2347816"/>
            <a:ext cx="6108986" cy="3185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4B0F1B7-5682-1246-9E01-B171E501C1AB}"/>
              </a:ext>
            </a:extLst>
          </p:cNvPr>
          <p:cNvSpPr/>
          <p:nvPr/>
        </p:nvSpPr>
        <p:spPr>
          <a:xfrm>
            <a:off x="2812823" y="5659165"/>
            <a:ext cx="5237193" cy="518511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Connected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mean 4- or 8- neighbours</a:t>
            </a:r>
            <a:endParaRPr lang="en-GB" sz="2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95BBC7-03A9-2448-A29B-4B7B6EA876B2}"/>
              </a:ext>
            </a:extLst>
          </p:cNvPr>
          <p:cNvSpPr txBox="1"/>
          <p:nvPr/>
        </p:nvSpPr>
        <p:spPr>
          <a:xfrm>
            <a:off x="7638223" y="5722864"/>
            <a:ext cx="1740954" cy="400110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</a:t>
            </a:r>
          </a:p>
        </p:txBody>
      </p:sp>
    </p:spTree>
    <p:extLst>
      <p:ext uri="{BB962C8B-B14F-4D97-AF65-F5344CB8AC3E}">
        <p14:creationId xmlns:p14="http://schemas.microsoft.com/office/powerpoint/2010/main" val="148806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6D133-E82E-F34C-9949-638C5313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896738-6D0C-654B-83CE-FD8D7634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Connected Components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03374-D34F-B941-B47B-7A1E0436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7BFF9-7938-D74D-908F-6429784E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43E88D-75A8-6D4A-9B5E-E4E5D86904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C4DAC-FE3C-3D49-8579-F3D73963CCA0}"/>
              </a:ext>
            </a:extLst>
          </p:cNvPr>
          <p:cNvSpPr/>
          <p:nvPr/>
        </p:nvSpPr>
        <p:spPr>
          <a:xfrm>
            <a:off x="1583987" y="1246067"/>
            <a:ext cx="9024026" cy="606484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Connected component algorithms are </a:t>
            </a:r>
            <a:r>
              <a:rPr lang="en-GB" sz="2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</a:t>
            </a: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often a </a:t>
            </a:r>
            <a:r>
              <a:rPr lang="en-GB" sz="2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bottleneck</a:t>
            </a:r>
            <a:endParaRPr lang="en-GB" sz="2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98F0FC-CCF0-8E45-866F-B79126622F75}"/>
              </a:ext>
            </a:extLst>
          </p:cNvPr>
          <p:cNvSpPr/>
          <p:nvPr/>
        </p:nvSpPr>
        <p:spPr>
          <a:xfrm>
            <a:off x="1583987" y="2179489"/>
            <a:ext cx="9024026" cy="1418734"/>
          </a:xfrm>
          <a:prstGeom prst="rect">
            <a:avLst/>
          </a:prstGeom>
          <a:solidFill>
            <a:schemeClr val="bg1"/>
          </a:solidFill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a separate output array for labels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passes over the image</a:t>
            </a:r>
            <a:endParaRPr lang="en-GB" sz="2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FB7F6D-65B5-2549-932C-766E3235D8B7}"/>
              </a:ext>
            </a:extLst>
          </p:cNvPr>
          <p:cNvSpPr txBox="1"/>
          <p:nvPr/>
        </p:nvSpPr>
        <p:spPr>
          <a:xfrm>
            <a:off x="4506812" y="3385857"/>
            <a:ext cx="5901009" cy="424732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sequential algorithm using 4-neighbours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F30E33-37D8-A840-B619-10D3FA59F2CB}"/>
              </a:ext>
            </a:extLst>
          </p:cNvPr>
          <p:cNvSpPr/>
          <p:nvPr/>
        </p:nvSpPr>
        <p:spPr>
          <a:xfrm>
            <a:off x="1583987" y="3997531"/>
            <a:ext cx="9024026" cy="1818042"/>
          </a:xfrm>
          <a:prstGeom prst="rect">
            <a:avLst/>
          </a:prstGeom>
          <a:solidFill>
            <a:schemeClr val="bg1"/>
          </a:solidFill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image top left to bottom right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 at top and left neighbours (already given labels)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assign either of their labels to the current pixel?</a:t>
            </a:r>
            <a:endParaRPr lang="en-GB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EE1A6E-8B6E-4A4F-B5CC-2D9785DDAC2C}"/>
              </a:ext>
            </a:extLst>
          </p:cNvPr>
          <p:cNvSpPr txBox="1"/>
          <p:nvPr/>
        </p:nvSpPr>
        <p:spPr>
          <a:xfrm>
            <a:off x="8841289" y="5603207"/>
            <a:ext cx="1566532" cy="4247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pass</a:t>
            </a:r>
          </a:p>
        </p:txBody>
      </p:sp>
    </p:spTree>
    <p:extLst>
      <p:ext uri="{BB962C8B-B14F-4D97-AF65-F5344CB8AC3E}">
        <p14:creationId xmlns:p14="http://schemas.microsoft.com/office/powerpoint/2010/main" val="21590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6D133-E82E-F34C-9949-638C5313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896738-6D0C-654B-83CE-FD8D7634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Connected Components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03374-D34F-B941-B47B-7A1E0436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7BFF9-7938-D74D-908F-6429784E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43E88D-75A8-6D4A-9B5E-E4E5D86904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C4DAC-FE3C-3D49-8579-F3D73963CCA0}"/>
              </a:ext>
            </a:extLst>
          </p:cNvPr>
          <p:cNvSpPr/>
          <p:nvPr/>
        </p:nvSpPr>
        <p:spPr>
          <a:xfrm>
            <a:off x="1810918" y="1283681"/>
            <a:ext cx="8570164" cy="606484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current pixel is </a:t>
            </a:r>
            <a:r>
              <a:rPr lang="en-GB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foreground</a:t>
            </a: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there are 3 cases:</a:t>
            </a:r>
            <a:endParaRPr lang="en-GB" sz="2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F30E33-37D8-A840-B619-10D3FA59F2CB}"/>
              </a:ext>
            </a:extLst>
          </p:cNvPr>
          <p:cNvSpPr/>
          <p:nvPr/>
        </p:nvSpPr>
        <p:spPr>
          <a:xfrm>
            <a:off x="1583987" y="4652312"/>
            <a:ext cx="9024026" cy="1010982"/>
          </a:xfrm>
          <a:prstGeom prst="rect">
            <a:avLst/>
          </a:prstGeom>
          <a:solidFill>
            <a:schemeClr val="bg1"/>
          </a:solidFill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 detects mergers between two previously separate components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C25B7E-3A8B-5A4E-8D3F-9B4A641B5315}"/>
              </a:ext>
            </a:extLst>
          </p:cNvPr>
          <p:cNvSpPr/>
          <p:nvPr/>
        </p:nvSpPr>
        <p:spPr>
          <a:xfrm>
            <a:off x="1810918" y="2251133"/>
            <a:ext cx="8570164" cy="1941126"/>
          </a:xfrm>
          <a:prstGeom prst="rect">
            <a:avLst/>
          </a:prstGeom>
          <a:solidFill>
            <a:srgbClr val="FFF2CC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 = top = background </a:t>
            </a:r>
            <a:r>
              <a:rPr lang="en-GB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 current pixel a new label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left and top is background, the other foreground </a:t>
            </a:r>
            <a:r>
              <a:rPr lang="en-GB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 current pixel the foreground pixel’s label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 = top = foreground </a:t>
            </a:r>
            <a:r>
              <a:rPr lang="en-GB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GB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 current pixel one of their labels and note that their labels are equal in an </a:t>
            </a:r>
            <a:r>
              <a:rPr lang="en-GB" sz="20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equivalence table</a:t>
            </a:r>
          </a:p>
        </p:txBody>
      </p:sp>
      <p:sp>
        <p:nvSpPr>
          <p:cNvPr id="31" name="Curved Left Arrow 30">
            <a:extLst>
              <a:ext uri="{FF2B5EF4-FFF2-40B4-BE49-F238E27FC236}">
                <a16:creationId xmlns:a16="http://schemas.microsoft.com/office/drawing/2014/main" id="{71B57A82-25DE-8145-A475-01238A6A46C6}"/>
              </a:ext>
            </a:extLst>
          </p:cNvPr>
          <p:cNvSpPr/>
          <p:nvPr/>
        </p:nvSpPr>
        <p:spPr>
          <a:xfrm>
            <a:off x="10449279" y="1486507"/>
            <a:ext cx="703700" cy="1835618"/>
          </a:xfrm>
          <a:prstGeom prst="curvedLeftArrow">
            <a:avLst>
              <a:gd name="adj1" fmla="val 25000"/>
              <a:gd name="adj2" fmla="val 55104"/>
              <a:gd name="adj3" fmla="val 25000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Curved Left Arrow 31">
            <a:extLst>
              <a:ext uri="{FF2B5EF4-FFF2-40B4-BE49-F238E27FC236}">
                <a16:creationId xmlns:a16="http://schemas.microsoft.com/office/drawing/2014/main" id="{DB66D07F-7182-7D4B-951B-976DA355D01B}"/>
              </a:ext>
            </a:extLst>
          </p:cNvPr>
          <p:cNvSpPr/>
          <p:nvPr/>
        </p:nvSpPr>
        <p:spPr>
          <a:xfrm flipH="1">
            <a:off x="1039021" y="1486506"/>
            <a:ext cx="703700" cy="1835617"/>
          </a:xfrm>
          <a:prstGeom prst="curvedLeftArrow">
            <a:avLst>
              <a:gd name="adj1" fmla="val 25000"/>
              <a:gd name="adj2" fmla="val 55104"/>
              <a:gd name="adj3" fmla="val 25000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45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29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6D133-E82E-F34C-9949-638C5313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896738-6D0C-654B-83CE-FD8D7634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Connected Components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03374-D34F-B941-B47B-7A1E0436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7BFF9-7938-D74D-908F-6429784E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43E88D-75A8-6D4A-9B5E-E4E5D86904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C4DAC-FE3C-3D49-8579-F3D73963CCA0}"/>
              </a:ext>
            </a:extLst>
          </p:cNvPr>
          <p:cNvSpPr/>
          <p:nvPr/>
        </p:nvSpPr>
        <p:spPr>
          <a:xfrm>
            <a:off x="1846918" y="1246066"/>
            <a:ext cx="8498164" cy="832115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each equivalent pair of labels, set all instances of the higher label to the lower</a:t>
            </a:r>
            <a:endParaRPr lang="en-GB" sz="2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EE1A6E-8B6E-4A4F-B5CC-2D9785DDAC2C}"/>
              </a:ext>
            </a:extLst>
          </p:cNvPr>
          <p:cNvSpPr txBox="1"/>
          <p:nvPr/>
        </p:nvSpPr>
        <p:spPr>
          <a:xfrm>
            <a:off x="8241474" y="1865815"/>
            <a:ext cx="2041545" cy="4247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pass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9B87608D-8BBA-064B-877D-580877B16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3" t="6720"/>
          <a:stretch/>
        </p:blipFill>
        <p:spPr bwMode="auto">
          <a:xfrm>
            <a:off x="1671366" y="2290547"/>
            <a:ext cx="5761790" cy="3652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D36B4D-A941-094C-98F1-DD783CAFCA53}"/>
              </a:ext>
            </a:extLst>
          </p:cNvPr>
          <p:cNvSpPr txBox="1"/>
          <p:nvPr/>
        </p:nvSpPr>
        <p:spPr>
          <a:xfrm>
            <a:off x="6712723" y="4827610"/>
            <a:ext cx="3667984" cy="1200329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Using 8 </a:t>
            </a:r>
            <a:r>
              <a:rPr lang="en-US" i="1" dirty="0" err="1"/>
              <a:t>neighbours</a:t>
            </a:r>
            <a:r>
              <a:rPr lang="en-US" i="1" dirty="0"/>
              <a:t> makes the algorithm (a little) more complex and gives (slightly) different results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154167-3139-3941-9024-3A3A4C14BBEE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5550528" y="5427774"/>
            <a:ext cx="1162195" cy="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1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6D133-E82E-F34C-9949-638C5313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896738-6D0C-654B-83CE-FD8D7634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Connected Components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03374-D34F-B941-B47B-7A1E0436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7BFF9-7938-D74D-908F-6429784E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43E88D-75A8-6D4A-9B5E-E4E5D86904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C4DAC-FE3C-3D49-8579-F3D73963CCA0}"/>
              </a:ext>
            </a:extLst>
          </p:cNvPr>
          <p:cNvSpPr/>
          <p:nvPr/>
        </p:nvSpPr>
        <p:spPr>
          <a:xfrm>
            <a:off x="479374" y="1130351"/>
            <a:ext cx="11257700" cy="855865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compute features of and apply tests to components to process the underlying image</a:t>
            </a:r>
            <a:endParaRPr lang="en-GB" sz="2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A473C5-52DB-A043-876F-6FA88CD8E147}"/>
              </a:ext>
            </a:extLst>
          </p:cNvPr>
          <p:cNvSpPr/>
          <p:nvPr/>
        </p:nvSpPr>
        <p:spPr>
          <a:xfrm>
            <a:off x="479374" y="5367648"/>
            <a:ext cx="11257700" cy="571696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application-specific features and tests exist</a:t>
            </a:r>
            <a:endParaRPr lang="en-GB" sz="2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C6A79E-790F-AA46-9440-CF6E9993555C}"/>
              </a:ext>
            </a:extLst>
          </p:cNvPr>
          <p:cNvSpPr/>
          <p:nvPr/>
        </p:nvSpPr>
        <p:spPr>
          <a:xfrm>
            <a:off x="1386410" y="1955124"/>
            <a:ext cx="9419181" cy="566750"/>
          </a:xfrm>
          <a:prstGeom prst="rect">
            <a:avLst/>
          </a:prstGeom>
          <a:solidFill>
            <a:srgbClr val="FFF2CC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e.g., apply a (size) threshold T to the number of pixels in the component</a:t>
            </a:r>
            <a:endParaRPr lang="en-GB" sz="2000" i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857BCA26-7D83-D84E-99CC-4189B5FAB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325" y="2597132"/>
            <a:ext cx="6749351" cy="20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CE9A845-0DD5-1D45-896F-46410EE14861}"/>
              </a:ext>
            </a:extLst>
          </p:cNvPr>
          <p:cNvSpPr/>
          <p:nvPr/>
        </p:nvSpPr>
        <p:spPr>
          <a:xfrm>
            <a:off x="1386409" y="4687590"/>
            <a:ext cx="9419181" cy="566750"/>
          </a:xfrm>
          <a:prstGeom prst="rect">
            <a:avLst/>
          </a:prstGeom>
          <a:solidFill>
            <a:srgbClr val="FFF2CC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 is captured by measures like area/boundary length</a:t>
            </a:r>
            <a:endParaRPr lang="en-GB" sz="2000" i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63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3" grpId="0" animBg="1"/>
      <p:bldP spid="1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55E6F9-B9FA-BE4F-A82D-D59A7C6D5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7140" y="1895567"/>
            <a:ext cx="4610100" cy="3066867"/>
          </a:xfrm>
        </p:spPr>
        <p:txBody>
          <a:bodyPr>
            <a:normAutofit/>
          </a:bodyPr>
          <a:lstStyle/>
          <a:p>
            <a:r>
              <a:rPr lang="en-GB" sz="4000" dirty="0"/>
              <a:t>What is Mathematical Morphology</a:t>
            </a:r>
          </a:p>
        </p:txBody>
      </p:sp>
    </p:spTree>
    <p:extLst>
      <p:ext uri="{BB962C8B-B14F-4D97-AF65-F5344CB8AC3E}">
        <p14:creationId xmlns:p14="http://schemas.microsoft.com/office/powerpoint/2010/main" val="418279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9ADC5D-196F-CA45-A0A8-A1CB866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Mathematical Morphology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EB173-0B14-D54A-A2F2-04540F6B3A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0DAEE8-3809-E646-B6F6-1B991AB5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FC82B0-26B6-5647-AD48-A0BECE45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F928BF-C06F-2A41-B652-C7BB0D1E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F728EB-F177-5D4C-A9A4-FEA28326D8A6}"/>
              </a:ext>
            </a:extLst>
          </p:cNvPr>
          <p:cNvSpPr/>
          <p:nvPr/>
        </p:nvSpPr>
        <p:spPr>
          <a:xfrm>
            <a:off x="467150" y="1139185"/>
            <a:ext cx="11257700" cy="2375914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branch of image processing which treats images as sets of pixels and uses set theoretic operations to process them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Developed for binary images, extended to grey level images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Elements of sets are (</a:t>
            </a:r>
            <a:r>
              <a:rPr lang="en-GB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coordinates of black (or white) pixels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operations by combining two sets: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1B897E-B0E6-2745-BAB8-BE9B024885D8}"/>
              </a:ext>
            </a:extLst>
          </p:cNvPr>
          <p:cNvSpPr/>
          <p:nvPr/>
        </p:nvSpPr>
        <p:spPr>
          <a:xfrm>
            <a:off x="1015736" y="3515099"/>
            <a:ext cx="10112519" cy="1092530"/>
          </a:xfrm>
          <a:prstGeom prst="rect">
            <a:avLst/>
          </a:prstGeom>
          <a:solidFill>
            <a:srgbClr val="FFF2CC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patch of the binary image to be processed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Structuring Element, similar to the mask in a convolution process</a:t>
            </a:r>
            <a:endParaRPr lang="en-GB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132625-3410-3E4F-B215-4EB1FB3FE5BA}"/>
              </a:ext>
            </a:extLst>
          </p:cNvPr>
          <p:cNvSpPr/>
          <p:nvPr/>
        </p:nvSpPr>
        <p:spPr>
          <a:xfrm>
            <a:off x="1636645" y="4804784"/>
            <a:ext cx="7330300" cy="1092530"/>
          </a:xfrm>
          <a:prstGeom prst="rect">
            <a:avLst/>
          </a:prstGeom>
          <a:noFill/>
          <a:ln w="3492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mathematics is beyond the scope of COMP2032. </a:t>
            </a:r>
            <a:r>
              <a:rPr lang="en-GB" sz="20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Instead, we will focus on how they work in practice and what they do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DA157B-1C2A-E44F-A460-E4C2561D077C}"/>
              </a:ext>
            </a:extLst>
          </p:cNvPr>
          <p:cNvSpPr txBox="1"/>
          <p:nvPr/>
        </p:nvSpPr>
        <p:spPr>
          <a:xfrm>
            <a:off x="8705193" y="5150994"/>
            <a:ext cx="1850162" cy="40011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DISCLAIMER</a:t>
            </a:r>
          </a:p>
        </p:txBody>
      </p:sp>
    </p:spTree>
    <p:extLst>
      <p:ext uri="{BB962C8B-B14F-4D97-AF65-F5344CB8AC3E}">
        <p14:creationId xmlns:p14="http://schemas.microsoft.com/office/powerpoint/2010/main" val="252433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9ADC5D-196F-CA45-A0A8-A1CB866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Structuring Elements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EB173-0B14-D54A-A2F2-04540F6B3A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0DAEE8-3809-E646-B6F6-1B991AB5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FC82B0-26B6-5647-AD48-A0BECE45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F928BF-C06F-2A41-B652-C7BB0D1E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F728EB-F177-5D4C-A9A4-FEA28326D8A6}"/>
              </a:ext>
            </a:extLst>
          </p:cNvPr>
          <p:cNvSpPr/>
          <p:nvPr/>
        </p:nvSpPr>
        <p:spPr>
          <a:xfrm>
            <a:off x="467150" y="1103559"/>
            <a:ext cx="11257700" cy="2952509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 masks, c.f. filter masks but identifying rather than weighting pixels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Larger structuring elements produce more extreme effects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similar effects can be achieved by repeated operations using a smaller but similarly shaped structuring element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larger structuring elements, it is quite common to use an approximately disk-shaped structuring element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not be square, origin need not be in the centre</a:t>
            </a:r>
          </a:p>
        </p:txBody>
      </p:sp>
      <p:pic>
        <p:nvPicPr>
          <p:cNvPr id="13" name="Picture 4" descr="strctels">
            <a:extLst>
              <a:ext uri="{FF2B5EF4-FFF2-40B4-BE49-F238E27FC236}">
                <a16:creationId xmlns:a16="http://schemas.microsoft.com/office/drawing/2014/main" id="{5E133D39-A443-7441-BC1C-60FE78DCA3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86"/>
          <a:stretch/>
        </p:blipFill>
        <p:spPr bwMode="auto">
          <a:xfrm>
            <a:off x="4251435" y="4173884"/>
            <a:ext cx="3689131" cy="2182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24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Morphological Operations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AAB1B0-9712-5F4C-AD45-ED0923D7B2CF}"/>
              </a:ext>
            </a:extLst>
          </p:cNvPr>
          <p:cNvSpPr/>
          <p:nvPr/>
        </p:nvSpPr>
        <p:spPr>
          <a:xfrm>
            <a:off x="958676" y="1235447"/>
            <a:ext cx="8524799" cy="878362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foreground (or background) object A using structuring element B</a:t>
            </a:r>
            <a:endParaRPr lang="en-GB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71CB13-95DC-FA4E-819C-BAA5D60EFBFC}"/>
              </a:ext>
            </a:extLst>
          </p:cNvPr>
          <p:cNvSpPr txBox="1"/>
          <p:nvPr/>
        </p:nvSpPr>
        <p:spPr>
          <a:xfrm>
            <a:off x="8618957" y="1443795"/>
            <a:ext cx="2615615" cy="461665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DC95B3-F4B5-6F49-A618-80780E5D5BC8}"/>
              </a:ext>
            </a:extLst>
          </p:cNvPr>
          <p:cNvSpPr/>
          <p:nvPr/>
        </p:nvSpPr>
        <p:spPr>
          <a:xfrm>
            <a:off x="2709773" y="2437949"/>
            <a:ext cx="8524799" cy="878362"/>
          </a:xfrm>
          <a:prstGeom prst="rect">
            <a:avLst/>
          </a:prstGeom>
          <a:noFill/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Shrinks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foreground (or background) object A using structuring element B</a:t>
            </a:r>
            <a:endParaRPr lang="en-GB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1BE906-B1E1-4840-821E-28486A463F77}"/>
              </a:ext>
            </a:extLst>
          </p:cNvPr>
          <p:cNvSpPr txBox="1"/>
          <p:nvPr/>
        </p:nvSpPr>
        <p:spPr>
          <a:xfrm>
            <a:off x="957428" y="2646297"/>
            <a:ext cx="2615615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CD33D-F5F5-AF45-829C-B4DE5AC0F725}"/>
              </a:ext>
            </a:extLst>
          </p:cNvPr>
          <p:cNvSpPr/>
          <p:nvPr/>
        </p:nvSpPr>
        <p:spPr>
          <a:xfrm>
            <a:off x="1523509" y="3587675"/>
            <a:ext cx="9144982" cy="2305299"/>
          </a:xfrm>
          <a:prstGeom prst="rect">
            <a:avLst/>
          </a:prstGeom>
          <a:solidFill>
            <a:srgbClr val="FFF2CC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boundaries between foreground and background are often smoothed in the process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amount and the way objects grow and shrink depend upon the choice of the structuring element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Dilating or eroding without specifying the structural element makes no sense than trying to filter an image without specifying the filter</a:t>
            </a:r>
            <a:endParaRPr lang="en-GB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39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55E6F9-B9FA-BE4F-A82D-D59A7C6D5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7140" y="1895567"/>
            <a:ext cx="4610100" cy="3066867"/>
          </a:xfrm>
        </p:spPr>
        <p:txBody>
          <a:bodyPr>
            <a:normAutofit/>
          </a:bodyPr>
          <a:lstStyle/>
          <a:p>
            <a:r>
              <a:rPr lang="en-GB" sz="4000" dirty="0"/>
              <a:t>Erosion </a:t>
            </a:r>
            <a:br>
              <a:rPr lang="en-GB" sz="4000" dirty="0"/>
            </a:br>
            <a:r>
              <a:rPr lang="en-GB" sz="4000" dirty="0">
                <a:solidFill>
                  <a:srgbClr val="FFC000"/>
                </a:solidFill>
              </a:rPr>
              <a:t>&amp;</a:t>
            </a:r>
            <a:br>
              <a:rPr lang="en-GB" sz="4000" dirty="0"/>
            </a:br>
            <a:r>
              <a:rPr lang="en-GB" sz="4000" dirty="0"/>
              <a:t>Dilation</a:t>
            </a:r>
          </a:p>
        </p:txBody>
      </p:sp>
    </p:spTree>
    <p:extLst>
      <p:ext uri="{BB962C8B-B14F-4D97-AF65-F5344CB8AC3E}">
        <p14:creationId xmlns:p14="http://schemas.microsoft.com/office/powerpoint/2010/main" val="1503225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E183C-40E4-7A46-8F64-EA9599986CB5}"/>
              </a:ext>
            </a:extLst>
          </p:cNvPr>
          <p:cNvSpPr/>
          <p:nvPr/>
        </p:nvSpPr>
        <p:spPr>
          <a:xfrm>
            <a:off x="1245692" y="1138673"/>
            <a:ext cx="8658189" cy="1619805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57300" lvl="2" indent="-342900"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 image to dilate</a:t>
            </a:r>
          </a:p>
          <a:p>
            <a:pPr marL="1257300" lvl="2" indent="-342900"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of points to be considered; a </a:t>
            </a: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structuring element</a:t>
            </a:r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 is the central element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89E49-1A1C-814D-BBB5-0AFC0392C0DD}"/>
              </a:ext>
            </a:extLst>
          </p:cNvPr>
          <p:cNvSpPr/>
          <p:nvPr/>
        </p:nvSpPr>
        <p:spPr>
          <a:xfrm>
            <a:off x="604941" y="2928325"/>
            <a:ext cx="8402601" cy="2961866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structuring element is superimposed on each of the </a:t>
            </a:r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pixels such that origin of the structuring element coincides with the input pixel position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any of the ‘1’ pixels in the structuring element overlap (intersect) the </a:t>
            </a:r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foreground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then the </a:t>
            </a:r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pixel is also set to </a:t>
            </a:r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foreground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051D7A0-00E5-1C43-98B5-0C88C4CC041B}"/>
              </a:ext>
            </a:extLst>
          </p:cNvPr>
          <p:cNvSpPr>
            <a:spLocks noChangeAspect="1"/>
          </p:cNvSpPr>
          <p:nvPr/>
        </p:nvSpPr>
        <p:spPr>
          <a:xfrm>
            <a:off x="479374" y="1237928"/>
            <a:ext cx="1532635" cy="142129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inputs</a:t>
            </a:r>
          </a:p>
        </p:txBody>
      </p:sp>
      <p:graphicFrame>
        <p:nvGraphicFramePr>
          <p:cNvPr id="20" name="Group 29">
            <a:extLst>
              <a:ext uri="{FF2B5EF4-FFF2-40B4-BE49-F238E27FC236}">
                <a16:creationId xmlns:a16="http://schemas.microsoft.com/office/drawing/2014/main" id="{F572609D-0DB9-D54E-888A-2545256B55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4068476"/>
              </p:ext>
            </p:extLst>
          </p:nvPr>
        </p:nvGraphicFramePr>
        <p:xfrm>
          <a:off x="10524451" y="1172161"/>
          <a:ext cx="1295400" cy="1554426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Right Arrow 22">
            <a:extLst>
              <a:ext uri="{FF2B5EF4-FFF2-40B4-BE49-F238E27FC236}">
                <a16:creationId xmlns:a16="http://schemas.microsoft.com/office/drawing/2014/main" id="{FE6FF796-3A37-C540-8231-7F0DAD79C8D1}"/>
              </a:ext>
            </a:extLst>
          </p:cNvPr>
          <p:cNvSpPr/>
          <p:nvPr/>
        </p:nvSpPr>
        <p:spPr>
          <a:xfrm>
            <a:off x="9741467" y="1673362"/>
            <a:ext cx="680032" cy="55042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38646C-D536-0842-90E7-6B6EEC4F94C0}"/>
              </a:ext>
            </a:extLst>
          </p:cNvPr>
          <p:cNvSpPr txBox="1"/>
          <p:nvPr/>
        </p:nvSpPr>
        <p:spPr>
          <a:xfrm>
            <a:off x="8575907" y="3993760"/>
            <a:ext cx="3011152" cy="830997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</a:p>
          <a:p>
            <a:pPr algn="ctr"/>
            <a:r>
              <a:rPr lang="en-GB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b="1" i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dilate foreground</a:t>
            </a:r>
            <a:r>
              <a:rPr lang="en-GB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826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30E6CD-4C75-F54A-9876-E92B8FDD3B2E}"/>
              </a:ext>
            </a:extLst>
          </p:cNvPr>
          <p:cNvSpPr/>
          <p:nvPr/>
        </p:nvSpPr>
        <p:spPr>
          <a:xfrm>
            <a:off x="1138214" y="1336385"/>
            <a:ext cx="9915573" cy="1619805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Gradually enlarges the boundaries of regions of foreground pixels (i.e., white pixels, typically)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Areas of foreground pixels grow in size while holes within those regions become smaller</a:t>
            </a:r>
          </a:p>
        </p:txBody>
      </p:sp>
      <p:pic>
        <p:nvPicPr>
          <p:cNvPr id="18" name="Picture 12">
            <a:extLst>
              <a:ext uri="{FF2B5EF4-FFF2-40B4-BE49-F238E27FC236}">
                <a16:creationId xmlns:a16="http://schemas.microsoft.com/office/drawing/2014/main" id="{ED18CC54-FEAC-EB40-8133-BCB590D43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506" y="3065274"/>
            <a:ext cx="6151097" cy="2489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802F3DDC-271D-D54E-9C4D-B31F9B877236}"/>
              </a:ext>
            </a:extLst>
          </p:cNvPr>
          <p:cNvSpPr/>
          <p:nvPr/>
        </p:nvSpPr>
        <p:spPr>
          <a:xfrm>
            <a:off x="5558930" y="4034926"/>
            <a:ext cx="680032" cy="55042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883FB26-3313-734E-8C91-DA9DDB77F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186" y="5664088"/>
            <a:ext cx="6325490" cy="366713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Result of dilation with a square 3 x 3 structuring element</a:t>
            </a:r>
          </a:p>
        </p:txBody>
      </p:sp>
    </p:spTree>
    <p:extLst>
      <p:ext uri="{BB962C8B-B14F-4D97-AF65-F5344CB8AC3E}">
        <p14:creationId xmlns:p14="http://schemas.microsoft.com/office/powerpoint/2010/main" val="177620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More interesting Example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48" name="Picture 47" descr="Table&#10;&#10;Description automatically generated with medium confidence">
            <a:extLst>
              <a:ext uri="{FF2B5EF4-FFF2-40B4-BE49-F238E27FC236}">
                <a16:creationId xmlns:a16="http://schemas.microsoft.com/office/drawing/2014/main" id="{7D06B5A4-1DB8-5947-9608-A805E9460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638" y="1297824"/>
            <a:ext cx="7904725" cy="426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77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AD3E05-4AE9-9A4A-9E45-9DD538B6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26F858-D6BA-3E4C-9D5D-95455671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Edge Detection by Dilation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8AA28-CE6D-D645-86F2-5596116F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D8597-5CB6-8043-84B4-11DD9D25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D4C892-0A6A-0447-9801-939BC4C000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F180F8-B5B3-344A-933B-43D040753D06}"/>
              </a:ext>
            </a:extLst>
          </p:cNvPr>
          <p:cNvSpPr/>
          <p:nvPr/>
        </p:nvSpPr>
        <p:spPr>
          <a:xfrm>
            <a:off x="1138214" y="1336385"/>
            <a:ext cx="9915573" cy="1619805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Dilation input image (</a:t>
            </a: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rounding of corners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Subtract from original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 remain (</a:t>
            </a: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pixels on the outside of the boundary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5" name="Picture 15" descr="wdg2thr3">
            <a:extLst>
              <a:ext uri="{FF2B5EF4-FFF2-40B4-BE49-F238E27FC236}">
                <a16:creationId xmlns:a16="http://schemas.microsoft.com/office/drawing/2014/main" id="{2EA9C5FB-F41E-504F-A635-B3201C1B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56" y="3462985"/>
            <a:ext cx="2708156" cy="2050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16" descr="wdg2dil1">
            <a:extLst>
              <a:ext uri="{FF2B5EF4-FFF2-40B4-BE49-F238E27FC236}">
                <a16:creationId xmlns:a16="http://schemas.microsoft.com/office/drawing/2014/main" id="{D1B8F438-236E-4540-A8F1-46CE9438A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013" y="3464573"/>
            <a:ext cx="2708156" cy="2050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17" descr="wdg2ded1">
            <a:extLst>
              <a:ext uri="{FF2B5EF4-FFF2-40B4-BE49-F238E27FC236}">
                <a16:creationId xmlns:a16="http://schemas.microsoft.com/office/drawing/2014/main" id="{8BEA7301-9815-F444-BCB3-07B3D6261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056" y="3464573"/>
            <a:ext cx="2708156" cy="2050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243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Erosion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E183C-40E4-7A46-8F64-EA9599986CB5}"/>
              </a:ext>
            </a:extLst>
          </p:cNvPr>
          <p:cNvSpPr/>
          <p:nvPr/>
        </p:nvSpPr>
        <p:spPr>
          <a:xfrm>
            <a:off x="1245692" y="1138673"/>
            <a:ext cx="8658189" cy="1619805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57300" lvl="2" indent="-342900"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 image to erode</a:t>
            </a:r>
          </a:p>
          <a:p>
            <a:pPr marL="1257300" lvl="2" indent="-342900"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of points to be considered; a </a:t>
            </a: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structuring element</a:t>
            </a:r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 is the central element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89E49-1A1C-814D-BBB5-0AFC0392C0DD}"/>
              </a:ext>
            </a:extLst>
          </p:cNvPr>
          <p:cNvSpPr/>
          <p:nvPr/>
        </p:nvSpPr>
        <p:spPr>
          <a:xfrm>
            <a:off x="604941" y="2928325"/>
            <a:ext cx="8402601" cy="2961866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structuring element is superimposed on each of the </a:t>
            </a: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foreground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pixels such that origin of the structuring element coincides with the input pixel position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any of the ‘1’ pixels in the structuring element overlap (intersect) the </a:t>
            </a: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then the </a:t>
            </a: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foreground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pixel is also set to </a:t>
            </a: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051D7A0-00E5-1C43-98B5-0C88C4CC041B}"/>
              </a:ext>
            </a:extLst>
          </p:cNvPr>
          <p:cNvSpPr>
            <a:spLocks noChangeAspect="1"/>
          </p:cNvSpPr>
          <p:nvPr/>
        </p:nvSpPr>
        <p:spPr>
          <a:xfrm>
            <a:off x="479374" y="1237928"/>
            <a:ext cx="1532635" cy="1421294"/>
          </a:xfrm>
          <a:prstGeom prst="ellipse">
            <a:avLst/>
          </a:prstGeom>
          <a:solidFill>
            <a:srgbClr val="0000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inputs</a:t>
            </a:r>
          </a:p>
        </p:txBody>
      </p:sp>
      <p:graphicFrame>
        <p:nvGraphicFramePr>
          <p:cNvPr id="20" name="Group 29">
            <a:extLst>
              <a:ext uri="{FF2B5EF4-FFF2-40B4-BE49-F238E27FC236}">
                <a16:creationId xmlns:a16="http://schemas.microsoft.com/office/drawing/2014/main" id="{F572609D-0DB9-D54E-888A-2545256B5541}"/>
              </a:ext>
            </a:extLst>
          </p:cNvPr>
          <p:cNvGraphicFramePr>
            <a:graphicFrameLocks/>
          </p:cNvGraphicFramePr>
          <p:nvPr/>
        </p:nvGraphicFramePr>
        <p:xfrm>
          <a:off x="10524451" y="1172161"/>
          <a:ext cx="1295400" cy="1554426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Right Arrow 22">
            <a:extLst>
              <a:ext uri="{FF2B5EF4-FFF2-40B4-BE49-F238E27FC236}">
                <a16:creationId xmlns:a16="http://schemas.microsoft.com/office/drawing/2014/main" id="{FE6FF796-3A37-C540-8231-7F0DAD79C8D1}"/>
              </a:ext>
            </a:extLst>
          </p:cNvPr>
          <p:cNvSpPr/>
          <p:nvPr/>
        </p:nvSpPr>
        <p:spPr>
          <a:xfrm>
            <a:off x="9741467" y="1673362"/>
            <a:ext cx="680032" cy="55042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38646C-D536-0842-90E7-6B6EEC4F94C0}"/>
              </a:ext>
            </a:extLst>
          </p:cNvPr>
          <p:cNvSpPr txBox="1"/>
          <p:nvPr/>
        </p:nvSpPr>
        <p:spPr>
          <a:xfrm>
            <a:off x="8575907" y="3993760"/>
            <a:ext cx="3011152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</a:p>
          <a:p>
            <a:pPr algn="ctr"/>
            <a:r>
              <a:rPr lang="en-GB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erode foreground</a:t>
            </a:r>
            <a:r>
              <a:rPr lang="en-GB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579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Erosion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30E6CD-4C75-F54A-9876-E92B8FDD3B2E}"/>
              </a:ext>
            </a:extLst>
          </p:cNvPr>
          <p:cNvSpPr/>
          <p:nvPr/>
        </p:nvSpPr>
        <p:spPr>
          <a:xfrm>
            <a:off x="1012658" y="4491999"/>
            <a:ext cx="9915573" cy="1355445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 is the </a:t>
            </a: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dual 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dilation, </a:t>
            </a: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i.e.,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eroding foreground pixels is equivalent to dilating the background pixels with the same structuring element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883FB26-3313-734E-8C91-DA9DDB77F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200" y="3827434"/>
            <a:ext cx="6325490" cy="366713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Result of erosion with a square 3 x 3 structuring element</a:t>
            </a:r>
          </a:p>
        </p:txBody>
      </p:sp>
      <p:pic>
        <p:nvPicPr>
          <p:cNvPr id="12" name="Picture 10">
            <a:extLst>
              <a:ext uri="{FF2B5EF4-FFF2-40B4-BE49-F238E27FC236}">
                <a16:creationId xmlns:a16="http://schemas.microsoft.com/office/drawing/2014/main" id="{B64137CD-5E24-B141-8B63-8E0C0DB1E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045" y="1250016"/>
            <a:ext cx="6019800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802F3DDC-271D-D54E-9C4D-B31F9B877236}"/>
              </a:ext>
            </a:extLst>
          </p:cNvPr>
          <p:cNvSpPr/>
          <p:nvPr/>
        </p:nvSpPr>
        <p:spPr>
          <a:xfrm>
            <a:off x="5619629" y="2192415"/>
            <a:ext cx="680032" cy="55042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C38689-A132-3544-8922-F9673CD5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7B2ECA-DA87-B64E-A6FC-8E3D972F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Erosion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806E1-A6C5-5A4E-94DA-86D34C7B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DF157-6688-394E-B526-134B3E4E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AC2DFB-FB88-F848-9747-52D0AD8503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931978-EBEB-0C4E-9DBB-8FB6679840FF}"/>
              </a:ext>
            </a:extLst>
          </p:cNvPr>
          <p:cNvSpPr/>
          <p:nvPr/>
        </p:nvSpPr>
        <p:spPr>
          <a:xfrm>
            <a:off x="1138214" y="1331391"/>
            <a:ext cx="9915573" cy="1035051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Counting objects (cells, coins) can be difficult if they touch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 can separate them</a:t>
            </a:r>
          </a:p>
        </p:txBody>
      </p:sp>
      <p:sp>
        <p:nvSpPr>
          <p:cNvPr id="44" name="Bent Arrow 43">
            <a:extLst>
              <a:ext uri="{FF2B5EF4-FFF2-40B4-BE49-F238E27FC236}">
                <a16:creationId xmlns:a16="http://schemas.microsoft.com/office/drawing/2014/main" id="{A1A48012-1962-F249-8530-2C110BCBCE84}"/>
              </a:ext>
            </a:extLst>
          </p:cNvPr>
          <p:cNvSpPr/>
          <p:nvPr/>
        </p:nvSpPr>
        <p:spPr>
          <a:xfrm rot="5400000">
            <a:off x="5251621" y="2001917"/>
            <a:ext cx="729049" cy="654908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45" name="Picture 4" descr="mon1">
            <a:extLst>
              <a:ext uri="{FF2B5EF4-FFF2-40B4-BE49-F238E27FC236}">
                <a16:creationId xmlns:a16="http://schemas.microsoft.com/office/drawing/2014/main" id="{B4DA4C11-886F-5E47-A81D-3B1AE0D7D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837" y="2797325"/>
            <a:ext cx="2413000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5" descr="mon1thr1">
            <a:extLst>
              <a:ext uri="{FF2B5EF4-FFF2-40B4-BE49-F238E27FC236}">
                <a16:creationId xmlns:a16="http://schemas.microsoft.com/office/drawing/2014/main" id="{C7637AFC-0F6F-6A44-8F6F-95C6E48B3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975" y="2797326"/>
            <a:ext cx="2422525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6" descr="mon1ero1">
            <a:extLst>
              <a:ext uri="{FF2B5EF4-FFF2-40B4-BE49-F238E27FC236}">
                <a16:creationId xmlns:a16="http://schemas.microsoft.com/office/drawing/2014/main" id="{94A927B9-D09C-A342-8081-A13962B6B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638" y="2797326"/>
            <a:ext cx="2422525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82FE183E-9866-384D-A5CE-A180ACA22100}"/>
              </a:ext>
            </a:extLst>
          </p:cNvPr>
          <p:cNvSpPr/>
          <p:nvPr/>
        </p:nvSpPr>
        <p:spPr>
          <a:xfrm>
            <a:off x="1138214" y="4868154"/>
            <a:ext cx="9915573" cy="1035051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 can be used for edge detection too – giving pixels on the inside of the boundary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2BE595-EFA0-D344-AA81-9B343D0F95FF}"/>
              </a:ext>
            </a:extLst>
          </p:cNvPr>
          <p:cNvSpPr txBox="1"/>
          <p:nvPr/>
        </p:nvSpPr>
        <p:spPr>
          <a:xfrm>
            <a:off x="8392943" y="5668112"/>
            <a:ext cx="2262613" cy="461665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</a:t>
            </a:r>
          </a:p>
        </p:txBody>
      </p:sp>
    </p:spTree>
    <p:extLst>
      <p:ext uri="{BB962C8B-B14F-4D97-AF65-F5344CB8AC3E}">
        <p14:creationId xmlns:p14="http://schemas.microsoft.com/office/powerpoint/2010/main" val="18442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Asymmetric Structuring Elements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E496458C-4C3B-664F-BFA3-4E811386D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2606" y="1155252"/>
            <a:ext cx="5289382" cy="5118908"/>
          </a:xfrm>
          <a:prstGeom prst="rect">
            <a:avLst/>
          </a:prstGeom>
          <a:noFill/>
        </p:spPr>
      </p:pic>
      <p:sp>
        <p:nvSpPr>
          <p:cNvPr id="10" name="Text Box 22">
            <a:extLst>
              <a:ext uri="{FF2B5EF4-FFF2-40B4-BE49-F238E27FC236}">
                <a16:creationId xmlns:a16="http://schemas.microsoft.com/office/drawing/2014/main" id="{9CACAABB-B2C8-2240-823D-67BD8B803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0856" y="5797106"/>
            <a:ext cx="1478538" cy="461665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Dilation</a:t>
            </a:r>
          </a:p>
        </p:txBody>
      </p:sp>
    </p:spTree>
    <p:extLst>
      <p:ext uri="{BB962C8B-B14F-4D97-AF65-F5344CB8AC3E}">
        <p14:creationId xmlns:p14="http://schemas.microsoft.com/office/powerpoint/2010/main" val="3699742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Asymmetric Structuring Elements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10" name="Text Box 22">
            <a:extLst>
              <a:ext uri="{FF2B5EF4-FFF2-40B4-BE49-F238E27FC236}">
                <a16:creationId xmlns:a16="http://schemas.microsoft.com/office/drawing/2014/main" id="{9CACAABB-B2C8-2240-823D-67BD8B803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3782" y="5797106"/>
            <a:ext cx="1478538" cy="461665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Erosion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E27631-CB1A-8841-B918-07D35C21B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49680" y="1162160"/>
            <a:ext cx="4658221" cy="511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4631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55E6F9-B9FA-BE4F-A82D-D59A7C6D5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7140" y="1895567"/>
            <a:ext cx="4610100" cy="3066867"/>
          </a:xfrm>
        </p:spPr>
        <p:txBody>
          <a:bodyPr>
            <a:normAutofit/>
          </a:bodyPr>
          <a:lstStyle/>
          <a:p>
            <a:r>
              <a:rPr lang="en-GB" sz="4000" dirty="0"/>
              <a:t>Opening </a:t>
            </a:r>
            <a:br>
              <a:rPr lang="en-GB" sz="4000" dirty="0"/>
            </a:br>
            <a:r>
              <a:rPr lang="en-GB" sz="4000" dirty="0">
                <a:solidFill>
                  <a:srgbClr val="FFC000"/>
                </a:solidFill>
              </a:rPr>
              <a:t>&amp; </a:t>
            </a:r>
            <a:br>
              <a:rPr lang="en-GB" sz="4000" dirty="0"/>
            </a:br>
            <a:r>
              <a:rPr lang="en-GB" sz="4000" dirty="0"/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2381446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Dilation and Erosion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E183C-40E4-7A46-8F64-EA9599986CB5}"/>
              </a:ext>
            </a:extLst>
          </p:cNvPr>
          <p:cNvSpPr/>
          <p:nvPr/>
        </p:nvSpPr>
        <p:spPr>
          <a:xfrm>
            <a:off x="1367172" y="1166931"/>
            <a:ext cx="9119440" cy="1035050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rare to need only erosion and dilation, and they are much more useful when combined</a:t>
            </a:r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85C8DA9F-2C56-7348-852C-6150F6E59BA2}"/>
              </a:ext>
            </a:extLst>
          </p:cNvPr>
          <p:cNvSpPr/>
          <p:nvPr/>
        </p:nvSpPr>
        <p:spPr>
          <a:xfrm flipH="1">
            <a:off x="725801" y="2050304"/>
            <a:ext cx="601205" cy="832594"/>
          </a:xfrm>
          <a:prstGeom prst="curvedLeftArrow">
            <a:avLst>
              <a:gd name="adj1" fmla="val 25000"/>
              <a:gd name="adj2" fmla="val 55104"/>
              <a:gd name="adj3" fmla="val 25000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8" name="Picture 17" descr="erosion-dilation.JPG">
            <a:extLst>
              <a:ext uri="{FF2B5EF4-FFF2-40B4-BE49-F238E27FC236}">
                <a16:creationId xmlns:a16="http://schemas.microsoft.com/office/drawing/2014/main" id="{EEAF42E7-737E-2749-9E33-C88F09B5773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0828" y="2230750"/>
            <a:ext cx="9151711" cy="41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6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 and Closing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E183C-40E4-7A46-8F64-EA9599986CB5}"/>
              </a:ext>
            </a:extLst>
          </p:cNvPr>
          <p:cNvSpPr/>
          <p:nvPr/>
        </p:nvSpPr>
        <p:spPr>
          <a:xfrm>
            <a:off x="2433096" y="4512753"/>
            <a:ext cx="7325808" cy="1758018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operations are dual to each other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operations can be applied multiple times, but have an effect only once (</a:t>
            </a: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first time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13F051-A501-0941-B676-7CA71C251ED4}"/>
              </a:ext>
            </a:extLst>
          </p:cNvPr>
          <p:cNvSpPr/>
          <p:nvPr/>
        </p:nvSpPr>
        <p:spPr>
          <a:xfrm>
            <a:off x="958676" y="1235446"/>
            <a:ext cx="8524799" cy="1035050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erode A with B, then dilate A with B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Smoothes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contours, eliminates protrusions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92D76C-4CA6-B24B-A6B0-6DFD4AA7C9B7}"/>
              </a:ext>
            </a:extLst>
          </p:cNvPr>
          <p:cNvSpPr txBox="1"/>
          <p:nvPr/>
        </p:nvSpPr>
        <p:spPr>
          <a:xfrm>
            <a:off x="8175667" y="1511897"/>
            <a:ext cx="2615615" cy="461665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2007E8-09EA-C148-80A0-74418A4AF785}"/>
              </a:ext>
            </a:extLst>
          </p:cNvPr>
          <p:cNvSpPr/>
          <p:nvPr/>
        </p:nvSpPr>
        <p:spPr>
          <a:xfrm>
            <a:off x="2712396" y="2455870"/>
            <a:ext cx="8524799" cy="1868406"/>
          </a:xfrm>
          <a:prstGeom prst="rect">
            <a:avLst/>
          </a:prstGeom>
          <a:noFill/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57300" lvl="2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dilate A with B, then erode A with B</a:t>
            </a:r>
          </a:p>
          <a:p>
            <a:pPr marL="1257300" lvl="2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Smoothes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sections of contours, fuses narrow breaks and long thin gulfs, eliminates small holes and fill gaps in contours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C0C43B-56D1-0B4A-8591-1BF11C88D44B}"/>
              </a:ext>
            </a:extLst>
          </p:cNvPr>
          <p:cNvSpPr txBox="1"/>
          <p:nvPr/>
        </p:nvSpPr>
        <p:spPr>
          <a:xfrm>
            <a:off x="954805" y="3070102"/>
            <a:ext cx="2615615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99225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075179-44CD-5C4D-9024-67C9F899F489}"/>
              </a:ext>
            </a:extLst>
          </p:cNvPr>
          <p:cNvSpPr/>
          <p:nvPr/>
        </p:nvSpPr>
        <p:spPr>
          <a:xfrm>
            <a:off x="1244595" y="1356471"/>
            <a:ext cx="9702810" cy="1180475"/>
          </a:xfrm>
          <a:prstGeom prst="rect">
            <a:avLst/>
          </a:prstGeom>
          <a:solidFill>
            <a:schemeClr val="bg1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Contains two kinds of cells: small, black ones and larger, grey ones. Thresholding with a value of </a:t>
            </a:r>
            <a:r>
              <a:rPr lang="en-GB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210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yields (b). Opening (b) using an </a:t>
            </a:r>
            <a:r>
              <a:rPr lang="en-GB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pixel circular structuring elements yields (c)</a:t>
            </a:r>
          </a:p>
        </p:txBody>
      </p:sp>
      <p:pic>
        <p:nvPicPr>
          <p:cNvPr id="20" name="Picture 10" descr="http://www.dai.ed.ac.uk/HIPR2/images/cel4.gif">
            <a:extLst>
              <a:ext uri="{FF2B5EF4-FFF2-40B4-BE49-F238E27FC236}">
                <a16:creationId xmlns:a16="http://schemas.microsoft.com/office/drawing/2014/main" id="{A9F37242-F0B4-344A-8949-4A1E35826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481" y="2780273"/>
            <a:ext cx="2514600" cy="2667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http://www.dai.ed.ac.uk/HIPR2/images/cel4thr3.gif">
            <a:extLst>
              <a:ext uri="{FF2B5EF4-FFF2-40B4-BE49-F238E27FC236}">
                <a16:creationId xmlns:a16="http://schemas.microsoft.com/office/drawing/2014/main" id="{667A42AF-5C50-9D4A-90D7-DADF1AFE1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601" y="2780273"/>
            <a:ext cx="2266950" cy="27241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3" descr="http://www.dai.ed.ac.uk/HIPR2/images/cel4opn1.gif">
            <a:extLst>
              <a:ext uri="{FF2B5EF4-FFF2-40B4-BE49-F238E27FC236}">
                <a16:creationId xmlns:a16="http://schemas.microsoft.com/office/drawing/2014/main" id="{06F7066A-7D76-044A-83A3-86CE503C0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071" y="2780273"/>
            <a:ext cx="2378448" cy="268072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8DE348E-3C18-A040-92EA-F1F9008A0675}"/>
              </a:ext>
            </a:extLst>
          </p:cNvPr>
          <p:cNvSpPr txBox="1"/>
          <p:nvPr/>
        </p:nvSpPr>
        <p:spPr>
          <a:xfrm>
            <a:off x="2588139" y="5558628"/>
            <a:ext cx="1199132" cy="400110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(a)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A1D673-0BA3-1545-9B25-3453795BF3D2}"/>
              </a:ext>
            </a:extLst>
          </p:cNvPr>
          <p:cNvSpPr txBox="1"/>
          <p:nvPr/>
        </p:nvSpPr>
        <p:spPr>
          <a:xfrm>
            <a:off x="8404729" y="5571414"/>
            <a:ext cx="1199132" cy="400110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(c)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09CE52-912B-5D48-8986-CB0B390B2113}"/>
              </a:ext>
            </a:extLst>
          </p:cNvPr>
          <p:cNvSpPr txBox="1"/>
          <p:nvPr/>
        </p:nvSpPr>
        <p:spPr>
          <a:xfrm>
            <a:off x="5641872" y="5558628"/>
            <a:ext cx="1199132" cy="400110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66130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24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BBB567-5F75-444E-B78B-8EE213A84417}"/>
              </a:ext>
            </a:extLst>
          </p:cNvPr>
          <p:cNvSpPr/>
          <p:nvPr/>
        </p:nvSpPr>
        <p:spPr>
          <a:xfrm>
            <a:off x="4708203" y="1382900"/>
            <a:ext cx="5859673" cy="1912774"/>
          </a:xfrm>
          <a:prstGeom prst="rect">
            <a:avLst/>
          </a:prstGeom>
          <a:solidFill>
            <a:srgbClr val="FFF2CC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retain only the large holes, we can simply perform a closing with a disk-shaped structuring element with a diameter larger than the smaller holes, but smaller than the large holes</a:t>
            </a:r>
            <a:endParaRPr lang="en-GB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4" descr="http://www.dai.ed.ac.uk/HIPR2/images/art4.gif">
            <a:extLst>
              <a:ext uri="{FF2B5EF4-FFF2-40B4-BE49-F238E27FC236}">
                <a16:creationId xmlns:a16="http://schemas.microsoft.com/office/drawing/2014/main" id="{A2224A31-95C3-9441-8D28-E7AB6CA5F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613" y="1227309"/>
            <a:ext cx="2291349" cy="22239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7" descr="http://www.dai.ed.ac.uk/HIPR2/images/art4clo1.gif">
            <a:extLst>
              <a:ext uri="{FF2B5EF4-FFF2-40B4-BE49-F238E27FC236}">
                <a16:creationId xmlns:a16="http://schemas.microsoft.com/office/drawing/2014/main" id="{3229D0DC-246B-E745-8AD3-00D977274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613" y="3732496"/>
            <a:ext cx="2291349" cy="242613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108397-F01C-7E4E-BD97-8F6CEDC175A3}"/>
              </a:ext>
            </a:extLst>
          </p:cNvPr>
          <p:cNvSpPr/>
          <p:nvPr/>
        </p:nvSpPr>
        <p:spPr>
          <a:xfrm>
            <a:off x="4708203" y="4298426"/>
            <a:ext cx="5859673" cy="1288204"/>
          </a:xfrm>
          <a:prstGeom prst="rect">
            <a:avLst/>
          </a:prstGeom>
          <a:solidFill>
            <a:srgbClr val="FFF2CC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 of a closing with a 22 pixel diameter disk</a:t>
            </a:r>
            <a:endParaRPr lang="en-GB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DDC6A13-4AD4-A046-9593-8D74557DE380}"/>
              </a:ext>
            </a:extLst>
          </p:cNvPr>
          <p:cNvSpPr/>
          <p:nvPr/>
        </p:nvSpPr>
        <p:spPr>
          <a:xfrm rot="5400000">
            <a:off x="7298023" y="3532167"/>
            <a:ext cx="680032" cy="55042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6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55E6F9-B9FA-BE4F-A82D-D59A7C6D5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7140" y="1895567"/>
            <a:ext cx="4610100" cy="3066867"/>
          </a:xfrm>
        </p:spPr>
        <p:txBody>
          <a:bodyPr>
            <a:normAutofit/>
          </a:bodyPr>
          <a:lstStyle/>
          <a:p>
            <a:r>
              <a:rPr lang="en-GB" sz="4000" dirty="0"/>
              <a:t>ROIs</a:t>
            </a:r>
            <a:br>
              <a:rPr lang="en-GB" sz="4000" dirty="0"/>
            </a:br>
            <a:r>
              <a:rPr lang="en-GB" sz="4000" dirty="0">
                <a:solidFill>
                  <a:srgbClr val="FFC000"/>
                </a:solidFill>
              </a:rPr>
              <a:t>&amp;</a:t>
            </a:r>
            <a:br>
              <a:rPr lang="en-GB" sz="4000" dirty="0"/>
            </a:br>
            <a:r>
              <a:rPr lang="en-GB" sz="4000" dirty="0"/>
              <a:t>Masks</a:t>
            </a:r>
          </a:p>
        </p:txBody>
      </p:sp>
    </p:spTree>
    <p:extLst>
      <p:ext uri="{BB962C8B-B14F-4D97-AF65-F5344CB8AC3E}">
        <p14:creationId xmlns:p14="http://schemas.microsoft.com/office/powerpoint/2010/main" val="2419420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Whole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E183C-40E4-7A46-8F64-EA9599986CB5}"/>
              </a:ext>
            </a:extLst>
          </p:cNvPr>
          <p:cNvSpPr/>
          <p:nvPr/>
        </p:nvSpPr>
        <p:spPr>
          <a:xfrm>
            <a:off x="806583" y="1197537"/>
            <a:ext cx="10578834" cy="1901158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our examples so far have applied processes to the whole image – or section of image – input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tools we have become more powerful if we can apply them to selected pixels, and more powerful still if the selection can be automatic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89E49-1A1C-814D-BBB5-0AFC0392C0DD}"/>
              </a:ext>
            </a:extLst>
          </p:cNvPr>
          <p:cNvSpPr/>
          <p:nvPr/>
        </p:nvSpPr>
        <p:spPr>
          <a:xfrm>
            <a:off x="806583" y="3329169"/>
            <a:ext cx="10578834" cy="703806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3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OpenCV supports </a:t>
            </a:r>
            <a:r>
              <a:rPr lang="en-GB" sz="235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 of Interest Processing </a:t>
            </a:r>
            <a:r>
              <a:rPr lang="en-GB" sz="23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NumPy array slicing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075179-44CD-5C4D-9024-67C9F899F489}"/>
              </a:ext>
            </a:extLst>
          </p:cNvPr>
          <p:cNvSpPr/>
          <p:nvPr/>
        </p:nvSpPr>
        <p:spPr>
          <a:xfrm>
            <a:off x="4570520" y="4263449"/>
            <a:ext cx="5639650" cy="1428711"/>
          </a:xfrm>
          <a:prstGeom prst="rect">
            <a:avLst/>
          </a:prstGeom>
          <a:solidFill>
            <a:srgbClr val="FFF2CC"/>
          </a:solidFill>
          <a:ln w="34925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 Object Creation and Modification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 creation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 filtering</a:t>
            </a:r>
            <a:endParaRPr lang="en-GB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rrow: Bent 6">
            <a:extLst>
              <a:ext uri="{FF2B5EF4-FFF2-40B4-BE49-F238E27FC236}">
                <a16:creationId xmlns:a16="http://schemas.microsoft.com/office/drawing/2014/main" id="{C5414C06-34C0-7014-D584-95A4895AB074}"/>
              </a:ext>
            </a:extLst>
          </p:cNvPr>
          <p:cNvSpPr/>
          <p:nvPr/>
        </p:nvSpPr>
        <p:spPr>
          <a:xfrm rot="10800000">
            <a:off x="10210170" y="4067842"/>
            <a:ext cx="907414" cy="1116632"/>
          </a:xfrm>
          <a:prstGeom prst="bentArrow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39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50808-7DD7-BB4E-B164-12758AB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OpenCV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B6863-1A7A-4940-924A-347C95F41F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56368-2A84-E54A-91BF-BB1ACBAF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1E98-62CD-1A46-81F1-E19108C0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5F41-6810-B048-9AC0-4538521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89E49-1A1C-814D-BBB5-0AFC0392C0DD}"/>
              </a:ext>
            </a:extLst>
          </p:cNvPr>
          <p:cNvSpPr/>
          <p:nvPr/>
        </p:nvSpPr>
        <p:spPr>
          <a:xfrm>
            <a:off x="806583" y="4589525"/>
            <a:ext cx="10578834" cy="1160476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concept of ROIs is very powerful; code can be written to allow the output of one process to determine where another is applied</a:t>
            </a:r>
            <a:endParaRPr lang="en-GB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E183C-40E4-7A46-8F64-EA9599986CB5}"/>
              </a:ext>
            </a:extLst>
          </p:cNvPr>
          <p:cNvSpPr/>
          <p:nvPr/>
        </p:nvSpPr>
        <p:spPr>
          <a:xfrm>
            <a:off x="1150833" y="1820162"/>
            <a:ext cx="9091179" cy="2279352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Manually defined rectangular ROIs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Interactively drawn bounding box ROIs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ROIs defined by any appropriately sized binary image</a:t>
            </a: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System Font Regular"/>
              <a:buChar char="-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ROIs defined by colour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396DA9-A102-1F40-AF1A-16308F3139B5}"/>
              </a:ext>
            </a:extLst>
          </p:cNvPr>
          <p:cNvSpPr txBox="1"/>
          <p:nvPr/>
        </p:nvSpPr>
        <p:spPr>
          <a:xfrm>
            <a:off x="5230661" y="1313240"/>
            <a:ext cx="5020275" cy="424732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filtering and inpainting of:</a:t>
            </a:r>
          </a:p>
        </p:txBody>
      </p:sp>
      <p:sp>
        <p:nvSpPr>
          <p:cNvPr id="20" name="Curved Left Arrow 19">
            <a:extLst>
              <a:ext uri="{FF2B5EF4-FFF2-40B4-BE49-F238E27FC236}">
                <a16:creationId xmlns:a16="http://schemas.microsoft.com/office/drawing/2014/main" id="{44533B4D-4CB4-A645-BB7C-FC293FED8E54}"/>
              </a:ext>
            </a:extLst>
          </p:cNvPr>
          <p:cNvSpPr/>
          <p:nvPr/>
        </p:nvSpPr>
        <p:spPr>
          <a:xfrm>
            <a:off x="10337468" y="1430161"/>
            <a:ext cx="703700" cy="1337753"/>
          </a:xfrm>
          <a:prstGeom prst="curvedLeftArrow">
            <a:avLst>
              <a:gd name="adj1" fmla="val 25000"/>
              <a:gd name="adj2" fmla="val 55104"/>
              <a:gd name="adj3" fmla="val 25000"/>
            </a:avLst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826B6E-B1A6-C84E-A3A9-8BD1063F493B}"/>
              </a:ext>
            </a:extLst>
          </p:cNvPr>
          <p:cNvSpPr txBox="1"/>
          <p:nvPr/>
        </p:nvSpPr>
        <p:spPr>
          <a:xfrm>
            <a:off x="9412543" y="5555631"/>
            <a:ext cx="1740954" cy="400110"/>
          </a:xfrm>
          <a:prstGeom prst="rect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</a:t>
            </a:r>
          </a:p>
        </p:txBody>
      </p:sp>
    </p:spTree>
    <p:extLst>
      <p:ext uri="{BB962C8B-B14F-4D97-AF65-F5344CB8AC3E}">
        <p14:creationId xmlns:p14="http://schemas.microsoft.com/office/powerpoint/2010/main" val="389535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 animBg="1"/>
      <p:bldP spid="14" grpId="0" animBg="1"/>
      <p:bldP spid="17" grpId="0" animBg="1"/>
      <p:bldP spid="20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57D37-4DE4-A742-8E13-39353DDB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530E-1875-46E6-901C-76683197A1B3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479B09-8CBE-6F40-A6CA-3BE818B2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19E5A-C46A-184E-BDDD-22C1710B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MY" dirty="0"/>
              <a:t>COMP 2005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BBC87-4DCA-4D48-A128-3987B710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Morphology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E4244E-55A6-8A4C-9917-3DE6C25926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CD707A-7222-D140-B29D-B614309AB0BA}"/>
              </a:ext>
            </a:extLst>
          </p:cNvPr>
          <p:cNvSpPr/>
          <p:nvPr/>
        </p:nvSpPr>
        <p:spPr>
          <a:xfrm>
            <a:off x="2858072" y="2016662"/>
            <a:ext cx="6475856" cy="3854669"/>
          </a:xfrm>
          <a:prstGeom prst="rect">
            <a:avLst/>
          </a:prstGeom>
          <a:noFill/>
          <a:ln w="3492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Connected 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Mathematical Morphology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 and Dilation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 and Closing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ROIs and Masks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28822D-7D41-804F-A3E5-901C17E0AE04}"/>
              </a:ext>
            </a:extLst>
          </p:cNvPr>
          <p:cNvSpPr>
            <a:spLocks noChangeAspect="1"/>
          </p:cNvSpPr>
          <p:nvPr/>
        </p:nvSpPr>
        <p:spPr>
          <a:xfrm>
            <a:off x="1984618" y="1206662"/>
            <a:ext cx="1746907" cy="1620000"/>
          </a:xfrm>
          <a:prstGeom prst="ellipse">
            <a:avLst/>
          </a:prstGeom>
          <a:solidFill>
            <a:srgbClr val="FFF2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C9E595-ABE7-D04E-AB1A-872DA9DA2DE6}"/>
              </a:ext>
            </a:extLst>
          </p:cNvPr>
          <p:cNvSpPr/>
          <p:nvPr/>
        </p:nvSpPr>
        <p:spPr>
          <a:xfrm>
            <a:off x="8460474" y="5061331"/>
            <a:ext cx="1746907" cy="1619999"/>
          </a:xfrm>
          <a:prstGeom prst="ellipse">
            <a:avLst/>
          </a:prstGeom>
          <a:solidFill>
            <a:srgbClr val="0000FF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MY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49FDFA-3684-CB46-8822-5DFC0734D8F2}"/>
              </a:ext>
            </a:extLst>
          </p:cNvPr>
          <p:cNvSpPr txBox="1"/>
          <p:nvPr/>
        </p:nvSpPr>
        <p:spPr>
          <a:xfrm>
            <a:off x="8946000" y="5405435"/>
            <a:ext cx="775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000" dirty="0"/>
              <a:t>🤔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20682B-08B6-7547-A0D3-D74702A85D07}"/>
              </a:ext>
            </a:extLst>
          </p:cNvPr>
          <p:cNvSpPr txBox="1"/>
          <p:nvPr/>
        </p:nvSpPr>
        <p:spPr>
          <a:xfrm>
            <a:off x="2503228" y="1594103"/>
            <a:ext cx="709685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7200" dirty="0"/>
              <a:t>💡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37586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2AA9CD-B479-C44D-9C35-F4DC4D981D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96995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844A-7522-CE42-90B0-9957773CE4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NEXT: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rgbClr val="FFC000"/>
                </a:solidFill>
              </a:rPr>
              <a:t>Derivates and Edges</a:t>
            </a:r>
          </a:p>
        </p:txBody>
      </p:sp>
    </p:spTree>
    <p:extLst>
      <p:ext uri="{BB962C8B-B14F-4D97-AF65-F5344CB8AC3E}">
        <p14:creationId xmlns:p14="http://schemas.microsoft.com/office/powerpoint/2010/main" val="33290252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University of Nottingham">
      <a:dk1>
        <a:srgbClr val="000000"/>
      </a:dk1>
      <a:lt1>
        <a:srgbClr val="FFFFFF"/>
      </a:lt1>
      <a:dk2>
        <a:srgbClr val="4A4A49"/>
      </a:dk2>
      <a:lt2>
        <a:srgbClr val="92928E"/>
      </a:lt2>
      <a:accent1>
        <a:srgbClr val="009BBD"/>
      </a:accent1>
      <a:accent2>
        <a:srgbClr val="007DA8"/>
      </a:accent2>
      <a:accent3>
        <a:srgbClr val="005697"/>
      </a:accent3>
      <a:accent4>
        <a:srgbClr val="1B2A6B"/>
      </a:accent4>
      <a:accent5>
        <a:srgbClr val="191A4F"/>
      </a:accent5>
      <a:accent6>
        <a:srgbClr val="E52F6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2308A9FA-62E7-414D-B4F0-A08D3714493B}" vid="{1F297618-4A10-5F46-A0B8-FAC4F8D5C9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4b0d191-b46b-4ac4-a84f-efbcb25fa79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8E6C662A896D4FAF0562848D168962" ma:contentTypeVersion="18" ma:contentTypeDescription="Create a new document." ma:contentTypeScope="" ma:versionID="a1fc3634c5621fa011a74a2fd56ea544">
  <xsd:schema xmlns:xsd="http://www.w3.org/2001/XMLSchema" xmlns:xs="http://www.w3.org/2001/XMLSchema" xmlns:p="http://schemas.microsoft.com/office/2006/metadata/properties" xmlns:ns3="54b0d191-b46b-4ac4-a84f-efbcb25fa793" xmlns:ns4="7e603e54-2156-445a-9235-81722c7e71c5" targetNamespace="http://schemas.microsoft.com/office/2006/metadata/properties" ma:root="true" ma:fieldsID="e56291c96a046feb9764a2f46f7726a9" ns3:_="" ns4:_="">
    <xsd:import namespace="54b0d191-b46b-4ac4-a84f-efbcb25fa793"/>
    <xsd:import namespace="7e603e54-2156-445a-9235-81722c7e71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b0d191-b46b-4ac4-a84f-efbcb25fa7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03e54-2156-445a-9235-81722c7e71c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D843A1-D603-47D1-978E-7D309503013F}">
  <ds:schemaRefs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7e603e54-2156-445a-9235-81722c7e71c5"/>
    <ds:schemaRef ds:uri="54b0d191-b46b-4ac4-a84f-efbcb25fa79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497A910-CD6D-4CE5-9463-27947A791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b0d191-b46b-4ac4-a84f-efbcb25fa793"/>
    <ds:schemaRef ds:uri="7e603e54-2156-445a-9235-81722c7e71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C1F2684-5112-40BD-93CC-A92BEA4E65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Theme 2021</Template>
  <TotalTime>4505</TotalTime>
  <Words>1344</Words>
  <Application>Microsoft Macintosh PowerPoint</Application>
  <PresentationFormat>Widescreen</PresentationFormat>
  <Paragraphs>243</Paragraphs>
  <Slides>33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Georgia</vt:lpstr>
      <vt:lpstr>Helvetica</vt:lpstr>
      <vt:lpstr>System Font Regular</vt:lpstr>
      <vt:lpstr>Wingdings</vt:lpstr>
      <vt:lpstr>Theme3</vt:lpstr>
      <vt:lpstr>COMP2005 Introduction to  Image Processing</vt:lpstr>
      <vt:lpstr>Learning Outcomes</vt:lpstr>
      <vt:lpstr>Connected Components</vt:lpstr>
      <vt:lpstr>Connected Components</vt:lpstr>
      <vt:lpstr>Connected Components</vt:lpstr>
      <vt:lpstr>Connected Components</vt:lpstr>
      <vt:lpstr>Connected Components</vt:lpstr>
      <vt:lpstr>Connected Components</vt:lpstr>
      <vt:lpstr>What is Mathematical Morphology</vt:lpstr>
      <vt:lpstr>Mathematical Morphology</vt:lpstr>
      <vt:lpstr>Structuring Elements</vt:lpstr>
      <vt:lpstr>Morphological Operations</vt:lpstr>
      <vt:lpstr>Erosion  &amp; Dilation</vt:lpstr>
      <vt:lpstr>Dilation</vt:lpstr>
      <vt:lpstr>Dilation</vt:lpstr>
      <vt:lpstr>A More interesting Example</vt:lpstr>
      <vt:lpstr>Edge Detection by Dilation</vt:lpstr>
      <vt:lpstr>Erosion</vt:lpstr>
      <vt:lpstr>Erosion</vt:lpstr>
      <vt:lpstr>Erosion</vt:lpstr>
      <vt:lpstr>Asymmetric Structuring Elements</vt:lpstr>
      <vt:lpstr>Asymmetric Structuring Elements</vt:lpstr>
      <vt:lpstr>Opening  &amp;  Closing</vt:lpstr>
      <vt:lpstr>Combining Dilation and Erosion</vt:lpstr>
      <vt:lpstr>Opening and Closing</vt:lpstr>
      <vt:lpstr>Opening</vt:lpstr>
      <vt:lpstr>Closing</vt:lpstr>
      <vt:lpstr>ROIs &amp; Masks</vt:lpstr>
      <vt:lpstr>The Whole Image</vt:lpstr>
      <vt:lpstr>Python OpenCV</vt:lpstr>
      <vt:lpstr>Summary</vt:lpstr>
      <vt:lpstr>Questions</vt:lpstr>
      <vt:lpstr>NEXT:  Derivates and Edges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TISSA CHANDESA</dc:creator>
  <cp:lastModifiedBy>Armaghan Moemeni (staff)</cp:lastModifiedBy>
  <cp:revision>71</cp:revision>
  <dcterms:created xsi:type="dcterms:W3CDTF">2021-10-06T02:33:28Z</dcterms:created>
  <dcterms:modified xsi:type="dcterms:W3CDTF">2026-03-04T06:47:19Z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0x010100218E6C662A896D4FAF0562848D168962</vt:lpwstr>
  </property>
</Properties>
</file>