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3"/>
    <p:sldId id="257" r:id="rId4"/>
    <p:sldId id="262" r:id="rId5"/>
    <p:sldId id="258" r:id="rId6"/>
    <p:sldId id="259" r:id="rId7"/>
    <p:sldId id="260" r:id="rId8"/>
    <p:sldId id="263" r:id="rId9"/>
    <p:sldId id="261" r:id="rId10"/>
    <p:sldId id="264" r:id="rId11"/>
    <p:sldId id="265" r:id="rId12"/>
    <p:sldId id="266" r:id="rId13"/>
    <p:sldId id="268" r:id="rId14"/>
    <p:sldId id="267" r:id="rId15"/>
    <p:sldId id="269" r:id="rId16"/>
    <p:sldId id="270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69720"/>
            <a:ext cx="9144000" cy="1630680"/>
          </a:xfrm>
        </p:spPr>
        <p:txBody>
          <a:bodyPr/>
          <a:p>
            <a:r>
              <a:rPr lang="en-US" altLang="zh-CN"/>
              <a:t>COMP2013 </a:t>
            </a:r>
            <a:r>
              <a:rPr lang="en-US" altLang="zh-CN"/>
              <a:t>CW Explanation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scyzy9@nottingham.ac.uk</a:t>
            </a:r>
            <a:endParaRPr lang="en-US" altLang="zh-CN"/>
          </a:p>
          <a:p>
            <a:r>
              <a:rPr lang="en-US" altLang="zh-CN"/>
              <a:t>Zhen Ye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1</a:t>
            </a:r>
            <a:r>
              <a:rPr lang="en-US" altLang="zh-CN">
                <a:latin typeface="+mn-ea"/>
                <a:ea typeface="+mn-ea"/>
              </a:rPr>
              <a:t> Game Running &amp; New feature</a:t>
            </a:r>
            <a:endParaRPr lang="en-US" altLang="zh-CN">
              <a:latin typeface="+mn-ea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40865" y="1851660"/>
            <a:ext cx="5586730" cy="127254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400">
                <a:latin typeface="+mn-ea"/>
                <a:cs typeface="+mn-ea"/>
              </a:rPr>
              <a:t>Compile and run using MVN</a:t>
            </a:r>
            <a:r>
              <a:rPr lang="zh-CN" altLang="en-US" sz="2400">
                <a:latin typeface="+mn-ea"/>
                <a:cs typeface="+mn-ea"/>
              </a:rPr>
              <a:t>：</a:t>
            </a:r>
            <a:endParaRPr lang="zh-CN" altLang="en-US" sz="2400">
              <a:latin typeface="+mn-ea"/>
              <a:cs typeface="+mn-ea"/>
            </a:endParaRPr>
          </a:p>
          <a:p>
            <a:pPr marL="0" indent="0">
              <a:buNone/>
            </a:pPr>
            <a:endParaRPr lang="zh-CN" altLang="en-US" sz="2400">
              <a:latin typeface="+mn-ea"/>
              <a:cs typeface="+mn-ea"/>
            </a:endParaRPr>
          </a:p>
          <a:p>
            <a:pPr marL="457200" lvl="1" indent="0">
              <a:buNone/>
            </a:pPr>
            <a:r>
              <a:rPr lang="en-US" altLang="zh-CN" sz="2055">
                <a:solidFill>
                  <a:srgbClr val="FF0000"/>
                </a:solidFill>
                <a:latin typeface="+mn-ea"/>
              </a:rPr>
              <a:t>mvn clean javafx:run</a:t>
            </a:r>
            <a:endParaRPr lang="en-US" altLang="zh-CN" sz="1535">
              <a:latin typeface="+mn-ea"/>
            </a:endParaRPr>
          </a:p>
          <a:p>
            <a:pPr marL="685800" lvl="1" indent="-228600" algn="l">
              <a:buClrTx/>
              <a:buSzTx/>
              <a:buFont typeface="Arial" panose="020B0604020202020204" pitchFamily="34" charset="0"/>
              <a:buChar char="•"/>
            </a:pPr>
            <a:endParaRPr lang="en-US" altLang="zh-CN" sz="171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0865" y="3124200"/>
            <a:ext cx="3686175" cy="2247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351338"/>
          </a:xfrm>
        </p:spPr>
        <p:txBody>
          <a:bodyPr/>
          <a:p>
            <a:pPr marL="0" indent="0" fontAlgn="auto">
              <a:lnSpc>
                <a:spcPct val="150000"/>
              </a:lnSpc>
              <a:buNone/>
            </a:pPr>
            <a:r>
              <a:rPr lang="en-US" altLang="zh-CN"/>
              <a:t>First, you can see the game successfully runs with JavaFX, compiling without errors. </a:t>
            </a:r>
            <a:endParaRPr lang="en-US" altLang="zh-CN"/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/>
              <a:t>Players use WASD for movement and space to shoot. </a:t>
            </a:r>
            <a:endParaRPr lang="en-US" altLang="zh-CN"/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 b="1"/>
              <a:t>The game includes </a:t>
            </a:r>
            <a:r>
              <a:rPr lang="en-US" altLang="zh-CN" b="1">
                <a:solidFill>
                  <a:srgbClr val="FF0000"/>
                </a:solidFill>
              </a:rPr>
              <a:t>intelligent enemies</a:t>
            </a:r>
            <a:r>
              <a:rPr lang="en-US" altLang="zh-CN" b="1"/>
              <a:t>, </a:t>
            </a:r>
            <a:r>
              <a:rPr lang="en-US" altLang="zh-CN" b="1">
                <a:solidFill>
                  <a:srgbClr val="FF0000"/>
                </a:solidFill>
              </a:rPr>
              <a:t>collision detection</a:t>
            </a:r>
            <a:r>
              <a:rPr lang="en-US" altLang="zh-CN" b="1"/>
              <a:t>, and </a:t>
            </a:r>
            <a:r>
              <a:rPr lang="en-US" altLang="zh-CN" b="1">
                <a:solidFill>
                  <a:srgbClr val="FF0000"/>
                </a:solidFill>
              </a:rPr>
              <a:t>physics</a:t>
            </a:r>
            <a:r>
              <a:rPr lang="en-US" altLang="zh-CN" b="1"/>
              <a:t>. Now let me demonstrate the three new features with their code implementation.</a:t>
            </a:r>
            <a:endParaRPr lang="en-US" altLang="zh-CN" b="1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1</a:t>
            </a:r>
            <a:r>
              <a:rPr lang="en-US" altLang="zh-CN">
                <a:latin typeface="+mn-ea"/>
                <a:ea typeface="+mn-ea"/>
              </a:rPr>
              <a:t> Game Running &amp; New feature</a:t>
            </a:r>
            <a:endParaRPr lang="en-US" altLang="zh-CN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2556510" y="4158615"/>
            <a:ext cx="2022475" cy="33718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en-US" altLang="zh-CN" sz="1600">
                <a:latin typeface="Arial" panose="020B0604020202020204"/>
                <a:ea typeface="Arial" panose="020B0604020202020204"/>
              </a:rPr>
              <a:t>view/StateView.java</a:t>
            </a:r>
            <a:endParaRPr lang="en-US" altLang="zh-CN" sz="1600">
              <a:latin typeface="Arial" panose="020B0604020202020204"/>
              <a:ea typeface="Arial" panose="020B0604020202020204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1346200"/>
            <a:ext cx="5312410" cy="28651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560" y="1346200"/>
            <a:ext cx="4153535" cy="5059045"/>
          </a:xfrm>
          <a:prstGeom prst="rect">
            <a:avLst/>
          </a:prstGeom>
        </p:spPr>
      </p:pic>
      <p:sp>
        <p:nvSpPr>
          <p:cNvPr id="13" name="标题 4"/>
          <p:cNvSpPr>
            <a:spLocks noGrp="1"/>
          </p:cNvSpPr>
          <p:nvPr/>
        </p:nvSpPr>
        <p:spPr>
          <a:xfrm>
            <a:off x="965200" y="492125"/>
            <a:ext cx="852614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1.1</a:t>
            </a:r>
            <a:r>
              <a:rPr lang="en-US" altLang="zh-CN">
                <a:latin typeface="+mn-ea"/>
                <a:ea typeface="+mn-ea"/>
              </a:rPr>
              <a:t> -  </a:t>
            </a:r>
            <a:r>
              <a:rPr lang="en-US" altLang="zh-CN">
                <a:latin typeface="+mn-ea"/>
                <a:ea typeface="+mn-ea"/>
              </a:rPr>
              <a:t>Pause,play and reset</a:t>
            </a:r>
            <a:endParaRPr lang="en-US" altLang="zh-CN">
              <a:latin typeface="+mn-ea"/>
              <a:ea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4345" y="4427855"/>
            <a:ext cx="6723380" cy="1476375"/>
          </a:xfrm>
          <a:prstGeom prst="rect">
            <a:avLst/>
          </a:prstGeom>
        </p:spPr>
        <p:txBody>
          <a:bodyPr wrap="square">
            <a:spAutoFit/>
          </a:bodyPr>
          <a:p>
            <a:pPr algn="l" defTabSz="266700" fontAlgn="auto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When you click pause, the StateView's </a:t>
            </a:r>
            <a:r>
              <a:rPr lang="en-US" altLang="zh-CN" sz="2000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Pause()</a:t>
            </a: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 method stops the game loop and calls </a:t>
            </a:r>
            <a:r>
              <a:rPr lang="en-US" altLang="zh-CN" sz="2000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currentState.handlePause()</a:t>
            </a: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. This triggers state transition.</a:t>
            </a:r>
            <a:endParaRPr lang="en-US" altLang="zh-CN" sz="2000"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6120" y="1729105"/>
            <a:ext cx="7622540" cy="3717290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/>
        </p:nvSpPr>
        <p:spPr>
          <a:xfrm>
            <a:off x="965200" y="492125"/>
            <a:ext cx="846645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1.1</a:t>
            </a:r>
            <a:r>
              <a:rPr lang="en-US" altLang="zh-CN">
                <a:latin typeface="+mn-ea"/>
                <a:ea typeface="+mn-ea"/>
              </a:rPr>
              <a:t> -  </a:t>
            </a:r>
            <a:r>
              <a:rPr lang="en-US" altLang="zh-CN">
                <a:latin typeface="+mn-ea"/>
                <a:ea typeface="+mn-ea"/>
              </a:rPr>
              <a:t>Pause,play and reset</a:t>
            </a:r>
            <a:endParaRPr lang="en-US" altLang="zh-CN"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36595" y="5939155"/>
            <a:ext cx="3369310" cy="33718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en-US" altLang="zh-CN" sz="1600">
                <a:latin typeface="Arial" panose="020B0604020202020204"/>
                <a:ea typeface="Arial" panose="020B0604020202020204"/>
              </a:rPr>
              <a:t>controller/state/RunningState.java</a:t>
            </a:r>
            <a:endParaRPr lang="en-US" altLang="zh-CN" sz="1600">
              <a:latin typeface="Arial" panose="020B0604020202020204"/>
              <a:ea typeface="Arial" panose="020B060402020202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58125" y="2343150"/>
            <a:ext cx="3388360" cy="2399665"/>
          </a:xfrm>
          <a:prstGeom prst="rect">
            <a:avLst/>
          </a:prstGeom>
        </p:spPr>
        <p:txBody>
          <a:bodyPr wrap="square">
            <a:spAutoFit/>
          </a:bodyPr>
          <a:p>
            <a:pPr algn="l" defTabSz="266700" fontAlgn="auto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rPr>
              <a:t>Here,</a:t>
            </a:r>
            <a:r>
              <a:rPr lang="en-US" altLang="zh-CN" sz="2000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handlePause()</a:t>
            </a: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 calls </a:t>
            </a:r>
            <a:r>
              <a:rPr lang="en-US" altLang="zh-CN" sz="2000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RunTimeUtil.pause()</a:t>
            </a: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 to freeze time, then transitions to 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rPr>
              <a:t>PausedState</a:t>
            </a: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 through </a:t>
            </a:r>
            <a:r>
              <a:rPr lang="en-US" altLang="zh-CN" sz="2000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setCurrentState()</a:t>
            </a: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.</a:t>
            </a:r>
            <a:endParaRPr lang="en-US" altLang="zh-CN" sz="2000"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175" y="1767840"/>
            <a:ext cx="8015605" cy="4253865"/>
          </a:xfrm>
          <a:prstGeom prst="rect">
            <a:avLst/>
          </a:prstGeom>
        </p:spPr>
      </p:pic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861504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1.1</a:t>
            </a:r>
            <a:r>
              <a:rPr lang="en-US" altLang="zh-CN">
                <a:latin typeface="+mn-ea"/>
                <a:ea typeface="+mn-ea"/>
              </a:rPr>
              <a:t> -  </a:t>
            </a:r>
            <a:r>
              <a:rPr lang="en-US" altLang="zh-CN">
                <a:latin typeface="+mn-ea"/>
                <a:ea typeface="+mn-ea"/>
              </a:rPr>
              <a:t>Pause,play and reset</a:t>
            </a:r>
            <a:endParaRPr lang="en-US" altLang="zh-CN"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61665" y="6021705"/>
            <a:ext cx="3221990" cy="33718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en-US" altLang="zh-CN" sz="1600">
                <a:latin typeface="Arial" panose="020B0604020202020204"/>
                <a:ea typeface="Arial" panose="020B0604020202020204"/>
              </a:rPr>
              <a:t>controller/state/PausedState.java</a:t>
            </a:r>
            <a:endParaRPr lang="en-US" altLang="zh-CN" sz="1600">
              <a:latin typeface="Arial" panose="020B0604020202020204"/>
              <a:ea typeface="Arial" panose="020B060402020202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08445" y="1767840"/>
            <a:ext cx="4894580" cy="147637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 defTabSz="266700" fontAlgn="auto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Similarly,  </a:t>
            </a:r>
            <a:r>
              <a:rPr lang="en-US" altLang="zh-CN" sz="2000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handleResume</a:t>
            </a: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 calls </a:t>
            </a:r>
            <a:r>
              <a:rPr lang="en-US" altLang="zh-CN" sz="2000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RunTimeUtil.play()</a:t>
            </a: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 and switches back to 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rPr>
              <a:t>RunningState</a:t>
            </a: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.</a:t>
            </a:r>
            <a:endParaRPr lang="en-US" altLang="zh-CN" sz="2000"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9834245" cy="3270250"/>
          </a:xfrm>
        </p:spPr>
        <p:txBody>
          <a:bodyPr/>
          <a:p>
            <a:pPr fontAlgn="auto">
              <a:lnSpc>
                <a:spcPct val="150000"/>
              </a:lnSpc>
            </a:pPr>
            <a:r>
              <a:rPr lang="en-US" altLang="zh-CN">
                <a:latin typeface="+mn-ea"/>
              </a:rPr>
              <a:t>Feature Two: Invincibility Star Power-up using the Strategy Pattern. </a:t>
            </a:r>
            <a:endParaRPr lang="en-US" altLang="zh-CN">
              <a:latin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>
                <a:latin typeface="+mn-ea"/>
              </a:rPr>
              <a:t>When the player touches this star block, they gain 30 seconds of invincibility and the star disappears.</a:t>
            </a:r>
            <a:endParaRPr lang="en-US" altLang="zh-CN">
              <a:latin typeface="+mn-ea"/>
            </a:endParaRPr>
          </a:p>
        </p:txBody>
      </p:sp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801497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1.2</a:t>
            </a:r>
            <a:r>
              <a:rPr lang="en-US" altLang="zh-CN">
                <a:latin typeface="+mn-ea"/>
                <a:ea typeface="+mn-ea"/>
              </a:rPr>
              <a:t> -  Invincibility star</a:t>
            </a:r>
            <a:endParaRPr lang="en-US" altLang="zh-CN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801497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1.2</a:t>
            </a:r>
            <a:r>
              <a:rPr lang="en-US" altLang="zh-CN">
                <a:latin typeface="+mn-ea"/>
                <a:ea typeface="+mn-ea"/>
              </a:rPr>
              <a:t> -  Invincibility star</a:t>
            </a:r>
            <a:endParaRPr lang="en-US" altLang="zh-CN"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52290" y="3677920"/>
            <a:ext cx="3340100" cy="33718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en-US" altLang="zh-CN" sz="1600">
                <a:latin typeface="Arial" panose="020B0604020202020204"/>
                <a:ea typeface="宋体" panose="02010600030101010101" pitchFamily="2" charset="-122"/>
              </a:rPr>
              <a:t>model/entities/StarMapBlocks.java</a:t>
            </a:r>
            <a:endParaRPr lang="en-US" altLang="zh-CN" sz="1600"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6285" y="4449445"/>
            <a:ext cx="10352405" cy="1457960"/>
          </a:xfrm>
          <a:prstGeom prst="rect">
            <a:avLst/>
          </a:prstGeom>
        </p:spPr>
        <p:txBody>
          <a:bodyPr wrap="square">
            <a:noAutofit/>
          </a:bodyPr>
          <a:p>
            <a:pPr indent="0" algn="l" defTabSz="266700" fontAlgn="auto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In </a:t>
            </a:r>
            <a:r>
              <a:rPr lang="en-US" altLang="zh-CN" sz="2000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update()</a:t>
            </a: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 method, it checks collision with the player. If colliding, line 3</a:t>
            </a:r>
            <a:r>
              <a:rPr lang="en-US" altLang="zh-CN" sz="2000">
                <a:latin typeface="Arial" panose="020B0604020202020204"/>
                <a:ea typeface="Arial" panose="020B0604020202020204"/>
              </a:rPr>
              <a:t>3</a:t>
            </a: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 calls: </a:t>
            </a:r>
            <a:r>
              <a:rPr lang="en-US" altLang="zh-CN" sz="2000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player.getInvincibleBehavior().setInvincibleEndTime</a:t>
            </a: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 with current time plus 30 seconds. Then it marks itself for deletion.</a:t>
            </a:r>
            <a:endParaRPr lang="en-US" altLang="zh-CN" sz="2000"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055" y="1625600"/>
            <a:ext cx="10911205" cy="2052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175" y="1863725"/>
            <a:ext cx="9876790" cy="3130550"/>
          </a:xfrm>
          <a:prstGeom prst="rect">
            <a:avLst/>
          </a:prstGeom>
        </p:spPr>
      </p:pic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801497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1.2</a:t>
            </a:r>
            <a:r>
              <a:rPr lang="en-US" altLang="zh-CN">
                <a:latin typeface="+mn-ea"/>
                <a:ea typeface="+mn-ea"/>
              </a:rPr>
              <a:t> -  Invincibility star</a:t>
            </a:r>
            <a:endParaRPr lang="en-US" altLang="zh-CN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00045" y="5203190"/>
            <a:ext cx="5895340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Here, </a:t>
            </a:r>
            <a:r>
              <a:rPr lang="en-US" altLang="zh-CN" sz="2000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isInvincible()</a:t>
            </a: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 method checks if current time is before the invincibleEndTime. </a:t>
            </a:r>
            <a:endParaRPr lang="en-US" altLang="zh-CN" sz="2000"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16680" y="4574540"/>
            <a:ext cx="3861435" cy="33718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en-US" altLang="zh-CN" sz="1600">
                <a:latin typeface="Arial" panose="020B0604020202020204"/>
                <a:ea typeface="宋体" panose="02010600030101010101" pitchFamily="2" charset="-122"/>
              </a:rPr>
              <a:t>model/behavior/InvincibleBehavior.java</a:t>
            </a:r>
            <a:endParaRPr lang="en-US" altLang="zh-CN" sz="1600"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lnSpc>
                <a:spcPct val="150000"/>
              </a:lnSpc>
              <a:buClrTx/>
              <a:buSzTx/>
            </a:pPr>
            <a:r>
              <a:rPr lang="en-US" altLang="zh-CN">
                <a:latin typeface="+mn-ea"/>
              </a:rPr>
              <a:t>Feature Three: Moving Platforms using Inheritance and Polymorphism.</a:t>
            </a:r>
            <a:endParaRPr lang="en-US" altLang="zh-CN">
              <a:latin typeface="+mn-ea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en-US" altLang="zh-CN">
                <a:latin typeface="+mn-ea"/>
              </a:rPr>
              <a:t>These platforms move horizontally, and players move with them when standing on top.</a:t>
            </a:r>
            <a:endParaRPr lang="en-US" altLang="zh-CN">
              <a:latin typeface="+mn-ea"/>
            </a:endParaRPr>
          </a:p>
        </p:txBody>
      </p:sp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801497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1.3</a:t>
            </a:r>
            <a:r>
              <a:rPr lang="en-US" altLang="zh-CN">
                <a:latin typeface="+mn-ea"/>
                <a:ea typeface="+mn-ea"/>
              </a:rPr>
              <a:t> -  Moving Platforms</a:t>
            </a:r>
            <a:endParaRPr lang="en-US" altLang="zh-CN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801497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1.3</a:t>
            </a:r>
            <a:r>
              <a:rPr lang="en-US" altLang="zh-CN">
                <a:latin typeface="+mn-ea"/>
                <a:ea typeface="+mn-ea"/>
              </a:rPr>
              <a:t> -  Moving Platforms</a:t>
            </a:r>
            <a:endParaRPr lang="en-US" altLang="zh-CN"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83325" y="1676400"/>
            <a:ext cx="5420360" cy="1938020"/>
          </a:xfrm>
          <a:prstGeom prst="rect">
            <a:avLst/>
          </a:prstGeom>
        </p:spPr>
        <p:txBody>
          <a:bodyPr wrap="square">
            <a:spAutoFit/>
          </a:bodyPr>
          <a:p>
            <a:pPr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>
                <a:latin typeface="Arial" panose="020B0604020202020204"/>
                <a:ea typeface="宋体" panose="02010600030101010101" pitchFamily="2" charset="-122"/>
              </a:rPr>
              <a:t>MoveMapBlocks extends MapBlocks and adds movement properties</a:t>
            </a: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: speed of 3 pixels, maximum pixels, startX and startY to track the starting position.</a:t>
            </a:r>
            <a:endParaRPr lang="en-US" altLang="zh-CN" sz="2000"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83325" y="3959225"/>
            <a:ext cx="5160645" cy="1938020"/>
          </a:xfrm>
          <a:prstGeom prst="rect">
            <a:avLst/>
          </a:prstGeom>
        </p:spPr>
        <p:txBody>
          <a:bodyPr wrap="square">
            <a:spAutoFit/>
          </a:bodyPr>
          <a:p>
            <a:pPr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>
                <a:latin typeface="Arial" panose="020B0604020202020204"/>
                <a:ea typeface="宋体" panose="02010600030101010101" pitchFamily="2" charset="-122"/>
              </a:rPr>
              <a:t>In the </a:t>
            </a:r>
            <a:r>
              <a:rPr lang="en-US" altLang="zh-CN" sz="2000" b="1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update()</a:t>
            </a:r>
            <a:r>
              <a:rPr lang="en-US" altLang="zh-CN" sz="2000" b="1">
                <a:latin typeface="Arial" panose="020B0604020202020204"/>
                <a:ea typeface="宋体" panose="02010600030101010101" pitchFamily="2" charset="-122"/>
              </a:rPr>
              <a:t> method, it moves in the current direction. When reaching maximum from start position, it reverses by toggling </a:t>
            </a:r>
            <a:r>
              <a:rPr lang="en-US" altLang="zh-CN" sz="2000" b="1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isMoveRight()</a:t>
            </a:r>
            <a:r>
              <a:rPr lang="en-US" altLang="zh-CN" sz="2000" b="1">
                <a:latin typeface="Arial" panose="020B0604020202020204"/>
                <a:ea typeface="宋体" panose="02010600030101010101" pitchFamily="2" charset="-122"/>
              </a:rPr>
              <a:t>.</a:t>
            </a:r>
            <a:endParaRPr lang="en-US" altLang="zh-CN" sz="2000" b="1"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r="8343"/>
          <a:stretch>
            <a:fillRect/>
          </a:stretch>
        </p:blipFill>
        <p:spPr>
          <a:xfrm>
            <a:off x="680085" y="1626870"/>
            <a:ext cx="5603240" cy="15640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" y="3294380"/>
            <a:ext cx="5105400" cy="283400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633220" y="6128385"/>
            <a:ext cx="36969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model/entities/MoveMapBlocks.java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 fontAlgn="auto">
              <a:lnSpc>
                <a:spcPct val="150000"/>
              </a:lnSpc>
              <a:buNone/>
            </a:pPr>
            <a:r>
              <a:rPr lang="en-US" altLang="zh-CN"/>
              <a:t>My final architecture follows the standard </a:t>
            </a:r>
            <a:r>
              <a:rPr lang="en-US" altLang="zh-CN">
                <a:solidFill>
                  <a:srgbClr val="FF0000"/>
                </a:solidFill>
              </a:rPr>
              <a:t>MVC</a:t>
            </a:r>
            <a:r>
              <a:rPr lang="en-US" altLang="zh-CN"/>
              <a:t> pattern.</a:t>
            </a:r>
            <a:endParaRPr lang="en-US" altLang="zh-CN"/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/>
              <a:t>The </a:t>
            </a:r>
            <a:r>
              <a:rPr lang="en-US" altLang="zh-CN">
                <a:solidFill>
                  <a:srgbClr val="FF0000"/>
                </a:solidFill>
              </a:rPr>
              <a:t>M</a:t>
            </a:r>
            <a:r>
              <a:rPr lang="en-US" altLang="zh-CN"/>
              <a:t>odel layer contains the main </a:t>
            </a:r>
            <a:r>
              <a:rPr lang="en-US" altLang="zh-CN">
                <a:solidFill>
                  <a:srgbClr val="FF0000"/>
                </a:solidFill>
              </a:rPr>
              <a:t>game logic</a:t>
            </a:r>
            <a:r>
              <a:rPr lang="en-US" altLang="zh-CN"/>
              <a:t>.</a:t>
            </a:r>
            <a:endParaRPr lang="en-US" altLang="zh-CN"/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/>
              <a:t>The </a:t>
            </a:r>
            <a:r>
              <a:rPr lang="en-US" altLang="zh-CN">
                <a:solidFill>
                  <a:srgbClr val="FF0000"/>
                </a:solidFill>
              </a:rPr>
              <a:t>V</a:t>
            </a:r>
            <a:r>
              <a:rPr lang="en-US" altLang="zh-CN"/>
              <a:t>iew layer is responsible for </a:t>
            </a:r>
            <a:r>
              <a:rPr lang="en-US" altLang="zh-CN">
                <a:solidFill>
                  <a:srgbClr val="FF0000"/>
                </a:solidFill>
              </a:rPr>
              <a:t>graphic rendering</a:t>
            </a:r>
            <a:r>
              <a:rPr lang="en-US" altLang="zh-CN"/>
              <a:t>.</a:t>
            </a:r>
            <a:endParaRPr lang="en-US" altLang="zh-CN"/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/>
              <a:t>The </a:t>
            </a:r>
            <a:r>
              <a:rPr lang="en-US" altLang="zh-CN">
                <a:solidFill>
                  <a:srgbClr val="FF0000"/>
                </a:solidFill>
              </a:rPr>
              <a:t>C</a:t>
            </a:r>
            <a:r>
              <a:rPr lang="en-US" altLang="zh-CN"/>
              <a:t>ontroller layer controls the </a:t>
            </a:r>
            <a:r>
              <a:rPr lang="en-US" altLang="zh-CN">
                <a:solidFill>
                  <a:srgbClr val="FF0000"/>
                </a:solidFill>
              </a:rPr>
              <a:t>game state and input</a:t>
            </a:r>
            <a:r>
              <a:rPr lang="en-US" altLang="zh-CN"/>
              <a:t>.</a:t>
            </a:r>
            <a:endParaRPr lang="en-US" altLang="zh-CN"/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/>
              <a:t>This architecture achieves high cohesion and low coupling,</a:t>
            </a:r>
            <a:endParaRPr lang="en-US" altLang="zh-CN"/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/>
              <a:t>with clear responsibilities for each layer, making it easy to test and extend.</a:t>
            </a:r>
            <a:endParaRPr lang="en-US" altLang="zh-CN"/>
          </a:p>
        </p:txBody>
      </p:sp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801497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2</a:t>
            </a:r>
            <a:r>
              <a:rPr lang="en-US" altLang="zh-CN">
                <a:latin typeface="+mn-ea"/>
                <a:ea typeface="+mn-ea"/>
              </a:rPr>
              <a:t> -  Code </a:t>
            </a:r>
            <a:r>
              <a:rPr lang="en-US" altLang="zh-CN">
                <a:latin typeface="+mn-ea"/>
                <a:ea typeface="+mn-ea"/>
              </a:rPr>
              <a:t>Architecture</a:t>
            </a:r>
            <a:endParaRPr lang="en-US" altLang="zh-CN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801497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2</a:t>
            </a:r>
            <a:r>
              <a:rPr lang="en-US" altLang="zh-CN">
                <a:latin typeface="+mn-ea"/>
                <a:ea typeface="+mn-ea"/>
              </a:rPr>
              <a:t> -  Code </a:t>
            </a:r>
            <a:r>
              <a:rPr lang="en-US" altLang="zh-CN">
                <a:latin typeface="+mn-ea"/>
                <a:ea typeface="+mn-ea"/>
              </a:rPr>
              <a:t>Architecture</a:t>
            </a:r>
            <a:endParaRPr lang="en-US" altLang="zh-CN"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75" y="1508125"/>
            <a:ext cx="3336925" cy="45199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220" y="1508125"/>
            <a:ext cx="5132705" cy="45815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801497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3</a:t>
            </a:r>
            <a:r>
              <a:rPr lang="en-US" altLang="zh-CN">
                <a:latin typeface="+mn-ea"/>
                <a:ea typeface="+mn-ea"/>
              </a:rPr>
              <a:t> -  Code principles</a:t>
            </a:r>
            <a:endParaRPr lang="en-US" altLang="zh-CN"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65200" y="2475230"/>
            <a:ext cx="8473440" cy="1383665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lnSpc>
                <a:spcPct val="15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2800"/>
              <a:t>My code demonstrates three fundamental principles: </a:t>
            </a:r>
            <a:r>
              <a:rPr lang="en-US" altLang="zh-CN" sz="2800">
                <a:solidFill>
                  <a:srgbClr val="FF0000"/>
                </a:solidFill>
              </a:rPr>
              <a:t>SOLID</a:t>
            </a:r>
            <a:r>
              <a:rPr lang="en-US" altLang="zh-CN" sz="2800"/>
              <a:t> principles, </a:t>
            </a:r>
            <a:r>
              <a:rPr lang="en-US" altLang="zh-CN" sz="2800">
                <a:solidFill>
                  <a:srgbClr val="FF0000"/>
                </a:solidFill>
              </a:rPr>
              <a:t>O</a:t>
            </a:r>
            <a:r>
              <a:rPr lang="en-US" altLang="zh-CN" sz="2800"/>
              <a:t>bject-</a:t>
            </a:r>
            <a:r>
              <a:rPr lang="en-US" altLang="zh-CN" sz="2800">
                <a:solidFill>
                  <a:srgbClr val="FF0000"/>
                </a:solidFill>
              </a:rPr>
              <a:t>O</a:t>
            </a:r>
            <a:r>
              <a:rPr lang="en-US" altLang="zh-CN" sz="2800"/>
              <a:t>riented design, and </a:t>
            </a:r>
            <a:r>
              <a:rPr lang="en-US" altLang="zh-CN" sz="2800">
                <a:solidFill>
                  <a:srgbClr val="FF0000"/>
                </a:solidFill>
              </a:rPr>
              <a:t>DRY</a:t>
            </a:r>
            <a:r>
              <a:rPr lang="en-US" altLang="zh-CN" sz="2800"/>
              <a:t>.</a:t>
            </a:r>
            <a:endParaRPr lang="en-US" altLang="zh-CN"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70090" y="1704340"/>
            <a:ext cx="4443095" cy="4005580"/>
          </a:xfrm>
        </p:spPr>
        <p:txBody>
          <a:bodyPr>
            <a:normAutofit fontScale="90000"/>
          </a:bodyPr>
          <a:p>
            <a:pPr marL="0" algn="l" defTabSz="266700" fontAlgn="auto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First, SOLID principles, specifically Single Responsibility and Open-Closed.</a:t>
            </a:r>
            <a:endParaRPr lang="en-US" altLang="zh-CN" sz="2000">
              <a:latin typeface="Arial" panose="020B0604020202020204"/>
              <a:ea typeface="宋体" panose="02010600030101010101" pitchFamily="2" charset="-122"/>
            </a:endParaRPr>
          </a:p>
          <a:p>
            <a:pPr marL="0" algn="l" defTabSz="266700" fontAlgn="auto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V1's entity class violates Single Responsibility—it has 10+ properties handling physics, health, animation, input, and ammunition all in one class.</a:t>
            </a:r>
            <a:endParaRPr lang="en-US" altLang="zh-CN" sz="2000">
              <a:latin typeface="Arial" panose="020B0604020202020204"/>
              <a:ea typeface="宋体" panose="02010600030101010101" pitchFamily="2" charset="-122"/>
            </a:endParaRPr>
          </a:p>
          <a:p>
            <a:pPr marL="0" algn="l" defTabSz="266700" fontAlgn="auto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V3's Entity has far less essential properties.</a:t>
            </a:r>
            <a:endParaRPr lang="en-US" altLang="zh-CN" sz="2000"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801497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3.1</a:t>
            </a:r>
            <a:r>
              <a:rPr lang="en-US" altLang="zh-CN">
                <a:latin typeface="+mn-ea"/>
                <a:ea typeface="+mn-ea"/>
              </a:rPr>
              <a:t> -  SOLID</a:t>
            </a:r>
            <a:endParaRPr lang="en-US" altLang="zh-CN">
              <a:latin typeface="+mn-ea"/>
              <a:ea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r="8739"/>
          <a:stretch>
            <a:fillRect/>
          </a:stretch>
        </p:blipFill>
        <p:spPr>
          <a:xfrm>
            <a:off x="454025" y="2080895"/>
            <a:ext cx="6358255" cy="24364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303145" y="4981575"/>
            <a:ext cx="26593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model/entities/Entity.java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801497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3.2</a:t>
            </a:r>
            <a:r>
              <a:rPr lang="en-US" altLang="zh-CN">
                <a:latin typeface="+mn-ea"/>
                <a:ea typeface="+mn-ea"/>
              </a:rPr>
              <a:t> -  OO</a:t>
            </a:r>
            <a:endParaRPr lang="en-US" altLang="zh-CN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55485" y="1548765"/>
            <a:ext cx="4350385" cy="3322955"/>
          </a:xfrm>
          <a:prstGeom prst="rect">
            <a:avLst/>
          </a:prstGeom>
        </p:spPr>
        <p:txBody>
          <a:bodyPr wrap="square">
            <a:spAutoFit/>
          </a:bodyPr>
          <a:p>
            <a:pPr indent="-228600"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Second, Object-Oriented design, specifically Composition over Inheritance.  I use composition </a:t>
            </a:r>
            <a:r>
              <a:rPr lang="en-US" altLang="zh-CN" sz="2000">
                <a:latin typeface="Arial" panose="020B0604020202020204"/>
                <a:ea typeface="宋体" panose="02010600030101010101" pitchFamily="2" charset="-122"/>
                <a:sym typeface="+mn-ea"/>
              </a:rPr>
              <a:t>Instead of  inheritance hierarchies</a:t>
            </a: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. Player composes 6 independent behaviors:shooting, physics, health, animation, input, invincibility.</a:t>
            </a:r>
            <a:endParaRPr lang="en-US" altLang="zh-CN" sz="2000"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40" y="1508760"/>
            <a:ext cx="5450840" cy="41128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093595" y="5544185"/>
            <a:ext cx="26936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model/entities/Player.java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1055560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3.3</a:t>
            </a:r>
            <a:r>
              <a:rPr lang="en-US" altLang="zh-CN">
                <a:latin typeface="+mn-ea"/>
                <a:ea typeface="+mn-ea"/>
              </a:rPr>
              <a:t> -  DRY - Don't Repeat Yourself</a:t>
            </a:r>
            <a:endParaRPr lang="en-US" altLang="zh-CN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65595" y="1453832"/>
            <a:ext cx="5080000" cy="3271520"/>
          </a:xfrm>
          <a:prstGeom prst="rect">
            <a:avLst/>
          </a:prstGeom>
        </p:spPr>
        <p:txBody>
          <a:bodyPr>
            <a:spAutoFit/>
          </a:bodyPr>
          <a:p>
            <a:pPr indent="-228600"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In V1, Same try-catch blocks repeated everywhere. If the loading mechanism needs to change, I'd have to modify a great many lines.</a:t>
            </a:r>
            <a:endParaRPr lang="en-US" altLang="zh-CN" sz="2000">
              <a:latin typeface="Arial" panose="020B0604020202020204"/>
              <a:ea typeface="宋体" panose="02010600030101010101" pitchFamily="2" charset="-122"/>
            </a:endParaRPr>
          </a:p>
          <a:p>
            <a:pPr indent="-228600"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V3 avoids this with ResourceManager.</a:t>
            </a:r>
            <a:endParaRPr lang="en-US" altLang="zh-CN" sz="2000">
              <a:latin typeface="Arial" panose="020B0604020202020204"/>
              <a:ea typeface="宋体" panose="02010600030101010101" pitchFamily="2" charset="-122"/>
            </a:endParaRPr>
          </a:p>
          <a:p>
            <a:pPr indent="-228600"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One </a:t>
            </a:r>
            <a:r>
              <a:rPr lang="en-US" altLang="zh-CN" sz="2000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init()</a:t>
            </a:r>
            <a:r>
              <a:rPr lang="en-US" altLang="zh-CN" sz="2000">
                <a:latin typeface="Arial" panose="020B0604020202020204"/>
                <a:ea typeface="宋体" panose="02010600030101010101" pitchFamily="2" charset="-122"/>
              </a:rPr>
              <a:t> method loads everything.</a:t>
            </a:r>
            <a:endParaRPr lang="en-US" altLang="zh-CN" sz="2000"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913255"/>
            <a:ext cx="5704205" cy="235204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2"/>
          <a:stretch>
            <a:fillRect/>
          </a:stretch>
        </p:blipFill>
        <p:spPr>
          <a:xfrm>
            <a:off x="924560" y="4644390"/>
            <a:ext cx="8254365" cy="14814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730375" y="4042410"/>
            <a:ext cx="33940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model/util/ResourceManager.java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1055560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4</a:t>
            </a:r>
            <a:r>
              <a:rPr lang="en-US" altLang="zh-CN">
                <a:latin typeface="+mn-ea"/>
                <a:ea typeface="+mn-ea"/>
              </a:rPr>
              <a:t> - Refactoring methods  </a:t>
            </a:r>
            <a:endParaRPr lang="en-US" altLang="zh-CN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0" y="1650365"/>
            <a:ext cx="8209280" cy="37985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1055560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4.1</a:t>
            </a:r>
            <a:r>
              <a:rPr lang="en-US" altLang="zh-CN">
                <a:latin typeface="+mn-ea"/>
                <a:ea typeface="+mn-ea"/>
              </a:rPr>
              <a:t> - Factory pattern  </a:t>
            </a:r>
            <a:endParaRPr lang="en-US" altLang="zh-CN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73445" y="1691005"/>
            <a:ext cx="5685155" cy="3825875"/>
          </a:xfrm>
          <a:prstGeom prst="rect">
            <a:avLst/>
          </a:prstGeom>
        </p:spPr>
        <p:txBody>
          <a:bodyPr wrap="square">
            <a:spAutoFit/>
          </a:bodyPr>
          <a:p>
            <a:pPr indent="-228600"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>
                <a:latin typeface="Arial" panose="020B0604020202020204"/>
                <a:ea typeface="宋体" panose="02010600030101010101" pitchFamily="2" charset="-122"/>
              </a:rPr>
              <a:t>In V1, entities were created directly throughout the code. Look at the </a:t>
            </a:r>
            <a:r>
              <a:rPr lang="en-US" altLang="zh-CN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spawnEntities()</a:t>
            </a:r>
            <a:r>
              <a:rPr lang="en-US" altLang="zh-CN">
                <a:latin typeface="Arial" panose="020B0604020202020204"/>
                <a:ea typeface="宋体" panose="02010600030101010101" pitchFamily="2" charset="-122"/>
              </a:rPr>
              <a:t> method — lines of repeated Enemy creation.And Player creation was also scattered with direct instantiation.</a:t>
            </a:r>
            <a:endParaRPr lang="en-US" altLang="zh-CN">
              <a:latin typeface="Arial" panose="020B0604020202020204"/>
              <a:ea typeface="宋体" panose="02010600030101010101" pitchFamily="2" charset="-122"/>
            </a:endParaRPr>
          </a:p>
          <a:p>
            <a:pPr indent="-228600"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>
                <a:latin typeface="Arial" panose="020B0604020202020204"/>
                <a:ea typeface="宋体" panose="02010600030101010101" pitchFamily="2" charset="-122"/>
              </a:rPr>
              <a:t>This violates the Single Responsibility Principle.</a:t>
            </a:r>
            <a:endParaRPr lang="en-US" altLang="zh-CN">
              <a:latin typeface="Arial" panose="020B0604020202020204"/>
              <a:ea typeface="宋体" panose="02010600030101010101" pitchFamily="2" charset="-122"/>
            </a:endParaRPr>
          </a:p>
          <a:p>
            <a:pPr indent="-228600"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>
                <a:latin typeface="Arial" panose="020B0604020202020204"/>
                <a:ea typeface="宋体" panose="02010600030101010101" pitchFamily="2" charset="-122"/>
              </a:rPr>
              <a:t>If I need to change how enemies are initialized, add behaviors or change health,I'd have to find and modify every single creation point.</a:t>
            </a:r>
            <a:endParaRPr lang="en-US" altLang="zh-CN"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75" y="1578610"/>
            <a:ext cx="4847590" cy="40233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24660" y="5601970"/>
            <a:ext cx="25730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src/main/java/Game.java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216015" y="1465580"/>
            <a:ext cx="4873625" cy="3415030"/>
          </a:xfrm>
          <a:prstGeom prst="rect">
            <a:avLst/>
          </a:prstGeom>
        </p:spPr>
        <p:txBody>
          <a:bodyPr wrap="square">
            <a:spAutoFit/>
          </a:bodyPr>
          <a:p>
            <a:pPr indent="-228600"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In v3, I created EntityFactory with static factory methods. The </a:t>
            </a:r>
            <a:r>
              <a:rPr lang="en-US" altLang="zh-CN" sz="1800" b="1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createPlayer()</a:t>
            </a: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 method encapsulates all player creation logic. It takes just x, y coordinates and returns a fully configured Player with all 7 behaviors initialized.</a:t>
            </a:r>
            <a:r>
              <a:rPr lang="en-US" altLang="zh-CN" sz="1800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createDefaultEnemies()</a:t>
            </a: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 returns a list of 13 pre-configured enemies.All the positioning logic is centralized here.</a:t>
            </a:r>
            <a:endParaRPr lang="en-US" altLang="zh-CN" sz="1800"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1055560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4.1</a:t>
            </a:r>
            <a:r>
              <a:rPr lang="en-US" altLang="zh-CN">
                <a:latin typeface="+mn-ea"/>
                <a:ea typeface="+mn-ea"/>
              </a:rPr>
              <a:t> - Factory pattern  </a:t>
            </a:r>
            <a:endParaRPr lang="en-US" altLang="zh-CN">
              <a:latin typeface="+mn-ea"/>
              <a:ea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495" y="1465580"/>
            <a:ext cx="5430520" cy="7581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2353945"/>
            <a:ext cx="5049520" cy="34880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81200" y="5972175"/>
            <a:ext cx="30168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model/util/EntityFactory.java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1055560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4.1</a:t>
            </a:r>
            <a:r>
              <a:rPr lang="en-US" altLang="zh-CN">
                <a:latin typeface="+mn-ea"/>
                <a:ea typeface="+mn-ea"/>
              </a:rPr>
              <a:t> - Factory pattern  </a:t>
            </a:r>
            <a:endParaRPr lang="en-US" altLang="zh-CN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78905" y="1412240"/>
            <a:ext cx="5247640" cy="5282565"/>
          </a:xfrm>
          <a:prstGeom prst="rect">
            <a:avLst/>
          </a:prstGeom>
        </p:spPr>
        <p:txBody>
          <a:bodyPr wrap="square">
            <a:spAutoFit/>
          </a:bodyPr>
          <a:p>
            <a:pPr indent="-228600"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Now in GameController, entity creation is incredibly simple</a:t>
            </a: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: </a:t>
            </a:r>
            <a:r>
              <a:rPr lang="en-US" altLang="zh-CN" sz="1800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Player player = EntityFactory.createPlayer(20, 300)</a:t>
            </a: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; </a:t>
            </a: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One line. Clean, and Readable.</a:t>
            </a:r>
            <a:endParaRPr lang="en-US" altLang="zh-CN" sz="1800" b="1">
              <a:latin typeface="Arial" panose="020B0604020202020204"/>
              <a:ea typeface="宋体" panose="02010600030101010101" pitchFamily="2" charset="-122"/>
            </a:endParaRPr>
          </a:p>
          <a:p>
            <a:pPr indent="-228600"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This demonstrates the Factory Pattern's three key benefits:First, Encapsulation</a:t>
            </a: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—creation logic is hidden.</a:t>
            </a: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Second, Single Point of Change</a:t>
            </a: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—if I need to modify enemy health or add new behaviors, I change it once in the factory.</a:t>
            </a: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Third, Consistency</a:t>
            </a: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—all entities are created the same way,reducing bugs from inconsistent initialization.</a:t>
            </a:r>
            <a:endParaRPr lang="en-US" altLang="zh-CN" sz="1800"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6975"/>
          <a:stretch>
            <a:fillRect/>
          </a:stretch>
        </p:blipFill>
        <p:spPr>
          <a:xfrm>
            <a:off x="808355" y="1818005"/>
            <a:ext cx="5535295" cy="26314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971675" y="4592955"/>
            <a:ext cx="32080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controller/GameController.java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1055560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4.2</a:t>
            </a:r>
            <a:r>
              <a:rPr lang="en-US" altLang="zh-CN">
                <a:latin typeface="+mn-ea"/>
                <a:ea typeface="+mn-ea"/>
              </a:rPr>
              <a:t> - Strategy Pattern  </a:t>
            </a:r>
            <a:endParaRPr lang="en-US" altLang="zh-CN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67730" y="1432242"/>
            <a:ext cx="5080000" cy="5426075"/>
          </a:xfrm>
          <a:prstGeom prst="rect">
            <a:avLst/>
          </a:prstGeom>
        </p:spPr>
        <p:txBody>
          <a:bodyPr>
            <a:spAutoFit/>
          </a:bodyPr>
          <a:p>
            <a:pPr indent="-228600"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The second major refactoring was implementing the Strategy Pattern through the Behavior system.V1's Player had a complex </a:t>
            </a:r>
            <a:r>
              <a:rPr lang="en-US" altLang="zh-CN" sz="1800" b="1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update()</a:t>
            </a: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 method with 40+ lines of code.It handled gravity, collision, input, jumping, shooting, damage—everything mixed together.This makes the code impossible to reuse.</a:t>
            </a: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If I want a different enemy with similar movement but different attack,I'd have to copy and modify lots of code.This violates both Single Responsibility and Open-Closed Principles.</a:t>
            </a:r>
            <a:endParaRPr lang="en-US" altLang="zh-CN" sz="1800">
              <a:latin typeface="Arial" panose="020B0604020202020204"/>
              <a:ea typeface="宋体" panose="02010600030101010101" pitchFamily="2" charset="-122"/>
            </a:endParaRPr>
          </a:p>
          <a:p>
            <a:endParaRPr lang="en-US" altLang="zh-CN" sz="1600">
              <a:solidFill>
                <a:srgbClr val="383A42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1527175"/>
            <a:ext cx="4652010" cy="42792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40230" y="5915660"/>
            <a:ext cx="25914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src/main/java/Player.java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1055560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4.2</a:t>
            </a:r>
            <a:r>
              <a:rPr lang="en-US" altLang="zh-CN">
                <a:latin typeface="+mn-ea"/>
                <a:ea typeface="+mn-ea"/>
              </a:rPr>
              <a:t> - Strategy Pattern  </a:t>
            </a:r>
            <a:endParaRPr lang="en-US" altLang="zh-CN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20180" y="1397635"/>
            <a:ext cx="5261610" cy="4036060"/>
          </a:xfrm>
          <a:prstGeom prst="rect">
            <a:avLst/>
          </a:prstGeom>
        </p:spPr>
        <p:txBody>
          <a:bodyPr wrap="square">
            <a:spAutoFit/>
          </a:bodyPr>
          <a:p>
            <a:pPr indent="-228600"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Here I extracted all behaviors into a common Strategy interface.Just two methods: initialize and </a:t>
            </a:r>
            <a:r>
              <a:rPr lang="en-US" altLang="zh-CN" sz="1800" b="1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update.InputBehavior()</a:t>
            </a: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 encapsulates all player input logic.It maintains input states and translates them into entity actions in the </a:t>
            </a:r>
            <a:r>
              <a:rPr lang="en-US" altLang="zh-CN" sz="1800" b="1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update()</a:t>
            </a: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 method.</a:t>
            </a:r>
            <a:endParaRPr lang="en-US" altLang="zh-CN" sz="1800" b="1">
              <a:latin typeface="Arial" panose="020B0604020202020204"/>
              <a:ea typeface="宋体" panose="02010600030101010101" pitchFamily="2" charset="-122"/>
            </a:endParaRPr>
          </a:p>
          <a:p>
            <a:pPr indent="-228600"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Also, Player.java composes 6 different behaviors.Each behavior is a strategy that can be mixed and matched.</a:t>
            </a:r>
            <a:endParaRPr lang="en-US" altLang="zh-CN" sz="1800"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1397635"/>
            <a:ext cx="5923915" cy="37852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052955" y="5236210"/>
            <a:ext cx="35744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model/behavior/InputBehavior.java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1055560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4.2</a:t>
            </a:r>
            <a:r>
              <a:rPr lang="en-US" altLang="zh-CN">
                <a:latin typeface="+mn-ea"/>
                <a:ea typeface="+mn-ea"/>
              </a:rPr>
              <a:t> - Strategy Pattern  </a:t>
            </a:r>
            <a:endParaRPr lang="en-US" altLang="zh-CN"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" y="1610360"/>
            <a:ext cx="4831080" cy="13804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657850" y="1675765"/>
            <a:ext cx="5080000" cy="4036060"/>
          </a:xfrm>
          <a:prstGeom prst="rect">
            <a:avLst/>
          </a:prstGeom>
        </p:spPr>
        <p:txBody>
          <a:bodyPr>
            <a:spAutoFit/>
          </a:bodyPr>
          <a:p>
            <a:pPr indent="-228600"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Now Player's </a:t>
            </a:r>
            <a:r>
              <a:rPr lang="en-US" altLang="zh-CN" sz="1800" b="1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update()</a:t>
            </a: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 is just 7 lines— one call to each behavior's update method.This is the Strategy Pattern in action.Each behavior encapsulates an algorithm.Player can swap behaviors at runtime if needed.</a:t>
            </a:r>
            <a:endParaRPr lang="en-US" altLang="zh-CN" sz="1800" b="1">
              <a:latin typeface="Arial" panose="020B0604020202020204"/>
              <a:ea typeface="宋体" panose="02010600030101010101" pitchFamily="2" charset="-122"/>
            </a:endParaRPr>
          </a:p>
          <a:p>
            <a:pPr indent="-228600"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Most importantly, behaviors are reusable.</a:t>
            </a: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If I want Enemy to shoot, I just add </a:t>
            </a:r>
            <a:r>
              <a:rPr lang="en-US" altLang="zh-CN" sz="1800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ShootingBehavior()</a:t>
            </a: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 to Enemy.This achieves high cohesion and low coupling.</a:t>
            </a:r>
            <a:endParaRPr lang="en-US" altLang="zh-CN" sz="1800"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95" y="2990850"/>
            <a:ext cx="4394200" cy="33350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335405" y="6249035"/>
            <a:ext cx="26771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model/entities/Player.java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1055560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4.3</a:t>
            </a:r>
            <a:r>
              <a:rPr lang="en-US" altLang="zh-CN">
                <a:latin typeface="+mn-ea"/>
                <a:ea typeface="+mn-ea"/>
              </a:rPr>
              <a:t> - State Pattern  </a:t>
            </a:r>
            <a:endParaRPr lang="en-US" altLang="zh-CN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08955" y="1442720"/>
            <a:ext cx="5392420" cy="3830955"/>
          </a:xfrm>
          <a:prstGeom prst="rect">
            <a:avLst/>
          </a:prstGeom>
        </p:spPr>
        <p:txBody>
          <a:bodyPr wrap="square">
            <a:spAutoFit/>
          </a:bodyPr>
          <a:p>
            <a:pPr indent="-228600"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The third major refactoring was implementing the StatePattern for game state management.V1 had no proper state management.Game control relied entirely on keyboard events.</a:t>
            </a: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ESC key restarts the game, ENTER exits—all handled through scattered if-else statements.</a:t>
            </a: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Also,in </a:t>
            </a:r>
            <a:r>
              <a:rPr lang="en-US" altLang="zh-CN" sz="1800" b="1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paint()</a:t>
            </a: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, there was no pause functionality</a:t>
            </a: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.No way to resume after pausing.State transitions were implicit and hard to track.</a:t>
            </a:r>
            <a:endParaRPr lang="en-US" altLang="zh-CN" sz="1800"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360" y="1537970"/>
            <a:ext cx="3909060" cy="43059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82090" y="5843905"/>
            <a:ext cx="26409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model/entities/Player.java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1055560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4.3</a:t>
            </a:r>
            <a:r>
              <a:rPr lang="en-US" altLang="zh-CN">
                <a:latin typeface="+mn-ea"/>
                <a:ea typeface="+mn-ea"/>
              </a:rPr>
              <a:t> - State Pattern  </a:t>
            </a:r>
            <a:endParaRPr lang="en-US" altLang="zh-CN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7040" y="4597400"/>
            <a:ext cx="4573270" cy="1337945"/>
          </a:xfrm>
          <a:prstGeom prst="rect">
            <a:avLst/>
          </a:prstGeom>
        </p:spPr>
        <p:txBody>
          <a:bodyPr wrap="square">
            <a:spAutoFit/>
          </a:bodyPr>
          <a:p>
            <a:pPr indent="-228600"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I created an abstract GameState class defining three transitions:</a:t>
            </a:r>
            <a:r>
              <a:rPr lang="en-US" altLang="zh-CN" sz="1800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handlePause()</a:t>
            </a: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, </a:t>
            </a:r>
            <a:r>
              <a:rPr lang="en-US" altLang="zh-CN" sz="1800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handleResume()</a:t>
            </a: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, and </a:t>
            </a:r>
            <a:r>
              <a:rPr lang="en-US" altLang="zh-CN" sz="1800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handleReset()</a:t>
            </a: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.</a:t>
            </a:r>
            <a:endParaRPr lang="en-US" altLang="zh-CN" sz="1800"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435" y="1461770"/>
            <a:ext cx="3523615" cy="27952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342890" y="4596765"/>
            <a:ext cx="5826760" cy="1337945"/>
          </a:xfrm>
          <a:prstGeom prst="rect">
            <a:avLst/>
          </a:prstGeom>
        </p:spPr>
        <p:txBody>
          <a:bodyPr wrap="square">
            <a:spAutoFit/>
          </a:bodyPr>
          <a:p>
            <a:pPr indent="-228600"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RunningState represents the active game.When </a:t>
            </a:r>
            <a:r>
              <a:rPr lang="en-US" altLang="zh-CN" sz="1800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handlePause()</a:t>
            </a: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 is called, it pauses the game timer and transitions to PausedState.</a:t>
            </a:r>
            <a:endParaRPr lang="en-US" altLang="zh-CN" sz="1800"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060" y="1412240"/>
            <a:ext cx="6371590" cy="9937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990590" y="2317115"/>
            <a:ext cx="34315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controller/state/RunningState.java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40435" y="4289425"/>
            <a:ext cx="31718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controller/state/GameState.java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310" y="3017520"/>
            <a:ext cx="6309995" cy="96774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990590" y="3930650"/>
            <a:ext cx="33267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controller/state/PausedState.java</a:t>
            </a:r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793740" y="1774825"/>
            <a:ext cx="5888990" cy="3830955"/>
          </a:xfrm>
          <a:prstGeom prst="rect">
            <a:avLst/>
          </a:prstGeom>
        </p:spPr>
        <p:txBody>
          <a:bodyPr wrap="square">
            <a:spAutoFit/>
          </a:bodyPr>
          <a:p>
            <a:pPr indent="-228600" algn="l" defTabSz="2667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In State Pattern, behavior changes base on internal state.Three key benefits: First, </a:t>
            </a:r>
            <a:r>
              <a:rPr lang="en-US" altLang="zh-CN" sz="1800" b="1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RunningState()</a:t>
            </a: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 and </a:t>
            </a:r>
            <a:r>
              <a:rPr lang="en-US" altLang="zh-CN" sz="1800" b="1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PausedState()</a:t>
            </a: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 are concrete classes, not boolean flags.Second,Localized Behavior.</a:t>
            </a: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Each state's logic is encapsulated in its own class.</a:t>
            </a: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Third, Easy extension</a:t>
            </a: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—to add </a:t>
            </a:r>
            <a:r>
              <a:rPr lang="en-US" altLang="zh-CN" sz="1800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MenuState()</a:t>
            </a: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 or </a:t>
            </a:r>
            <a:r>
              <a:rPr lang="en-US" altLang="zh-CN" sz="1800">
                <a:solidFill>
                  <a:srgbClr val="00B050"/>
                </a:solidFill>
                <a:latin typeface="Arial" panose="020B0604020202020204"/>
                <a:ea typeface="宋体" panose="02010600030101010101" pitchFamily="2" charset="-122"/>
              </a:rPr>
              <a:t>LoadingState()</a:t>
            </a: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,I just extend GameState. </a:t>
            </a:r>
            <a:r>
              <a:rPr lang="en-US" altLang="zh-CN" sz="1800" b="1">
                <a:latin typeface="Arial" panose="020B0604020202020204"/>
                <a:ea typeface="宋体" panose="02010600030101010101" pitchFamily="2" charset="-122"/>
              </a:rPr>
              <a:t>No modification of existing code</a:t>
            </a:r>
            <a:r>
              <a:rPr lang="en-US" altLang="zh-CN" sz="1800">
                <a:latin typeface="Arial" panose="020B0604020202020204"/>
                <a:ea typeface="宋体" panose="02010600030101010101" pitchFamily="2" charset="-122"/>
              </a:rPr>
              <a:t>.This eliminates conditional complexity and follows the Open-Closed Principle.</a:t>
            </a:r>
            <a:endParaRPr lang="en-US" altLang="zh-CN" sz="1800"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标题 4"/>
          <p:cNvSpPr>
            <a:spLocks noGrp="1"/>
          </p:cNvSpPr>
          <p:nvPr/>
        </p:nvSpPr>
        <p:spPr>
          <a:xfrm>
            <a:off x="965200" y="492125"/>
            <a:ext cx="1055560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rgbClr val="FF0000"/>
                </a:solidFill>
                <a:latin typeface="+mn-ea"/>
                <a:ea typeface="+mn-ea"/>
              </a:rPr>
              <a:t>Part 4.3</a:t>
            </a:r>
            <a:r>
              <a:rPr lang="en-US" altLang="zh-CN">
                <a:latin typeface="+mn-ea"/>
                <a:ea typeface="+mn-ea"/>
              </a:rPr>
              <a:t> - State Pattern  </a:t>
            </a:r>
            <a:endParaRPr lang="en-US" altLang="zh-CN">
              <a:latin typeface="+mn-ea"/>
              <a:ea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855" y="1656080"/>
            <a:ext cx="5175885" cy="41440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7502</Words>
  <Application>WPS 演示</Application>
  <PresentationFormat>宽屏</PresentationFormat>
  <Paragraphs>169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WPS</vt:lpstr>
      <vt:lpstr>COMP2013 CW Explanation</vt:lpstr>
      <vt:lpstr>Part 1 Game Running &amp; New feature</vt:lpstr>
      <vt:lpstr>Part 1 Game Running &amp; New feature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叶蓁</dc:creator>
  <cp:lastModifiedBy>IRON DUKE</cp:lastModifiedBy>
  <cp:revision>14</cp:revision>
  <dcterms:created xsi:type="dcterms:W3CDTF">2023-08-09T12:44:00Z</dcterms:created>
  <dcterms:modified xsi:type="dcterms:W3CDTF">2025-12-22T06:47:29Z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BBEAAA84AD3941538212B6073AFC6204_12</vt:lpwstr>
  </property>
</Properties>
</file>